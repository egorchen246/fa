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5" r:id="rId4"/>
  </p:sldMasterIdLst>
  <p:sldIdLst>
    <p:sldId id="256" r:id="rId5"/>
    <p:sldId id="257" r:id="rId6"/>
    <p:sldId id="258" r:id="rId7"/>
    <p:sldId id="259" r:id="rId8"/>
    <p:sldId id="293" r:id="rId9"/>
    <p:sldId id="260" r:id="rId10"/>
    <p:sldId id="261" r:id="rId11"/>
    <p:sldId id="262" r:id="rId12"/>
    <p:sldId id="291" r:id="rId13"/>
    <p:sldId id="263" r:id="rId14"/>
    <p:sldId id="264" r:id="rId15"/>
    <p:sldId id="265" r:id="rId16"/>
    <p:sldId id="292" r:id="rId17"/>
    <p:sldId id="267" r:id="rId18"/>
    <p:sldId id="268" r:id="rId19"/>
    <p:sldId id="269" r:id="rId20"/>
    <p:sldId id="270" r:id="rId21"/>
    <p:sldId id="294" r:id="rId22"/>
    <p:sldId id="271" r:id="rId23"/>
    <p:sldId id="272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B268229-127A-4AB2-B06A-A0A21D07E8BD}" type="datetimeFigureOut">
              <a:rPr lang="ru-RU" smtClean="0"/>
              <a:t>21.10.2021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25E0CA1-0DE3-45E1-BD38-0AE8A07613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3421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8229-127A-4AB2-B06A-A0A21D07E8BD}" type="datetimeFigureOut">
              <a:rPr lang="ru-RU" smtClean="0"/>
              <a:t>21.10.2021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725E0CA1-0DE3-45E1-BD38-0AE8A07613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0015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B268229-127A-4AB2-B06A-A0A21D07E8BD}" type="datetimeFigureOut">
              <a:rPr lang="ru-RU" smtClean="0"/>
              <a:t>21.10.2021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25E0CA1-0DE3-45E1-BD38-0AE8A07613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4520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8229-127A-4AB2-B06A-A0A21D07E8BD}" type="datetimeFigureOut">
              <a:rPr lang="ru-RU" smtClean="0"/>
              <a:t>21.10.2021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E0CA1-0DE3-45E1-BD38-0AE8A07613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9149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8229-127A-4AB2-B06A-A0A21D07E8BD}" type="datetimeFigureOut">
              <a:rPr lang="ru-RU" smtClean="0"/>
              <a:t>21.10.2021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E0CA1-0DE3-45E1-BD38-0AE8A07613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8355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8229-127A-4AB2-B06A-A0A21D07E8BD}" type="datetimeFigureOut">
              <a:rPr lang="ru-RU" smtClean="0"/>
              <a:t>21.10.2021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E0CA1-0DE3-45E1-BD38-0AE8A07613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2313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8229-127A-4AB2-B06A-A0A21D07E8BD}" type="datetimeFigureOut">
              <a:rPr lang="ru-RU" smtClean="0"/>
              <a:t>21.10.2021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E0CA1-0DE3-45E1-BD38-0AE8A07613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110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B268229-127A-4AB2-B06A-A0A21D07E8BD}" type="datetimeFigureOut">
              <a:rPr lang="ru-RU" smtClean="0"/>
              <a:t>21.10.2021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25E0CA1-0DE3-45E1-BD38-0AE8A07613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5359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8229-127A-4AB2-B06A-A0A21D07E8BD}" type="datetimeFigureOut">
              <a:rPr lang="ru-RU" smtClean="0"/>
              <a:t>21.10.2021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E0CA1-0DE3-45E1-BD38-0AE8A07613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81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8229-127A-4AB2-B06A-A0A21D07E8BD}" type="datetimeFigureOut">
              <a:rPr lang="ru-RU" smtClean="0"/>
              <a:t>21.10.2021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E0CA1-0DE3-45E1-BD38-0AE8A07613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576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B268229-127A-4AB2-B06A-A0A21D07E8BD}" type="datetimeFigureOut">
              <a:rPr lang="ru-RU" smtClean="0"/>
              <a:t>21.10.2021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25E0CA1-0DE3-45E1-BD38-0AE8A07613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531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B268229-127A-4AB2-B06A-A0A21D07E8BD}" type="datetimeFigureOut">
              <a:rPr lang="ru-RU" smtClean="0"/>
              <a:t>21.10.2021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725E0CA1-0DE3-45E1-BD38-0AE8A0761328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92185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43A2E2-7C7C-4655-B7DF-6CF52CD962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2" y="1355167"/>
            <a:ext cx="10993549" cy="147501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400">
                <a:latin typeface="Times New Roman" panose="02020603050405020304" pitchFamily="18" charset="0"/>
                <a:cs typeface="Times New Roman" panose="02020603050405020304" pitchFamily="18" charset="0"/>
              </a:rPr>
              <a:t>Макроэкономическое равновесие на товарном и денежном рынке. </a:t>
            </a:r>
            <a:br>
              <a:rPr lang="en-US" sz="4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40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</a:t>
            </a:r>
            <a:r>
              <a:rPr lang="en-US" sz="4400">
                <a:latin typeface="Times New Roman" panose="02020603050405020304" pitchFamily="18" charset="0"/>
                <a:cs typeface="Times New Roman" panose="02020603050405020304" pitchFamily="18" charset="0"/>
              </a:rPr>
              <a:t>IS-LM</a:t>
            </a:r>
            <a:endParaRPr lang="ru-RU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8EAE5F4-F660-4B90-9894-92AC9DDACB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8455" y="5384218"/>
            <a:ext cx="10376286" cy="590321"/>
          </a:xfrm>
        </p:spPr>
        <p:txBody>
          <a:bodyPr>
            <a:noAutofit/>
          </a:bodyPr>
          <a:lstStyle/>
          <a:p>
            <a:pPr algn="r"/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255849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C195E7-3D16-4449-8E8D-2F7471902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</a:t>
            </a:r>
            <a:r>
              <a:rPr lang="en-US" dirty="0"/>
              <a:t>is-</a:t>
            </a:r>
            <a:r>
              <a:rPr lang="en-US" dirty="0" err="1"/>
              <a:t>lm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E3CA0D-ECB5-41DA-AA86-78740D8D1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Модель </a:t>
            </a:r>
            <a:r>
              <a:rPr lang="en-US" sz="2400" dirty="0"/>
              <a:t>IS-LM </a:t>
            </a:r>
            <a:r>
              <a:rPr lang="ru-RU" sz="2400" dirty="0"/>
              <a:t>– модель товарно-денежного равновесия, позволяющая выявить экономические факторы, определяющие функцию совокупного спроса.</a:t>
            </a:r>
          </a:p>
          <a:p>
            <a:r>
              <a:rPr lang="ru-RU" sz="2400" dirty="0"/>
              <a:t>Модель позволяет найти такие сочетания рыночной ставки процента </a:t>
            </a:r>
            <a:r>
              <a:rPr lang="en-US" sz="2400" dirty="0"/>
              <a:t>R </a:t>
            </a:r>
            <a:r>
              <a:rPr lang="ru-RU" sz="2400" dirty="0"/>
              <a:t> и дохода </a:t>
            </a:r>
            <a:r>
              <a:rPr lang="en-US" sz="2400" dirty="0"/>
              <a:t>Y</a:t>
            </a:r>
            <a:r>
              <a:rPr lang="ru-RU" sz="2400" dirty="0"/>
              <a:t>, при которых одновременно достигается равновесие на товарном и денежном рынках, поэтому модель </a:t>
            </a:r>
            <a:r>
              <a:rPr lang="en-US" sz="2400" dirty="0"/>
              <a:t>IS-LM</a:t>
            </a:r>
            <a:r>
              <a:rPr lang="ru-RU" sz="2400" dirty="0"/>
              <a:t> является конкретизацией модели </a:t>
            </a:r>
            <a:r>
              <a:rPr lang="en-US" sz="2400" dirty="0"/>
              <a:t>AD-AS.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625421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D0A96F-577E-46DE-8B96-97A0E48FE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уравнения модели </a:t>
            </a:r>
            <a:r>
              <a:rPr lang="en-US" dirty="0"/>
              <a:t>IS-LM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74ED8F-97F4-4813-89BF-849F7F26B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Y=</a:t>
            </a:r>
            <a:r>
              <a:rPr lang="en-US" dirty="0" err="1"/>
              <a:t>C+I+G+Xn</a:t>
            </a:r>
            <a:r>
              <a:rPr lang="en-US" dirty="0"/>
              <a:t> – </a:t>
            </a:r>
            <a:r>
              <a:rPr lang="ru-RU" dirty="0"/>
              <a:t>основное экономическое тождество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C=</a:t>
            </a:r>
            <a:r>
              <a:rPr lang="en-US" dirty="0" err="1"/>
              <a:t>a+b</a:t>
            </a:r>
            <a:r>
              <a:rPr lang="en-US" dirty="0"/>
              <a:t>(Y-T) </a:t>
            </a:r>
            <a:r>
              <a:rPr lang="ru-RU" dirty="0"/>
              <a:t> - функция потребления, где </a:t>
            </a:r>
            <a:r>
              <a:rPr lang="en-US" dirty="0"/>
              <a:t>T=</a:t>
            </a:r>
            <a:r>
              <a:rPr lang="en-US" dirty="0" err="1"/>
              <a:t>Ta+tY</a:t>
            </a: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I=e-</a:t>
            </a:r>
            <a:r>
              <a:rPr lang="en-US" dirty="0" err="1"/>
              <a:t>dR</a:t>
            </a:r>
            <a:r>
              <a:rPr lang="ru-RU" dirty="0"/>
              <a:t> – функция инвестиций 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Xn</a:t>
            </a:r>
            <a:r>
              <a:rPr lang="en-US" dirty="0"/>
              <a:t>=g-m’*Y-</a:t>
            </a:r>
            <a:r>
              <a:rPr lang="en-US" dirty="0" err="1"/>
              <a:t>nR</a:t>
            </a:r>
            <a:r>
              <a:rPr lang="ru-RU" dirty="0"/>
              <a:t> – функция чистого экспорта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M/P=</a:t>
            </a:r>
            <a:r>
              <a:rPr lang="en-US" dirty="0" err="1"/>
              <a:t>kY-hR</a:t>
            </a:r>
            <a:r>
              <a:rPr lang="en-US" dirty="0"/>
              <a:t> </a:t>
            </a:r>
            <a:r>
              <a:rPr lang="ru-RU" dirty="0"/>
              <a:t>– функция спроса на деньги</a:t>
            </a:r>
          </a:p>
          <a:p>
            <a:pPr marL="0" indent="0">
              <a:buNone/>
            </a:pPr>
            <a:r>
              <a:rPr lang="ru-RU" dirty="0"/>
              <a:t>Внутренние переменные модели: </a:t>
            </a:r>
            <a:r>
              <a:rPr lang="en-US" dirty="0"/>
              <a:t>Y</a:t>
            </a:r>
            <a:r>
              <a:rPr lang="ru-RU" dirty="0"/>
              <a:t> доход,</a:t>
            </a:r>
            <a:r>
              <a:rPr lang="en-US" dirty="0"/>
              <a:t> C </a:t>
            </a:r>
            <a:r>
              <a:rPr lang="ru-RU" dirty="0"/>
              <a:t>потребление, </a:t>
            </a:r>
            <a:r>
              <a:rPr lang="en-US" dirty="0"/>
              <a:t>I </a:t>
            </a:r>
            <a:r>
              <a:rPr lang="ru-RU" dirty="0"/>
              <a:t>инвестиции, </a:t>
            </a:r>
            <a:r>
              <a:rPr lang="en-US" dirty="0" err="1"/>
              <a:t>Xn</a:t>
            </a:r>
            <a:r>
              <a:rPr lang="ru-RU" dirty="0"/>
              <a:t> чистый экспорт,</a:t>
            </a:r>
            <a:r>
              <a:rPr lang="en-US" dirty="0"/>
              <a:t> R</a:t>
            </a:r>
            <a:r>
              <a:rPr lang="ru-RU" dirty="0"/>
              <a:t> ставка процента.</a:t>
            </a:r>
          </a:p>
          <a:p>
            <a:pPr marL="0" indent="0">
              <a:buNone/>
            </a:pPr>
            <a:r>
              <a:rPr lang="ru-RU" dirty="0"/>
              <a:t>Внешние переменные модели:</a:t>
            </a:r>
            <a:r>
              <a:rPr lang="en-US" dirty="0"/>
              <a:t> G</a:t>
            </a:r>
            <a:r>
              <a:rPr lang="ru-RU" dirty="0"/>
              <a:t> гос. Расходы,</a:t>
            </a:r>
            <a:r>
              <a:rPr lang="en-US" dirty="0"/>
              <a:t> </a:t>
            </a:r>
            <a:r>
              <a:rPr lang="en-US" dirty="0" err="1"/>
              <a:t>Ms</a:t>
            </a:r>
            <a:r>
              <a:rPr lang="ru-RU" dirty="0"/>
              <a:t> предложение денег,</a:t>
            </a:r>
            <a:r>
              <a:rPr lang="en-US" dirty="0"/>
              <a:t> t</a:t>
            </a:r>
            <a:r>
              <a:rPr lang="ru-RU" dirty="0"/>
              <a:t> налоговая ставка.</a:t>
            </a:r>
          </a:p>
          <a:p>
            <a:pPr marL="0" indent="0">
              <a:buNone/>
            </a:pPr>
            <a:r>
              <a:rPr lang="ru-RU" dirty="0"/>
              <a:t>Эмпирические коэффициенты:</a:t>
            </a:r>
            <a:r>
              <a:rPr lang="en-US" dirty="0"/>
              <a:t> (a, b, e, d, g, m’, n. k, h) </a:t>
            </a:r>
            <a:r>
              <a:rPr lang="ru-RU" dirty="0"/>
              <a:t>положительны и относительно стабильны</a:t>
            </a:r>
          </a:p>
        </p:txBody>
      </p:sp>
    </p:spTree>
    <p:extLst>
      <p:ext uri="{BB962C8B-B14F-4D97-AF65-F5344CB8AC3E}">
        <p14:creationId xmlns:p14="http://schemas.microsoft.com/office/powerpoint/2010/main" val="1150279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CFCDEB-E484-42D9-B900-E4F6CCF90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Кривая </a:t>
            </a:r>
            <a:r>
              <a:rPr lang="en-US" dirty="0"/>
              <a:t>IS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7A861E-1CB2-429B-B195-6D985AE35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Кривая </a:t>
            </a:r>
            <a:r>
              <a:rPr lang="en-US" sz="2400" dirty="0"/>
              <a:t>IS</a:t>
            </a:r>
            <a:r>
              <a:rPr lang="ru-RU" sz="2400" dirty="0"/>
              <a:t> – кривая равновесия на товарном рынке. Она представляет собой геометрическое место точек, характеризующих все комбинации</a:t>
            </a:r>
            <a:r>
              <a:rPr lang="en-US" sz="2400" dirty="0"/>
              <a:t> Y</a:t>
            </a:r>
            <a:r>
              <a:rPr lang="ru-RU" sz="2400" dirty="0"/>
              <a:t> и</a:t>
            </a:r>
            <a:r>
              <a:rPr lang="en-US" sz="2400" dirty="0"/>
              <a:t> R</a:t>
            </a:r>
            <a:r>
              <a:rPr lang="ru-RU" sz="2400" dirty="0"/>
              <a:t>, которые одновременно удовлетворяют тождеству дохода, функциям потребления, инвестиций и чистого экспорта. </a:t>
            </a:r>
          </a:p>
          <a:p>
            <a:r>
              <a:rPr lang="ru-RU" sz="2400" dirty="0"/>
              <a:t>Во всех точках кривой</a:t>
            </a:r>
            <a:r>
              <a:rPr lang="en-US" sz="2400" dirty="0"/>
              <a:t> IS</a:t>
            </a:r>
            <a:r>
              <a:rPr lang="ru-RU" sz="2400" dirty="0"/>
              <a:t> соблюдается равенство инвестиций и сбережений.</a:t>
            </a:r>
          </a:p>
          <a:p>
            <a:r>
              <a:rPr lang="ru-RU" sz="2400" dirty="0"/>
              <a:t>Термин </a:t>
            </a:r>
            <a:r>
              <a:rPr lang="en-US" sz="2400" dirty="0"/>
              <a:t>IS</a:t>
            </a:r>
            <a:r>
              <a:rPr lang="ru-RU" sz="2400" dirty="0"/>
              <a:t> отражает это равенство (</a:t>
            </a:r>
            <a:r>
              <a:rPr lang="en-US" sz="2400" dirty="0"/>
              <a:t> Investment = Savings ).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246612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8316A0-7BD8-458E-B71E-480767155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Равновесие на товарном рынке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11FC12-375A-463C-BDA4-996CFAEB4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Товарный</a:t>
            </a:r>
            <a:r>
              <a:rPr lang="ru-RU" sz="24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ru-RU" sz="24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рынок</a:t>
            </a:r>
            <a:r>
              <a:rPr lang="ru-RU" sz="24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- это система экономических отношений между субъектами экономической системы по поводу согласования спроса и предложения на товары, капиталы и услуги.</a:t>
            </a:r>
          </a:p>
          <a:p>
            <a:r>
              <a:rPr lang="ru-RU" sz="2400" dirty="0">
                <a:solidFill>
                  <a:srgbClr val="333333"/>
                </a:solidFill>
                <a:latin typeface="Arial" panose="020B0604020202020204" pitchFamily="34" charset="0"/>
              </a:rPr>
              <a:t>Покупателями макроэкономического рынка могут быть все субъекты экономики.</a:t>
            </a:r>
          </a:p>
          <a:p>
            <a:r>
              <a:rPr lang="ru-RU" sz="2400" dirty="0">
                <a:solidFill>
                  <a:srgbClr val="333333"/>
                </a:solidFill>
                <a:latin typeface="Arial" panose="020B0604020202020204" pitchFamily="34" charset="0"/>
              </a:rPr>
              <a:t>Объем спроса и предложения измеряется в денежных единицах.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26949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36F6DB7-CF8D-494A-82F6-13B58DCA9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7E5194-6E82-4A44-99C3-FE7D87F34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5ACBAC-EB33-4EC8-8B3A-B0934EC44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110" y="826346"/>
            <a:ext cx="3171905" cy="1013800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rgbClr val="FFFFFF"/>
                </a:solidFill>
              </a:rPr>
              <a:t>Графический вывод кривой </a:t>
            </a:r>
            <a:r>
              <a:rPr lang="en-US" sz="2400" dirty="0">
                <a:solidFill>
                  <a:srgbClr val="FFFFFF"/>
                </a:solidFill>
              </a:rPr>
              <a:t>is</a:t>
            </a:r>
            <a:endParaRPr lang="ru-RU" sz="2400" dirty="0">
              <a:solidFill>
                <a:srgbClr val="FFFFFF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9FCC1E1-84D3-494D-A0A0-286AFA1C3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6E09E90-FF79-402E-AF01-97A279BEA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C6946F8-4B9B-4C51-9F51-2DB377392C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3D2B3D-A285-438C-A344-AED3E46A0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015542A6-B1A8-47BE-A14E-1D48DA508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110" y="2052084"/>
            <a:ext cx="3033249" cy="385622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rgbClr val="FFFFFF"/>
                </a:solidFill>
              </a:rPr>
              <a:t>Функция сбережений: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FFFFFF"/>
                </a:solidFill>
              </a:rPr>
              <a:t>С ростом дохода сбережения увеличиваются </a:t>
            </a:r>
            <a:endParaRPr lang="en-US" sz="2400" dirty="0">
              <a:solidFill>
                <a:srgbClr val="FFFFFF"/>
              </a:solidFill>
            </a:endParaRPr>
          </a:p>
        </p:txBody>
      </p:sp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E5AB521C-4A2E-40D3-81CB-BB61A221F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9709" y="948413"/>
            <a:ext cx="5604687" cy="495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4006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636F6DB7-CF8D-494A-82F6-13B58DCA9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B7E5194-6E82-4A44-99C3-FE7D87F34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3A396F-628B-4728-A7DB-0A458DF17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110" y="826346"/>
            <a:ext cx="3171905" cy="1013800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rgbClr val="FFFFFF"/>
                </a:solidFill>
              </a:rPr>
              <a:t>Графический вывод кривой </a:t>
            </a:r>
            <a:r>
              <a:rPr lang="en-US" sz="2400" dirty="0">
                <a:solidFill>
                  <a:srgbClr val="FFFFFF"/>
                </a:solidFill>
              </a:rPr>
              <a:t>is</a:t>
            </a:r>
            <a:endParaRPr lang="ru-RU" sz="2400" dirty="0">
              <a:solidFill>
                <a:srgbClr val="FFFFFF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9FCC1E1-84D3-494D-A0A0-286AFA1C3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6E09E90-FF79-402E-AF01-97A279BEA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C6946F8-4B9B-4C51-9F51-2DB377392C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B3D2B3D-A285-438C-A344-AED3E46A0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22F1938-FDA9-45E9-BEE6-79A8EFEE9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110" y="2052084"/>
            <a:ext cx="3033249" cy="385622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rgbClr val="FFFFFF"/>
                </a:solidFill>
              </a:rPr>
              <a:t>Функция инвестиций: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FFFFFF"/>
                </a:solidFill>
              </a:rPr>
              <a:t>Рост сбережений сокращает процентную ставку и увеличивает инвестиции.</a:t>
            </a:r>
            <a:endParaRPr lang="en-US" sz="2400" dirty="0">
              <a:solidFill>
                <a:srgbClr val="FFFFFF"/>
              </a:solidFill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C070B5C4-04FF-4558-B77E-BCCAC50EF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532" y="948413"/>
            <a:ext cx="5743042" cy="495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8118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36F6DB7-CF8D-494A-82F6-13B58DCA9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7E5194-6E82-4A44-99C3-FE7D87F34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7C8B13-0F60-4BD4-A4D6-8AB6FB1B5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110" y="826346"/>
            <a:ext cx="3171905" cy="1013800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rgbClr val="FFFFFF"/>
                </a:solidFill>
              </a:rPr>
              <a:t>Графический вывод кривой </a:t>
            </a:r>
            <a:r>
              <a:rPr lang="en-US" sz="2400" dirty="0">
                <a:solidFill>
                  <a:srgbClr val="FFFFFF"/>
                </a:solidFill>
              </a:rPr>
              <a:t>is</a:t>
            </a:r>
            <a:endParaRPr lang="ru-RU" sz="2400" dirty="0">
              <a:solidFill>
                <a:srgbClr val="FFFFFF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9FCC1E1-84D3-494D-A0A0-286AFA1C3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6E09E90-FF79-402E-AF01-97A279BEA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C6946F8-4B9B-4C51-9F51-2DB377392C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B3D2B3D-A285-438C-A344-AED3E46A0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388E49F-BF79-4B22-958D-F0D68B4F4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110" y="2052084"/>
            <a:ext cx="3033249" cy="385622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rgbClr val="FFFFFF"/>
                </a:solidFill>
              </a:rPr>
              <a:t>Кривая </a:t>
            </a:r>
            <a:r>
              <a:rPr lang="en-US" sz="2400" dirty="0">
                <a:solidFill>
                  <a:srgbClr val="FFFFFF"/>
                </a:solidFill>
              </a:rPr>
              <a:t>IS</a:t>
            </a:r>
            <a:r>
              <a:rPr lang="ru-RU" sz="2400" dirty="0">
                <a:solidFill>
                  <a:srgbClr val="FFFFFF"/>
                </a:solidFill>
              </a:rPr>
              <a:t>: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FFFFFF"/>
                </a:solidFill>
              </a:rPr>
              <a:t>Чем ниже ставка процента, тем выше уровень дохода.</a:t>
            </a:r>
            <a:endParaRPr lang="en-US" sz="2400" dirty="0">
              <a:solidFill>
                <a:srgbClr val="FFFFFF"/>
              </a:solidFill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C38DF5E-8893-4346-B85D-6856FD2D2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293" y="948413"/>
            <a:ext cx="6327519" cy="495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2090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B691D59-8F51-4DD8-AD41-D568D29B0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4AEF18-0627-48F3-9B3D-F7E8F050B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AEE08A-C572-438F-9753-B0D527A51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93146F-62ED-4C59-844C-0935D0FB5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F3D65BA-1C65-40FB-92EF-83951BDC1D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8175"/>
            <a:ext cx="12191999" cy="621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0C4F3CD3-4690-4683-8C4B-5813666CA6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1285" y="739682"/>
            <a:ext cx="5598694" cy="56771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ADF52CCA-FCDD-49A0-BFFC-3BD41F1B8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CDC56C9-533D-4DCA-9454-518D5707A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6275" y="1419225"/>
            <a:ext cx="3081576" cy="20858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Графический вывод кривой is</a:t>
            </a:r>
          </a:p>
        </p:txBody>
      </p:sp>
    </p:spTree>
    <p:extLst>
      <p:ext uri="{BB962C8B-B14F-4D97-AF65-F5344CB8AC3E}">
        <p14:creationId xmlns:p14="http://schemas.microsoft.com/office/powerpoint/2010/main" val="424233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36F6DB7-CF8D-494A-82F6-13B58DCA9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7E5194-6E82-4A44-99C3-FE7D87F34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C4EFC0-5C19-4D6E-A263-911F6C744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110" y="826346"/>
            <a:ext cx="3171905" cy="1013800"/>
          </a:xfrm>
        </p:spPr>
        <p:txBody>
          <a:bodyPr>
            <a:normAutofit fontScale="90000"/>
          </a:bodyPr>
          <a:lstStyle/>
          <a:p>
            <a:r>
              <a:rPr lang="ru-RU" sz="2400" dirty="0">
                <a:solidFill>
                  <a:srgbClr val="FFFFFF"/>
                </a:solidFill>
              </a:rPr>
              <a:t>Графический вывод кривой</a:t>
            </a:r>
            <a:r>
              <a:rPr lang="en-US" sz="2400" dirty="0">
                <a:solidFill>
                  <a:srgbClr val="FFFFFF"/>
                </a:solidFill>
              </a:rPr>
              <a:t> IS</a:t>
            </a:r>
            <a:r>
              <a:rPr lang="ru-RU" sz="2400" dirty="0">
                <a:solidFill>
                  <a:srgbClr val="FFFFFF"/>
                </a:solidFill>
              </a:rPr>
              <a:t> из креста </a:t>
            </a:r>
            <a:r>
              <a:rPr lang="ru-RU" sz="2400" dirty="0" err="1">
                <a:solidFill>
                  <a:srgbClr val="FFFFFF"/>
                </a:solidFill>
              </a:rPr>
              <a:t>кейнса</a:t>
            </a:r>
            <a:endParaRPr lang="ru-RU" sz="2400" dirty="0">
              <a:solidFill>
                <a:srgbClr val="FFFFFF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9FCC1E1-84D3-494D-A0A0-286AFA1C3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6E09E90-FF79-402E-AF01-97A279BEA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C6946F8-4B9B-4C51-9F51-2DB377392C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B3D2B3D-A285-438C-A344-AED3E46A0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502DAD4-ECC6-4855-A163-7EAAAFB53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110" y="2052084"/>
            <a:ext cx="3033249" cy="385622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rgbClr val="FFFFFF"/>
                </a:solidFill>
              </a:rPr>
              <a:t>Крест Кейнса: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FFFFFF"/>
                </a:solidFill>
              </a:rPr>
              <a:t>Уменьшение планируемых инвестиций сокращает доход с </a:t>
            </a:r>
            <a:r>
              <a:rPr lang="en-US" sz="2400" dirty="0">
                <a:solidFill>
                  <a:srgbClr val="FFFFFF"/>
                </a:solidFill>
              </a:rPr>
              <a:t>Y1</a:t>
            </a:r>
            <a:r>
              <a:rPr lang="ru-RU" sz="2400" dirty="0">
                <a:solidFill>
                  <a:srgbClr val="FFFFFF"/>
                </a:solidFill>
              </a:rPr>
              <a:t> до</a:t>
            </a:r>
            <a:r>
              <a:rPr lang="en-US" sz="2400" dirty="0">
                <a:solidFill>
                  <a:srgbClr val="FFFFFF"/>
                </a:solidFill>
              </a:rPr>
              <a:t> Y2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CE50CABA-E732-44A5-8295-D3BF62554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800" y="1394161"/>
            <a:ext cx="6866506" cy="406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326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36F6DB7-CF8D-494A-82F6-13B58DCA9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7E5194-6E82-4A44-99C3-FE7D87F34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948BCC-32E4-4E51-ACF7-02EA0CD39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110" y="826346"/>
            <a:ext cx="3171905" cy="1013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2200">
                <a:solidFill>
                  <a:srgbClr val="FFFFFF"/>
                </a:solidFill>
              </a:rPr>
              <a:t>Графический вывод кривой</a:t>
            </a:r>
            <a:r>
              <a:rPr lang="en-US" sz="2200">
                <a:solidFill>
                  <a:srgbClr val="FFFFFF"/>
                </a:solidFill>
              </a:rPr>
              <a:t> IS</a:t>
            </a:r>
            <a:r>
              <a:rPr lang="ru-RU" sz="2200">
                <a:solidFill>
                  <a:srgbClr val="FFFFFF"/>
                </a:solidFill>
              </a:rPr>
              <a:t> из креста кейнса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9FCC1E1-84D3-494D-A0A0-286AFA1C3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6E09E90-FF79-402E-AF01-97A279BEA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C6946F8-4B9B-4C51-9F51-2DB377392C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B3D2B3D-A285-438C-A344-AED3E46A0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C0878C7-84BC-4CD2-9834-780A7B209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110" y="2052084"/>
            <a:ext cx="3033249" cy="385622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rgbClr val="FFFFFF"/>
                </a:solidFill>
              </a:rPr>
              <a:t>Функция инвестиций: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FFFFFF"/>
                </a:solidFill>
              </a:rPr>
              <a:t>Рост ставки процента снижает планируемые инвестиции</a:t>
            </a:r>
            <a:endParaRPr lang="en-US" sz="2400" dirty="0">
              <a:solidFill>
                <a:srgbClr val="FFFFFF"/>
              </a:solidFill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46678C6-6C81-4052-9E86-A535CEB25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701" y="948413"/>
            <a:ext cx="6088704" cy="495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6558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36F6DB7-CF8D-494A-82F6-13B58DCA9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7E5194-6E82-4A44-99C3-FE7D87F34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E8FECD-E304-4224-AC7F-C5FC149C7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110" y="826346"/>
            <a:ext cx="3171905" cy="1013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2200" dirty="0">
                <a:solidFill>
                  <a:srgbClr val="FFFFFF"/>
                </a:solidFill>
              </a:rPr>
              <a:t>Графический вывод кривой</a:t>
            </a:r>
            <a:r>
              <a:rPr lang="en-US" sz="2200" dirty="0">
                <a:solidFill>
                  <a:srgbClr val="FFFFFF"/>
                </a:solidFill>
              </a:rPr>
              <a:t> IS</a:t>
            </a:r>
            <a:r>
              <a:rPr lang="ru-RU" sz="2200" dirty="0">
                <a:solidFill>
                  <a:srgbClr val="FFFFFF"/>
                </a:solidFill>
              </a:rPr>
              <a:t> из креста </a:t>
            </a:r>
            <a:r>
              <a:rPr lang="ru-RU" sz="2200" dirty="0" err="1">
                <a:solidFill>
                  <a:srgbClr val="FFFFFF"/>
                </a:solidFill>
              </a:rPr>
              <a:t>кейнса</a:t>
            </a:r>
            <a:endParaRPr lang="ru-RU" sz="2200" dirty="0">
              <a:solidFill>
                <a:srgbClr val="FFFFFF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9FCC1E1-84D3-494D-A0A0-286AFA1C3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6E09E90-FF79-402E-AF01-97A279BEA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C6946F8-4B9B-4C51-9F51-2DB377392C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B3D2B3D-A285-438C-A344-AED3E46A0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1189B6B-043C-4906-A105-9B4AC1E612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110" y="2052084"/>
            <a:ext cx="3033249" cy="385622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rgbClr val="FFFFFF"/>
                </a:solidFill>
              </a:rPr>
              <a:t>Кривая </a:t>
            </a:r>
            <a:r>
              <a:rPr lang="en-US" sz="2400" dirty="0">
                <a:solidFill>
                  <a:srgbClr val="FFFFFF"/>
                </a:solidFill>
              </a:rPr>
              <a:t>IS</a:t>
            </a:r>
            <a:r>
              <a:rPr lang="ru-RU" sz="2400" dirty="0">
                <a:solidFill>
                  <a:srgbClr val="FFFFFF"/>
                </a:solidFill>
              </a:rPr>
              <a:t>: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FFFFFF"/>
                </a:solidFill>
              </a:rPr>
              <a:t>Чем выше ставка процента, тем ниже уровень дохода </a:t>
            </a:r>
            <a:endParaRPr lang="en-US" sz="2400" dirty="0">
              <a:solidFill>
                <a:srgbClr val="FFFFFF"/>
              </a:solidFill>
            </a:endParaRPr>
          </a:p>
        </p:txBody>
      </p:sp>
      <p:pic>
        <p:nvPicPr>
          <p:cNvPr id="5" name="Объект 4" descr="Изображение выглядит как текст, антенна&#10;&#10;Автоматически созданное описание">
            <a:extLst>
              <a:ext uri="{FF2B5EF4-FFF2-40B4-BE49-F238E27FC236}">
                <a16:creationId xmlns:a16="http://schemas.microsoft.com/office/drawing/2014/main" id="{1192E87B-6AD7-4DA8-BC8E-582303F56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0165" y="948413"/>
            <a:ext cx="6123775" cy="495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9014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B691D59-8F51-4DD8-AD41-D568D29B0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4AEF18-0627-48F3-9B3D-F7E8F050B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AEE08A-C572-438F-9753-B0D527A51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93146F-62ED-4C59-844C-0935D0FB5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F3D65BA-1C65-40FB-92EF-83951BDC1D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8175"/>
            <a:ext cx="12191999" cy="621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E77B11B-3B52-4029-82AB-B06E35664E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7998" y="861702"/>
            <a:ext cx="5967663" cy="5775008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ADF52CCA-FCDD-49A0-BFFC-3BD41F1B8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EB407C-9844-4933-97C4-DF129F65A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6275" y="1419225"/>
            <a:ext cx="3081576" cy="208586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ru-RU" sz="3600" dirty="0">
                <a:solidFill>
                  <a:srgbClr val="FFFFFF"/>
                </a:solidFill>
              </a:rPr>
              <a:t>Графический вывод кривой</a:t>
            </a:r>
            <a:r>
              <a:rPr lang="en-US" sz="3600" dirty="0">
                <a:solidFill>
                  <a:srgbClr val="FFFFFF"/>
                </a:solidFill>
              </a:rPr>
              <a:t> IS</a:t>
            </a:r>
            <a:r>
              <a:rPr lang="ru-RU" sz="3600" dirty="0">
                <a:solidFill>
                  <a:srgbClr val="FFFFFF"/>
                </a:solidFill>
              </a:rPr>
              <a:t> из креста </a:t>
            </a:r>
            <a:r>
              <a:rPr lang="ru-RU" sz="3600" dirty="0" err="1">
                <a:solidFill>
                  <a:srgbClr val="FFFFFF"/>
                </a:solidFill>
              </a:rPr>
              <a:t>кейнса</a:t>
            </a:r>
            <a:endParaRPr lang="en-US" sz="36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4210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397F56-9FCC-4E83-8831-0DB9D350D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Алгебраический вывод кривой </a:t>
            </a:r>
            <a:r>
              <a:rPr lang="en-US" dirty="0"/>
              <a:t>Is</a:t>
            </a:r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80A9B3C-403E-48E9-A101-116602661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1120" y="2804265"/>
            <a:ext cx="5087075" cy="536005"/>
          </a:xfrm>
        </p:spPr>
        <p:txBody>
          <a:bodyPr/>
          <a:lstStyle/>
          <a:p>
            <a:r>
              <a:rPr lang="ru-RU" dirty="0"/>
              <a:t>Уравнение кривой </a:t>
            </a:r>
            <a:r>
              <a:rPr lang="en-US" dirty="0"/>
              <a:t>IS</a:t>
            </a:r>
            <a:r>
              <a:rPr lang="ru-RU" dirty="0"/>
              <a:t> относительно </a:t>
            </a:r>
            <a:r>
              <a:rPr lang="en-US" dirty="0"/>
              <a:t>R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661981A-38C8-47DC-9C2B-5396E844F02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63245" y="3974451"/>
            <a:ext cx="5314950" cy="838200"/>
          </a:xfrm>
        </p:spPr>
      </p:pic>
      <p:sp>
        <p:nvSpPr>
          <p:cNvPr id="7" name="Текст 6">
            <a:extLst>
              <a:ext uri="{FF2B5EF4-FFF2-40B4-BE49-F238E27FC236}">
                <a16:creationId xmlns:a16="http://schemas.microsoft.com/office/drawing/2014/main" id="{10F5EC53-8255-4725-AA9A-91C38B7817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8056" y="2786897"/>
            <a:ext cx="5393100" cy="553373"/>
          </a:xfrm>
        </p:spPr>
        <p:txBody>
          <a:bodyPr/>
          <a:lstStyle/>
          <a:p>
            <a:r>
              <a:rPr lang="ru-RU" dirty="0"/>
              <a:t>Уравнение кривой </a:t>
            </a:r>
            <a:r>
              <a:rPr lang="en-US" dirty="0"/>
              <a:t>IS</a:t>
            </a:r>
            <a:r>
              <a:rPr lang="ru-RU" dirty="0"/>
              <a:t> относительно</a:t>
            </a:r>
            <a:r>
              <a:rPr lang="en-US" dirty="0"/>
              <a:t> Y</a:t>
            </a:r>
            <a:endParaRPr lang="ru-RU" dirty="0"/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82EC9622-009C-47E1-A836-D4D3164B169C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218238" y="3782103"/>
            <a:ext cx="5392737" cy="1222606"/>
          </a:xfr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DF15657-2BA3-4BC9-A0C6-507C9C6EA5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191" y="5298375"/>
            <a:ext cx="1285875" cy="5619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1E50794-BC9F-4E0C-938C-A082A7F473DC}"/>
              </a:ext>
            </a:extLst>
          </p:cNvPr>
          <p:cNvSpPr txBox="1"/>
          <p:nvPr/>
        </p:nvSpPr>
        <p:spPr>
          <a:xfrm>
            <a:off x="2053389" y="5397766"/>
            <a:ext cx="95574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 - коэффициент, характеризующий угол наклона кривой </a:t>
            </a:r>
            <a:r>
              <a:rPr lang="en-US" dirty="0"/>
              <a:t>IS</a:t>
            </a:r>
            <a:r>
              <a:rPr lang="ru-RU" dirty="0"/>
              <a:t> относительно оси </a:t>
            </a:r>
            <a:r>
              <a:rPr lang="en-US" dirty="0"/>
              <a:t>Y</a:t>
            </a:r>
            <a:r>
              <a:rPr lang="ru-RU" dirty="0"/>
              <a:t>, который является одним из параметров сравнительной эффективности фискальной и монетарной политики.</a:t>
            </a:r>
          </a:p>
        </p:txBody>
      </p:sp>
    </p:spTree>
    <p:extLst>
      <p:ext uri="{BB962C8B-B14F-4D97-AF65-F5344CB8AC3E}">
        <p14:creationId xmlns:p14="http://schemas.microsoft.com/office/powerpoint/2010/main" val="10891994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6D5FC6-FD36-40CD-84D7-0F1BA9ABF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Кривая </a:t>
            </a:r>
            <a:r>
              <a:rPr lang="en-US" dirty="0"/>
              <a:t>is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1197D8-3D76-48FE-8337-0ACCC7F9E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Кривая </a:t>
            </a:r>
            <a:r>
              <a:rPr lang="en-US" sz="2400" dirty="0"/>
              <a:t>IS</a:t>
            </a:r>
            <a:r>
              <a:rPr lang="ru-RU" sz="2400" dirty="0"/>
              <a:t> является более пологой при условии, если: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/>
              <a:t>Чувствительность инвестиций (</a:t>
            </a:r>
            <a:r>
              <a:rPr lang="en-US" sz="2400" dirty="0"/>
              <a:t>d)</a:t>
            </a:r>
            <a:r>
              <a:rPr lang="ru-RU" sz="2400" dirty="0"/>
              <a:t> и чистого экспорта </a:t>
            </a:r>
            <a:r>
              <a:rPr lang="en-US" sz="2400" dirty="0"/>
              <a:t>(n) </a:t>
            </a:r>
            <a:r>
              <a:rPr lang="ru-RU" sz="2400" dirty="0"/>
              <a:t>к динамике ставки процента велика;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/>
              <a:t>Предельная склонность к потреблению</a:t>
            </a:r>
            <a:r>
              <a:rPr lang="en-US" sz="2400" dirty="0"/>
              <a:t> (b)</a:t>
            </a:r>
            <a:r>
              <a:rPr lang="ru-RU" sz="2400" dirty="0"/>
              <a:t> велика;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/>
              <a:t>Предельная ставка налогообложения </a:t>
            </a:r>
            <a:r>
              <a:rPr lang="en-US" sz="2400" dirty="0"/>
              <a:t>(t) </a:t>
            </a:r>
            <a:r>
              <a:rPr lang="ru-RU" sz="2400" dirty="0"/>
              <a:t>невелика;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/>
              <a:t>Предельная склонность к импортированию</a:t>
            </a:r>
            <a:r>
              <a:rPr lang="en-US" sz="2400" dirty="0"/>
              <a:t> (m’)</a:t>
            </a:r>
            <a:r>
              <a:rPr lang="ru-RU" sz="2400" dirty="0"/>
              <a:t> невелика.</a:t>
            </a:r>
          </a:p>
          <a:p>
            <a:pPr marL="342900" indent="-342900">
              <a:buFont typeface="+mj-lt"/>
              <a:buAutoNum type="arabicPeriod"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1474012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E8F598-1E26-4086-81E5-E23DACED8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Кривая </a:t>
            </a:r>
            <a:r>
              <a:rPr lang="en-US" dirty="0"/>
              <a:t>Is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3974EF-210F-4152-A7C0-88405BCBB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Под влиянием увеличения государственных расходов или снижения налогов кривая </a:t>
            </a:r>
            <a:r>
              <a:rPr lang="en-US" sz="2400" dirty="0"/>
              <a:t>IS</a:t>
            </a:r>
            <a:r>
              <a:rPr lang="ru-RU" sz="2400" dirty="0"/>
              <a:t> смещается вправо. Изменение налоговых ставок изменяет также и угол ее наклона. В долгосрочной перспективе угол наклона также может быть изменен с помощью политики доходов, так как у высокообеспеченных семей предельная скорость к потреблению относительно ниже, чем у малообеспеченных. Остальные параметры практически не подвержены воздействию макроэкономической политики и преимущественно являются внешними факторами, определяющими ее эффективность. </a:t>
            </a:r>
          </a:p>
        </p:txBody>
      </p:sp>
    </p:spTree>
    <p:extLst>
      <p:ext uri="{BB962C8B-B14F-4D97-AF65-F5344CB8AC3E}">
        <p14:creationId xmlns:p14="http://schemas.microsoft.com/office/powerpoint/2010/main" val="17355925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9A26B8-6C4E-452B-ADD3-ED324A7AB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0AB1CF-998A-4393-9EF3-8987604A7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4721" y="960723"/>
            <a:ext cx="4968489" cy="1013800"/>
          </a:xfrm>
        </p:spPr>
        <p:txBody>
          <a:bodyPr>
            <a:normAutofit/>
          </a:bodyPr>
          <a:lstStyle/>
          <a:p>
            <a:r>
              <a:rPr lang="ru-RU">
                <a:solidFill>
                  <a:schemeClr val="tx2"/>
                </a:solidFill>
              </a:rPr>
              <a:t>Кривая </a:t>
            </a:r>
            <a:r>
              <a:rPr lang="en-US">
                <a:solidFill>
                  <a:schemeClr val="tx2"/>
                </a:solidFill>
              </a:rPr>
              <a:t>lm</a:t>
            </a:r>
            <a:endParaRPr lang="ru-RU">
              <a:solidFill>
                <a:schemeClr val="tx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3E4FEE-2E6A-44AB-B6BA-C1AD0CD6D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560581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17EB59-13B3-43DA-9B91-A7CC174A6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44318" y="457200"/>
            <a:ext cx="5600007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4167E1-E2B0-4192-8DA2-6967DDFF8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560996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24E68F1-062C-4B81-AF14-131DA6F56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114" y="1106419"/>
            <a:ext cx="4674492" cy="4627747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4105C1F6-5379-46A4-8615-713455E86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5987" y="2254102"/>
            <a:ext cx="4947221" cy="3650344"/>
          </a:xfrm>
        </p:spPr>
        <p:txBody>
          <a:bodyPr>
            <a:noAutofit/>
          </a:bodyPr>
          <a:lstStyle/>
          <a:p>
            <a:r>
              <a:rPr lang="ru-RU" sz="2400" dirty="0"/>
              <a:t>Кривая </a:t>
            </a:r>
            <a:r>
              <a:rPr lang="en-US" sz="2400" dirty="0"/>
              <a:t>LM</a:t>
            </a:r>
            <a:r>
              <a:rPr lang="ru-RU" sz="2400" dirty="0"/>
              <a:t> – кривая равновесия на денежном рынке. Она фиксирует все комбинации </a:t>
            </a:r>
            <a:r>
              <a:rPr lang="en-US" sz="2400" dirty="0"/>
              <a:t>Y</a:t>
            </a:r>
            <a:r>
              <a:rPr lang="ru-RU" sz="2400" dirty="0"/>
              <a:t> и</a:t>
            </a:r>
            <a:r>
              <a:rPr lang="en-US" sz="2400" dirty="0"/>
              <a:t> R</a:t>
            </a:r>
            <a:r>
              <a:rPr lang="ru-RU" sz="2400" dirty="0"/>
              <a:t>, которые удовлетворяют функции спроса на деньги при заданной Центральным Банком величине денежного предложения М</a:t>
            </a:r>
            <a:r>
              <a:rPr lang="en-US" sz="2400" dirty="0"/>
              <a:t>s.</a:t>
            </a:r>
            <a:r>
              <a:rPr lang="ru-RU" sz="2400" dirty="0"/>
              <a:t> Во всех точках кривой </a:t>
            </a:r>
            <a:r>
              <a:rPr lang="en-US" sz="2400" dirty="0"/>
              <a:t>LM </a:t>
            </a:r>
            <a:r>
              <a:rPr lang="ru-RU" sz="2400" dirty="0"/>
              <a:t>отражает это равенство ( </a:t>
            </a:r>
            <a:r>
              <a:rPr lang="en-US" sz="2400" dirty="0"/>
              <a:t>Liquidity Preference = Money Supply )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8571252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F7534FA-ACAD-4B4E-98E6-A79284A1A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Равновесие на денежном рынке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155643A1-752E-482E-A85A-F4E3C47F270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74820" y="2254914"/>
            <a:ext cx="4800869" cy="3873428"/>
          </a:xfrm>
        </p:spPr>
      </p:pic>
      <p:sp>
        <p:nvSpPr>
          <p:cNvPr id="6" name="Объект 5">
            <a:extLst>
              <a:ext uri="{FF2B5EF4-FFF2-40B4-BE49-F238E27FC236}">
                <a16:creationId xmlns:a16="http://schemas.microsoft.com/office/drawing/2014/main" id="{603F93DB-2F00-4C4A-ACCA-B918CBA4299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Денежный рынок - сеть институтов и множество экономических субъектов, отношения между которыми обеспечивают взаимодействие предложения денег и спроса на них.</a:t>
            </a:r>
          </a:p>
          <a:p>
            <a:r>
              <a:rPr lang="ru-RU" dirty="0"/>
              <a:t>В точке равновесия спрос на деньги равен их предложению.</a:t>
            </a:r>
          </a:p>
          <a:p>
            <a:r>
              <a:rPr lang="ru-RU" dirty="0"/>
              <a:t>Подвижная процентная ставка удерживает в равновесии денежный рынок.</a:t>
            </a:r>
          </a:p>
        </p:txBody>
      </p:sp>
    </p:spTree>
    <p:extLst>
      <p:ext uri="{BB962C8B-B14F-4D97-AF65-F5344CB8AC3E}">
        <p14:creationId xmlns:p14="http://schemas.microsoft.com/office/powerpoint/2010/main" val="25688418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617373-ED64-42F1-9FD0-471B94BB2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Графический вывод кривой </a:t>
            </a:r>
            <a:r>
              <a:rPr lang="en-US" dirty="0"/>
              <a:t>LM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B507563-83F7-4F2D-9BF7-F7F7CA75C95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25487" y="2339181"/>
            <a:ext cx="5133975" cy="3409950"/>
          </a:xfrm>
        </p:spPr>
      </p:pic>
      <p:sp>
        <p:nvSpPr>
          <p:cNvPr id="6" name="Объект 5">
            <a:extLst>
              <a:ext uri="{FF2B5EF4-FFF2-40B4-BE49-F238E27FC236}">
                <a16:creationId xmlns:a16="http://schemas.microsoft.com/office/drawing/2014/main" id="{925E3E57-D88D-4614-A4DF-EB8886739A5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Денежный рынок: рост дохода от </a:t>
            </a:r>
            <a:r>
              <a:rPr lang="en-US" sz="2400" dirty="0"/>
              <a:t>Y1 </a:t>
            </a:r>
            <a:r>
              <a:rPr lang="ru-RU" sz="2400" dirty="0"/>
              <a:t>до </a:t>
            </a:r>
            <a:r>
              <a:rPr lang="en-US" sz="2400" dirty="0"/>
              <a:t>Y2 </a:t>
            </a:r>
            <a:r>
              <a:rPr lang="ru-RU" sz="2400" dirty="0"/>
              <a:t>увеличивает спрос на деньги и, следовательно, повышает ставку процента от </a:t>
            </a:r>
            <a:r>
              <a:rPr lang="en-US" sz="2400" dirty="0"/>
              <a:t>R1</a:t>
            </a:r>
            <a:r>
              <a:rPr lang="ru-RU" sz="2400" dirty="0"/>
              <a:t> до</a:t>
            </a:r>
            <a:r>
              <a:rPr lang="en-US" sz="2400" dirty="0"/>
              <a:t> R2.</a:t>
            </a:r>
            <a:r>
              <a:rPr lang="ru-RU" sz="2400" dirty="0"/>
              <a:t> </a:t>
            </a:r>
          </a:p>
          <a:p>
            <a:r>
              <a:rPr lang="ru-RU" sz="2400" dirty="0"/>
              <a:t>Кривая </a:t>
            </a:r>
            <a:r>
              <a:rPr lang="en-US" sz="2400" dirty="0"/>
              <a:t>LM</a:t>
            </a:r>
            <a:r>
              <a:rPr lang="ru-RU" sz="2400" dirty="0"/>
              <a:t>: чем выше уровень дохода, тем выше ставка процента</a:t>
            </a:r>
          </a:p>
        </p:txBody>
      </p:sp>
    </p:spTree>
    <p:extLst>
      <p:ext uri="{BB962C8B-B14F-4D97-AF65-F5344CB8AC3E}">
        <p14:creationId xmlns:p14="http://schemas.microsoft.com/office/powerpoint/2010/main" val="41922185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F9BE63-AA03-42CA-9B4B-12326EF92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Алгебраический вывод кривой </a:t>
            </a:r>
            <a:r>
              <a:rPr lang="en-US" dirty="0" err="1"/>
              <a:t>lm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4F9630F-7110-4E25-826B-BC0DBE7409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192" y="2397641"/>
            <a:ext cx="3830387" cy="147743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3AD845-F8BF-47EE-B473-B631A7C60DA7}"/>
              </a:ext>
            </a:extLst>
          </p:cNvPr>
          <p:cNvSpPr txBox="1"/>
          <p:nvPr/>
        </p:nvSpPr>
        <p:spPr>
          <a:xfrm>
            <a:off x="4652210" y="2612721"/>
            <a:ext cx="66253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Коэффициент </a:t>
            </a:r>
            <a:r>
              <a:rPr lang="en-US" dirty="0"/>
              <a:t>k / h </a:t>
            </a:r>
            <a:r>
              <a:rPr lang="ru-RU" dirty="0"/>
              <a:t>характеризует угол наклона кривой </a:t>
            </a:r>
            <a:r>
              <a:rPr lang="en-US" dirty="0"/>
              <a:t>LM</a:t>
            </a:r>
            <a:r>
              <a:rPr lang="ru-RU" dirty="0"/>
              <a:t> относительно оси </a:t>
            </a:r>
            <a:r>
              <a:rPr lang="en-US" dirty="0"/>
              <a:t>Y</a:t>
            </a:r>
            <a:r>
              <a:rPr lang="ru-RU" dirty="0"/>
              <a:t>, который, аналогично углу наклона кривой </a:t>
            </a:r>
            <a:r>
              <a:rPr lang="en-US" dirty="0"/>
              <a:t>IS</a:t>
            </a:r>
            <a:r>
              <a:rPr lang="ru-RU" dirty="0"/>
              <a:t>, определяет сравнительную эффективность фискальной и монетарной политики.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F51AB0-B177-4D06-A3E4-D49DF55F7B52}"/>
              </a:ext>
            </a:extLst>
          </p:cNvPr>
          <p:cNvSpPr txBox="1"/>
          <p:nvPr/>
        </p:nvSpPr>
        <p:spPr>
          <a:xfrm>
            <a:off x="449179" y="4299284"/>
            <a:ext cx="115021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Кривая </a:t>
            </a:r>
            <a:r>
              <a:rPr lang="en-US" dirty="0"/>
              <a:t>LM</a:t>
            </a:r>
            <a:r>
              <a:rPr lang="ru-RU" dirty="0"/>
              <a:t> является относительно пологой при условии, если: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Чувствительность спроса на деньги к динамике рыночной ставки процента (</a:t>
            </a:r>
            <a:r>
              <a:rPr lang="en-US" dirty="0"/>
              <a:t>h) </a:t>
            </a:r>
            <a:r>
              <a:rPr lang="ru-RU" dirty="0"/>
              <a:t>велика;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Чувствительность спроса на деньги к динамике ВВП (</a:t>
            </a:r>
            <a:r>
              <a:rPr lang="en-US" dirty="0"/>
              <a:t>k) </a:t>
            </a:r>
            <a:r>
              <a:rPr lang="ru-RU" dirty="0"/>
              <a:t>невелика.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Увеличение предложения денег М</a:t>
            </a:r>
            <a:r>
              <a:rPr lang="en-US" dirty="0"/>
              <a:t>s</a:t>
            </a:r>
            <a:r>
              <a:rPr lang="ru-RU" dirty="0"/>
              <a:t> или снижения уровня цен Р сдвигает кривую </a:t>
            </a:r>
            <a:r>
              <a:rPr lang="en-US" dirty="0"/>
              <a:t>LM</a:t>
            </a:r>
            <a:r>
              <a:rPr lang="ru-RU" dirty="0"/>
              <a:t> вправо.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02343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CED7894-4F62-4A6C-8DB5-DB5BE08E9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0ACA66-C167-4B6A-B3A8-3B925F7AB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6" y="702155"/>
            <a:ext cx="3568661" cy="1269713"/>
          </a:xfrm>
        </p:spPr>
        <p:txBody>
          <a:bodyPr>
            <a:normAutofit/>
          </a:bodyPr>
          <a:lstStyle/>
          <a:p>
            <a:r>
              <a:rPr lang="ru-RU">
                <a:solidFill>
                  <a:schemeClr val="tx2"/>
                </a:solidFill>
              </a:rPr>
              <a:t>Равновесие в модели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36F3B4-50F6-4C52-8F76-4EB121471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620" y="457200"/>
            <a:ext cx="3511233" cy="9143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CC70136-6B1E-4610-8B1F-2044AC14F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25384"/>
            <a:ext cx="3568661" cy="3634486"/>
          </a:xfrm>
        </p:spPr>
        <p:txBody>
          <a:bodyPr>
            <a:normAutofit/>
          </a:bodyPr>
          <a:lstStyle/>
          <a:p>
            <a:r>
              <a:rPr lang="ru-RU" sz="2400" dirty="0"/>
              <a:t>Равновесие в модели достигается в точке пересечения кривых </a:t>
            </a:r>
            <a:r>
              <a:rPr lang="en-US" sz="2400" dirty="0"/>
              <a:t>IS </a:t>
            </a:r>
            <a:r>
              <a:rPr lang="ru-RU" sz="2400" dirty="0"/>
              <a:t>и </a:t>
            </a:r>
            <a:r>
              <a:rPr lang="en-US" sz="2400" dirty="0"/>
              <a:t>LM</a:t>
            </a:r>
            <a:r>
              <a:rPr lang="ru-RU" sz="2400" dirty="0"/>
              <a:t>.</a:t>
            </a:r>
            <a:endParaRPr lang="en-US" sz="2400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CEB1D87-8968-4D36-B54D-B32502441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473" y="1833159"/>
            <a:ext cx="6735272" cy="414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6968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36F6DB7-CF8D-494A-82F6-13B58DCA9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B7E5194-6E82-4A44-99C3-FE7D87F34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9FCC1E1-84D3-494D-A0A0-286AFA1C3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6E09E90-FF79-402E-AF01-97A279BEA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C6946F8-4B9B-4C51-9F51-2DB377392C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B3D2B3D-A285-438C-A344-AED3E46A0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14017EC-BD37-407F-B718-7549F41C7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694" y="885929"/>
            <a:ext cx="3189664" cy="4191988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ru-RU" dirty="0">
                <a:solidFill>
                  <a:srgbClr val="FFFFFF"/>
                </a:solidFill>
              </a:rPr>
              <a:t>Алгебраически равновесный объем производства может быть найден путем подстановки значения </a:t>
            </a:r>
            <a:r>
              <a:rPr lang="en-US" dirty="0">
                <a:solidFill>
                  <a:srgbClr val="FFFFFF"/>
                </a:solidFill>
              </a:rPr>
              <a:t>R</a:t>
            </a:r>
            <a:r>
              <a:rPr lang="ru-RU" dirty="0">
                <a:solidFill>
                  <a:srgbClr val="FFFFFF"/>
                </a:solidFill>
              </a:rPr>
              <a:t> из уравнения </a:t>
            </a:r>
            <a:r>
              <a:rPr lang="en-US" dirty="0">
                <a:solidFill>
                  <a:srgbClr val="FFFFFF"/>
                </a:solidFill>
              </a:rPr>
              <a:t>IS</a:t>
            </a:r>
            <a:r>
              <a:rPr lang="ru-RU" dirty="0">
                <a:solidFill>
                  <a:srgbClr val="FFFFFF"/>
                </a:solidFill>
              </a:rPr>
              <a:t> в уравнение </a:t>
            </a:r>
            <a:r>
              <a:rPr lang="en-US" dirty="0">
                <a:solidFill>
                  <a:srgbClr val="FFFFFF"/>
                </a:solidFill>
              </a:rPr>
              <a:t>LM</a:t>
            </a:r>
            <a:r>
              <a:rPr lang="ru-RU" dirty="0">
                <a:solidFill>
                  <a:srgbClr val="FFFFFF"/>
                </a:solidFill>
              </a:rPr>
              <a:t> и решения последнего относительно </a:t>
            </a:r>
            <a:r>
              <a:rPr lang="en-US" dirty="0">
                <a:solidFill>
                  <a:srgbClr val="FFFFFF"/>
                </a:solidFill>
              </a:rPr>
              <a:t>Y.</a:t>
            </a:r>
          </a:p>
          <a:p>
            <a:pPr marL="0" indent="0">
              <a:buNone/>
            </a:pPr>
            <a:r>
              <a:rPr lang="ru-RU" dirty="0">
                <a:solidFill>
                  <a:srgbClr val="FFFFFF"/>
                </a:solidFill>
              </a:rPr>
              <a:t>При фиксированном уровне цен Р равновесное значение</a:t>
            </a:r>
            <a:r>
              <a:rPr lang="en-US" dirty="0">
                <a:solidFill>
                  <a:srgbClr val="FFFFFF"/>
                </a:solidFill>
              </a:rPr>
              <a:t> Y</a:t>
            </a:r>
            <a:r>
              <a:rPr lang="ru-RU" dirty="0">
                <a:solidFill>
                  <a:srgbClr val="FFFFFF"/>
                </a:solidFill>
              </a:rPr>
              <a:t> будет единственным. Равновесное значение процентной ставки </a:t>
            </a:r>
            <a:r>
              <a:rPr lang="en-US" dirty="0">
                <a:solidFill>
                  <a:srgbClr val="FFFFFF"/>
                </a:solidFill>
              </a:rPr>
              <a:t>R </a:t>
            </a:r>
            <a:r>
              <a:rPr lang="ru-RU" dirty="0">
                <a:solidFill>
                  <a:srgbClr val="FFFFFF"/>
                </a:solidFill>
              </a:rPr>
              <a:t>может быть найдено путем подстановки равновесного значения </a:t>
            </a:r>
            <a:r>
              <a:rPr lang="en-US" dirty="0">
                <a:solidFill>
                  <a:srgbClr val="FFFFFF"/>
                </a:solidFill>
              </a:rPr>
              <a:t>Y</a:t>
            </a:r>
            <a:r>
              <a:rPr lang="ru-RU" dirty="0">
                <a:solidFill>
                  <a:srgbClr val="FFFFFF"/>
                </a:solidFill>
              </a:rPr>
              <a:t> в уравнение </a:t>
            </a:r>
            <a:r>
              <a:rPr lang="en-US" dirty="0">
                <a:solidFill>
                  <a:srgbClr val="FFFFFF"/>
                </a:solidFill>
              </a:rPr>
              <a:t>IS </a:t>
            </a:r>
            <a:r>
              <a:rPr lang="ru-RU" dirty="0">
                <a:solidFill>
                  <a:srgbClr val="FFFFFF"/>
                </a:solidFill>
              </a:rPr>
              <a:t>и </a:t>
            </a:r>
            <a:r>
              <a:rPr lang="en-US" dirty="0">
                <a:solidFill>
                  <a:srgbClr val="FFFFFF"/>
                </a:solidFill>
              </a:rPr>
              <a:t>LM</a:t>
            </a:r>
            <a:r>
              <a:rPr lang="ru-RU" dirty="0">
                <a:solidFill>
                  <a:srgbClr val="FFFFFF"/>
                </a:solidFill>
              </a:rPr>
              <a:t> и решения его относительно </a:t>
            </a:r>
            <a:r>
              <a:rPr lang="en-US" dirty="0">
                <a:solidFill>
                  <a:srgbClr val="FFFFFF"/>
                </a:solidFill>
              </a:rPr>
              <a:t>R.</a:t>
            </a:r>
          </a:p>
        </p:txBody>
      </p:sp>
      <p:pic>
        <p:nvPicPr>
          <p:cNvPr id="5" name="Объект 4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66575609-7B6E-4803-9054-AC66A3ADB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800" y="2037896"/>
            <a:ext cx="6866506" cy="278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909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68C949-567D-4CBC-8B5F-08BC6CAA3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FFFFFF"/>
                </a:solidFill>
              </a:rPr>
              <a:t>Относительная эффективность бюджетно-налоговой политики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97CBABC-30B5-4BFF-9563-457C6C8E7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4784" y="2201990"/>
            <a:ext cx="5884536" cy="3678303"/>
          </a:xfrm>
        </p:spPr>
        <p:txBody>
          <a:bodyPr>
            <a:normAutofit/>
          </a:bodyPr>
          <a:lstStyle/>
          <a:p>
            <a:r>
              <a:rPr lang="ru-RU" sz="2400" dirty="0"/>
              <a:t> Рост государственных расходов и снижение налогов приводит к эффекту вытеснения, который значительно снижает результативность стимулирующий фискальной политики.</a:t>
            </a:r>
          </a:p>
          <a:p>
            <a:endParaRPr lang="en-US" sz="24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F7002C78-F18D-4130-BC3D-DCC706D2C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08" y="2016040"/>
            <a:ext cx="6388029" cy="2876801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EAEECEF3-5D83-488D-A013-D4288BF7E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918" y="5223068"/>
            <a:ext cx="6185866" cy="746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8692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3569DE-1395-4F20-AE8B-76C9BC9FD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ru-RU">
                <a:solidFill>
                  <a:srgbClr val="FFFFFF"/>
                </a:solidFill>
              </a:rPr>
              <a:t>Относительная эффективность стимулирующей фискальной политики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8481A2-0A40-4D25-8849-5B4208C96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6910" y="1892628"/>
            <a:ext cx="3699935" cy="3966172"/>
          </a:xfrm>
        </p:spPr>
        <p:txBody>
          <a:bodyPr>
            <a:normAutofit/>
          </a:bodyPr>
          <a:lstStyle/>
          <a:p>
            <a:r>
              <a:rPr lang="ru-RU" sz="2400" dirty="0"/>
              <a:t>Определяется величиной эффекта вытеснения. Если эффект вытеснения меньше, чем эффект роста выпуска, то, при прочих равных условиях, фискальная политика эффективна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30EDCD6-43D2-4FFD-8EF0-9A10BAADC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56597">
            <a:off x="575155" y="2028073"/>
            <a:ext cx="6515456" cy="291543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ACC56D2-2A56-43A9-B5F7-6E7AA10AE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55" y="5231594"/>
            <a:ext cx="5389326" cy="125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496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019DBAF-F364-415F-AF43-D2269BD29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Эффект вытеснения относительно незначительный</a:t>
            </a: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C0A43B23-F21B-4367-B740-5C33A7A01CC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5154" y="2228003"/>
            <a:ext cx="6626708" cy="3322565"/>
          </a:xfrm>
        </p:spPr>
      </p:pic>
      <p:sp>
        <p:nvSpPr>
          <p:cNvPr id="6" name="Объект 5">
            <a:extLst>
              <a:ext uri="{FF2B5EF4-FFF2-40B4-BE49-F238E27FC236}">
                <a16:creationId xmlns:a16="http://schemas.microsoft.com/office/drawing/2014/main" id="{F3BEE6AA-C22F-40A4-A8FE-26B1C900D0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41861" y="2228003"/>
            <a:ext cx="4868947" cy="3633047"/>
          </a:xfrm>
        </p:spPr>
        <p:txBody>
          <a:bodyPr/>
          <a:lstStyle/>
          <a:p>
            <a:r>
              <a:rPr lang="ru-RU" dirty="0"/>
              <a:t>Коэффициенты чувствительности</a:t>
            </a:r>
            <a:r>
              <a:rPr lang="en-US" dirty="0"/>
              <a:t> d </a:t>
            </a:r>
            <a:r>
              <a:rPr lang="ru-RU" dirty="0"/>
              <a:t>и</a:t>
            </a:r>
            <a:r>
              <a:rPr lang="en-US" dirty="0"/>
              <a:t> n</a:t>
            </a:r>
            <a:r>
              <a:rPr lang="ru-RU" dirty="0"/>
              <a:t> относительно малы, даже значительное увеличение</a:t>
            </a:r>
            <a:r>
              <a:rPr lang="en-US" dirty="0"/>
              <a:t> R</a:t>
            </a:r>
            <a:r>
              <a:rPr lang="ru-RU" dirty="0"/>
              <a:t> вызовет лишь небольшое вытеснение </a:t>
            </a:r>
            <a:r>
              <a:rPr lang="en-US" dirty="0"/>
              <a:t>I </a:t>
            </a:r>
            <a:r>
              <a:rPr lang="ru-RU" dirty="0"/>
              <a:t>и </a:t>
            </a:r>
            <a:r>
              <a:rPr lang="en-US" dirty="0" err="1"/>
              <a:t>Xn</a:t>
            </a:r>
            <a:r>
              <a:rPr lang="ru-RU" dirty="0"/>
              <a:t>, поэтому общий прирост</a:t>
            </a:r>
            <a:r>
              <a:rPr lang="en-US" dirty="0"/>
              <a:t> Y</a:t>
            </a:r>
            <a:r>
              <a:rPr lang="ru-RU" dirty="0"/>
              <a:t> будет существенным.</a:t>
            </a:r>
          </a:p>
        </p:txBody>
      </p:sp>
    </p:spTree>
    <p:extLst>
      <p:ext uri="{BB962C8B-B14F-4D97-AF65-F5344CB8AC3E}">
        <p14:creationId xmlns:p14="http://schemas.microsoft.com/office/powerpoint/2010/main" val="7790724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7EAF5A-A298-45D3-9899-33754823B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Эффект вытеснения относительно незначительный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702078D6-FFA8-427C-9EBC-39972B70115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20366" y="2711116"/>
            <a:ext cx="7023006" cy="3149934"/>
          </a:xfrm>
        </p:spPr>
      </p:pic>
      <p:sp>
        <p:nvSpPr>
          <p:cNvPr id="5" name="Объект 4">
            <a:extLst>
              <a:ext uri="{FF2B5EF4-FFF2-40B4-BE49-F238E27FC236}">
                <a16:creationId xmlns:a16="http://schemas.microsoft.com/office/drawing/2014/main" id="{B26F8195-7D18-4539-93E5-6202002E56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75621" y="2228003"/>
            <a:ext cx="4135188" cy="3633047"/>
          </a:xfrm>
        </p:spPr>
        <p:txBody>
          <a:bodyPr/>
          <a:lstStyle/>
          <a:p>
            <a:r>
              <a:rPr lang="ru-RU" dirty="0"/>
              <a:t>Поскольку повышение </a:t>
            </a:r>
            <a:r>
              <a:rPr lang="en-US" dirty="0"/>
              <a:t>R</a:t>
            </a:r>
            <a:r>
              <a:rPr lang="ru-RU" dirty="0"/>
              <a:t> незначительно, то и эффект вытеснения будет относительно мал (даже при относительно высоких коэффициентах чувствительности </a:t>
            </a:r>
            <a:r>
              <a:rPr lang="en-US" dirty="0"/>
              <a:t>I</a:t>
            </a:r>
            <a:r>
              <a:rPr lang="ru-RU" dirty="0"/>
              <a:t> и </a:t>
            </a:r>
            <a:r>
              <a:rPr lang="en-US" dirty="0" err="1"/>
              <a:t>Xn</a:t>
            </a:r>
            <a:r>
              <a:rPr lang="en-US" dirty="0"/>
              <a:t> </a:t>
            </a:r>
            <a:r>
              <a:rPr lang="ru-RU" dirty="0"/>
              <a:t>к динамике </a:t>
            </a:r>
            <a:r>
              <a:rPr lang="en-US" dirty="0"/>
              <a:t>R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895136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29578E-EEE5-47EF-854F-5A0B44DBD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Эффект вытеснения относительно незначительный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E2B52B29-A513-4CB6-AB29-8881014E9B5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77297" y="2200004"/>
            <a:ext cx="5117650" cy="3928337"/>
          </a:xfrm>
        </p:spPr>
      </p:pic>
      <p:sp>
        <p:nvSpPr>
          <p:cNvPr id="5" name="Объект 4">
            <a:extLst>
              <a:ext uri="{FF2B5EF4-FFF2-40B4-BE49-F238E27FC236}">
                <a16:creationId xmlns:a16="http://schemas.microsoft.com/office/drawing/2014/main" id="{0C15CACD-3147-4849-8D58-B30F8F8A7D3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Стимулирующая фискальная политика оказывается наиболее эффективной при сочетании относительно крутой </a:t>
            </a:r>
            <a:r>
              <a:rPr lang="en-US" dirty="0"/>
              <a:t>IS</a:t>
            </a:r>
            <a:r>
              <a:rPr lang="ru-RU" dirty="0"/>
              <a:t> и относительно пологой</a:t>
            </a:r>
            <a:r>
              <a:rPr lang="en-US" dirty="0"/>
              <a:t> LM</a:t>
            </a:r>
            <a:r>
              <a:rPr lang="ru-RU" dirty="0"/>
              <a:t>. Эффект вытеснения очень мал, так как и повышение ставок процента очень незначительно, и коэффициенты </a:t>
            </a:r>
            <a:r>
              <a:rPr lang="en-US" dirty="0"/>
              <a:t>d</a:t>
            </a:r>
            <a:r>
              <a:rPr lang="ru-RU" dirty="0"/>
              <a:t> и</a:t>
            </a:r>
            <a:r>
              <a:rPr lang="en-US" dirty="0"/>
              <a:t> n</a:t>
            </a:r>
            <a:r>
              <a:rPr lang="ru-RU" dirty="0"/>
              <a:t> очень малы.</a:t>
            </a:r>
          </a:p>
          <a:p>
            <a:r>
              <a:rPr lang="ru-RU" dirty="0"/>
              <a:t>Стимулирующая фискальная политика относительно неэффективна, если эффект вытеснения превосходит эффект прироста выпуска.</a:t>
            </a:r>
          </a:p>
        </p:txBody>
      </p:sp>
    </p:spTree>
    <p:extLst>
      <p:ext uri="{BB962C8B-B14F-4D97-AF65-F5344CB8AC3E}">
        <p14:creationId xmlns:p14="http://schemas.microsoft.com/office/powerpoint/2010/main" val="1372778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76B7C8-04C2-41FE-85C3-6D0221CE6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Эффект вытеснения значителен, если: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A2DF5783-7AB5-46A1-B3B2-9ABE536E9A6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33695" y="2957601"/>
            <a:ext cx="5954722" cy="2368378"/>
          </a:xfrm>
        </p:spPr>
      </p:pic>
      <p:sp>
        <p:nvSpPr>
          <p:cNvPr id="5" name="Объект 4">
            <a:extLst>
              <a:ext uri="{FF2B5EF4-FFF2-40B4-BE49-F238E27FC236}">
                <a16:creationId xmlns:a16="http://schemas.microsoft.com/office/drawing/2014/main" id="{731E785D-DC12-4EE9-A818-3CBDCE4E872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Коэффициенты</a:t>
            </a:r>
            <a:r>
              <a:rPr lang="en-US" dirty="0"/>
              <a:t> d </a:t>
            </a:r>
            <a:r>
              <a:rPr lang="ru-RU" dirty="0"/>
              <a:t>и </a:t>
            </a:r>
            <a:r>
              <a:rPr lang="en-US" dirty="0"/>
              <a:t>n</a:t>
            </a:r>
            <a:r>
              <a:rPr lang="ru-RU" dirty="0"/>
              <a:t> очень велики, даже незначительное увеличение </a:t>
            </a:r>
            <a:r>
              <a:rPr lang="en-US" dirty="0"/>
              <a:t>R </a:t>
            </a:r>
            <a:r>
              <a:rPr lang="ru-RU" dirty="0"/>
              <a:t>вызовет большое снижение </a:t>
            </a:r>
            <a:r>
              <a:rPr lang="en-US" dirty="0"/>
              <a:t>I </a:t>
            </a:r>
            <a:r>
              <a:rPr lang="ru-RU" dirty="0"/>
              <a:t>и </a:t>
            </a:r>
            <a:r>
              <a:rPr lang="en-US" dirty="0" err="1"/>
              <a:t>Xn</a:t>
            </a:r>
            <a:r>
              <a:rPr lang="ru-RU" dirty="0"/>
              <a:t> и поэтому общий прирост </a:t>
            </a:r>
            <a:r>
              <a:rPr lang="en-US" dirty="0"/>
              <a:t>Y</a:t>
            </a:r>
            <a:r>
              <a:rPr lang="ru-RU" dirty="0"/>
              <a:t> будет мал.</a:t>
            </a:r>
          </a:p>
        </p:txBody>
      </p:sp>
    </p:spTree>
    <p:extLst>
      <p:ext uri="{BB962C8B-B14F-4D97-AF65-F5344CB8AC3E}">
        <p14:creationId xmlns:p14="http://schemas.microsoft.com/office/powerpoint/2010/main" val="412341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6A1179-986C-4D80-ADA5-9D514D754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Эффект вытеснения значителен, если: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8AA83F81-00EB-499A-A0CB-84EF3D92301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2760370"/>
            <a:ext cx="6462143" cy="2726029"/>
          </a:xfrm>
        </p:spPr>
      </p:pic>
      <p:sp>
        <p:nvSpPr>
          <p:cNvPr id="5" name="Объект 4">
            <a:extLst>
              <a:ext uri="{FF2B5EF4-FFF2-40B4-BE49-F238E27FC236}">
                <a16:creationId xmlns:a16="http://schemas.microsoft.com/office/drawing/2014/main" id="{D31305C4-58F9-4E39-B54E-591670BF4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62143" y="2228003"/>
            <a:ext cx="5148666" cy="3633047"/>
          </a:xfrm>
        </p:spPr>
        <p:txBody>
          <a:bodyPr/>
          <a:lstStyle/>
          <a:p>
            <a:r>
              <a:rPr lang="ru-RU" dirty="0"/>
              <a:t>В этом случае, чтобы уравновесить денежный рынок, нужно очень значительное повышение </a:t>
            </a:r>
            <a:r>
              <a:rPr lang="en-US" dirty="0"/>
              <a:t>R.</a:t>
            </a:r>
            <a:r>
              <a:rPr lang="ru-RU" dirty="0"/>
              <a:t> Это вызывает сильный эффект вытеснения даже при относительно небольших коэффициентах </a:t>
            </a:r>
            <a:r>
              <a:rPr lang="en-US" dirty="0"/>
              <a:t>d </a:t>
            </a:r>
            <a:r>
              <a:rPr lang="ru-RU" dirty="0"/>
              <a:t>и</a:t>
            </a:r>
            <a:r>
              <a:rPr lang="en-US" dirty="0"/>
              <a:t> n.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01212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01E548-8374-4831-A04B-6417EBFC3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Эффект вытеснения значителен, если: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3A7B7249-1090-444F-8B1D-EFA1F023152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81191" y="2103876"/>
            <a:ext cx="4488114" cy="4024466"/>
          </a:xfrm>
        </p:spPr>
      </p:pic>
      <p:sp>
        <p:nvSpPr>
          <p:cNvPr id="5" name="Объект 4">
            <a:extLst>
              <a:ext uri="{FF2B5EF4-FFF2-40B4-BE49-F238E27FC236}">
                <a16:creationId xmlns:a16="http://schemas.microsoft.com/office/drawing/2014/main" id="{408671DA-D904-4489-97D3-1411A126D64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Стимулирующая фискальная политика оказывается наименее эффективной в случае сочетания относительно пологой </a:t>
            </a:r>
            <a:r>
              <a:rPr lang="en-US" dirty="0"/>
              <a:t>IS</a:t>
            </a:r>
            <a:r>
              <a:rPr lang="ru-RU" dirty="0"/>
              <a:t> и крутой</a:t>
            </a:r>
            <a:r>
              <a:rPr lang="en-US" dirty="0"/>
              <a:t> LM</a:t>
            </a:r>
            <a:r>
              <a:rPr lang="ru-RU" dirty="0"/>
              <a:t>. В этом случае прирост </a:t>
            </a:r>
            <a:r>
              <a:rPr lang="en-US" dirty="0"/>
              <a:t>Y</a:t>
            </a:r>
            <a:r>
              <a:rPr lang="ru-RU" dirty="0"/>
              <a:t>, равный (</a:t>
            </a:r>
            <a:r>
              <a:rPr lang="en-US" dirty="0"/>
              <a:t>Y0Y1)</a:t>
            </a:r>
            <a:r>
              <a:rPr lang="ru-RU" dirty="0"/>
              <a:t>, очень мал, так как и повышение ставок процента очень велико, и коэффициенты </a:t>
            </a:r>
            <a:r>
              <a:rPr lang="en-US" dirty="0"/>
              <a:t>d</a:t>
            </a:r>
            <a:r>
              <a:rPr lang="ru-RU" dirty="0"/>
              <a:t> и</a:t>
            </a:r>
            <a:r>
              <a:rPr lang="en-US" dirty="0"/>
              <a:t> n </a:t>
            </a:r>
            <a:r>
              <a:rPr lang="ru-RU" dirty="0"/>
              <a:t>значительны.</a:t>
            </a:r>
          </a:p>
        </p:txBody>
      </p:sp>
    </p:spTree>
    <p:extLst>
      <p:ext uri="{BB962C8B-B14F-4D97-AF65-F5344CB8AC3E}">
        <p14:creationId xmlns:p14="http://schemas.microsoft.com/office/powerpoint/2010/main" val="28136471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5EBEA7-34D6-4566-96E8-99E220E84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Относительная эффективность стимулирующей монетарной политики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32BB460C-78C0-4F2E-91F5-43A745C262C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05852" y="2013628"/>
            <a:ext cx="3898232" cy="4339046"/>
          </a:xfrm>
        </p:spPr>
      </p:pic>
      <p:sp>
        <p:nvSpPr>
          <p:cNvPr id="5" name="Объект 4">
            <a:extLst>
              <a:ext uri="{FF2B5EF4-FFF2-40B4-BE49-F238E27FC236}">
                <a16:creationId xmlns:a16="http://schemas.microsoft.com/office/drawing/2014/main" id="{7CD52AAE-75AB-4C11-8BD0-B01815F4ACC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Определяется величиной стимулирующего эффекта от увеличения денежной массы и снижения процентных ставок на динамику инвестиций и чистого экспорта. </a:t>
            </a:r>
          </a:p>
          <a:p>
            <a:r>
              <a:rPr lang="ru-RU" dirty="0"/>
              <a:t>Этот стимулирующий эффект противоположен эффекту вытеснения, относительно велик в двух случаях: 1) в этом случае даже незначительное снижение</a:t>
            </a:r>
            <a:r>
              <a:rPr lang="en-US" dirty="0"/>
              <a:t> R</a:t>
            </a:r>
            <a:r>
              <a:rPr lang="ru-RU" dirty="0"/>
              <a:t> в ответ на рост денежной массы приводит к значительному росту</a:t>
            </a:r>
            <a:r>
              <a:rPr lang="en-US" dirty="0"/>
              <a:t> I</a:t>
            </a:r>
            <a:r>
              <a:rPr lang="ru-RU" dirty="0"/>
              <a:t> и </a:t>
            </a:r>
            <a:r>
              <a:rPr lang="en-US" dirty="0" err="1"/>
              <a:t>Xn</a:t>
            </a:r>
            <a:r>
              <a:rPr lang="ru-RU" dirty="0"/>
              <a:t>, что существенно увеличивает </a:t>
            </a:r>
            <a:r>
              <a:rPr lang="en-US" dirty="0"/>
              <a:t>Y. </a:t>
            </a:r>
            <a:r>
              <a:rPr lang="ru-RU" dirty="0"/>
              <a:t> Угол наклона кривой</a:t>
            </a:r>
            <a:r>
              <a:rPr lang="en-US" dirty="0"/>
              <a:t> LM </a:t>
            </a:r>
            <a:r>
              <a:rPr lang="ru-RU" dirty="0"/>
              <a:t>в данном случае второстепенное значение.</a:t>
            </a:r>
          </a:p>
        </p:txBody>
      </p:sp>
    </p:spTree>
    <p:extLst>
      <p:ext uri="{BB962C8B-B14F-4D97-AF65-F5344CB8AC3E}">
        <p14:creationId xmlns:p14="http://schemas.microsoft.com/office/powerpoint/2010/main" val="10706380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56F0128-A89C-43F0-BE59-FF588242F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Относительная эффективность стимулирующей монетарной политики</a:t>
            </a: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033080C1-D748-492B-9FCF-06F148A1A05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38507" y="2438400"/>
            <a:ext cx="6086260" cy="2550695"/>
          </a:xfrm>
        </p:spPr>
      </p:pic>
      <p:sp>
        <p:nvSpPr>
          <p:cNvPr id="6" name="Объект 5">
            <a:extLst>
              <a:ext uri="{FF2B5EF4-FFF2-40B4-BE49-F238E27FC236}">
                <a16:creationId xmlns:a16="http://schemas.microsoft.com/office/drawing/2014/main" id="{62D2FBAC-1EE3-4248-9AD5-684E0BAAF2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767" y="2228003"/>
            <a:ext cx="5286042" cy="3633047"/>
          </a:xfrm>
        </p:spPr>
        <p:txBody>
          <a:bodyPr/>
          <a:lstStyle/>
          <a:p>
            <a:r>
              <a:rPr lang="ru-RU" dirty="0"/>
              <a:t>2) В этом случае прирост денежной массы сопровождается очень большим снижением процентных ставок, что сильно увеличивает </a:t>
            </a:r>
            <a:r>
              <a:rPr lang="en-US" dirty="0"/>
              <a:t>I</a:t>
            </a:r>
            <a:r>
              <a:rPr lang="ru-RU" dirty="0"/>
              <a:t> и </a:t>
            </a:r>
            <a:r>
              <a:rPr lang="en-US" dirty="0" err="1"/>
              <a:t>Xn</a:t>
            </a:r>
            <a:r>
              <a:rPr lang="ru-RU" dirty="0"/>
              <a:t> даже при относительно незначительных коэффициентах </a:t>
            </a:r>
            <a:r>
              <a:rPr lang="en-US" dirty="0"/>
              <a:t>d</a:t>
            </a:r>
            <a:r>
              <a:rPr lang="ru-RU" dirty="0"/>
              <a:t> и</a:t>
            </a:r>
            <a:r>
              <a:rPr lang="en-US" dirty="0"/>
              <a:t> n</a:t>
            </a:r>
            <a:r>
              <a:rPr lang="ru-RU" dirty="0"/>
              <a:t>. Угол наклона </a:t>
            </a:r>
            <a:r>
              <a:rPr lang="en-US" dirty="0"/>
              <a:t>IS</a:t>
            </a:r>
            <a:r>
              <a:rPr lang="ru-RU" dirty="0"/>
              <a:t> в данном случае имеет второстепенное значение.</a:t>
            </a:r>
          </a:p>
        </p:txBody>
      </p:sp>
    </p:spTree>
    <p:extLst>
      <p:ext uri="{BB962C8B-B14F-4D97-AF65-F5344CB8AC3E}">
        <p14:creationId xmlns:p14="http://schemas.microsoft.com/office/powerpoint/2010/main" val="11346411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8872C4A-F7D2-4953-AC7F-216926680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Стимулирующая денежно-кредитная политика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937C1E02-D112-4D1A-A28B-8079F9C8654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42737" y="2273394"/>
            <a:ext cx="4897679" cy="3854948"/>
          </a:xfrm>
        </p:spPr>
      </p:pic>
      <p:sp>
        <p:nvSpPr>
          <p:cNvPr id="6" name="Объект 5">
            <a:extLst>
              <a:ext uri="{FF2B5EF4-FFF2-40B4-BE49-F238E27FC236}">
                <a16:creationId xmlns:a16="http://schemas.microsoft.com/office/drawing/2014/main" id="{81E6BB28-A820-449B-A0CD-82B26151AD7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Наиболее эффективна при сочетании относительно крутой </a:t>
            </a:r>
            <a:r>
              <a:rPr lang="en-US" dirty="0"/>
              <a:t>LM </a:t>
            </a:r>
            <a:r>
              <a:rPr lang="ru-RU" dirty="0"/>
              <a:t>и пологой</a:t>
            </a:r>
            <a:r>
              <a:rPr lang="en-US" dirty="0"/>
              <a:t> IS</a:t>
            </a:r>
            <a:r>
              <a:rPr lang="ru-RU" dirty="0"/>
              <a:t>. В этом случае и снижение процентных ставок весьма существенно, и коэффициенты </a:t>
            </a:r>
            <a:r>
              <a:rPr lang="en-US" dirty="0"/>
              <a:t>d</a:t>
            </a:r>
            <a:r>
              <a:rPr lang="ru-RU" dirty="0"/>
              <a:t> и</a:t>
            </a:r>
            <a:r>
              <a:rPr lang="en-US" dirty="0"/>
              <a:t> n</a:t>
            </a:r>
            <a:r>
              <a:rPr lang="ru-RU" dirty="0"/>
              <a:t> значительны. Поэтому прирост</a:t>
            </a:r>
            <a:r>
              <a:rPr lang="en-US" dirty="0"/>
              <a:t> Y</a:t>
            </a:r>
            <a:r>
              <a:rPr lang="ru-RU" dirty="0"/>
              <a:t>, равный (</a:t>
            </a:r>
            <a:r>
              <a:rPr lang="en-US" dirty="0"/>
              <a:t> Y0Y1</a:t>
            </a:r>
            <a:r>
              <a:rPr lang="ru-RU" dirty="0"/>
              <a:t>), относительно велик.</a:t>
            </a:r>
          </a:p>
        </p:txBody>
      </p:sp>
    </p:spTree>
    <p:extLst>
      <p:ext uri="{BB962C8B-B14F-4D97-AF65-F5344CB8AC3E}">
        <p14:creationId xmlns:p14="http://schemas.microsoft.com/office/powerpoint/2010/main" val="15759017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875149D-F692-45DA-8324-D5E0193D5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54589C-3050-4759-B3E9-07921091F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800930"/>
            <a:ext cx="5351431" cy="2256390"/>
          </a:xfrm>
        </p:spPr>
        <p:txBody>
          <a:bodyPr anchor="ctr">
            <a:normAutofit/>
          </a:bodyPr>
          <a:lstStyle/>
          <a:p>
            <a:r>
              <a:rPr lang="ru-RU">
                <a:solidFill>
                  <a:schemeClr val="tx2"/>
                </a:solidFill>
              </a:rPr>
              <a:t>Стимулирующая денежно-кредитная политика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4EE8A32-B29E-46B5-B8B8-0148869E90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5596128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B92E81-4F6A-4CF1-B486-AE63E15F31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49338" y="453643"/>
            <a:ext cx="5596128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42F2B67-4A1E-4546-B278-007438F6B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4357" y="800930"/>
            <a:ext cx="5491110" cy="2256390"/>
          </a:xfrm>
        </p:spPr>
        <p:txBody>
          <a:bodyPr>
            <a:normAutofit/>
          </a:bodyPr>
          <a:lstStyle/>
          <a:p>
            <a:r>
              <a:rPr lang="ru-RU" dirty="0"/>
              <a:t>Относительно неэффективна при высокой чувствительности спроса на деньги к динамике</a:t>
            </a:r>
            <a:r>
              <a:rPr lang="en-US" dirty="0"/>
              <a:t> R</a:t>
            </a:r>
            <a:r>
              <a:rPr lang="ru-RU" dirty="0"/>
              <a:t>, а также низкой чувствительности инвестиций и чистого экспорт к динамике ставки процента.</a:t>
            </a:r>
            <a:endParaRPr lang="en-US" dirty="0"/>
          </a:p>
        </p:txBody>
      </p:sp>
      <p:pic>
        <p:nvPicPr>
          <p:cNvPr id="9" name="Рисунок 8" descr="Изображение выглядит как текст, газета, документ&#10;&#10;Автоматически созданное описание">
            <a:extLst>
              <a:ext uri="{FF2B5EF4-FFF2-40B4-BE49-F238E27FC236}">
                <a16:creationId xmlns:a16="http://schemas.microsoft.com/office/drawing/2014/main" id="{0BC1D152-ADE6-490E-9B16-0EC75280F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79" y="3266593"/>
            <a:ext cx="6095147" cy="3310670"/>
          </a:xfrm>
          <a:prstGeom prst="rect">
            <a:avLst/>
          </a:prstGeom>
        </p:spPr>
      </p:pic>
      <p:pic>
        <p:nvPicPr>
          <p:cNvPr id="7" name="Объект 6">
            <a:extLst>
              <a:ext uri="{FF2B5EF4-FFF2-40B4-BE49-F238E27FC236}">
                <a16:creationId xmlns:a16="http://schemas.microsoft.com/office/drawing/2014/main" id="{57A76AE7-8CCA-4A86-87CF-BE3EE9115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357" y="3443848"/>
            <a:ext cx="5489646" cy="2648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7827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0C3C9E1-5263-43F5-ABA1-21C343338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Эффективность монетарной политики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FB39EFB1-0591-4737-948B-6655373A869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81191" y="2228002"/>
            <a:ext cx="5225358" cy="3776309"/>
          </a:xfrm>
        </p:spPr>
      </p:pic>
      <p:sp>
        <p:nvSpPr>
          <p:cNvPr id="6" name="Объект 5">
            <a:extLst>
              <a:ext uri="{FF2B5EF4-FFF2-40B4-BE49-F238E27FC236}">
                <a16:creationId xmlns:a16="http://schemas.microsoft.com/office/drawing/2014/main" id="{C959F8C6-4CAA-40BB-BE22-298E7E2FEF3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Монетарная политика наименее эффективна при одновременном сочетании крутой</a:t>
            </a:r>
            <a:r>
              <a:rPr lang="en-US" dirty="0"/>
              <a:t> IS </a:t>
            </a:r>
            <a:r>
              <a:rPr lang="ru-RU" dirty="0"/>
              <a:t>и пологой </a:t>
            </a:r>
            <a:r>
              <a:rPr lang="en-US" dirty="0"/>
              <a:t>LM</a:t>
            </a:r>
            <a:r>
              <a:rPr lang="ru-RU" dirty="0"/>
              <a:t>. В этом случае и </a:t>
            </a:r>
            <a:r>
              <a:rPr lang="en-US" dirty="0"/>
              <a:t>R</a:t>
            </a:r>
            <a:r>
              <a:rPr lang="ru-RU" dirty="0"/>
              <a:t> снижается незначительно, и реакция на это со стороны </a:t>
            </a:r>
            <a:r>
              <a:rPr lang="en-US" dirty="0"/>
              <a:t>I</a:t>
            </a:r>
            <a:r>
              <a:rPr lang="ru-RU" dirty="0"/>
              <a:t> и </a:t>
            </a:r>
            <a:r>
              <a:rPr lang="en-US" dirty="0" err="1"/>
              <a:t>Xn</a:t>
            </a:r>
            <a:r>
              <a:rPr lang="en-US" dirty="0"/>
              <a:t> </a:t>
            </a:r>
            <a:r>
              <a:rPr lang="ru-RU"/>
              <a:t>очень </a:t>
            </a:r>
            <a:r>
              <a:rPr lang="ru-RU" dirty="0"/>
              <a:t>слабая. Поэтому общий прирост очень невелик и равен (</a:t>
            </a:r>
            <a:r>
              <a:rPr lang="en-US" dirty="0"/>
              <a:t>Y0Y1)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6518276"/>
      </p:ext>
    </p:extLst>
  </p:cSld>
  <p:clrMapOvr>
    <a:masterClrMapping/>
  </p:clrMapOvr>
</p:sld>
</file>

<file path=ppt/theme/theme1.xml><?xml version="1.0" encoding="utf-8"?>
<a:theme xmlns:a="http://schemas.openxmlformats.org/drawingml/2006/main" name="Дивиденд">
  <a:themeElements>
    <a:clrScheme name="Дивиденд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Дивиденд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Дивиденд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7C6FB1BA07482649B02F4839C4C80328" ma:contentTypeVersion="4" ma:contentTypeDescription="Создание документа." ma:contentTypeScope="" ma:versionID="0e5b13ed61f7aa3f2d8fe36b9c4a040a">
  <xsd:schema xmlns:xsd="http://www.w3.org/2001/XMLSchema" xmlns:xs="http://www.w3.org/2001/XMLSchema" xmlns:p="http://schemas.microsoft.com/office/2006/metadata/properties" xmlns:ns3="bf21a43b-a9be-43d6-a88d-bdaec9a0391b" targetNamespace="http://schemas.microsoft.com/office/2006/metadata/properties" ma:root="true" ma:fieldsID="6937714f5048d6ed3ce533eede1dc05d" ns3:_="">
    <xsd:import namespace="bf21a43b-a9be-43d6-a88d-bdaec9a0391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21a43b-a9be-43d6-a88d-bdaec9a0391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5955DC2-2908-472E-A943-D9E56CB73F9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4256917-8D34-4F55-8655-8B15D22E52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21a43b-a9be-43d6-a88d-bdaec9a0391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4601A60-762A-4C0E-83AB-EEF7C738C62F}">
  <ds:schemaRefs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elements/1.1/"/>
    <ds:schemaRef ds:uri="bf21a43b-a9be-43d6-a88d-bdaec9a0391b"/>
    <ds:schemaRef ds:uri="http://schemas.openxmlformats.org/package/2006/metadata/core-properties"/>
    <ds:schemaRef ds:uri="http://schemas.microsoft.com/office/infopath/2007/PartnerControl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TM03457464[[fn=Дивиденд]]</Template>
  <TotalTime>1913</TotalTime>
  <Words>1387</Words>
  <Application>Microsoft Macintosh PowerPoint</Application>
  <PresentationFormat>Широкоэкранный</PresentationFormat>
  <Paragraphs>101</Paragraphs>
  <Slides>35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41" baseType="lpstr">
      <vt:lpstr>Arial</vt:lpstr>
      <vt:lpstr>Corbel</vt:lpstr>
      <vt:lpstr>Gill Sans MT</vt:lpstr>
      <vt:lpstr>Times New Roman</vt:lpstr>
      <vt:lpstr>Wingdings 2</vt:lpstr>
      <vt:lpstr>Дивиденд</vt:lpstr>
      <vt:lpstr>Макроэкономическое равновесие на товарном и денежном рынке.  Модель IS-LM</vt:lpstr>
      <vt:lpstr>Модель is-lm</vt:lpstr>
      <vt:lpstr>Основные уравнения модели IS-LM</vt:lpstr>
      <vt:lpstr>Кривая IS</vt:lpstr>
      <vt:lpstr>Равновесие на товарном рынке</vt:lpstr>
      <vt:lpstr>Графический вывод кривой is</vt:lpstr>
      <vt:lpstr>Графический вывод кривой is</vt:lpstr>
      <vt:lpstr>Графический вывод кривой is</vt:lpstr>
      <vt:lpstr>Графический вывод кривой is</vt:lpstr>
      <vt:lpstr>Графический вывод кривой IS из креста кейнса</vt:lpstr>
      <vt:lpstr>Графический вывод кривой IS из креста кейнса</vt:lpstr>
      <vt:lpstr>Графический вывод кривой IS из креста кейнса</vt:lpstr>
      <vt:lpstr>Графический вывод кривой IS из креста кейнса</vt:lpstr>
      <vt:lpstr>Алгебраический вывод кривой Is</vt:lpstr>
      <vt:lpstr>Кривая is</vt:lpstr>
      <vt:lpstr>Кривая Is</vt:lpstr>
      <vt:lpstr>Кривая lm</vt:lpstr>
      <vt:lpstr>Равновесие на денежном рынке</vt:lpstr>
      <vt:lpstr>Графический вывод кривой LM</vt:lpstr>
      <vt:lpstr>Алгебраический вывод кривой lm</vt:lpstr>
      <vt:lpstr>Равновесие в модели </vt:lpstr>
      <vt:lpstr>Презентация PowerPoint</vt:lpstr>
      <vt:lpstr>Относительная эффективность бюджетно-налоговой политики</vt:lpstr>
      <vt:lpstr>Относительная эффективность стимулирующей фискальной политики</vt:lpstr>
      <vt:lpstr>Эффект вытеснения относительно незначительный</vt:lpstr>
      <vt:lpstr>Эффект вытеснения относительно незначительный</vt:lpstr>
      <vt:lpstr>Эффект вытеснения относительно незначительный</vt:lpstr>
      <vt:lpstr>Эффект вытеснения значителен, если:</vt:lpstr>
      <vt:lpstr>Эффект вытеснения значителен, если:</vt:lpstr>
      <vt:lpstr>Эффект вытеснения значителен, если:</vt:lpstr>
      <vt:lpstr>Относительная эффективность стимулирующей монетарной политики</vt:lpstr>
      <vt:lpstr>Относительная эффективность стимулирующей монетарной политики</vt:lpstr>
      <vt:lpstr>Стимулирующая денежно-кредитная политика</vt:lpstr>
      <vt:lpstr>Стимулирующая денежно-кредитная политика</vt:lpstr>
      <vt:lpstr>Эффективность монетарной политики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Макроэкономическое равновесие на товарном и денежном рынке.  Модель IS-LM</dc:title>
  <dc:creator>Васильева Елизавета Юрьевна</dc:creator>
  <cp:lastModifiedBy>Королева Нонна Шараповна</cp:lastModifiedBy>
  <cp:revision>2</cp:revision>
  <dcterms:created xsi:type="dcterms:W3CDTF">2021-09-22T11:29:21Z</dcterms:created>
  <dcterms:modified xsi:type="dcterms:W3CDTF">2021-10-21T20:27:51Z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0x0101007C6FB1BA07482649B02F4839C4C80328</vt:lpwstr>
  </property>
</Properties>
</file>