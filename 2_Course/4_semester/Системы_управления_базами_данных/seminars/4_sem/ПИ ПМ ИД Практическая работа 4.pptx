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84.xml"/>
  <Override ContentType="application/vnd.openxmlformats-officedocument.presentationml.notesSlide+xml" PartName="/ppt/notesSlides/notesSlide3.xml"/>
  <Override ContentType="application/vnd.openxmlformats-officedocument.presentationml.notesSlide+xml" PartName="/ppt/notesSlides/notesSlide76.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82.xml"/>
  <Override ContentType="application/vnd.openxmlformats-officedocument.presentationml.notesSlide+xml" PartName="/ppt/notesSlides/notesSlide85.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77.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86.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81.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80.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75.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78.xml"/>
  <Override ContentType="application/vnd.openxmlformats-officedocument.presentationml.notesSlide+xml" PartName="/ppt/notesSlides/notesSlide79.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83.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78.xml"/>
  <Override ContentType="application/vnd.openxmlformats-officedocument.presentationml.slide+xml" PartName="/ppt/slides/slide86.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8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77.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84.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79.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83.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8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1.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75.xml"/>
  <Override ContentType="application/vnd.openxmlformats-officedocument.presentationml.slide+xml" PartName="/ppt/slides/slide76.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80.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 id="336" r:id="rId86"/>
    <p:sldId id="337" r:id="rId87"/>
    <p:sldId id="338" r:id="rId88"/>
    <p:sldId id="339" r:id="rId89"/>
    <p:sldId id="340" r:id="rId90"/>
    <p:sldId id="341" r:id="rId91"/>
  </p:sldIdLst>
  <p:sldSz cy="6858000" cx="12192000"/>
  <p:notesSz cx="6858000" cy="9144000"/>
  <p:embeddedFontLst>
    <p:embeddedFont>
      <p:font typeface="Constantia"/>
      <p:regular r:id="rId92"/>
      <p:bold r:id="rId93"/>
      <p:italic r:id="rId94"/>
      <p:boldItalic r:id="rId95"/>
    </p:embeddedFont>
    <p:embeddedFont>
      <p:font typeface="Lato"/>
      <p:regular r:id="rId96"/>
      <p:bold r:id="rId97"/>
      <p:italic r:id="rId98"/>
      <p:boldItalic r:id="rId9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00" roundtripDataSignature="AMtx7miS4evZBOyYkFEFcfnJy7A1vdHe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63E9A1C-7C3B-43E6-9CB8-0B6B60392EDD}">
  <a:tblStyle styleId="{063E9A1C-7C3B-43E6-9CB8-0B6B60392EDD}"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252CF71-F075-4070-AD07-B88892A602E3}"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100" Type="http://customschemas.google.com/relationships/presentationmetadata" Target="metadata"/><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95" Type="http://schemas.openxmlformats.org/officeDocument/2006/relationships/font" Target="fonts/Constantia-boldItalic.fntdata"/><Relationship Id="rId94" Type="http://schemas.openxmlformats.org/officeDocument/2006/relationships/font" Target="fonts/Constantia-italic.fntdata"/><Relationship Id="rId97" Type="http://schemas.openxmlformats.org/officeDocument/2006/relationships/font" Target="fonts/Lato-bold.fntdata"/><Relationship Id="rId96" Type="http://schemas.openxmlformats.org/officeDocument/2006/relationships/font" Target="fonts/Lato-regular.fntdata"/><Relationship Id="rId11" Type="http://schemas.openxmlformats.org/officeDocument/2006/relationships/slide" Target="slides/slide6.xml"/><Relationship Id="rId99" Type="http://schemas.openxmlformats.org/officeDocument/2006/relationships/font" Target="fonts/Lato-boldItalic.fntdata"/><Relationship Id="rId10" Type="http://schemas.openxmlformats.org/officeDocument/2006/relationships/slide" Target="slides/slide5.xml"/><Relationship Id="rId98" Type="http://schemas.openxmlformats.org/officeDocument/2006/relationships/font" Target="fonts/Lato-italic.fntdata"/><Relationship Id="rId13" Type="http://schemas.openxmlformats.org/officeDocument/2006/relationships/slide" Target="slides/slide8.xml"/><Relationship Id="rId12" Type="http://schemas.openxmlformats.org/officeDocument/2006/relationships/slide" Target="slides/slide7.xml"/><Relationship Id="rId91" Type="http://schemas.openxmlformats.org/officeDocument/2006/relationships/slide" Target="slides/slide86.xml"/><Relationship Id="rId90" Type="http://schemas.openxmlformats.org/officeDocument/2006/relationships/slide" Target="slides/slide85.xml"/><Relationship Id="rId93" Type="http://schemas.openxmlformats.org/officeDocument/2006/relationships/font" Target="fonts/Constantia-bold.fntdata"/><Relationship Id="rId92" Type="http://schemas.openxmlformats.org/officeDocument/2006/relationships/font" Target="fonts/Constantia-regular.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 Id="rId84" Type="http://schemas.openxmlformats.org/officeDocument/2006/relationships/slide" Target="slides/slide79.xml"/><Relationship Id="rId83" Type="http://schemas.openxmlformats.org/officeDocument/2006/relationships/slide" Target="slides/slide78.xml"/><Relationship Id="rId86" Type="http://schemas.openxmlformats.org/officeDocument/2006/relationships/slide" Target="slides/slide81.xml"/><Relationship Id="rId85" Type="http://schemas.openxmlformats.org/officeDocument/2006/relationships/slide" Target="slides/slide80.xml"/><Relationship Id="rId88" Type="http://schemas.openxmlformats.org/officeDocument/2006/relationships/slide" Target="slides/slide83.xml"/><Relationship Id="rId87" Type="http://schemas.openxmlformats.org/officeDocument/2006/relationships/slide" Target="slides/slide82.xml"/><Relationship Id="rId89" Type="http://schemas.openxmlformats.org/officeDocument/2006/relationships/slide" Target="slides/slide84.xml"/><Relationship Id="rId80" Type="http://schemas.openxmlformats.org/officeDocument/2006/relationships/slide" Target="slides/slide75.xml"/><Relationship Id="rId82" Type="http://schemas.openxmlformats.org/officeDocument/2006/relationships/slide" Target="slides/slide77.xml"/><Relationship Id="rId81" Type="http://schemas.openxmlformats.org/officeDocument/2006/relationships/slide" Target="slides/slide76.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73" Type="http://schemas.openxmlformats.org/officeDocument/2006/relationships/slide" Target="slides/slide68.xml"/><Relationship Id="rId72" Type="http://schemas.openxmlformats.org/officeDocument/2006/relationships/slide" Target="slides/slide67.xml"/><Relationship Id="rId75" Type="http://schemas.openxmlformats.org/officeDocument/2006/relationships/slide" Target="slides/slide70.xml"/><Relationship Id="rId74" Type="http://schemas.openxmlformats.org/officeDocument/2006/relationships/slide" Target="slides/slide69.xml"/><Relationship Id="rId77" Type="http://schemas.openxmlformats.org/officeDocument/2006/relationships/slide" Target="slides/slide72.xml"/><Relationship Id="rId76" Type="http://schemas.openxmlformats.org/officeDocument/2006/relationships/slide" Target="slides/slide71.xml"/><Relationship Id="rId79" Type="http://schemas.openxmlformats.org/officeDocument/2006/relationships/slide" Target="slides/slide74.xml"/><Relationship Id="rId78" Type="http://schemas.openxmlformats.org/officeDocument/2006/relationships/slide" Target="slides/slide73.xml"/><Relationship Id="rId71" Type="http://schemas.openxmlformats.org/officeDocument/2006/relationships/slide" Target="slides/slide66.xml"/><Relationship Id="rId70" Type="http://schemas.openxmlformats.org/officeDocument/2006/relationships/slide" Target="slides/slide65.xml"/><Relationship Id="rId62" Type="http://schemas.openxmlformats.org/officeDocument/2006/relationships/slide" Target="slides/slide57.xml"/><Relationship Id="rId61" Type="http://schemas.openxmlformats.org/officeDocument/2006/relationships/slide" Target="slides/slide56.xml"/><Relationship Id="rId64" Type="http://schemas.openxmlformats.org/officeDocument/2006/relationships/slide" Target="slides/slide59.xml"/><Relationship Id="rId63" Type="http://schemas.openxmlformats.org/officeDocument/2006/relationships/slide" Target="slides/slide58.xml"/><Relationship Id="rId66" Type="http://schemas.openxmlformats.org/officeDocument/2006/relationships/slide" Target="slides/slide61.xml"/><Relationship Id="rId65" Type="http://schemas.openxmlformats.org/officeDocument/2006/relationships/slide" Target="slides/slide60.xml"/><Relationship Id="rId68" Type="http://schemas.openxmlformats.org/officeDocument/2006/relationships/slide" Target="slides/slide63.xml"/><Relationship Id="rId67" Type="http://schemas.openxmlformats.org/officeDocument/2006/relationships/slide" Target="slides/slide62.xml"/><Relationship Id="rId60" Type="http://schemas.openxmlformats.org/officeDocument/2006/relationships/slide" Target="slides/slide55.xml"/><Relationship Id="rId69" Type="http://schemas.openxmlformats.org/officeDocument/2006/relationships/slide" Target="slides/slide6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55" Type="http://schemas.openxmlformats.org/officeDocument/2006/relationships/slide" Target="slides/slide50.xml"/><Relationship Id="rId54" Type="http://schemas.openxmlformats.org/officeDocument/2006/relationships/slide" Target="slides/slide49.xml"/><Relationship Id="rId57" Type="http://schemas.openxmlformats.org/officeDocument/2006/relationships/slide" Target="slides/slide52.xml"/><Relationship Id="rId56" Type="http://schemas.openxmlformats.org/officeDocument/2006/relationships/slide" Target="slides/slide51.xml"/><Relationship Id="rId59" Type="http://schemas.openxmlformats.org/officeDocument/2006/relationships/slide" Target="slides/slide54.xml"/><Relationship Id="rId58" Type="http://schemas.openxmlformats.org/officeDocument/2006/relationships/slide" Target="slides/slide5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sz="1200"/>
              <a:t>Процесс проектирования включает в себя следующие этапы. </a:t>
            </a:r>
            <a:endParaRPr sz="1200"/>
          </a:p>
          <a:p>
            <a:pPr indent="0" lvl="0" marL="0" rtl="0" algn="l">
              <a:spcBef>
                <a:spcPts val="0"/>
              </a:spcBef>
              <a:spcAft>
                <a:spcPts val="0"/>
              </a:spcAft>
              <a:buNone/>
            </a:pPr>
            <a:r>
              <a:rPr lang="en-US" sz="1200"/>
              <a:t>Концептуальное проектирование – это процедура конструирования информационной модели, не зависящей от каких-либо физических условий реализации. </a:t>
            </a:r>
            <a:endParaRPr/>
          </a:p>
          <a:p>
            <a:pPr indent="0" lvl="0" marL="0" rtl="0" algn="l">
              <a:spcBef>
                <a:spcPts val="0"/>
              </a:spcBef>
              <a:spcAft>
                <a:spcPts val="0"/>
              </a:spcAft>
              <a:buNone/>
            </a:pPr>
            <a:r>
              <a:rPr lang="en-US" sz="1200"/>
              <a:t>Логическое проектирование – это процесс конструирования информационной модели на основе существующих моделей данных, не зависимо от используемой СУБД и других условий физической реализации. </a:t>
            </a:r>
            <a:endParaRPr/>
          </a:p>
          <a:p>
            <a:pPr indent="0" lvl="0" marL="0" rtl="0" algn="l">
              <a:spcBef>
                <a:spcPts val="0"/>
              </a:spcBef>
              <a:spcAft>
                <a:spcPts val="0"/>
              </a:spcAft>
              <a:buNone/>
            </a:pPr>
            <a:r>
              <a:rPr lang="en-US" sz="1200"/>
              <a:t>Физическое проектирование – это процедура создания описания конкретной реализации БД с описанием структуры хранения данных, методов доступа к данным.</a:t>
            </a:r>
            <a:endParaRPr/>
          </a:p>
          <a:p>
            <a:pPr indent="0" lvl="0" marL="0" rtl="0" algn="l">
              <a:spcBef>
                <a:spcPts val="0"/>
              </a:spcBef>
              <a:spcAft>
                <a:spcPts val="0"/>
              </a:spcAft>
              <a:buNone/>
            </a:pPr>
            <a:r>
              <a:t/>
            </a:r>
            <a:endParaRPr/>
          </a:p>
        </p:txBody>
      </p:sp>
      <p:sp>
        <p:nvSpPr>
          <p:cNvPr id="99" name="Google Shape;9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1" name="Google Shape;111;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a:t>Oracle учебник</a:t>
            </a:r>
            <a:endParaRPr/>
          </a:p>
          <a:p>
            <a:pPr indent="0" lvl="0" marL="0" rtl="0" algn="l">
              <a:spcBef>
                <a:spcPts val="0"/>
              </a:spcBef>
              <a:spcAft>
                <a:spcPts val="0"/>
              </a:spcAft>
              <a:buNone/>
            </a:pPr>
            <a:r>
              <a:t/>
            </a:r>
            <a:endParaRPr/>
          </a:p>
        </p:txBody>
      </p:sp>
      <p:sp>
        <p:nvSpPr>
          <p:cNvPr id="135" name="Google Shape;13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a:t>Oracle учебник</a:t>
            </a:r>
            <a:endParaRPr/>
          </a:p>
          <a:p>
            <a:pPr indent="0" lvl="0" marL="0" rtl="0" algn="l">
              <a:spcBef>
                <a:spcPts val="0"/>
              </a:spcBef>
              <a:spcAft>
                <a:spcPts val="0"/>
              </a:spcAft>
              <a:buNone/>
            </a:pPr>
            <a:r>
              <a:t/>
            </a:r>
            <a:endParaRPr/>
          </a:p>
        </p:txBody>
      </p:sp>
      <p:sp>
        <p:nvSpPr>
          <p:cNvPr id="146" name="Google Shape;14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a:t>Oracle учебник</a:t>
            </a:r>
            <a:endParaRPr/>
          </a:p>
          <a:p>
            <a:pPr indent="0" lvl="0" marL="0" rtl="0" algn="l">
              <a:spcBef>
                <a:spcPts val="0"/>
              </a:spcBef>
              <a:spcAft>
                <a:spcPts val="0"/>
              </a:spcAft>
              <a:buNone/>
            </a:pPr>
            <a:r>
              <a:t/>
            </a:r>
            <a:endParaRPr/>
          </a:p>
        </p:txBody>
      </p:sp>
      <p:sp>
        <p:nvSpPr>
          <p:cNvPr id="157" name="Google Shape;15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a:t>Oracle учебник</a:t>
            </a:r>
            <a:endParaRPr/>
          </a:p>
          <a:p>
            <a:pPr indent="0" lvl="0" marL="0" rtl="0" algn="l">
              <a:spcBef>
                <a:spcPts val="0"/>
              </a:spcBef>
              <a:spcAft>
                <a:spcPts val="0"/>
              </a:spcAft>
              <a:buNone/>
            </a:pPr>
            <a:r>
              <a:t/>
            </a:r>
            <a:endParaRPr/>
          </a:p>
        </p:txBody>
      </p:sp>
      <p:sp>
        <p:nvSpPr>
          <p:cNvPr id="169" name="Google Shape;169;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rPr lang="en-US"/>
              <a:t>Oracle учебник</a:t>
            </a:r>
            <a:endParaRPr/>
          </a:p>
          <a:p>
            <a:pPr indent="0" lvl="0" marL="0" rtl="0" algn="l">
              <a:spcBef>
                <a:spcPts val="0"/>
              </a:spcBef>
              <a:spcAft>
                <a:spcPts val="0"/>
              </a:spcAft>
              <a:buNone/>
            </a:pPr>
            <a:r>
              <a:rPr lang="en-US"/>
              <a:t>Constraint — другое название для ограничения в бизнес-правиле.</a:t>
            </a:r>
            <a:endParaRPr/>
          </a:p>
        </p:txBody>
      </p:sp>
      <p:sp>
        <p:nvSpPr>
          <p:cNvPr id="181" name="Google Shape;18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a:t>Oracle учебник</a:t>
            </a:r>
            <a:endParaRPr/>
          </a:p>
          <a:p>
            <a:pPr indent="0" lvl="0" marL="0" rtl="0" algn="l">
              <a:spcBef>
                <a:spcPts val="0"/>
              </a:spcBef>
              <a:spcAft>
                <a:spcPts val="0"/>
              </a:spcAft>
              <a:buNone/>
            </a:pPr>
            <a:r>
              <a:t/>
            </a:r>
            <a:endParaRPr/>
          </a:p>
        </p:txBody>
      </p:sp>
      <p:sp>
        <p:nvSpPr>
          <p:cNvPr id="193" name="Google Shape;1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200"/>
              <a:buFont typeface="Calibri"/>
              <a:buNone/>
            </a:pPr>
            <a:r>
              <a:rPr lang="en-US"/>
              <a:t>Oracle учебник</a:t>
            </a:r>
            <a:endParaRPr/>
          </a:p>
          <a:p>
            <a:pPr indent="0" lvl="0" marL="0" rtl="0" algn="l">
              <a:spcBef>
                <a:spcPts val="0"/>
              </a:spcBef>
              <a:spcAft>
                <a:spcPts val="0"/>
              </a:spcAft>
              <a:buNone/>
            </a:pPr>
            <a:r>
              <a:t/>
            </a:r>
            <a:endParaRPr/>
          </a:p>
        </p:txBody>
      </p:sp>
      <p:sp>
        <p:nvSpPr>
          <p:cNvPr id="205" name="Google Shape;20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6" name="Google Shape;216;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1" name="Google Shape;221;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Word документ для подсказки, но может пойти по другому сценарию.</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Если останется время можно разобрать еще одну любую предметную область.</a:t>
            </a:r>
            <a:endParaRPr/>
          </a:p>
          <a:p>
            <a:pPr indent="0" lvl="0" marL="0" rtl="0" algn="l">
              <a:spcBef>
                <a:spcPts val="0"/>
              </a:spcBef>
              <a:spcAft>
                <a:spcPts val="0"/>
              </a:spcAft>
              <a:buNone/>
            </a:pPr>
            <a:r>
              <a:rPr lang="en-US"/>
              <a:t>Выбор темы для РАР можно или по журналу или самостоятельно между студентами или пусть сами себе придумывают.</a:t>
            </a:r>
            <a:endParaRPr/>
          </a:p>
        </p:txBody>
      </p:sp>
      <p:sp>
        <p:nvSpPr>
          <p:cNvPr id="222" name="Google Shape;222;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3" name="Google Shape;23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9999"/>
              </a:buClr>
              <a:buSzPts val="1200"/>
              <a:buFont typeface="Comic Sans MS"/>
              <a:buNone/>
            </a:pPr>
            <a:r>
              <a:rPr b="1" lang="en-US" sz="1200">
                <a:solidFill>
                  <a:srgbClr val="269999"/>
                </a:solidFill>
                <a:latin typeface="Comic Sans MS"/>
                <a:ea typeface="Comic Sans MS"/>
                <a:cs typeface="Comic Sans MS"/>
                <a:sym typeface="Comic Sans MS"/>
              </a:rPr>
              <a:t>Один из методов идентификации сущностей состоит в </a:t>
            </a:r>
            <a:r>
              <a:rPr b="1" lang="en-US" sz="1200">
                <a:solidFill>
                  <a:srgbClr val="C00000"/>
                </a:solidFill>
                <a:latin typeface="Comic Sans MS"/>
                <a:ea typeface="Comic Sans MS"/>
                <a:cs typeface="Comic Sans MS"/>
                <a:sym typeface="Comic Sans MS"/>
              </a:rPr>
              <a:t>изучении спецификаций </a:t>
            </a:r>
            <a:r>
              <a:rPr b="1" lang="en-US" sz="1200">
                <a:solidFill>
                  <a:srgbClr val="269999"/>
                </a:solidFill>
                <a:latin typeface="Comic Sans MS"/>
                <a:ea typeface="Comic Sans MS"/>
                <a:cs typeface="Comic Sans MS"/>
                <a:sym typeface="Comic Sans MS"/>
              </a:rPr>
              <a:t>по выполнению конкретных функций пользователя на данном предприятии. Из этих спецификаций следует извлечь все используемые в них </a:t>
            </a:r>
            <a:r>
              <a:rPr b="1" lang="en-US" sz="1200">
                <a:solidFill>
                  <a:srgbClr val="C00000"/>
                </a:solidFill>
                <a:latin typeface="Comic Sans MS"/>
                <a:ea typeface="Comic Sans MS"/>
                <a:cs typeface="Comic Sans MS"/>
                <a:sym typeface="Comic Sans MS"/>
              </a:rPr>
              <a:t>существительные или сочетания существительного и прилагательного</a:t>
            </a:r>
            <a:r>
              <a:rPr b="1" lang="en-US" sz="1200">
                <a:solidFill>
                  <a:srgbClr val="269999"/>
                </a:solidFill>
                <a:latin typeface="Comic Sans MS"/>
                <a:ea typeface="Comic Sans MS"/>
                <a:cs typeface="Comic Sans MS"/>
                <a:sym typeface="Comic Sans MS"/>
              </a:rPr>
              <a:t> </a:t>
            </a:r>
            <a:r>
              <a:rPr b="1" lang="en-US" sz="1200">
                <a:solidFill>
                  <a:srgbClr val="83540F"/>
                </a:solidFill>
                <a:latin typeface="Comic Sans MS"/>
                <a:ea typeface="Comic Sans MS"/>
                <a:cs typeface="Comic Sans MS"/>
                <a:sym typeface="Comic Sans MS"/>
              </a:rPr>
              <a:t>(например, "личный номер", "фамилия работника", "номер объекта недвижимости", "адрес объекта недвижимости", "арендная плата", "количество комнат").</a:t>
            </a:r>
            <a:endParaRPr/>
          </a:p>
          <a:p>
            <a:pPr indent="0" lvl="0" marL="0" rtl="0" algn="l">
              <a:spcBef>
                <a:spcPts val="0"/>
              </a:spcBef>
              <a:spcAft>
                <a:spcPts val="0"/>
              </a:spcAft>
              <a:buNone/>
            </a:pPr>
            <a:r>
              <a:rPr b="1" lang="en-US" sz="1200">
                <a:solidFill>
                  <a:srgbClr val="269999"/>
                </a:solidFill>
                <a:latin typeface="Comic Sans MS"/>
                <a:ea typeface="Comic Sans MS"/>
                <a:cs typeface="Comic Sans MS"/>
                <a:sym typeface="Comic Sans MS"/>
              </a:rPr>
              <a:t>Затем среди них выбираются </a:t>
            </a:r>
            <a:r>
              <a:rPr b="1" lang="en-US" sz="1200">
                <a:solidFill>
                  <a:srgbClr val="C00000"/>
                </a:solidFill>
                <a:latin typeface="Comic Sans MS"/>
                <a:ea typeface="Comic Sans MS"/>
                <a:cs typeface="Comic Sans MS"/>
                <a:sym typeface="Comic Sans MS"/>
              </a:rPr>
              <a:t>самые крупные объекты </a:t>
            </a:r>
            <a:r>
              <a:rPr b="1" lang="en-US" sz="1200">
                <a:solidFill>
                  <a:srgbClr val="269999"/>
                </a:solidFill>
                <a:latin typeface="Comic Sans MS"/>
                <a:ea typeface="Comic Sans MS"/>
                <a:cs typeface="Comic Sans MS"/>
                <a:sym typeface="Comic Sans MS"/>
              </a:rPr>
              <a:t>(люди, города) или представляющие интерес концепции и исключаются все существительные, которые просто определяют другие объекты. </a:t>
            </a:r>
            <a:endParaRPr/>
          </a:p>
          <a:p>
            <a:pPr indent="0" lvl="0" marL="0" rtl="0" algn="l">
              <a:spcBef>
                <a:spcPts val="0"/>
              </a:spcBef>
              <a:spcAft>
                <a:spcPts val="0"/>
              </a:spcAft>
              <a:buNone/>
            </a:pPr>
            <a:r>
              <a:rPr b="1" lang="en-US" sz="1200">
                <a:solidFill>
                  <a:srgbClr val="83540F"/>
                </a:solidFill>
                <a:latin typeface="Comic Sans MS"/>
                <a:ea typeface="Comic Sans MS"/>
                <a:cs typeface="Comic Sans MS"/>
                <a:sym typeface="Comic Sans MS"/>
              </a:rPr>
              <a:t>Например, свойства "личный номер" и "фамилия работника" могут быть объединены в сводном объекте под названием "работник", тогда как свойства "номер объекта недвижимости", "адрес объекта недвижимости", "арендная плата" и "количество комнат" можно объединить в сущности под названием "объект недвижимости".</a:t>
            </a:r>
            <a:endParaRPr/>
          </a:p>
          <a:p>
            <a:pPr indent="0" lvl="0" marL="0" rtl="0" algn="l">
              <a:spcBef>
                <a:spcPts val="0"/>
              </a:spcBef>
              <a:spcAft>
                <a:spcPts val="0"/>
              </a:spcAft>
              <a:buNone/>
            </a:pPr>
            <a:r>
              <a:t/>
            </a:r>
            <a:endParaRPr b="1" sz="1200">
              <a:solidFill>
                <a:srgbClr val="83540F"/>
              </a:solidFill>
              <a:latin typeface="Comic Sans MS"/>
              <a:ea typeface="Comic Sans MS"/>
              <a:cs typeface="Comic Sans MS"/>
              <a:sym typeface="Comic Sans MS"/>
            </a:endParaRPr>
          </a:p>
          <a:p>
            <a:pPr indent="0" lvl="0" marL="0" rtl="0" algn="l">
              <a:spcBef>
                <a:spcPts val="0"/>
              </a:spcBef>
              <a:spcAft>
                <a:spcPts val="0"/>
              </a:spcAft>
              <a:buNone/>
            </a:pPr>
            <a:r>
              <a:rPr b="0" i="0" lang="en-US">
                <a:solidFill>
                  <a:srgbClr val="000000"/>
                </a:solidFill>
                <a:latin typeface="Times New Roman"/>
                <a:ea typeface="Times New Roman"/>
                <a:cs typeface="Times New Roman"/>
                <a:sym typeface="Times New Roman"/>
              </a:rPr>
              <a:t>Сущность в методологии IDEF1X является </a:t>
            </a:r>
            <a:r>
              <a:rPr b="1" i="1" lang="en-US">
                <a:solidFill>
                  <a:srgbClr val="000000"/>
                </a:solidFill>
                <a:latin typeface="Times New Roman"/>
                <a:ea typeface="Times New Roman"/>
                <a:cs typeface="Times New Roman"/>
                <a:sym typeface="Times New Roman"/>
              </a:rPr>
              <a:t>независимой (сильной, родительской, доминантной, владельцем)</a:t>
            </a:r>
            <a:r>
              <a:rPr b="0" i="0" lang="en-US">
                <a:solidFill>
                  <a:srgbClr val="000000"/>
                </a:solidFill>
                <a:latin typeface="Times New Roman"/>
                <a:ea typeface="Times New Roman"/>
                <a:cs typeface="Times New Roman"/>
                <a:sym typeface="Times New Roman"/>
              </a:rPr>
              <a:t>, если сущность не зависит от существования другой сущности (другими словами, каждый экземпляр сущности может быть однозначно идентифицирован без определения его связей с другими сущностями, или уникальность экземпляра определяется только собственными атрибутами). Сущность называется </a:t>
            </a:r>
            <a:r>
              <a:rPr b="1" i="1" lang="en-US">
                <a:solidFill>
                  <a:srgbClr val="000000"/>
                </a:solidFill>
                <a:latin typeface="Times New Roman"/>
                <a:ea typeface="Times New Roman"/>
                <a:cs typeface="Times New Roman"/>
                <a:sym typeface="Times New Roman"/>
              </a:rPr>
              <a:t>зависимой (слабой, дочерней, подчиненной)</a:t>
            </a:r>
            <a:r>
              <a:rPr b="0" i="0" lang="en-US">
                <a:solidFill>
                  <a:srgbClr val="000000"/>
                </a:solidFill>
                <a:latin typeface="Times New Roman"/>
                <a:ea typeface="Times New Roman"/>
                <a:cs typeface="Times New Roman"/>
                <a:sym typeface="Times New Roman"/>
              </a:rPr>
              <a:t>, если ее существование зависит от существования других сущностей. Терминология «родительская» – «дочерняя» и «владелец» – «подчиненный» также может использоваться в отношении двух зависимых сущностей, если экземпляры одной из них (дочерней, подчиненной) могут быть однозначно определены с использованием экземпляров другой (родительской, владельца), несмотря на то, что вторая сущность в свою очередь зависит от третьей сущности.</a:t>
            </a:r>
            <a:endParaRPr b="1" sz="1200">
              <a:solidFill>
                <a:srgbClr val="83540F"/>
              </a:solidFill>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234" name="Google Shape;23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0" name="Google Shape;240;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1" name="Google Shape;241;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9999"/>
              </a:buClr>
              <a:buSzPts val="1200"/>
              <a:buFont typeface="Comic Sans MS"/>
              <a:buNone/>
            </a:pPr>
            <a:r>
              <a:rPr b="1" lang="en-US" sz="1200">
                <a:solidFill>
                  <a:srgbClr val="269999"/>
                </a:solidFill>
                <a:latin typeface="Comic Sans MS"/>
                <a:ea typeface="Comic Sans MS"/>
                <a:cs typeface="Comic Sans MS"/>
                <a:sym typeface="Comic Sans MS"/>
              </a:rPr>
              <a:t>Один из методов идентификации сущностей состоит в </a:t>
            </a:r>
            <a:r>
              <a:rPr b="1" lang="en-US" sz="1200">
                <a:solidFill>
                  <a:srgbClr val="C00000"/>
                </a:solidFill>
                <a:latin typeface="Comic Sans MS"/>
                <a:ea typeface="Comic Sans MS"/>
                <a:cs typeface="Comic Sans MS"/>
                <a:sym typeface="Comic Sans MS"/>
              </a:rPr>
              <a:t>изучении спецификаций </a:t>
            </a:r>
            <a:r>
              <a:rPr b="1" lang="en-US" sz="1200">
                <a:solidFill>
                  <a:srgbClr val="269999"/>
                </a:solidFill>
                <a:latin typeface="Comic Sans MS"/>
                <a:ea typeface="Comic Sans MS"/>
                <a:cs typeface="Comic Sans MS"/>
                <a:sym typeface="Comic Sans MS"/>
              </a:rPr>
              <a:t>по выполнению конкретных функций пользователя на данном предприятии. Из этих спецификаций следует извлечь все используемые в них </a:t>
            </a:r>
            <a:r>
              <a:rPr b="1" lang="en-US" sz="1200">
                <a:solidFill>
                  <a:srgbClr val="C00000"/>
                </a:solidFill>
                <a:latin typeface="Comic Sans MS"/>
                <a:ea typeface="Comic Sans MS"/>
                <a:cs typeface="Comic Sans MS"/>
                <a:sym typeface="Comic Sans MS"/>
              </a:rPr>
              <a:t>существительные или сочетания существительного и прилагательного</a:t>
            </a:r>
            <a:r>
              <a:rPr b="1" lang="en-US" sz="1200">
                <a:solidFill>
                  <a:srgbClr val="269999"/>
                </a:solidFill>
                <a:latin typeface="Comic Sans MS"/>
                <a:ea typeface="Comic Sans MS"/>
                <a:cs typeface="Comic Sans MS"/>
                <a:sym typeface="Comic Sans MS"/>
              </a:rPr>
              <a:t> </a:t>
            </a:r>
            <a:r>
              <a:rPr b="1" lang="en-US" sz="1200">
                <a:solidFill>
                  <a:srgbClr val="83540F"/>
                </a:solidFill>
                <a:latin typeface="Comic Sans MS"/>
                <a:ea typeface="Comic Sans MS"/>
                <a:cs typeface="Comic Sans MS"/>
                <a:sym typeface="Comic Sans MS"/>
              </a:rPr>
              <a:t>(например, "личный номер", "фамилия работника", "номер объекта недвижимости", "адрес объекта недвижимости", "арендная плата", "количество комнат").</a:t>
            </a:r>
            <a:endParaRPr/>
          </a:p>
          <a:p>
            <a:pPr indent="0" lvl="0" marL="0" rtl="0" algn="l">
              <a:spcBef>
                <a:spcPts val="0"/>
              </a:spcBef>
              <a:spcAft>
                <a:spcPts val="0"/>
              </a:spcAft>
              <a:buNone/>
            </a:pPr>
            <a:r>
              <a:rPr b="1" lang="en-US" sz="1200">
                <a:solidFill>
                  <a:srgbClr val="269999"/>
                </a:solidFill>
                <a:latin typeface="Comic Sans MS"/>
                <a:ea typeface="Comic Sans MS"/>
                <a:cs typeface="Comic Sans MS"/>
                <a:sym typeface="Comic Sans MS"/>
              </a:rPr>
              <a:t>Затем среди них выбираются </a:t>
            </a:r>
            <a:r>
              <a:rPr b="1" lang="en-US" sz="1200">
                <a:solidFill>
                  <a:srgbClr val="C00000"/>
                </a:solidFill>
                <a:latin typeface="Comic Sans MS"/>
                <a:ea typeface="Comic Sans MS"/>
                <a:cs typeface="Comic Sans MS"/>
                <a:sym typeface="Comic Sans MS"/>
              </a:rPr>
              <a:t>самые крупные объекты </a:t>
            </a:r>
            <a:r>
              <a:rPr b="1" lang="en-US" sz="1200">
                <a:solidFill>
                  <a:srgbClr val="269999"/>
                </a:solidFill>
                <a:latin typeface="Comic Sans MS"/>
                <a:ea typeface="Comic Sans MS"/>
                <a:cs typeface="Comic Sans MS"/>
                <a:sym typeface="Comic Sans MS"/>
              </a:rPr>
              <a:t>(люди, города) или представляющие интерес концепции и исключаются все существительные, которые просто определяют другие объекты. </a:t>
            </a:r>
            <a:endParaRPr/>
          </a:p>
          <a:p>
            <a:pPr indent="0" lvl="0" marL="0" rtl="0" algn="l">
              <a:spcBef>
                <a:spcPts val="0"/>
              </a:spcBef>
              <a:spcAft>
                <a:spcPts val="0"/>
              </a:spcAft>
              <a:buNone/>
            </a:pPr>
            <a:r>
              <a:rPr b="1" lang="en-US" sz="1200">
                <a:solidFill>
                  <a:srgbClr val="83540F"/>
                </a:solidFill>
                <a:latin typeface="Comic Sans MS"/>
                <a:ea typeface="Comic Sans MS"/>
                <a:cs typeface="Comic Sans MS"/>
                <a:sym typeface="Comic Sans MS"/>
              </a:rPr>
              <a:t>Например, свойства "личный номер" и "фамилия работника" могут быть объединены в сводном объекте под названием "работник", тогда как свойства "номер объекта недвижимости", "адрес объекта недвижимости", "арендная плата" и "количество комнат" можно объединить в сущности под названием "объект недвижимости".</a:t>
            </a:r>
            <a:endParaRPr/>
          </a:p>
          <a:p>
            <a:pPr indent="0" lvl="0" marL="0" rtl="0" algn="l">
              <a:spcBef>
                <a:spcPts val="0"/>
              </a:spcBef>
              <a:spcAft>
                <a:spcPts val="0"/>
              </a:spcAft>
              <a:buNone/>
            </a:pPr>
            <a:r>
              <a:t/>
            </a:r>
            <a:endParaRPr b="1" sz="1200">
              <a:solidFill>
                <a:srgbClr val="83540F"/>
              </a:solidFill>
              <a:latin typeface="Comic Sans MS"/>
              <a:ea typeface="Comic Sans MS"/>
              <a:cs typeface="Comic Sans MS"/>
              <a:sym typeface="Comic Sans MS"/>
            </a:endParaRPr>
          </a:p>
          <a:p>
            <a:pPr indent="0" lvl="0" marL="0" rtl="0" algn="l">
              <a:spcBef>
                <a:spcPts val="0"/>
              </a:spcBef>
              <a:spcAft>
                <a:spcPts val="0"/>
              </a:spcAft>
              <a:buNone/>
            </a:pPr>
            <a:r>
              <a:rPr b="1" lang="en-US" sz="1200">
                <a:solidFill>
                  <a:srgbClr val="269999"/>
                </a:solidFill>
                <a:latin typeface="Comic Sans MS"/>
                <a:ea typeface="Comic Sans MS"/>
                <a:cs typeface="Comic Sans MS"/>
                <a:sym typeface="Comic Sans MS"/>
              </a:rPr>
              <a:t>В некоторых случаях выделение сущностей бывает затруднено из-за способа, посредством которого они представлены в спецификациях. Зачастую пользователи, излагая свои мысли, используют </a:t>
            </a:r>
            <a:r>
              <a:rPr b="1" lang="en-US" sz="1200">
                <a:solidFill>
                  <a:srgbClr val="83540F"/>
                </a:solidFill>
                <a:latin typeface="Comic Sans MS"/>
                <a:ea typeface="Comic Sans MS"/>
                <a:cs typeface="Comic Sans MS"/>
                <a:sym typeface="Comic Sans MS"/>
              </a:rPr>
              <a:t>примеры или аналогии.</a:t>
            </a:r>
            <a:r>
              <a:rPr b="1" lang="en-US" sz="1200">
                <a:solidFill>
                  <a:srgbClr val="269999"/>
                </a:solidFill>
                <a:latin typeface="Comic Sans MS"/>
                <a:ea typeface="Comic Sans MS"/>
                <a:cs typeface="Comic Sans MS"/>
                <a:sym typeface="Comic Sans MS"/>
              </a:rPr>
              <a:t> Вместо того чтобы вести разговор о некотором обобщенном работнике, они могут просто упомянуть одно или несколько имен. </a:t>
            </a:r>
            <a:endParaRPr/>
          </a:p>
          <a:p>
            <a:pPr indent="0" lvl="0" marL="0" rtl="0" algn="l">
              <a:spcBef>
                <a:spcPts val="0"/>
              </a:spcBef>
              <a:spcAft>
                <a:spcPts val="0"/>
              </a:spcAft>
              <a:buNone/>
            </a:pPr>
            <a:r>
              <a:rPr b="1" lang="en-US" sz="1200">
                <a:solidFill>
                  <a:srgbClr val="269999"/>
                </a:solidFill>
                <a:latin typeface="Comic Sans MS"/>
                <a:ea typeface="Comic Sans MS"/>
                <a:cs typeface="Comic Sans MS"/>
                <a:sym typeface="Comic Sans MS"/>
              </a:rPr>
              <a:t>Бывает также, что пользователи заменяют имена работников или название предприятия выполняемыми ими обязанностями или оказываемыми услугами. В этом случае они могут упоминать либо должность работника, либо выполняемые им функции - например, "руководитель", "ответственный", "контролер" или "заместитель"… </a:t>
            </a:r>
            <a:endParaRPr/>
          </a:p>
          <a:p>
            <a:pPr indent="0" lvl="0" marL="0" marR="0" rtl="0" algn="l">
              <a:lnSpc>
                <a:spcPct val="100000"/>
              </a:lnSpc>
              <a:spcBef>
                <a:spcPts val="0"/>
              </a:spcBef>
              <a:spcAft>
                <a:spcPts val="0"/>
              </a:spcAft>
              <a:buClr>
                <a:srgbClr val="269999"/>
              </a:buClr>
              <a:buSzPts val="1200"/>
              <a:buFont typeface="Comic Sans MS"/>
              <a:buNone/>
            </a:pPr>
            <a:r>
              <a:rPr b="1" lang="en-US" sz="1200">
                <a:solidFill>
                  <a:srgbClr val="269999"/>
                </a:solidFill>
                <a:latin typeface="Comic Sans MS"/>
                <a:ea typeface="Comic Sans MS"/>
                <a:cs typeface="Comic Sans MS"/>
                <a:sym typeface="Comic Sans MS"/>
              </a:rPr>
              <a:t>Пользователи часто используют синонимы или омонимы. </a:t>
            </a:r>
            <a:r>
              <a:rPr b="1" lang="en-US" sz="1200">
                <a:solidFill>
                  <a:srgbClr val="C00000"/>
                </a:solidFill>
                <a:latin typeface="Comic Sans MS"/>
                <a:ea typeface="Comic Sans MS"/>
                <a:cs typeface="Comic Sans MS"/>
                <a:sym typeface="Comic Sans MS"/>
              </a:rPr>
              <a:t>Синонимами</a:t>
            </a:r>
            <a:r>
              <a:rPr b="1" lang="en-US" sz="1200">
                <a:solidFill>
                  <a:srgbClr val="269999"/>
                </a:solidFill>
                <a:latin typeface="Comic Sans MS"/>
                <a:ea typeface="Comic Sans MS"/>
                <a:cs typeface="Comic Sans MS"/>
                <a:sym typeface="Comic Sans MS"/>
              </a:rPr>
              <a:t> называются слова, сходные по смыслу, но различные по звучанию и написанию, - например, </a:t>
            </a:r>
            <a:r>
              <a:rPr b="1" lang="en-US" sz="1200">
                <a:solidFill>
                  <a:srgbClr val="83540F"/>
                </a:solidFill>
                <a:latin typeface="Comic Sans MS"/>
                <a:ea typeface="Comic Sans MS"/>
                <a:cs typeface="Comic Sans MS"/>
                <a:sym typeface="Comic Sans MS"/>
              </a:rPr>
              <a:t>"отделение" </a:t>
            </a:r>
            <a:r>
              <a:rPr b="1" lang="en-US" sz="1200">
                <a:solidFill>
                  <a:srgbClr val="269999"/>
                </a:solidFill>
                <a:latin typeface="Comic Sans MS"/>
                <a:ea typeface="Comic Sans MS"/>
                <a:cs typeface="Comic Sans MS"/>
                <a:sym typeface="Comic Sans MS"/>
              </a:rPr>
              <a:t>и </a:t>
            </a:r>
            <a:r>
              <a:rPr b="1" lang="en-US" sz="1200">
                <a:solidFill>
                  <a:srgbClr val="83540F"/>
                </a:solidFill>
                <a:latin typeface="Comic Sans MS"/>
                <a:ea typeface="Comic Sans MS"/>
                <a:cs typeface="Comic Sans MS"/>
                <a:sym typeface="Comic Sans MS"/>
              </a:rPr>
              <a:t>"филиал". </a:t>
            </a:r>
            <a:r>
              <a:rPr b="1" lang="en-US" sz="1200">
                <a:solidFill>
                  <a:srgbClr val="C00000"/>
                </a:solidFill>
                <a:latin typeface="Comic Sans MS"/>
                <a:ea typeface="Comic Sans MS"/>
                <a:cs typeface="Comic Sans MS"/>
                <a:sym typeface="Comic Sans MS"/>
              </a:rPr>
              <a:t>Омонимы</a:t>
            </a:r>
            <a:r>
              <a:rPr b="1" lang="en-US" sz="1200">
                <a:solidFill>
                  <a:srgbClr val="269999"/>
                </a:solidFill>
                <a:latin typeface="Comic Sans MS"/>
                <a:ea typeface="Comic Sans MS"/>
                <a:cs typeface="Comic Sans MS"/>
                <a:sym typeface="Comic Sans MS"/>
              </a:rPr>
              <a:t> это слова, одинаковые по написанию и звучанию, но имеющие различные смысловые значения, причем реальное значение в каждом конкретном случае можно установить только по контексту. Так, слово </a:t>
            </a:r>
            <a:r>
              <a:rPr b="1" lang="en-US" sz="1200">
                <a:solidFill>
                  <a:srgbClr val="83540F"/>
                </a:solidFill>
                <a:latin typeface="Comic Sans MS"/>
                <a:ea typeface="Comic Sans MS"/>
                <a:cs typeface="Comic Sans MS"/>
                <a:sym typeface="Comic Sans MS"/>
              </a:rPr>
              <a:t>"программа" </a:t>
            </a:r>
            <a:r>
              <a:rPr b="1" lang="en-US" sz="1200">
                <a:solidFill>
                  <a:srgbClr val="269999"/>
                </a:solidFill>
                <a:latin typeface="Comic Sans MS"/>
                <a:ea typeface="Comic Sans MS"/>
                <a:cs typeface="Comic Sans MS"/>
                <a:sym typeface="Comic Sans MS"/>
              </a:rPr>
              <a:t>может обозначать курс обучения, предстоящую серию последовательных событий, план предстоящей работы и даже последовательность телепередач.</a:t>
            </a:r>
            <a:endParaRPr/>
          </a:p>
          <a:p>
            <a:pPr indent="0" lvl="0" marL="0" rtl="0" algn="l">
              <a:spcBef>
                <a:spcPts val="0"/>
              </a:spcBef>
              <a:spcAft>
                <a:spcPts val="0"/>
              </a:spcAft>
              <a:buNone/>
            </a:pPr>
            <a:r>
              <a:t/>
            </a:r>
            <a:endParaRPr b="1" sz="1200">
              <a:solidFill>
                <a:srgbClr val="83540F"/>
              </a:solidFill>
              <a:latin typeface="Comic Sans MS"/>
              <a:ea typeface="Comic Sans MS"/>
              <a:cs typeface="Comic Sans MS"/>
              <a:sym typeface="Comic Sans MS"/>
            </a:endParaRPr>
          </a:p>
          <a:p>
            <a:pPr indent="0" lvl="0" marL="0" rtl="0" algn="l">
              <a:spcBef>
                <a:spcPts val="0"/>
              </a:spcBef>
              <a:spcAft>
                <a:spcPts val="0"/>
              </a:spcAft>
              <a:buNone/>
            </a:pPr>
            <a:r>
              <a:t/>
            </a:r>
            <a:endParaRPr b="1" sz="1200">
              <a:solidFill>
                <a:srgbClr val="83540F"/>
              </a:solidFill>
              <a:latin typeface="Comic Sans MS"/>
              <a:ea typeface="Comic Sans MS"/>
              <a:cs typeface="Comic Sans MS"/>
              <a:sym typeface="Comic Sans MS"/>
            </a:endParaRPr>
          </a:p>
          <a:p>
            <a:pPr indent="0" lvl="0" marL="0" rtl="0" algn="l">
              <a:spcBef>
                <a:spcPts val="0"/>
              </a:spcBef>
              <a:spcAft>
                <a:spcPts val="0"/>
              </a:spcAft>
              <a:buNone/>
            </a:pPr>
            <a:r>
              <a:rPr b="0" i="0" lang="en-US">
                <a:solidFill>
                  <a:srgbClr val="000000"/>
                </a:solidFill>
                <a:latin typeface="Times New Roman"/>
                <a:ea typeface="Times New Roman"/>
                <a:cs typeface="Times New Roman"/>
                <a:sym typeface="Times New Roman"/>
              </a:rPr>
              <a:t>Сущность в методологии IDEF1X является </a:t>
            </a:r>
            <a:r>
              <a:rPr b="1" i="1" lang="en-US">
                <a:solidFill>
                  <a:srgbClr val="000000"/>
                </a:solidFill>
                <a:latin typeface="Times New Roman"/>
                <a:ea typeface="Times New Roman"/>
                <a:cs typeface="Times New Roman"/>
                <a:sym typeface="Times New Roman"/>
              </a:rPr>
              <a:t>независимой (сильной, родительской, доминантной, владельцем)</a:t>
            </a:r>
            <a:r>
              <a:rPr b="0" i="0" lang="en-US">
                <a:solidFill>
                  <a:srgbClr val="000000"/>
                </a:solidFill>
                <a:latin typeface="Times New Roman"/>
                <a:ea typeface="Times New Roman"/>
                <a:cs typeface="Times New Roman"/>
                <a:sym typeface="Times New Roman"/>
              </a:rPr>
              <a:t>, если сущность не зависит от существования другой сущности (другими словами, каждый экземпляр сущности может быть однозначно идентифицирован без определения его связей с другими сущностями, или уникальность экземпляра определяется только собственными атрибутами). Сущность называется </a:t>
            </a:r>
            <a:r>
              <a:rPr b="1" i="1" lang="en-US">
                <a:solidFill>
                  <a:srgbClr val="000000"/>
                </a:solidFill>
                <a:latin typeface="Times New Roman"/>
                <a:ea typeface="Times New Roman"/>
                <a:cs typeface="Times New Roman"/>
                <a:sym typeface="Times New Roman"/>
              </a:rPr>
              <a:t>зависимой (слабой, дочерней, подчиненной)</a:t>
            </a:r>
            <a:r>
              <a:rPr b="0" i="0" lang="en-US">
                <a:solidFill>
                  <a:srgbClr val="000000"/>
                </a:solidFill>
                <a:latin typeface="Times New Roman"/>
                <a:ea typeface="Times New Roman"/>
                <a:cs typeface="Times New Roman"/>
                <a:sym typeface="Times New Roman"/>
              </a:rPr>
              <a:t>, если ее существование зависит от существования других сущностей. Терминология «родительская» – «дочерняя» и «владелец» – «подчиненный» также может использоваться в отношении двух зависимых сущностей, если экземпляры одной из них (дочерней, подчиненной) могут быть однозначно определены с использованием экземпляров другой (родительской, владельца), несмотря на то, что вторая сущность в свою очередь зависит от третьей сущности.</a:t>
            </a:r>
            <a:endParaRPr b="1" sz="1200">
              <a:solidFill>
                <a:srgbClr val="83540F"/>
              </a:solidFill>
              <a:latin typeface="Comic Sans MS"/>
              <a:ea typeface="Comic Sans MS"/>
              <a:cs typeface="Comic Sans MS"/>
              <a:sym typeface="Comic Sans MS"/>
            </a:endParaRPr>
          </a:p>
          <a:p>
            <a:pPr indent="0" lvl="0" marL="0" rtl="0" algn="l">
              <a:spcBef>
                <a:spcPts val="0"/>
              </a:spcBef>
              <a:spcAft>
                <a:spcPts val="0"/>
              </a:spcAft>
              <a:buNone/>
            </a:pPr>
            <a:r>
              <a:t/>
            </a:r>
            <a:endParaRPr/>
          </a:p>
        </p:txBody>
      </p:sp>
      <p:sp>
        <p:nvSpPr>
          <p:cNvPr id="249" name="Google Shape;24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5" name="Google Shape;255;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3" name="Google Shape;263;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9" name="Google Shape;26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0" name="Google Shape;27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7" name="Google Shape;277;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b="0" i="0" lang="en-US">
                <a:solidFill>
                  <a:srgbClr val="000000"/>
                </a:solidFill>
                <a:latin typeface="Times New Roman"/>
                <a:ea typeface="Times New Roman"/>
                <a:cs typeface="Times New Roman"/>
                <a:sym typeface="Times New Roman"/>
              </a:rPr>
              <a:t>степенью участия – количеством сущностей, участвующих в связи. В основном между сущностями существуют бинарные связи, т. е. ассоциации, связывающие две сущности (степень участия равна 2). Например, «Участок» состоит из «Путей». В то же время по степени участия возможны следующие типы связей:</a:t>
            </a:r>
            <a:endParaRPr/>
          </a:p>
          <a:p>
            <a:pPr indent="0" lvl="0" marL="0" rtl="0" algn="l">
              <a:spcBef>
                <a:spcPts val="0"/>
              </a:spcBef>
              <a:spcAft>
                <a:spcPts val="0"/>
              </a:spcAft>
              <a:buNone/>
            </a:pPr>
            <a:r>
              <a:rPr b="0" i="0" lang="en-US">
                <a:solidFill>
                  <a:srgbClr val="000000"/>
                </a:solidFill>
                <a:latin typeface="Courier New"/>
                <a:ea typeface="Courier New"/>
                <a:cs typeface="Courier New"/>
                <a:sym typeface="Courier New"/>
              </a:rPr>
              <a:t>o</a:t>
            </a:r>
            <a:r>
              <a:rPr b="0" i="0" lang="en-US">
                <a:solidFill>
                  <a:srgbClr val="000000"/>
                </a:solidFill>
                <a:latin typeface="Times New Roman"/>
                <a:ea typeface="Times New Roman"/>
                <a:cs typeface="Times New Roman"/>
                <a:sym typeface="Times New Roman"/>
              </a:rPr>
              <a:t> унарная (рекурсивная) – сущность может быть связана сама с собой. Например, в таблице «Работники» могут быть записи и по подчиненным, и по их начальникам. Тогда возможна связь «начальник» – «подчиненный», определенная на одной таблице;</a:t>
            </a:r>
            <a:endParaRPr/>
          </a:p>
          <a:p>
            <a:pPr indent="0" lvl="0" marL="0" rtl="0" algn="l">
              <a:spcBef>
                <a:spcPts val="0"/>
              </a:spcBef>
              <a:spcAft>
                <a:spcPts val="0"/>
              </a:spcAft>
              <a:buNone/>
            </a:pPr>
            <a:r>
              <a:rPr b="0" i="0" lang="en-US">
                <a:solidFill>
                  <a:srgbClr val="000000"/>
                </a:solidFill>
                <a:latin typeface="Courier New"/>
                <a:ea typeface="Courier New"/>
                <a:cs typeface="Courier New"/>
                <a:sym typeface="Courier New"/>
              </a:rPr>
              <a:t>o</a:t>
            </a:r>
            <a:r>
              <a:rPr b="0" i="0" lang="en-US">
                <a:solidFill>
                  <a:srgbClr val="000000"/>
                </a:solidFill>
                <a:latin typeface="Times New Roman"/>
                <a:ea typeface="Times New Roman"/>
                <a:cs typeface="Times New Roman"/>
                <a:sym typeface="Times New Roman"/>
              </a:rPr>
              <a:t> тернарная – связывает три сущности. Например, «Студент» на «Сессии» получил «Оценку по дисциплине»;</a:t>
            </a:r>
            <a:endParaRPr/>
          </a:p>
          <a:p>
            <a:pPr indent="0" lvl="0" marL="0" rtl="0" algn="l">
              <a:spcBef>
                <a:spcPts val="0"/>
              </a:spcBef>
              <a:spcAft>
                <a:spcPts val="0"/>
              </a:spcAft>
              <a:buNone/>
            </a:pPr>
            <a:r>
              <a:rPr b="0" i="0" lang="en-US">
                <a:solidFill>
                  <a:srgbClr val="000000"/>
                </a:solidFill>
                <a:latin typeface="Courier New"/>
                <a:ea typeface="Courier New"/>
                <a:cs typeface="Courier New"/>
                <a:sym typeface="Courier New"/>
              </a:rPr>
              <a:t>o</a:t>
            </a:r>
            <a:r>
              <a:rPr b="0" i="0" lang="en-US">
                <a:solidFill>
                  <a:srgbClr val="000000"/>
                </a:solidFill>
                <a:latin typeface="Times New Roman"/>
                <a:ea typeface="Times New Roman"/>
                <a:cs typeface="Times New Roman"/>
                <a:sym typeface="Times New Roman"/>
              </a:rPr>
              <a:t> кватернарная и т.д</a:t>
            </a:r>
            <a:endParaRPr b="0" i="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t/>
            </a:r>
            <a:endParaRPr b="0" i="0">
              <a:solidFill>
                <a:srgbClr val="000000"/>
              </a:solidFill>
              <a:latin typeface="Times New Roman"/>
              <a:ea typeface="Times New Roman"/>
              <a:cs typeface="Times New Roman"/>
              <a:sym typeface="Times New Roman"/>
            </a:endParaRPr>
          </a:p>
          <a:p>
            <a:pPr indent="0" lvl="0" marL="0" rtl="0" algn="l">
              <a:spcBef>
                <a:spcPts val="0"/>
              </a:spcBef>
              <a:spcAft>
                <a:spcPts val="0"/>
              </a:spcAft>
              <a:buNone/>
            </a:pPr>
            <a:r>
              <a:rPr b="0" i="0" lang="en-US">
                <a:solidFill>
                  <a:srgbClr val="000000"/>
                </a:solidFill>
                <a:latin typeface="Times New Roman"/>
                <a:ea typeface="Times New Roman"/>
                <a:cs typeface="Times New Roman"/>
                <a:sym typeface="Times New Roman"/>
              </a:rPr>
              <a:t>В методологии IDEF1X степень участия может быть только унарной или бинарной. Связи большей степени приводятся к бинарному виду.</a:t>
            </a:r>
            <a:endParaRPr/>
          </a:p>
        </p:txBody>
      </p:sp>
      <p:sp>
        <p:nvSpPr>
          <p:cNvPr id="278" name="Google Shape;278;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2" name="Google Shape;292;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9" name="Google Shape;299;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5" name="Google Shape;305;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6" name="Google Shape;306;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3" name="Google Shape;31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8" name="Shape 318"/>
        <p:cNvGrpSpPr/>
        <p:nvPr/>
      </p:nvGrpSpPr>
      <p:grpSpPr>
        <a:xfrm>
          <a:off x="0" y="0"/>
          <a:ext cx="0" cy="0"/>
          <a:chOff x="0" y="0"/>
          <a:chExt cx="0" cy="0"/>
        </a:xfrm>
      </p:grpSpPr>
      <p:sp>
        <p:nvSpPr>
          <p:cNvPr id="319" name="Google Shape;319;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0" name="Google Shape;320;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328" name="Google Shape;328;p2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3" name="Google Shape;383;p2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4" name="Google Shape;384;p2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0" name="Google Shape;390;p2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1" name="Google Shape;391;p2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p2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8" name="Google Shape;398;p2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2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6" name="Google Shape;406;p3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7" name="Google Shape;407;p3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3" name="Google Shape;413;p3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4" name="Google Shape;414;p3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0" name="Google Shape;420;p3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3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7" name="Google Shape;427;p3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8" name="Google Shape;428;p3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3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5" name="Google Shape;435;p3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1" name="Google Shape;441;p3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2" name="Google Shape;442;p3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8" name="Google Shape;448;p3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9" name="Google Shape;449;p3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3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6" name="Google Shape;456;p3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0" name="Shape 460"/>
        <p:cNvGrpSpPr/>
        <p:nvPr/>
      </p:nvGrpSpPr>
      <p:grpSpPr>
        <a:xfrm>
          <a:off x="0" y="0"/>
          <a:ext cx="0" cy="0"/>
          <a:chOff x="0" y="0"/>
          <a:chExt cx="0" cy="0"/>
        </a:xfrm>
      </p:grpSpPr>
      <p:sp>
        <p:nvSpPr>
          <p:cNvPr id="461" name="Google Shape;461;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2" name="Google Shape;462;p3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3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3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1" name="Google Shape;471;p3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7" name="Google Shape;477;p4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8" name="Google Shape;478;p4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2" name="Shape 482"/>
        <p:cNvGrpSpPr/>
        <p:nvPr/>
      </p:nvGrpSpPr>
      <p:grpSpPr>
        <a:xfrm>
          <a:off x="0" y="0"/>
          <a:ext cx="0" cy="0"/>
          <a:chOff x="0" y="0"/>
          <a:chExt cx="0" cy="0"/>
        </a:xfrm>
      </p:grpSpPr>
      <p:sp>
        <p:nvSpPr>
          <p:cNvPr id="483" name="Google Shape;483;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4" name="Google Shape;484;p4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5" name="Google Shape;485;p4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1" name="Google Shape;491;p4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2" name="Google Shape;492;p4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8" name="Google Shape;498;p4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4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5" name="Google Shape;505;p4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6" name="Google Shape;506;p4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2" name="Google Shape;512;p4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3" name="Google Shape;513;p4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9" name="Google Shape;519;p4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0" name="Google Shape;520;p4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4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7" name="Google Shape;527;p4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3" name="Google Shape;533;p4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4" name="Google Shape;534;p4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p4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1" name="Google Shape;541;p4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5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7" name="Google Shape;547;p5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8" name="Google Shape;548;p5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5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5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5" name="Google Shape;565;p5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p5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2" name="Google Shape;572;p5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3" name="Google Shape;573;p5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0" name="Google Shape;580;p5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81" name="Google Shape;581;p5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1" name="Shape 601"/>
        <p:cNvGrpSpPr/>
        <p:nvPr/>
      </p:nvGrpSpPr>
      <p:grpSpPr>
        <a:xfrm>
          <a:off x="0" y="0"/>
          <a:ext cx="0" cy="0"/>
          <a:chOff x="0" y="0"/>
          <a:chExt cx="0" cy="0"/>
        </a:xfrm>
      </p:grpSpPr>
      <p:sp>
        <p:nvSpPr>
          <p:cNvPr id="602" name="Google Shape;602;p5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03" name="Google Shape;603;p5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1" name="Shape 621"/>
        <p:cNvGrpSpPr/>
        <p:nvPr/>
      </p:nvGrpSpPr>
      <p:grpSpPr>
        <a:xfrm>
          <a:off x="0" y="0"/>
          <a:ext cx="0" cy="0"/>
          <a:chOff x="0" y="0"/>
          <a:chExt cx="0" cy="0"/>
        </a:xfrm>
      </p:grpSpPr>
      <p:sp>
        <p:nvSpPr>
          <p:cNvPr id="622" name="Google Shape;622;p5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23" name="Google Shape;623;p5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5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41" name="Google Shape;641;p5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p5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66" name="Google Shape;666;p5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0" name="Shape 670"/>
        <p:cNvGrpSpPr/>
        <p:nvPr/>
      </p:nvGrpSpPr>
      <p:grpSpPr>
        <a:xfrm>
          <a:off x="0" y="0"/>
          <a:ext cx="0" cy="0"/>
          <a:chOff x="0" y="0"/>
          <a:chExt cx="0" cy="0"/>
        </a:xfrm>
      </p:grpSpPr>
      <p:sp>
        <p:nvSpPr>
          <p:cNvPr id="671" name="Google Shape;671;p5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72" name="Google Shape;672;p5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6" name="Shape 686"/>
        <p:cNvGrpSpPr/>
        <p:nvPr/>
      </p:nvGrpSpPr>
      <p:grpSpPr>
        <a:xfrm>
          <a:off x="0" y="0"/>
          <a:ext cx="0" cy="0"/>
          <a:chOff x="0" y="0"/>
          <a:chExt cx="0" cy="0"/>
        </a:xfrm>
      </p:grpSpPr>
      <p:sp>
        <p:nvSpPr>
          <p:cNvPr id="687" name="Google Shape;687;p5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8" name="Google Shape;688;p5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p6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13" name="Google Shape;713;p6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8" name="Shape 718"/>
        <p:cNvGrpSpPr/>
        <p:nvPr/>
      </p:nvGrpSpPr>
      <p:grpSpPr>
        <a:xfrm>
          <a:off x="0" y="0"/>
          <a:ext cx="0" cy="0"/>
          <a:chOff x="0" y="0"/>
          <a:chExt cx="0" cy="0"/>
        </a:xfrm>
      </p:grpSpPr>
      <p:sp>
        <p:nvSpPr>
          <p:cNvPr id="719" name="Google Shape;719;p6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0" name="Google Shape;720;p6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5" name="Shape 725"/>
        <p:cNvGrpSpPr/>
        <p:nvPr/>
      </p:nvGrpSpPr>
      <p:grpSpPr>
        <a:xfrm>
          <a:off x="0" y="0"/>
          <a:ext cx="0" cy="0"/>
          <a:chOff x="0" y="0"/>
          <a:chExt cx="0" cy="0"/>
        </a:xfrm>
      </p:grpSpPr>
      <p:sp>
        <p:nvSpPr>
          <p:cNvPr id="726" name="Google Shape;726;p6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7" name="Google Shape;727;p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2" name="Shape 732"/>
        <p:cNvGrpSpPr/>
        <p:nvPr/>
      </p:nvGrpSpPr>
      <p:grpSpPr>
        <a:xfrm>
          <a:off x="0" y="0"/>
          <a:ext cx="0" cy="0"/>
          <a:chOff x="0" y="0"/>
          <a:chExt cx="0" cy="0"/>
        </a:xfrm>
      </p:grpSpPr>
      <p:sp>
        <p:nvSpPr>
          <p:cNvPr id="733" name="Google Shape;733;p6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4" name="Google Shape;734;p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0" name="Shape 740"/>
        <p:cNvGrpSpPr/>
        <p:nvPr/>
      </p:nvGrpSpPr>
      <p:grpSpPr>
        <a:xfrm>
          <a:off x="0" y="0"/>
          <a:ext cx="0" cy="0"/>
          <a:chOff x="0" y="0"/>
          <a:chExt cx="0" cy="0"/>
        </a:xfrm>
      </p:grpSpPr>
      <p:sp>
        <p:nvSpPr>
          <p:cNvPr id="741" name="Google Shape;741;p6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2" name="Google Shape;742;p6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6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9" name="Google Shape;749;p6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p6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6" name="Google Shape;756;p6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2" name="Shape 762"/>
        <p:cNvGrpSpPr/>
        <p:nvPr/>
      </p:nvGrpSpPr>
      <p:grpSpPr>
        <a:xfrm>
          <a:off x="0" y="0"/>
          <a:ext cx="0" cy="0"/>
          <a:chOff x="0" y="0"/>
          <a:chExt cx="0" cy="0"/>
        </a:xfrm>
      </p:grpSpPr>
      <p:sp>
        <p:nvSpPr>
          <p:cNvPr id="763" name="Google Shape;763;p6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4" name="Google Shape;764;p6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p6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1" name="Google Shape;771;p6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p6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8" name="Google Shape;778;p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7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5" name="Google Shape;785;p7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7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2" name="Google Shape;792;p7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7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8" name="Google Shape;798;p7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3" name="Shape 803"/>
        <p:cNvGrpSpPr/>
        <p:nvPr/>
      </p:nvGrpSpPr>
      <p:grpSpPr>
        <a:xfrm>
          <a:off x="0" y="0"/>
          <a:ext cx="0" cy="0"/>
          <a:chOff x="0" y="0"/>
          <a:chExt cx="0" cy="0"/>
        </a:xfrm>
      </p:grpSpPr>
      <p:sp>
        <p:nvSpPr>
          <p:cNvPr id="804" name="Google Shape;804;p7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5" name="Google Shape;805;p7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7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1" name="Google Shape;811;p7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p7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7" name="Google Shape;817;p7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Word документ для подсказки, но может пойти по другому сценарию.</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Если останется время можно разобрать еще одну любую предметную область.</a:t>
            </a:r>
            <a:endParaRPr/>
          </a:p>
          <a:p>
            <a:pPr indent="0" lvl="0" marL="0" rtl="0" algn="l">
              <a:spcBef>
                <a:spcPts val="0"/>
              </a:spcBef>
              <a:spcAft>
                <a:spcPts val="0"/>
              </a:spcAft>
              <a:buNone/>
            </a:pPr>
            <a:r>
              <a:rPr lang="en-US"/>
              <a:t>Выбор темы для РАР можно или по журналу или самостоятельно между студентами или пусть сами себе придумывают.</a:t>
            </a:r>
            <a:endParaRPr/>
          </a:p>
        </p:txBody>
      </p:sp>
      <p:sp>
        <p:nvSpPr>
          <p:cNvPr id="818" name="Google Shape;818;p7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7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29" name="Google Shape;829;p7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Задачи из учебника по Oracle</a:t>
            </a:r>
            <a:endParaRPr/>
          </a:p>
        </p:txBody>
      </p:sp>
      <p:sp>
        <p:nvSpPr>
          <p:cNvPr id="830" name="Google Shape;830;p7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9" name="Shape 839"/>
        <p:cNvGrpSpPr/>
        <p:nvPr/>
      </p:nvGrpSpPr>
      <p:grpSpPr>
        <a:xfrm>
          <a:off x="0" y="0"/>
          <a:ext cx="0" cy="0"/>
          <a:chOff x="0" y="0"/>
          <a:chExt cx="0" cy="0"/>
        </a:xfrm>
      </p:grpSpPr>
      <p:sp>
        <p:nvSpPr>
          <p:cNvPr id="840" name="Google Shape;840;p7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1" name="Google Shape;841;p7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p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2" name="Google Shape;852;p7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Word документ для подсказки, но может пойти по другому сценарию.</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Если останется время можно разобрать еще одну любую предметную область.</a:t>
            </a:r>
            <a:endParaRPr/>
          </a:p>
          <a:p>
            <a:pPr indent="0" lvl="0" marL="0" rtl="0" algn="l">
              <a:spcBef>
                <a:spcPts val="0"/>
              </a:spcBef>
              <a:spcAft>
                <a:spcPts val="0"/>
              </a:spcAft>
              <a:buNone/>
            </a:pPr>
            <a:r>
              <a:rPr lang="en-US"/>
              <a:t>Выбор темы для РАР можно или по журналу или самостоятельно между студентами или пусть сами себе придумывают.</a:t>
            </a:r>
            <a:endParaRPr/>
          </a:p>
        </p:txBody>
      </p:sp>
      <p:sp>
        <p:nvSpPr>
          <p:cNvPr id="853" name="Google Shape;853;p7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2" name="Shape 862"/>
        <p:cNvGrpSpPr/>
        <p:nvPr/>
      </p:nvGrpSpPr>
      <p:grpSpPr>
        <a:xfrm>
          <a:off x="0" y="0"/>
          <a:ext cx="0" cy="0"/>
          <a:chOff x="0" y="0"/>
          <a:chExt cx="0" cy="0"/>
        </a:xfrm>
      </p:grpSpPr>
      <p:sp>
        <p:nvSpPr>
          <p:cNvPr id="863" name="Google Shape;863;p7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4" name="Google Shape;864;p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8" name="Shape 868"/>
        <p:cNvGrpSpPr/>
        <p:nvPr/>
      </p:nvGrpSpPr>
      <p:grpSpPr>
        <a:xfrm>
          <a:off x="0" y="0"/>
          <a:ext cx="0" cy="0"/>
          <a:chOff x="0" y="0"/>
          <a:chExt cx="0" cy="0"/>
        </a:xfrm>
      </p:grpSpPr>
      <p:sp>
        <p:nvSpPr>
          <p:cNvPr id="869" name="Google Shape;869;p8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0" name="Google Shape;870;p8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3" name="Shape 873"/>
        <p:cNvGrpSpPr/>
        <p:nvPr/>
      </p:nvGrpSpPr>
      <p:grpSpPr>
        <a:xfrm>
          <a:off x="0" y="0"/>
          <a:ext cx="0" cy="0"/>
          <a:chOff x="0" y="0"/>
          <a:chExt cx="0" cy="0"/>
        </a:xfrm>
      </p:grpSpPr>
      <p:sp>
        <p:nvSpPr>
          <p:cNvPr id="874" name="Google Shape;874;p8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75" name="Google Shape;875;p8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Word документ для подсказки, но может пойти по другому сценарию.</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Если останется время можно разобрать еще одну любую предметную область.</a:t>
            </a:r>
            <a:endParaRPr/>
          </a:p>
          <a:p>
            <a:pPr indent="0" lvl="0" marL="0" rtl="0" algn="l">
              <a:spcBef>
                <a:spcPts val="0"/>
              </a:spcBef>
              <a:spcAft>
                <a:spcPts val="0"/>
              </a:spcAft>
              <a:buNone/>
            </a:pPr>
            <a:r>
              <a:rPr lang="en-US"/>
              <a:t>Выбор темы для РАР можно или по журналу или самостоятельно между студентами или пусть сами себе придумывают.</a:t>
            </a:r>
            <a:endParaRPr/>
          </a:p>
        </p:txBody>
      </p:sp>
      <p:sp>
        <p:nvSpPr>
          <p:cNvPr id="876" name="Google Shape;876;p8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8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7" name="Google Shape;887;p8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p8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3" name="Google Shape;893;p8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8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9" name="Google Shape;899;p8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Word документ для подсказки, но может пойти по другому сценарию.</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Если останется время можно разобрать еще одну любую предметную область.</a:t>
            </a:r>
            <a:endParaRPr/>
          </a:p>
          <a:p>
            <a:pPr indent="0" lvl="0" marL="0" rtl="0" algn="l">
              <a:spcBef>
                <a:spcPts val="0"/>
              </a:spcBef>
              <a:spcAft>
                <a:spcPts val="0"/>
              </a:spcAft>
              <a:buNone/>
            </a:pPr>
            <a:r>
              <a:rPr lang="en-US"/>
              <a:t>Выбор темы для РАР можно или по журналу или самостоятельно между студентами или пусть сами себе придумывают.</a:t>
            </a:r>
            <a:endParaRPr/>
          </a:p>
        </p:txBody>
      </p:sp>
      <p:sp>
        <p:nvSpPr>
          <p:cNvPr id="900" name="Google Shape;900;p8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Calibri"/>
              <a:buNone/>
            </a:pPr>
            <a:fld id="{00000000-1234-1234-1234-123412341234}" type="slidenum">
              <a:rPr b="0" i="0" lang="en-US" sz="1200" u="none" cap="none" strike="noStrike">
                <a:solidFill>
                  <a:srgbClr val="000000"/>
                </a:solidFill>
                <a:latin typeface="Calibri"/>
                <a:ea typeface="Calibri"/>
                <a:cs typeface="Calibri"/>
                <a:sym typeface="Calibri"/>
              </a:rPr>
              <a:t>‹#›</a:t>
            </a:fld>
            <a:endParaRPr b="0" i="0" sz="1200" u="none" cap="none" strike="noStrike">
              <a:solidFill>
                <a:srgbClr val="000000"/>
              </a:solidFill>
              <a:latin typeface="Calibri"/>
              <a:ea typeface="Calibri"/>
              <a:cs typeface="Calibri"/>
              <a:sym typeface="Calibri"/>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8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1" name="Google Shape;911;p8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5" name="Shape 915"/>
        <p:cNvGrpSpPr/>
        <p:nvPr/>
      </p:nvGrpSpPr>
      <p:grpSpPr>
        <a:xfrm>
          <a:off x="0" y="0"/>
          <a:ext cx="0" cy="0"/>
          <a:chOff x="0" y="0"/>
          <a:chExt cx="0" cy="0"/>
        </a:xfrm>
      </p:grpSpPr>
      <p:sp>
        <p:nvSpPr>
          <p:cNvPr id="916" name="Google Shape;916;p8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7" name="Google Shape;917;p8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итульный слайд" type="title">
  <p:cSld name="TITLE">
    <p:spTree>
      <p:nvGrpSpPr>
        <p:cNvPr id="15" name="Shape 15"/>
        <p:cNvGrpSpPr/>
        <p:nvPr/>
      </p:nvGrpSpPr>
      <p:grpSpPr>
        <a:xfrm>
          <a:off x="0" y="0"/>
          <a:ext cx="0" cy="0"/>
          <a:chOff x="0" y="0"/>
          <a:chExt cx="0" cy="0"/>
        </a:xfrm>
      </p:grpSpPr>
      <p:sp>
        <p:nvSpPr>
          <p:cNvPr id="16" name="Google Shape;16;p8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8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8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8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8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объект" type="obj">
  <p:cSld name="OBJECT">
    <p:spTree>
      <p:nvGrpSpPr>
        <p:cNvPr id="21" name="Shape 21"/>
        <p:cNvGrpSpPr/>
        <p:nvPr/>
      </p:nvGrpSpPr>
      <p:grpSpPr>
        <a:xfrm>
          <a:off x="0" y="0"/>
          <a:ext cx="0" cy="0"/>
          <a:chOff x="0" y="0"/>
          <a:chExt cx="0" cy="0"/>
        </a:xfrm>
      </p:grpSpPr>
      <p:sp>
        <p:nvSpPr>
          <p:cNvPr id="22" name="Google Shape;22;p8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8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8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8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8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Пустой слайд" type="blank">
  <p:cSld name="BLANK">
    <p:spTree>
      <p:nvGrpSpPr>
        <p:cNvPr id="27" name="Shape 27"/>
        <p:cNvGrpSpPr/>
        <p:nvPr/>
      </p:nvGrpSpPr>
      <p:grpSpPr>
        <a:xfrm>
          <a:off x="0" y="0"/>
          <a:ext cx="0" cy="0"/>
          <a:chOff x="0" y="0"/>
          <a:chExt cx="0" cy="0"/>
        </a:xfrm>
      </p:grpSpPr>
      <p:sp>
        <p:nvSpPr>
          <p:cNvPr id="28" name="Google Shape;28;p9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9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9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раздела" type="secHead">
  <p:cSld name="SECTION_HEADER">
    <p:spTree>
      <p:nvGrpSpPr>
        <p:cNvPr id="31" name="Shape 31"/>
        <p:cNvGrpSpPr/>
        <p:nvPr/>
      </p:nvGrpSpPr>
      <p:grpSpPr>
        <a:xfrm>
          <a:off x="0" y="0"/>
          <a:ext cx="0" cy="0"/>
          <a:chOff x="0" y="0"/>
          <a:chExt cx="0" cy="0"/>
        </a:xfrm>
      </p:grpSpPr>
      <p:sp>
        <p:nvSpPr>
          <p:cNvPr id="32" name="Google Shape;32;p9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9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4" name="Google Shape;34;p9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9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9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Два объекта" type="twoObj">
  <p:cSld name="TWO_OBJECTS">
    <p:spTree>
      <p:nvGrpSpPr>
        <p:cNvPr id="37" name="Shape 37"/>
        <p:cNvGrpSpPr/>
        <p:nvPr/>
      </p:nvGrpSpPr>
      <p:grpSpPr>
        <a:xfrm>
          <a:off x="0" y="0"/>
          <a:ext cx="0" cy="0"/>
          <a:chOff x="0" y="0"/>
          <a:chExt cx="0" cy="0"/>
        </a:xfrm>
      </p:grpSpPr>
      <p:sp>
        <p:nvSpPr>
          <p:cNvPr id="38" name="Google Shape;38;p9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9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9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9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9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9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Сравнение" type="twoTxTwoObj">
  <p:cSld name="TWO_OBJECTS_WITH_TEXT">
    <p:spTree>
      <p:nvGrpSpPr>
        <p:cNvPr id="44" name="Shape 44"/>
        <p:cNvGrpSpPr/>
        <p:nvPr/>
      </p:nvGrpSpPr>
      <p:grpSpPr>
        <a:xfrm>
          <a:off x="0" y="0"/>
          <a:ext cx="0" cy="0"/>
          <a:chOff x="0" y="0"/>
          <a:chExt cx="0" cy="0"/>
        </a:xfrm>
      </p:grpSpPr>
      <p:sp>
        <p:nvSpPr>
          <p:cNvPr id="45" name="Google Shape;45;p9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6" name="Google Shape;46;p9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9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9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9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9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9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Только заголовок" type="titleOnly">
  <p:cSld name="TITLE_ONLY">
    <p:spTree>
      <p:nvGrpSpPr>
        <p:cNvPr id="53" name="Shape 53"/>
        <p:cNvGrpSpPr/>
        <p:nvPr/>
      </p:nvGrpSpPr>
      <p:grpSpPr>
        <a:xfrm>
          <a:off x="0" y="0"/>
          <a:ext cx="0" cy="0"/>
          <a:chOff x="0" y="0"/>
          <a:chExt cx="0" cy="0"/>
        </a:xfrm>
      </p:grpSpPr>
      <p:sp>
        <p:nvSpPr>
          <p:cNvPr id="54" name="Google Shape;54;p9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9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9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9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Объект с подписью" type="objTx">
  <p:cSld name="OBJECT_WITH_CAPTION_TEXT">
    <p:spTree>
      <p:nvGrpSpPr>
        <p:cNvPr id="58" name="Shape 58"/>
        <p:cNvGrpSpPr/>
        <p:nvPr/>
      </p:nvGrpSpPr>
      <p:grpSpPr>
        <a:xfrm>
          <a:off x="0" y="0"/>
          <a:ext cx="0" cy="0"/>
          <a:chOff x="0" y="0"/>
          <a:chExt cx="0" cy="0"/>
        </a:xfrm>
      </p:grpSpPr>
      <p:sp>
        <p:nvSpPr>
          <p:cNvPr id="59" name="Google Shape;59;p9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95"/>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95"/>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9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9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9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Рисунок с подписью" type="picTx">
  <p:cSld name="PICTURE_WITH_CAPTION_TEXT">
    <p:spTree>
      <p:nvGrpSpPr>
        <p:cNvPr id="65" name="Shape 65"/>
        <p:cNvGrpSpPr/>
        <p:nvPr/>
      </p:nvGrpSpPr>
      <p:grpSpPr>
        <a:xfrm>
          <a:off x="0" y="0"/>
          <a:ext cx="0" cy="0"/>
          <a:chOff x="0" y="0"/>
          <a:chExt cx="0" cy="0"/>
        </a:xfrm>
      </p:grpSpPr>
      <p:sp>
        <p:nvSpPr>
          <p:cNvPr id="66" name="Google Shape;66;p9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96"/>
          <p:cNvSpPr/>
          <p:nvPr>
            <p:ph idx="2" type="pic"/>
          </p:nvPr>
        </p:nvSpPr>
        <p:spPr>
          <a:xfrm>
            <a:off x="5183188" y="987425"/>
            <a:ext cx="6172200" cy="4873625"/>
          </a:xfrm>
          <a:prstGeom prst="rect">
            <a:avLst/>
          </a:prstGeom>
          <a:noFill/>
          <a:ln>
            <a:noFill/>
          </a:ln>
        </p:spPr>
      </p:sp>
      <p:sp>
        <p:nvSpPr>
          <p:cNvPr id="68" name="Google Shape;68;p96"/>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9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9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Заголовок и вертикальный текст" type="vertTx">
  <p:cSld name="VERTICAL_TEXT">
    <p:spTree>
      <p:nvGrpSpPr>
        <p:cNvPr id="72" name="Shape 72"/>
        <p:cNvGrpSpPr/>
        <p:nvPr/>
      </p:nvGrpSpPr>
      <p:grpSpPr>
        <a:xfrm>
          <a:off x="0" y="0"/>
          <a:ext cx="0" cy="0"/>
          <a:chOff x="0" y="0"/>
          <a:chExt cx="0" cy="0"/>
        </a:xfrm>
      </p:grpSpPr>
      <p:sp>
        <p:nvSpPr>
          <p:cNvPr id="73" name="Google Shape;73;p9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97"/>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9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9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9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Вертикальный заголовок и текст" type="vertTitleAndTx">
  <p:cSld name="VERTICAL_TITLE_AND_VERTICAL_TEXT">
    <p:spTree>
      <p:nvGrpSpPr>
        <p:cNvPr id="78" name="Shape 78"/>
        <p:cNvGrpSpPr/>
        <p:nvPr/>
      </p:nvGrpSpPr>
      <p:grpSpPr>
        <a:xfrm>
          <a:off x="0" y="0"/>
          <a:ext cx="0" cy="0"/>
          <a:chOff x="0" y="0"/>
          <a:chExt cx="0" cy="0"/>
        </a:xfrm>
      </p:grpSpPr>
      <p:sp>
        <p:nvSpPr>
          <p:cNvPr id="79" name="Google Shape;79;p98"/>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98"/>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9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9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9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8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8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8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8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0.png"/><Relationship Id="rId4" Type="http://schemas.openxmlformats.org/officeDocument/2006/relationships/image" Target="../media/image3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 Id="rId4" Type="http://schemas.openxmlformats.org/officeDocument/2006/relationships/image" Target="../media/image1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2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4.png"/><Relationship Id="rId4" Type="http://schemas.openxmlformats.org/officeDocument/2006/relationships/image" Target="../media/image1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2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2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3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33.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9.png"/><Relationship Id="rId4" Type="http://schemas.openxmlformats.org/officeDocument/2006/relationships/image" Target="../media/image4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 Id="rId3" Type="http://schemas.openxmlformats.org/officeDocument/2006/relationships/image" Target="../media/image3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 Id="rId3" Type="http://schemas.openxmlformats.org/officeDocument/2006/relationships/image" Target="../media/image29.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 Id="rId3" Type="http://schemas.openxmlformats.org/officeDocument/2006/relationships/image" Target="../media/image24.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 name="Shape 87"/>
        <p:cNvGrpSpPr/>
        <p:nvPr/>
      </p:nvGrpSpPr>
      <p:grpSpPr>
        <a:xfrm>
          <a:off x="0" y="0"/>
          <a:ext cx="0" cy="0"/>
          <a:chOff x="0" y="0"/>
          <a:chExt cx="0" cy="0"/>
        </a:xfrm>
      </p:grpSpPr>
      <p:sp>
        <p:nvSpPr>
          <p:cNvPr id="88" name="Google Shape;88;p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89" name="Google Shape;89;p1"/>
          <p:cNvSpPr/>
          <p:nvPr/>
        </p:nvSpPr>
        <p:spPr>
          <a:xfrm rot="10800000">
            <a:off x="-2" y="-22693"/>
            <a:ext cx="12191999" cy="4374129"/>
          </a:xfrm>
          <a:prstGeom prst="rect">
            <a:avLst/>
          </a:prstGeom>
          <a:gradFill>
            <a:gsLst>
              <a:gs pos="0">
                <a:srgbClr val="2F5496"/>
              </a:gs>
              <a:gs pos="100000">
                <a:srgbClr val="000000"/>
              </a:gs>
            </a:gsLst>
            <a:lin ang="15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0" name="Google Shape;90;p1"/>
          <p:cNvSpPr/>
          <p:nvPr/>
        </p:nvSpPr>
        <p:spPr>
          <a:xfrm rot="5400000">
            <a:off x="3908719" y="-3931841"/>
            <a:ext cx="4374557" cy="12192000"/>
          </a:xfrm>
          <a:prstGeom prst="rect">
            <a:avLst/>
          </a:prstGeom>
          <a:gradFill>
            <a:gsLst>
              <a:gs pos="0">
                <a:srgbClr val="4472C4">
                  <a:alpha val="0"/>
                </a:srgbClr>
              </a:gs>
              <a:gs pos="40000">
                <a:srgbClr val="4472C4">
                  <a:alpha val="0"/>
                </a:srgbClr>
              </a:gs>
              <a:gs pos="100000">
                <a:srgbClr val="2F5496">
                  <a:alpha val="51764"/>
                </a:srgbClr>
              </a:gs>
            </a:gsLst>
            <a:lin ang="2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1" name="Google Shape;91;p1"/>
          <p:cNvSpPr/>
          <p:nvPr/>
        </p:nvSpPr>
        <p:spPr>
          <a:xfrm rot="5400000">
            <a:off x="4136696" y="-3703868"/>
            <a:ext cx="4374128" cy="11736479"/>
          </a:xfrm>
          <a:prstGeom prst="rect">
            <a:avLst/>
          </a:prstGeom>
          <a:gradFill>
            <a:gsLst>
              <a:gs pos="0">
                <a:srgbClr val="4472C4">
                  <a:alpha val="0"/>
                </a:srgbClr>
              </a:gs>
              <a:gs pos="17000">
                <a:srgbClr val="4472C4">
                  <a:alpha val="0"/>
                </a:srgbClr>
              </a:gs>
              <a:gs pos="100000">
                <a:srgbClr val="000000">
                  <a:alpha val="36862"/>
                </a:srgbClr>
              </a:gs>
            </a:gsLst>
            <a:lin ang="7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2" name="Google Shape;92;p1"/>
          <p:cNvSpPr/>
          <p:nvPr/>
        </p:nvSpPr>
        <p:spPr>
          <a:xfrm>
            <a:off x="-5" y="-22690"/>
            <a:ext cx="8542485" cy="4374126"/>
          </a:xfrm>
          <a:prstGeom prst="rect">
            <a:avLst/>
          </a:prstGeom>
          <a:gradFill>
            <a:gsLst>
              <a:gs pos="0">
                <a:srgbClr val="1F3864">
                  <a:alpha val="0"/>
                </a:srgbClr>
              </a:gs>
              <a:gs pos="100000">
                <a:srgbClr val="000000">
                  <a:alpha val="24705"/>
                </a:srgbClr>
              </a:gs>
            </a:gsLst>
            <a:lin ang="18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3" name="Google Shape;93;p1"/>
          <p:cNvSpPr/>
          <p:nvPr/>
        </p:nvSpPr>
        <p:spPr>
          <a:xfrm rot="-9091028">
            <a:off x="5945431" y="-1032053"/>
            <a:ext cx="4990147" cy="4439131"/>
          </a:xfrm>
          <a:custGeom>
            <a:rect b="b" l="l" r="r" t="t"/>
            <a:pathLst>
              <a:path extrusionOk="0" h="4439131" w="4990147">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rgbClr val="4472C4">
                  <a:alpha val="21960"/>
                </a:srgbClr>
              </a:gs>
              <a:gs pos="87000">
                <a:srgbClr val="8DA9DB">
                  <a:alpha val="1960"/>
                </a:srgbClr>
              </a:gs>
              <a:gs pos="100000">
                <a:srgbClr val="8DA9DB">
                  <a:alpha val="1960"/>
                </a:srgbClr>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94" name="Google Shape;94;p1"/>
          <p:cNvSpPr txBox="1"/>
          <p:nvPr>
            <p:ph type="ctrTitle"/>
          </p:nvPr>
        </p:nvSpPr>
        <p:spPr>
          <a:xfrm>
            <a:off x="1314824" y="735106"/>
            <a:ext cx="10053763" cy="292847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chemeClr val="lt1"/>
              </a:buClr>
              <a:buSzPts val="4400"/>
              <a:buFont typeface="Times New Roman"/>
              <a:buNone/>
            </a:pPr>
            <a:r>
              <a:rPr lang="en-US" sz="4400">
                <a:solidFill>
                  <a:schemeClr val="lt1"/>
                </a:solidFill>
                <a:latin typeface="Times New Roman"/>
                <a:ea typeface="Times New Roman"/>
                <a:cs typeface="Times New Roman"/>
                <a:sym typeface="Times New Roman"/>
              </a:rPr>
              <a:t>Концептуальное проектирование</a:t>
            </a:r>
            <a:endParaRPr sz="4400">
              <a:solidFill>
                <a:schemeClr val="lt1"/>
              </a:solidFill>
            </a:endParaRPr>
          </a:p>
        </p:txBody>
      </p:sp>
      <p:sp>
        <p:nvSpPr>
          <p:cNvPr id="95" name="Google Shape;95;p1"/>
          <p:cNvSpPr txBox="1"/>
          <p:nvPr>
            <p:ph idx="1" type="subTitle"/>
          </p:nvPr>
        </p:nvSpPr>
        <p:spPr>
          <a:xfrm>
            <a:off x="1350682" y="4870824"/>
            <a:ext cx="10005951" cy="145825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a:t>Этапы проектирования БД. Бизнес-требования и бизнес-правила. Сущности, атрибуты, связи. ER-диаграммы.</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sp>
        <p:nvSpPr>
          <p:cNvPr id="101" name="Google Shape;101;p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2" name="Google Shape;102;p2"/>
          <p:cNvSpPr/>
          <p:nvPr/>
        </p:nvSpPr>
        <p:spPr>
          <a:xfrm flipH="1" rot="5400000">
            <a:off x="-1417539" y="1417538"/>
            <a:ext cx="6875818" cy="4040744"/>
          </a:xfrm>
          <a:prstGeom prst="rect">
            <a:avLst/>
          </a:prstGeom>
          <a:gradFill>
            <a:gsLst>
              <a:gs pos="0">
                <a:srgbClr val="000000"/>
              </a:gs>
              <a:gs pos="100000">
                <a:srgbClr val="2F5496"/>
              </a:gs>
            </a:gsLst>
            <a:lin ang="18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3" name="Google Shape;103;p2"/>
          <p:cNvSpPr/>
          <p:nvPr/>
        </p:nvSpPr>
        <p:spPr>
          <a:xfrm rot="-5400000">
            <a:off x="-158495" y="2660473"/>
            <a:ext cx="4355594" cy="4038603"/>
          </a:xfrm>
          <a:prstGeom prst="rect">
            <a:avLst/>
          </a:prstGeom>
          <a:gradFill>
            <a:gsLst>
              <a:gs pos="0">
                <a:srgbClr val="4472C4">
                  <a:alpha val="49803"/>
                </a:srgbClr>
              </a:gs>
              <a:gs pos="100000">
                <a:srgbClr val="1F3864">
                  <a:alpha val="0"/>
                </a:srgbClr>
              </a:gs>
            </a:gsLst>
            <a:lin ang="11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4" name="Google Shape;104;p2"/>
          <p:cNvSpPr/>
          <p:nvPr/>
        </p:nvSpPr>
        <p:spPr>
          <a:xfrm flipH="1" rot="-5400000">
            <a:off x="-1180882" y="1638085"/>
            <a:ext cx="6857572" cy="3581401"/>
          </a:xfrm>
          <a:prstGeom prst="rect">
            <a:avLst/>
          </a:prstGeom>
          <a:gradFill>
            <a:gsLst>
              <a:gs pos="0">
                <a:srgbClr val="000000">
                  <a:alpha val="58823"/>
                </a:srgbClr>
              </a:gs>
              <a:gs pos="69000">
                <a:srgbClr val="4472C4">
                  <a:alpha val="0"/>
                </a:srgbClr>
              </a:gs>
              <a:gs pos="100000">
                <a:srgbClr val="4472C4">
                  <a:alpha val="0"/>
                </a:srgbClr>
              </a:gs>
            </a:gsLst>
            <a:lin ang="13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5" name="Google Shape;105;p2"/>
          <p:cNvSpPr/>
          <p:nvPr/>
        </p:nvSpPr>
        <p:spPr>
          <a:xfrm rot="6097846">
            <a:off x="-747355" y="1201312"/>
            <a:ext cx="4808302" cy="4088666"/>
          </a:xfrm>
          <a:custGeom>
            <a:rect b="b" l="l" r="r" t="t"/>
            <a:pathLst>
              <a:path extrusionOk="0" h="4088666" w="4808302">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0">
                <a:srgbClr val="8DA9DB">
                  <a:alpha val="0"/>
                </a:srgbClr>
              </a:gs>
              <a:gs pos="39000">
                <a:srgbClr val="8DA9DB">
                  <a:alpha val="0"/>
                </a:srgbClr>
              </a:gs>
              <a:gs pos="100000">
                <a:srgbClr val="2F5496">
                  <a:alpha val="25882"/>
                </a:srgbClr>
              </a:gs>
            </a:gsLst>
            <a:lin ang="186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2"/>
          <p:cNvSpPr txBox="1"/>
          <p:nvPr>
            <p:ph type="title"/>
          </p:nvPr>
        </p:nvSpPr>
        <p:spPr>
          <a:xfrm>
            <a:off x="660041" y="2767106"/>
            <a:ext cx="2880828" cy="307190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FFFFF"/>
              </a:buClr>
              <a:buSzPts val="3100"/>
              <a:buFont typeface="Calibri"/>
              <a:buNone/>
            </a:pPr>
            <a:r>
              <a:rPr b="1" lang="en-US" sz="3100">
                <a:solidFill>
                  <a:srgbClr val="FFFFFF"/>
                </a:solidFill>
                <a:latin typeface="Calibri"/>
                <a:ea typeface="Calibri"/>
                <a:cs typeface="Calibri"/>
                <a:sym typeface="Calibri"/>
              </a:rPr>
              <a:t>Этапы проектирования БД</a:t>
            </a:r>
            <a:endParaRPr/>
          </a:p>
        </p:txBody>
      </p:sp>
      <p:pic>
        <p:nvPicPr>
          <p:cNvPr id="107" name="Google Shape;107;p2"/>
          <p:cNvPicPr preferRelativeResize="0"/>
          <p:nvPr/>
        </p:nvPicPr>
        <p:blipFill rotWithShape="1">
          <a:blip r:embed="rId3">
            <a:alphaModFix/>
          </a:blip>
          <a:srcRect b="0" l="0" r="0" t="0"/>
          <a:stretch/>
        </p:blipFill>
        <p:spPr>
          <a:xfrm>
            <a:off x="5930981" y="467208"/>
            <a:ext cx="4368642" cy="5923584"/>
          </a:xfrm>
          <a:prstGeom prst="rect">
            <a:avLst/>
          </a:prstGeom>
          <a:noFill/>
          <a:ln>
            <a:noFill/>
          </a:ln>
        </p:spPr>
      </p:pic>
      <p:sp>
        <p:nvSpPr>
          <p:cNvPr id="108" name="Google Shape;108;p2"/>
          <p:cNvSpPr txBox="1"/>
          <p:nvPr>
            <p:ph idx="4294967295" type="sldNum"/>
          </p:nvPr>
        </p:nvSpPr>
        <p:spPr>
          <a:xfrm>
            <a:off x="11704319" y="6455664"/>
            <a:ext cx="448056"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b="0" i="0" lang="en-US" sz="1100" u="none" cap="none" strike="noStrike">
                <a:solidFill>
                  <a:srgbClr val="7F7F7F"/>
                </a:solidFill>
                <a:latin typeface="Calibri"/>
                <a:ea typeface="Calibri"/>
                <a:cs typeface="Calibri"/>
                <a:sym typeface="Calibri"/>
              </a:rPr>
              <a:t>‹#›</a:t>
            </a:fld>
            <a:endParaRPr b="0" i="0" sz="1100" u="none" cap="none" strike="noStrike">
              <a:solidFill>
                <a:srgbClr val="7F7F7F"/>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3"/>
          <p:cNvSpPr txBox="1"/>
          <p:nvPr>
            <p:ph type="title"/>
          </p:nvPr>
        </p:nvSpPr>
        <p:spPr>
          <a:xfrm>
            <a:off x="1981200" y="222252"/>
            <a:ext cx="8229600" cy="563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Comic Sans MS"/>
              <a:buNone/>
            </a:pPr>
            <a:r>
              <a:rPr b="1" lang="en-US" sz="3200">
                <a:latin typeface="Comic Sans MS"/>
                <a:ea typeface="Comic Sans MS"/>
                <a:cs typeface="Comic Sans MS"/>
                <a:sym typeface="Comic Sans MS"/>
              </a:rPr>
              <a:t>Стадии проектирования БД</a:t>
            </a:r>
            <a:endParaRPr/>
          </a:p>
        </p:txBody>
      </p:sp>
      <p:sp>
        <p:nvSpPr>
          <p:cNvPr id="114" name="Google Shape;114;p3"/>
          <p:cNvSpPr txBox="1"/>
          <p:nvPr>
            <p:ph idx="4294967295" type="sldNum"/>
          </p:nvPr>
        </p:nvSpPr>
        <p:spPr>
          <a:xfrm>
            <a:off x="9906000" y="6356351"/>
            <a:ext cx="7620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rgbClr val="045C75"/>
                </a:solidFill>
                <a:latin typeface="Constantia"/>
                <a:ea typeface="Constantia"/>
                <a:cs typeface="Constantia"/>
                <a:sym typeface="Constantia"/>
              </a:rPr>
              <a:t>‹#›</a:t>
            </a:fld>
            <a:endParaRPr b="0" i="0" sz="1200" u="none" cap="none" strike="noStrike">
              <a:solidFill>
                <a:srgbClr val="045C75"/>
              </a:solidFill>
              <a:latin typeface="Constantia"/>
              <a:ea typeface="Constantia"/>
              <a:cs typeface="Constantia"/>
              <a:sym typeface="Constantia"/>
            </a:endParaRPr>
          </a:p>
        </p:txBody>
      </p:sp>
      <p:sp>
        <p:nvSpPr>
          <p:cNvPr id="115" name="Google Shape;115;p3"/>
          <p:cNvSpPr/>
          <p:nvPr/>
        </p:nvSpPr>
        <p:spPr>
          <a:xfrm>
            <a:off x="5051425" y="1916833"/>
            <a:ext cx="2089150" cy="719137"/>
          </a:xfrm>
          <a:prstGeom prst="rect">
            <a:avLst/>
          </a:prstGeom>
          <a:gradFill>
            <a:gsLst>
              <a:gs pos="0">
                <a:schemeClr val="lt1"/>
              </a:gs>
              <a:gs pos="50000">
                <a:srgbClr val="FAFAFA"/>
              </a:gs>
              <a:gs pos="100000">
                <a:srgbClr val="CECECE"/>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C00000"/>
                </a:solidFill>
                <a:latin typeface="Calibri"/>
                <a:ea typeface="Calibri"/>
                <a:cs typeface="Calibri"/>
                <a:sym typeface="Calibri"/>
              </a:rPr>
              <a:t>Инфологическое </a:t>
            </a:r>
            <a:endParaRPr/>
          </a:p>
          <a:p>
            <a:pPr indent="0" lvl="0" marL="0" marR="0" rtl="0" algn="ctr">
              <a:spcBef>
                <a:spcPts val="0"/>
              </a:spcBef>
              <a:spcAft>
                <a:spcPts val="0"/>
              </a:spcAft>
              <a:buNone/>
            </a:pPr>
            <a:r>
              <a:rPr b="1" i="0" lang="en-US" sz="1800" u="none" cap="none" strike="noStrike">
                <a:solidFill>
                  <a:srgbClr val="C00000"/>
                </a:solidFill>
                <a:latin typeface="Calibri"/>
                <a:ea typeface="Calibri"/>
                <a:cs typeface="Calibri"/>
                <a:sym typeface="Calibri"/>
              </a:rPr>
              <a:t>моделирование</a:t>
            </a:r>
            <a:endParaRPr/>
          </a:p>
        </p:txBody>
      </p:sp>
      <p:sp>
        <p:nvSpPr>
          <p:cNvPr id="116" name="Google Shape;116;p3"/>
          <p:cNvSpPr/>
          <p:nvPr/>
        </p:nvSpPr>
        <p:spPr>
          <a:xfrm>
            <a:off x="2424114" y="1656482"/>
            <a:ext cx="2208213" cy="1944687"/>
          </a:xfrm>
          <a:custGeom>
            <a:rect b="b" l="l" r="r" t="t"/>
            <a:pathLst>
              <a:path extrusionOk="0" h="1492" w="1595">
                <a:moveTo>
                  <a:pt x="778" y="34"/>
                </a:moveTo>
                <a:cubicBezTo>
                  <a:pt x="744" y="43"/>
                  <a:pt x="710" y="52"/>
                  <a:pt x="676" y="60"/>
                </a:cubicBezTo>
                <a:cubicBezTo>
                  <a:pt x="651" y="66"/>
                  <a:pt x="600" y="77"/>
                  <a:pt x="600" y="77"/>
                </a:cubicBezTo>
                <a:cubicBezTo>
                  <a:pt x="589" y="83"/>
                  <a:pt x="578" y="90"/>
                  <a:pt x="566" y="94"/>
                </a:cubicBezTo>
                <a:cubicBezTo>
                  <a:pt x="544" y="101"/>
                  <a:pt x="498" y="110"/>
                  <a:pt x="498" y="110"/>
                </a:cubicBezTo>
                <a:cubicBezTo>
                  <a:pt x="490" y="116"/>
                  <a:pt x="482" y="122"/>
                  <a:pt x="473" y="127"/>
                </a:cubicBezTo>
                <a:cubicBezTo>
                  <a:pt x="465" y="131"/>
                  <a:pt x="455" y="131"/>
                  <a:pt x="447" y="136"/>
                </a:cubicBezTo>
                <a:cubicBezTo>
                  <a:pt x="383" y="179"/>
                  <a:pt x="459" y="148"/>
                  <a:pt x="396" y="170"/>
                </a:cubicBezTo>
                <a:cubicBezTo>
                  <a:pt x="319" y="248"/>
                  <a:pt x="347" y="227"/>
                  <a:pt x="295" y="297"/>
                </a:cubicBezTo>
                <a:cubicBezTo>
                  <a:pt x="285" y="344"/>
                  <a:pt x="278" y="365"/>
                  <a:pt x="252" y="407"/>
                </a:cubicBezTo>
                <a:cubicBezTo>
                  <a:pt x="241" y="455"/>
                  <a:pt x="214" y="490"/>
                  <a:pt x="193" y="534"/>
                </a:cubicBezTo>
                <a:cubicBezTo>
                  <a:pt x="164" y="596"/>
                  <a:pt x="138" y="650"/>
                  <a:pt x="108" y="712"/>
                </a:cubicBezTo>
                <a:cubicBezTo>
                  <a:pt x="84" y="761"/>
                  <a:pt x="74" y="815"/>
                  <a:pt x="49" y="864"/>
                </a:cubicBezTo>
                <a:cubicBezTo>
                  <a:pt x="31" y="940"/>
                  <a:pt x="0" y="951"/>
                  <a:pt x="32" y="1051"/>
                </a:cubicBezTo>
                <a:cubicBezTo>
                  <a:pt x="40" y="1078"/>
                  <a:pt x="69" y="1094"/>
                  <a:pt x="83" y="1118"/>
                </a:cubicBezTo>
                <a:cubicBezTo>
                  <a:pt x="121" y="1183"/>
                  <a:pt x="201" y="1268"/>
                  <a:pt x="278" y="1288"/>
                </a:cubicBezTo>
                <a:cubicBezTo>
                  <a:pt x="307" y="1309"/>
                  <a:pt x="367" y="1360"/>
                  <a:pt x="405" y="1373"/>
                </a:cubicBezTo>
                <a:cubicBezTo>
                  <a:pt x="422" y="1379"/>
                  <a:pt x="441" y="1380"/>
                  <a:pt x="456" y="1390"/>
                </a:cubicBezTo>
                <a:cubicBezTo>
                  <a:pt x="519" y="1430"/>
                  <a:pt x="561" y="1474"/>
                  <a:pt x="634" y="1491"/>
                </a:cubicBezTo>
                <a:cubicBezTo>
                  <a:pt x="750" y="1488"/>
                  <a:pt x="866" y="1492"/>
                  <a:pt x="981" y="1483"/>
                </a:cubicBezTo>
                <a:cubicBezTo>
                  <a:pt x="1025" y="1479"/>
                  <a:pt x="1046" y="1454"/>
                  <a:pt x="1083" y="1440"/>
                </a:cubicBezTo>
                <a:cubicBezTo>
                  <a:pt x="1110" y="1430"/>
                  <a:pt x="1167" y="1415"/>
                  <a:pt x="1167" y="1415"/>
                </a:cubicBezTo>
                <a:cubicBezTo>
                  <a:pt x="1195" y="1397"/>
                  <a:pt x="1216" y="1374"/>
                  <a:pt x="1244" y="1356"/>
                </a:cubicBezTo>
                <a:cubicBezTo>
                  <a:pt x="1283" y="1303"/>
                  <a:pt x="1334" y="1274"/>
                  <a:pt x="1379" y="1229"/>
                </a:cubicBezTo>
                <a:cubicBezTo>
                  <a:pt x="1439" y="1168"/>
                  <a:pt x="1371" y="1217"/>
                  <a:pt x="1430" y="1178"/>
                </a:cubicBezTo>
                <a:cubicBezTo>
                  <a:pt x="1453" y="1055"/>
                  <a:pt x="1403" y="930"/>
                  <a:pt x="1498" y="839"/>
                </a:cubicBezTo>
                <a:cubicBezTo>
                  <a:pt x="1515" y="805"/>
                  <a:pt x="1530" y="782"/>
                  <a:pt x="1557" y="754"/>
                </a:cubicBezTo>
                <a:cubicBezTo>
                  <a:pt x="1573" y="672"/>
                  <a:pt x="1595" y="591"/>
                  <a:pt x="1540" y="517"/>
                </a:cubicBezTo>
                <a:cubicBezTo>
                  <a:pt x="1529" y="483"/>
                  <a:pt x="1519" y="469"/>
                  <a:pt x="1489" y="449"/>
                </a:cubicBezTo>
                <a:cubicBezTo>
                  <a:pt x="1444" y="382"/>
                  <a:pt x="1503" y="463"/>
                  <a:pt x="1447" y="407"/>
                </a:cubicBezTo>
                <a:cubicBezTo>
                  <a:pt x="1425" y="385"/>
                  <a:pt x="1420" y="351"/>
                  <a:pt x="1413" y="322"/>
                </a:cubicBezTo>
                <a:cubicBezTo>
                  <a:pt x="1410" y="274"/>
                  <a:pt x="1411" y="226"/>
                  <a:pt x="1404" y="178"/>
                </a:cubicBezTo>
                <a:cubicBezTo>
                  <a:pt x="1397" y="130"/>
                  <a:pt x="1310" y="83"/>
                  <a:pt x="1269" y="68"/>
                </a:cubicBezTo>
                <a:cubicBezTo>
                  <a:pt x="1222" y="21"/>
                  <a:pt x="1139" y="10"/>
                  <a:pt x="1074" y="0"/>
                </a:cubicBezTo>
                <a:cubicBezTo>
                  <a:pt x="998" y="3"/>
                  <a:pt x="921" y="1"/>
                  <a:pt x="845" y="9"/>
                </a:cubicBezTo>
                <a:cubicBezTo>
                  <a:pt x="823" y="11"/>
                  <a:pt x="806" y="34"/>
                  <a:pt x="778" y="34"/>
                </a:cubicBezTo>
                <a:close/>
              </a:path>
            </a:pathLst>
          </a:custGeom>
          <a:solidFill>
            <a:schemeClr val="accent1"/>
          </a:solidFill>
          <a:ln cap="flat" cmpd="sng" w="12700">
            <a:solidFill>
              <a:srgbClr val="31538F"/>
            </a:solidFill>
            <a:prstDash val="solid"/>
            <a:miter lim="800000"/>
            <a:headEnd len="sm" w="sm" type="none"/>
            <a:tailEnd len="sm" w="sm" type="none"/>
          </a:ln>
          <a:effectLst>
            <a:outerShdw blurRad="50800" rotWithShape="0" algn="t" dir="5400000" dist="38100">
              <a:srgbClr val="000000">
                <a:alpha val="40000"/>
              </a:srgbClr>
            </a:outerShdw>
          </a:effectLst>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117" name="Google Shape;117;p3"/>
          <p:cNvSpPr txBox="1"/>
          <p:nvPr/>
        </p:nvSpPr>
        <p:spPr>
          <a:xfrm>
            <a:off x="2844803" y="2343869"/>
            <a:ext cx="164359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rgbClr val="FFFFFF"/>
                </a:solidFill>
                <a:latin typeface="Arial"/>
                <a:ea typeface="Arial"/>
                <a:cs typeface="Arial"/>
                <a:sym typeface="Arial"/>
              </a:rPr>
              <a:t>Предметная </a:t>
            </a:r>
            <a:endParaRPr/>
          </a:p>
          <a:p>
            <a:pPr indent="0" lvl="0" marL="0" marR="0" rtl="0" algn="l">
              <a:spcBef>
                <a:spcPts val="0"/>
              </a:spcBef>
              <a:spcAft>
                <a:spcPts val="0"/>
              </a:spcAft>
              <a:buNone/>
            </a:pPr>
            <a:r>
              <a:rPr b="1" i="0" lang="en-US" sz="1800" u="none" cap="none" strike="noStrike">
                <a:solidFill>
                  <a:srgbClr val="FFFFFF"/>
                </a:solidFill>
                <a:latin typeface="Arial"/>
                <a:ea typeface="Arial"/>
                <a:cs typeface="Arial"/>
                <a:sym typeface="Arial"/>
              </a:rPr>
              <a:t>область</a:t>
            </a:r>
            <a:endParaRPr/>
          </a:p>
        </p:txBody>
      </p:sp>
      <p:cxnSp>
        <p:nvCxnSpPr>
          <p:cNvPr id="118" name="Google Shape;118;p3"/>
          <p:cNvCxnSpPr/>
          <p:nvPr/>
        </p:nvCxnSpPr>
        <p:spPr>
          <a:xfrm>
            <a:off x="4368801" y="2161306"/>
            <a:ext cx="682624" cy="6351"/>
          </a:xfrm>
          <a:prstGeom prst="straightConnector1">
            <a:avLst/>
          </a:prstGeom>
          <a:noFill/>
          <a:ln cap="flat" cmpd="sng" w="28575">
            <a:solidFill>
              <a:srgbClr val="C00000"/>
            </a:solidFill>
            <a:prstDash val="solid"/>
            <a:round/>
            <a:headEnd len="med" w="med" type="none"/>
            <a:tailEnd len="med" w="med" type="triangle"/>
          </a:ln>
        </p:spPr>
      </p:cxnSp>
      <p:sp>
        <p:nvSpPr>
          <p:cNvPr id="119" name="Google Shape;119;p3"/>
          <p:cNvSpPr/>
          <p:nvPr/>
        </p:nvSpPr>
        <p:spPr>
          <a:xfrm>
            <a:off x="5016501" y="2953468"/>
            <a:ext cx="2089150" cy="914400"/>
          </a:xfrm>
          <a:prstGeom prst="rect">
            <a:avLst/>
          </a:prstGeom>
          <a:gradFill>
            <a:gsLst>
              <a:gs pos="0">
                <a:schemeClr val="lt1"/>
              </a:gs>
              <a:gs pos="50000">
                <a:srgbClr val="FAFAFA"/>
              </a:gs>
              <a:gs pos="100000">
                <a:srgbClr val="CECECE"/>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C00000"/>
                </a:solidFill>
                <a:latin typeface="Calibri"/>
                <a:ea typeface="Calibri"/>
                <a:cs typeface="Calibri"/>
                <a:sym typeface="Calibri"/>
              </a:rPr>
              <a:t>Даталогическое</a:t>
            </a:r>
            <a:endParaRPr b="1" i="0" sz="1800" u="none" cap="none" strike="noStrike">
              <a:solidFill>
                <a:srgbClr val="C00000"/>
              </a:solidFill>
              <a:latin typeface="Calibri"/>
              <a:ea typeface="Calibri"/>
              <a:cs typeface="Calibri"/>
              <a:sym typeface="Calibri"/>
            </a:endParaRPr>
          </a:p>
          <a:p>
            <a:pPr indent="0" lvl="0" marL="0" marR="0" rtl="0" algn="ctr">
              <a:spcBef>
                <a:spcPts val="0"/>
              </a:spcBef>
              <a:spcAft>
                <a:spcPts val="0"/>
              </a:spcAft>
              <a:buNone/>
            </a:pPr>
            <a:r>
              <a:rPr b="1" i="0" lang="en-US" sz="1800" u="none" cap="none" strike="noStrike">
                <a:solidFill>
                  <a:srgbClr val="C00000"/>
                </a:solidFill>
                <a:latin typeface="Calibri"/>
                <a:ea typeface="Calibri"/>
                <a:cs typeface="Calibri"/>
                <a:sym typeface="Calibri"/>
              </a:rPr>
              <a:t>моделирование</a:t>
            </a:r>
            <a:endParaRPr/>
          </a:p>
        </p:txBody>
      </p:sp>
      <p:sp>
        <p:nvSpPr>
          <p:cNvPr id="120" name="Google Shape;120;p3"/>
          <p:cNvSpPr/>
          <p:nvPr/>
        </p:nvSpPr>
        <p:spPr>
          <a:xfrm>
            <a:off x="2424113" y="4177432"/>
            <a:ext cx="2089150" cy="720725"/>
          </a:xfrm>
          <a:prstGeom prst="rect">
            <a:avLst/>
          </a:prstGeom>
          <a:solidFill>
            <a:schemeClr val="lt1"/>
          </a:solidFill>
          <a:ln cap="flat" cmpd="sng" w="12700">
            <a:solidFill>
              <a:schemeClr val="accent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B42703"/>
                </a:solidFill>
                <a:latin typeface="Arial"/>
                <a:ea typeface="Arial"/>
                <a:cs typeface="Arial"/>
                <a:sym typeface="Arial"/>
              </a:rPr>
              <a:t>Предварительная</a:t>
            </a:r>
            <a:endParaRPr/>
          </a:p>
          <a:p>
            <a:pPr indent="0" lvl="0" marL="0" marR="0" rtl="0" algn="ctr">
              <a:spcBef>
                <a:spcPts val="0"/>
              </a:spcBef>
              <a:spcAft>
                <a:spcPts val="0"/>
              </a:spcAft>
              <a:buNone/>
            </a:pPr>
            <a:r>
              <a:rPr b="0" i="0" lang="en-US" sz="1800" u="none" cap="none" strike="noStrike">
                <a:solidFill>
                  <a:srgbClr val="B42703"/>
                </a:solidFill>
                <a:latin typeface="Arial"/>
                <a:ea typeface="Arial"/>
                <a:cs typeface="Arial"/>
                <a:sym typeface="Arial"/>
              </a:rPr>
              <a:t> логическая модель</a:t>
            </a:r>
            <a:endParaRPr/>
          </a:p>
        </p:txBody>
      </p:sp>
      <p:cxnSp>
        <p:nvCxnSpPr>
          <p:cNvPr id="121" name="Google Shape;121;p3"/>
          <p:cNvCxnSpPr/>
          <p:nvPr/>
        </p:nvCxnSpPr>
        <p:spPr>
          <a:xfrm flipH="1" rot="10800000">
            <a:off x="3648076" y="2528019"/>
            <a:ext cx="1403349" cy="1649413"/>
          </a:xfrm>
          <a:prstGeom prst="straightConnector1">
            <a:avLst/>
          </a:prstGeom>
          <a:noFill/>
          <a:ln cap="flat" cmpd="sng" w="28575">
            <a:solidFill>
              <a:srgbClr val="C00000"/>
            </a:solidFill>
            <a:prstDash val="solid"/>
            <a:round/>
            <a:headEnd len="med" w="med" type="triangle"/>
            <a:tailEnd len="med" w="med" type="triangle"/>
          </a:ln>
        </p:spPr>
      </p:cxnSp>
      <p:cxnSp>
        <p:nvCxnSpPr>
          <p:cNvPr id="122" name="Google Shape;122;p3"/>
          <p:cNvCxnSpPr/>
          <p:nvPr/>
        </p:nvCxnSpPr>
        <p:spPr>
          <a:xfrm>
            <a:off x="5951538" y="2635970"/>
            <a:ext cx="0" cy="317499"/>
          </a:xfrm>
          <a:prstGeom prst="straightConnector1">
            <a:avLst/>
          </a:prstGeom>
          <a:noFill/>
          <a:ln cap="flat" cmpd="sng" w="28575">
            <a:solidFill>
              <a:srgbClr val="C00000"/>
            </a:solidFill>
            <a:prstDash val="solid"/>
            <a:round/>
            <a:headEnd len="med" w="med" type="none"/>
            <a:tailEnd len="med" w="med" type="triangle"/>
          </a:ln>
        </p:spPr>
      </p:cxnSp>
      <p:sp>
        <p:nvSpPr>
          <p:cNvPr id="123" name="Google Shape;123;p3"/>
          <p:cNvSpPr/>
          <p:nvPr/>
        </p:nvSpPr>
        <p:spPr>
          <a:xfrm>
            <a:off x="7608888" y="3024906"/>
            <a:ext cx="2159000" cy="62706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B42703"/>
                </a:solidFill>
                <a:latin typeface="Arial"/>
                <a:ea typeface="Arial"/>
                <a:cs typeface="Arial"/>
                <a:sym typeface="Arial"/>
              </a:rPr>
              <a:t>Анализ</a:t>
            </a:r>
            <a:endParaRPr/>
          </a:p>
        </p:txBody>
      </p:sp>
      <p:cxnSp>
        <p:nvCxnSpPr>
          <p:cNvPr id="124" name="Google Shape;124;p3"/>
          <p:cNvCxnSpPr/>
          <p:nvPr/>
        </p:nvCxnSpPr>
        <p:spPr>
          <a:xfrm flipH="1" rot="10800000">
            <a:off x="4151313" y="3528143"/>
            <a:ext cx="865188" cy="649288"/>
          </a:xfrm>
          <a:prstGeom prst="straightConnector1">
            <a:avLst/>
          </a:prstGeom>
          <a:noFill/>
          <a:ln cap="flat" cmpd="sng" w="9525">
            <a:solidFill>
              <a:schemeClr val="dk1"/>
            </a:solidFill>
            <a:prstDash val="solid"/>
            <a:round/>
            <a:headEnd len="med" w="med" type="triangle"/>
            <a:tailEnd len="med" w="med" type="triangle"/>
          </a:ln>
        </p:spPr>
      </p:cxnSp>
      <p:cxnSp>
        <p:nvCxnSpPr>
          <p:cNvPr id="125" name="Google Shape;125;p3"/>
          <p:cNvCxnSpPr/>
          <p:nvPr/>
        </p:nvCxnSpPr>
        <p:spPr>
          <a:xfrm>
            <a:off x="7104064" y="3601168"/>
            <a:ext cx="504825" cy="0"/>
          </a:xfrm>
          <a:prstGeom prst="straightConnector1">
            <a:avLst/>
          </a:prstGeom>
          <a:noFill/>
          <a:ln cap="flat" cmpd="sng" w="28575">
            <a:solidFill>
              <a:srgbClr val="C00000"/>
            </a:solidFill>
            <a:prstDash val="solid"/>
            <a:round/>
            <a:headEnd len="med" w="med" type="none"/>
            <a:tailEnd len="med" w="med" type="triangle"/>
          </a:ln>
        </p:spPr>
      </p:cxnSp>
      <p:cxnSp>
        <p:nvCxnSpPr>
          <p:cNvPr id="126" name="Google Shape;126;p3"/>
          <p:cNvCxnSpPr/>
          <p:nvPr/>
        </p:nvCxnSpPr>
        <p:spPr>
          <a:xfrm rot="10800000">
            <a:off x="7104064" y="3096343"/>
            <a:ext cx="504825" cy="0"/>
          </a:xfrm>
          <a:prstGeom prst="straightConnector1">
            <a:avLst/>
          </a:prstGeom>
          <a:noFill/>
          <a:ln cap="flat" cmpd="sng" w="28575">
            <a:solidFill>
              <a:srgbClr val="C00000"/>
            </a:solidFill>
            <a:prstDash val="solid"/>
            <a:round/>
            <a:headEnd len="med" w="med" type="none"/>
            <a:tailEnd len="med" w="med" type="triangle"/>
          </a:ln>
        </p:spPr>
      </p:cxnSp>
      <p:sp>
        <p:nvSpPr>
          <p:cNvPr id="127" name="Google Shape;127;p3"/>
          <p:cNvSpPr txBox="1"/>
          <p:nvPr/>
        </p:nvSpPr>
        <p:spPr>
          <a:xfrm>
            <a:off x="5087939" y="4248869"/>
            <a:ext cx="2016125" cy="36671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b="0" i="0" sz="1800" u="none" cap="none" strike="noStrike">
              <a:solidFill>
                <a:srgbClr val="FFFFFF"/>
              </a:solidFill>
              <a:latin typeface="Arial"/>
              <a:ea typeface="Arial"/>
              <a:cs typeface="Arial"/>
              <a:sym typeface="Arial"/>
            </a:endParaRPr>
          </a:p>
        </p:txBody>
      </p:sp>
      <p:sp>
        <p:nvSpPr>
          <p:cNvPr id="128" name="Google Shape;128;p3"/>
          <p:cNvSpPr/>
          <p:nvPr/>
        </p:nvSpPr>
        <p:spPr>
          <a:xfrm>
            <a:off x="5016501" y="4248868"/>
            <a:ext cx="2087562" cy="914400"/>
          </a:xfrm>
          <a:prstGeom prst="rect">
            <a:avLst/>
          </a:prstGeom>
          <a:gradFill>
            <a:gsLst>
              <a:gs pos="0">
                <a:schemeClr val="lt1"/>
              </a:gs>
              <a:gs pos="50000">
                <a:srgbClr val="FAFAFA"/>
              </a:gs>
              <a:gs pos="100000">
                <a:srgbClr val="CECECE"/>
              </a:gs>
            </a:gsLst>
            <a:lin ang="5400000" scaled="0"/>
          </a:gradFill>
          <a:ln cap="flat" cmpd="sng" w="9525">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1" i="0" lang="en-US" sz="1800" u="none" cap="none" strike="noStrike">
                <a:solidFill>
                  <a:srgbClr val="C00000"/>
                </a:solidFill>
                <a:latin typeface="Arial"/>
                <a:ea typeface="Arial"/>
                <a:cs typeface="Arial"/>
                <a:sym typeface="Arial"/>
              </a:rPr>
              <a:t>Физическое </a:t>
            </a:r>
            <a:endParaRPr/>
          </a:p>
          <a:p>
            <a:pPr indent="0" lvl="0" marL="0" marR="0" rtl="0" algn="ctr">
              <a:spcBef>
                <a:spcPts val="0"/>
              </a:spcBef>
              <a:spcAft>
                <a:spcPts val="0"/>
              </a:spcAft>
              <a:buNone/>
            </a:pPr>
            <a:r>
              <a:rPr b="1" i="0" lang="en-US" sz="1800" u="none" cap="none" strike="noStrike">
                <a:solidFill>
                  <a:srgbClr val="C00000"/>
                </a:solidFill>
                <a:latin typeface="Arial"/>
                <a:ea typeface="Arial"/>
                <a:cs typeface="Arial"/>
                <a:sym typeface="Arial"/>
              </a:rPr>
              <a:t>проектирование</a:t>
            </a:r>
            <a:endParaRPr/>
          </a:p>
        </p:txBody>
      </p:sp>
      <p:cxnSp>
        <p:nvCxnSpPr>
          <p:cNvPr id="129" name="Google Shape;129;p3"/>
          <p:cNvCxnSpPr/>
          <p:nvPr/>
        </p:nvCxnSpPr>
        <p:spPr>
          <a:xfrm>
            <a:off x="5952792" y="3888506"/>
            <a:ext cx="0" cy="360362"/>
          </a:xfrm>
          <a:prstGeom prst="straightConnector1">
            <a:avLst/>
          </a:prstGeom>
          <a:noFill/>
          <a:ln cap="flat" cmpd="sng" w="28575">
            <a:solidFill>
              <a:srgbClr val="C00000"/>
            </a:solidFill>
            <a:prstDash val="solid"/>
            <a:round/>
            <a:headEnd len="med" w="med" type="none"/>
            <a:tailEnd len="med" w="med" type="triangle"/>
          </a:ln>
        </p:spPr>
      </p:cxnSp>
      <p:sp>
        <p:nvSpPr>
          <p:cNvPr id="130" name="Google Shape;130;p3"/>
          <p:cNvSpPr/>
          <p:nvPr/>
        </p:nvSpPr>
        <p:spPr>
          <a:xfrm>
            <a:off x="7608888" y="4320307"/>
            <a:ext cx="2159000" cy="720725"/>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rPr b="0" i="0" lang="en-US" sz="1800" u="none" cap="none" strike="noStrike">
                <a:solidFill>
                  <a:srgbClr val="B42703"/>
                </a:solidFill>
                <a:latin typeface="Arial"/>
                <a:ea typeface="Arial"/>
                <a:cs typeface="Arial"/>
                <a:sym typeface="Arial"/>
              </a:rPr>
              <a:t>Анализ</a:t>
            </a:r>
            <a:endParaRPr/>
          </a:p>
        </p:txBody>
      </p:sp>
      <p:cxnSp>
        <p:nvCxnSpPr>
          <p:cNvPr id="131" name="Google Shape;131;p3"/>
          <p:cNvCxnSpPr/>
          <p:nvPr/>
        </p:nvCxnSpPr>
        <p:spPr>
          <a:xfrm>
            <a:off x="7104064" y="4969593"/>
            <a:ext cx="504825" cy="0"/>
          </a:xfrm>
          <a:prstGeom prst="straightConnector1">
            <a:avLst/>
          </a:prstGeom>
          <a:noFill/>
          <a:ln cap="flat" cmpd="sng" w="28575">
            <a:solidFill>
              <a:srgbClr val="C00000"/>
            </a:solidFill>
            <a:prstDash val="solid"/>
            <a:round/>
            <a:headEnd len="med" w="med" type="none"/>
            <a:tailEnd len="med" w="med" type="triangle"/>
          </a:ln>
        </p:spPr>
      </p:cxnSp>
      <p:cxnSp>
        <p:nvCxnSpPr>
          <p:cNvPr id="132" name="Google Shape;132;p3"/>
          <p:cNvCxnSpPr/>
          <p:nvPr/>
        </p:nvCxnSpPr>
        <p:spPr>
          <a:xfrm rot="10800000">
            <a:off x="7104064" y="4393331"/>
            <a:ext cx="504825" cy="0"/>
          </a:xfrm>
          <a:prstGeom prst="straightConnector1">
            <a:avLst/>
          </a:prstGeom>
          <a:noFill/>
          <a:ln cap="flat" cmpd="sng" w="28575">
            <a:solidFill>
              <a:srgbClr val="C00000"/>
            </a:solidFill>
            <a:prstDash val="solid"/>
            <a:round/>
            <a:headEnd len="med" w="med"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6" name="Shape 136"/>
        <p:cNvGrpSpPr/>
        <p:nvPr/>
      </p:nvGrpSpPr>
      <p:grpSpPr>
        <a:xfrm>
          <a:off x="0" y="0"/>
          <a:ext cx="0" cy="0"/>
          <a:chOff x="0" y="0"/>
          <a:chExt cx="0" cy="0"/>
        </a:xfrm>
      </p:grpSpPr>
      <p:sp>
        <p:nvSpPr>
          <p:cNvPr id="137" name="Google Shape;137;p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8" name="Google Shape;138;p4"/>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9" name="Google Shape;139;p4"/>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0" name="Google Shape;140;p4"/>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1" name="Google Shape;141;p4"/>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2" name="Google Shape;142;p4"/>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12700" rtl="0" algn="l">
              <a:lnSpc>
                <a:spcPct val="90000"/>
              </a:lnSpc>
              <a:spcBef>
                <a:spcPts val="0"/>
              </a:spcBef>
              <a:spcAft>
                <a:spcPts val="0"/>
              </a:spcAft>
              <a:buClr>
                <a:srgbClr val="FFFFFF"/>
              </a:buClr>
              <a:buSzPts val="4000"/>
              <a:buFont typeface="Calibri"/>
              <a:buNone/>
            </a:pPr>
            <a:r>
              <a:rPr lang="en-US" sz="4000">
                <a:solidFill>
                  <a:srgbClr val="FFFFFF"/>
                </a:solidFill>
                <a:latin typeface="Calibri"/>
                <a:ea typeface="Calibri"/>
                <a:cs typeface="Calibri"/>
                <a:sym typeface="Calibri"/>
              </a:rPr>
              <a:t>Важность бизнес-правил</a:t>
            </a:r>
            <a:endParaRPr/>
          </a:p>
        </p:txBody>
      </p:sp>
      <p:sp>
        <p:nvSpPr>
          <p:cNvPr id="143" name="Google Shape;143;p4"/>
          <p:cNvSpPr txBox="1"/>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228600" lvl="0" marL="241300" marR="5080" rtl="0" algn="l">
              <a:lnSpc>
                <a:spcPct val="90000"/>
              </a:lnSpc>
              <a:spcBef>
                <a:spcPts val="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Бизнес-правила служат для понимания бизнес-процессов, а также характера, роли и области применения данных.</a:t>
            </a:r>
            <a:endParaRPr b="0" i="0" sz="2000" u="none" cap="none" strike="noStrike">
              <a:solidFill>
                <a:schemeClr val="dk1"/>
              </a:solidFill>
              <a:latin typeface="Calibri"/>
              <a:ea typeface="Calibri"/>
              <a:cs typeface="Calibri"/>
              <a:sym typeface="Calibri"/>
            </a:endParaRPr>
          </a:p>
          <a:p>
            <a:pPr indent="-228600" lvl="0" marL="240665" marR="1689735" rtl="0" algn="l">
              <a:lnSpc>
                <a:spcPct val="90000"/>
              </a:lnSpc>
              <a:spcBef>
                <a:spcPts val="81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Бизнес-правила помогают классифицировать и проектировать таблицы базы данных.</a:t>
            </a:r>
            <a:endParaRPr b="0" i="0" sz="2000" u="none" cap="none" strike="noStrike">
              <a:solidFill>
                <a:schemeClr val="dk1"/>
              </a:solidFill>
              <a:latin typeface="Calibri"/>
              <a:ea typeface="Calibri"/>
              <a:cs typeface="Calibri"/>
              <a:sym typeface="Calibri"/>
            </a:endParaRPr>
          </a:p>
          <a:p>
            <a:pPr indent="-228600" lvl="0" marL="241300" marR="0" rtl="0" algn="l">
              <a:lnSpc>
                <a:spcPct val="90000"/>
              </a:lnSpc>
              <a:spcBef>
                <a:spcPts val="475"/>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Источники бизнес-правил:</a:t>
            </a:r>
            <a:endParaRPr b="0" i="0" sz="2000" u="none" cap="none" strike="noStrike">
              <a:solidFill>
                <a:schemeClr val="dk1"/>
              </a:solidFill>
              <a:latin typeface="Calibri"/>
              <a:ea typeface="Calibri"/>
              <a:cs typeface="Calibri"/>
              <a:sym typeface="Calibri"/>
            </a:endParaRPr>
          </a:p>
          <a:p>
            <a:pPr indent="-228600" lvl="1" marL="469900" marR="0" rtl="0" algn="l">
              <a:lnSpc>
                <a:spcPct val="90000"/>
              </a:lnSpc>
              <a:spcBef>
                <a:spcPts val="385"/>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Руководители</a:t>
            </a:r>
            <a:endParaRPr b="0" i="0" sz="2000" u="none" cap="none" strike="noStrike">
              <a:solidFill>
                <a:schemeClr val="dk1"/>
              </a:solidFill>
              <a:latin typeface="Calibri"/>
              <a:ea typeface="Calibri"/>
              <a:cs typeface="Calibri"/>
              <a:sym typeface="Calibri"/>
            </a:endParaRPr>
          </a:p>
          <a:p>
            <a:pPr indent="-228600" lvl="1" marL="469900" marR="0" rtl="0" algn="l">
              <a:lnSpc>
                <a:spcPct val="90000"/>
              </a:lnSpc>
              <a:spcBef>
                <a:spcPts val="36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Лица, определяющие политику</a:t>
            </a:r>
            <a:endParaRPr b="0" i="0" sz="2000" u="none" cap="none" strike="noStrike">
              <a:solidFill>
                <a:schemeClr val="dk1"/>
              </a:solidFill>
              <a:latin typeface="Calibri"/>
              <a:ea typeface="Calibri"/>
              <a:cs typeface="Calibri"/>
              <a:sym typeface="Calibri"/>
            </a:endParaRPr>
          </a:p>
          <a:p>
            <a:pPr indent="-228600" lvl="1" marL="469900" marR="0" rtl="0" algn="l">
              <a:lnSpc>
                <a:spcPct val="90000"/>
              </a:lnSpc>
              <a:spcBef>
                <a:spcPts val="36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Документация и руководства по эксплуатации</a:t>
            </a:r>
            <a:endParaRPr b="0" i="0" sz="2000" u="none" cap="none" strike="noStrike">
              <a:solidFill>
                <a:schemeClr val="dk1"/>
              </a:solidFill>
              <a:latin typeface="Calibri"/>
              <a:ea typeface="Calibri"/>
              <a:cs typeface="Calibri"/>
              <a:sym typeface="Calibri"/>
            </a:endParaRPr>
          </a:p>
          <a:p>
            <a:pPr indent="-228600" lvl="1" marL="469900" marR="0" rtl="0" algn="l">
              <a:lnSpc>
                <a:spcPct val="90000"/>
              </a:lnSpc>
              <a:spcBef>
                <a:spcPts val="36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Организационные процедуры и стандарты</a:t>
            </a:r>
            <a:endParaRPr b="0" i="0" sz="2000" u="none" cap="none" strike="noStrike">
              <a:solidFill>
                <a:schemeClr val="dk1"/>
              </a:solidFill>
              <a:latin typeface="Calibri"/>
              <a:ea typeface="Calibri"/>
              <a:cs typeface="Calibri"/>
              <a:sym typeface="Calibri"/>
            </a:endParaRPr>
          </a:p>
          <a:p>
            <a:pPr indent="-228600" lvl="1" marL="469900" marR="0" rtl="0" algn="l">
              <a:lnSpc>
                <a:spcPct val="90000"/>
              </a:lnSpc>
              <a:spcBef>
                <a:spcPts val="36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Интервью с конечными пользователями</a:t>
            </a:r>
            <a:endParaRPr b="0" i="0" sz="20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7" name="Shape 147"/>
        <p:cNvGrpSpPr/>
        <p:nvPr/>
      </p:nvGrpSpPr>
      <p:grpSpPr>
        <a:xfrm>
          <a:off x="0" y="0"/>
          <a:ext cx="0" cy="0"/>
          <a:chOff x="0" y="0"/>
          <a:chExt cx="0" cy="0"/>
        </a:xfrm>
      </p:grpSpPr>
      <p:sp>
        <p:nvSpPr>
          <p:cNvPr id="148" name="Google Shape;148;p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9" name="Google Shape;149;p5"/>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0" name="Google Shape;150;p5"/>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1" name="Google Shape;151;p5"/>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2" name="Google Shape;152;p5"/>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3" name="Google Shape;153;p5"/>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12700" marR="5080" rtl="0" algn="l">
              <a:lnSpc>
                <a:spcPct val="90000"/>
              </a:lnSpc>
              <a:spcBef>
                <a:spcPts val="0"/>
              </a:spcBef>
              <a:spcAft>
                <a:spcPts val="0"/>
              </a:spcAft>
              <a:buClr>
                <a:srgbClr val="FFFFFF"/>
              </a:buClr>
              <a:buSzPts val="3400"/>
              <a:buFont typeface="Calibri"/>
              <a:buNone/>
            </a:pPr>
            <a:r>
              <a:rPr lang="en-US" sz="3400">
                <a:solidFill>
                  <a:srgbClr val="FFFFFF"/>
                </a:solidFill>
                <a:latin typeface="Calibri"/>
                <a:ea typeface="Calibri"/>
                <a:cs typeface="Calibri"/>
                <a:sym typeface="Calibri"/>
              </a:rPr>
              <a:t>Бизнес-правила и концептуальное моделирование</a:t>
            </a:r>
            <a:endParaRPr/>
          </a:p>
        </p:txBody>
      </p:sp>
      <p:sp>
        <p:nvSpPr>
          <p:cNvPr id="154" name="Google Shape;154;p5"/>
          <p:cNvSpPr txBox="1"/>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228600" lvl="0" marL="240665" marR="390525"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Важность концептуальной модели для бизнеса обусловлена тем, что она:</a:t>
            </a:r>
            <a:endParaRPr b="0" i="0" sz="2000" u="none" cap="none" strike="noStrike">
              <a:solidFill>
                <a:schemeClr val="dk1"/>
              </a:solidFill>
              <a:latin typeface="Calibri"/>
              <a:ea typeface="Calibri"/>
              <a:cs typeface="Calibri"/>
              <a:sym typeface="Calibri"/>
            </a:endParaRPr>
          </a:p>
          <a:p>
            <a:pPr indent="-228600" lvl="0" marL="241300" marR="0" rtl="0" algn="l">
              <a:lnSpc>
                <a:spcPct val="90000"/>
              </a:lnSpc>
              <a:spcBef>
                <a:spcPts val="30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Точно описывает информационные потребности бизнеса</a:t>
            </a:r>
            <a:endParaRPr b="0" i="0" sz="2000" u="none" cap="none" strike="noStrike">
              <a:solidFill>
                <a:schemeClr val="dk1"/>
              </a:solidFill>
              <a:latin typeface="Calibri"/>
              <a:ea typeface="Calibri"/>
              <a:cs typeface="Calibri"/>
              <a:sym typeface="Calibri"/>
            </a:endParaRPr>
          </a:p>
          <a:p>
            <a:pPr indent="-228600" lvl="0" marL="241300" marR="0" rtl="0" algn="l">
              <a:lnSpc>
                <a:spcPct val="90000"/>
              </a:lnSpc>
              <a:spcBef>
                <a:spcPts val="334"/>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Способствует обсуждению</a:t>
            </a:r>
            <a:endParaRPr b="0" i="0" sz="2000" u="none" cap="none" strike="noStrike">
              <a:solidFill>
                <a:schemeClr val="dk1"/>
              </a:solidFill>
              <a:latin typeface="Calibri"/>
              <a:ea typeface="Calibri"/>
              <a:cs typeface="Calibri"/>
              <a:sym typeface="Calibri"/>
            </a:endParaRPr>
          </a:p>
          <a:p>
            <a:pPr indent="-228600" lvl="0" marL="241300" marR="0" rtl="0" algn="l">
              <a:lnSpc>
                <a:spcPct val="90000"/>
              </a:lnSpc>
              <a:spcBef>
                <a:spcPts val="335"/>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Предотвращает ошибки и неправильное понимание</a:t>
            </a:r>
            <a:endParaRPr b="0" i="0" sz="2000" u="none" cap="none" strike="noStrike">
              <a:solidFill>
                <a:schemeClr val="dk1"/>
              </a:solidFill>
              <a:latin typeface="Calibri"/>
              <a:ea typeface="Calibri"/>
              <a:cs typeface="Calibri"/>
              <a:sym typeface="Calibri"/>
            </a:endParaRPr>
          </a:p>
          <a:p>
            <a:pPr indent="-228600" lvl="0" marL="241300" marR="0" rtl="0" algn="l">
              <a:lnSpc>
                <a:spcPct val="90000"/>
              </a:lnSpc>
              <a:spcBef>
                <a:spcPts val="335"/>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Формирует важную документацию «идеальной системы»</a:t>
            </a:r>
            <a:endParaRPr b="0" i="0" sz="2000" u="none" cap="none" strike="noStrike">
              <a:solidFill>
                <a:schemeClr val="dk1"/>
              </a:solidFill>
              <a:latin typeface="Calibri"/>
              <a:ea typeface="Calibri"/>
              <a:cs typeface="Calibri"/>
              <a:sym typeface="Calibri"/>
            </a:endParaRPr>
          </a:p>
          <a:p>
            <a:pPr indent="-228600" lvl="0" marL="241300" marR="567055" rtl="0" algn="l">
              <a:lnSpc>
                <a:spcPct val="90000"/>
              </a:lnSpc>
              <a:spcBef>
                <a:spcPts val="635"/>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Формирует прочную основу для разработки физической базы данных</a:t>
            </a:r>
            <a:endParaRPr b="0" i="0" sz="2000" u="none" cap="none" strike="noStrike">
              <a:solidFill>
                <a:schemeClr val="dk1"/>
              </a:solidFill>
              <a:latin typeface="Calibri"/>
              <a:ea typeface="Calibri"/>
              <a:cs typeface="Calibri"/>
              <a:sym typeface="Calibri"/>
            </a:endParaRPr>
          </a:p>
          <a:p>
            <a:pPr indent="-228600" lvl="0" marL="241300" marR="1371600" rtl="0" algn="l">
              <a:lnSpc>
                <a:spcPct val="90000"/>
              </a:lnSpc>
              <a:spcBef>
                <a:spcPts val="59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Документирует процессы (также называемые «бизнес- правилами») деловой деятельности</a:t>
            </a:r>
            <a:endParaRPr b="0" i="0" sz="2000" u="none" cap="none" strike="noStrike">
              <a:solidFill>
                <a:schemeClr val="dk1"/>
              </a:solidFill>
              <a:latin typeface="Calibri"/>
              <a:ea typeface="Calibri"/>
              <a:cs typeface="Calibri"/>
              <a:sym typeface="Calibri"/>
            </a:endParaRPr>
          </a:p>
          <a:p>
            <a:pPr indent="-228600" lvl="0" marL="241300" marR="0" rtl="0" algn="l">
              <a:lnSpc>
                <a:spcPct val="90000"/>
              </a:lnSpc>
              <a:spcBef>
                <a:spcPts val="295"/>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Учитывает правила и законы, регулирующие эту отрасль</a:t>
            </a:r>
            <a:endParaRPr b="0" i="0" sz="2000" u="none" cap="none" strike="noStrike">
              <a:solidFill>
                <a:schemeClr val="dk1"/>
              </a:solidFill>
              <a:latin typeface="Calibri"/>
              <a:ea typeface="Calibri"/>
              <a:cs typeface="Calibri"/>
              <a:sym typeface="Calibri"/>
            </a:endParaRPr>
          </a:p>
          <a:p>
            <a:pPr indent="-228600" lvl="0" marL="241300" marR="5080" rtl="0" algn="l">
              <a:lnSpc>
                <a:spcPct val="90000"/>
              </a:lnSpc>
              <a:spcBef>
                <a:spcPts val="635"/>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Примечание. Не все бизнес-правила можно смоделировать в базе данных.</a:t>
            </a:r>
            <a:endParaRPr b="0" i="0" sz="20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8" name="Shape 158"/>
        <p:cNvGrpSpPr/>
        <p:nvPr/>
      </p:nvGrpSpPr>
      <p:grpSpPr>
        <a:xfrm>
          <a:off x="0" y="0"/>
          <a:ext cx="0" cy="0"/>
          <a:chOff x="0" y="0"/>
          <a:chExt cx="0" cy="0"/>
        </a:xfrm>
      </p:grpSpPr>
      <p:sp>
        <p:nvSpPr>
          <p:cNvPr id="159" name="Google Shape;159;p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0" name="Google Shape;160;p6"/>
          <p:cNvSpPr txBox="1"/>
          <p:nvPr>
            <p:ph type="title"/>
          </p:nvPr>
        </p:nvSpPr>
        <p:spPr>
          <a:xfrm>
            <a:off x="1136397" y="502020"/>
            <a:ext cx="5323715" cy="1642970"/>
          </a:xfrm>
          <a:prstGeom prst="rect">
            <a:avLst/>
          </a:prstGeom>
          <a:noFill/>
          <a:ln>
            <a:noFill/>
          </a:ln>
        </p:spPr>
        <p:txBody>
          <a:bodyPr anchorCtr="0" anchor="b" bIns="45700" lIns="91425" spcFirstLastPara="1" rIns="91425" wrap="square" tIns="45700">
            <a:normAutofit/>
          </a:bodyPr>
          <a:lstStyle/>
          <a:p>
            <a:pPr indent="0" lvl="0" marL="12700" marR="5080" rtl="0" algn="l">
              <a:lnSpc>
                <a:spcPct val="90000"/>
              </a:lnSpc>
              <a:spcBef>
                <a:spcPts val="0"/>
              </a:spcBef>
              <a:spcAft>
                <a:spcPts val="0"/>
              </a:spcAft>
              <a:buClr>
                <a:schemeClr val="dk1"/>
              </a:buClr>
              <a:buSzPts val="3700"/>
              <a:buFont typeface="Calibri"/>
              <a:buNone/>
            </a:pPr>
            <a:r>
              <a:rPr lang="en-US" sz="3700">
                <a:solidFill>
                  <a:schemeClr val="dk1"/>
                </a:solidFill>
                <a:latin typeface="Calibri"/>
                <a:ea typeface="Calibri"/>
                <a:cs typeface="Calibri"/>
                <a:sym typeface="Calibri"/>
              </a:rPr>
              <a:t>Практический сценарий: Определение бизнес-правил</a:t>
            </a:r>
            <a:endParaRPr/>
          </a:p>
        </p:txBody>
      </p:sp>
      <p:sp>
        <p:nvSpPr>
          <p:cNvPr id="161" name="Google Shape;161;p6"/>
          <p:cNvSpPr txBox="1"/>
          <p:nvPr/>
        </p:nvSpPr>
        <p:spPr>
          <a:xfrm>
            <a:off x="1144923" y="2405894"/>
            <a:ext cx="5315189" cy="3535083"/>
          </a:xfrm>
          <a:prstGeom prst="rect">
            <a:avLst/>
          </a:prstGeom>
          <a:noFill/>
          <a:ln>
            <a:noFill/>
          </a:ln>
        </p:spPr>
        <p:txBody>
          <a:bodyPr anchorCtr="0" anchor="t" bIns="45700" lIns="91425" spcFirstLastPara="1" rIns="91425" wrap="square" tIns="45700">
            <a:normAutofit/>
          </a:bodyPr>
          <a:lstStyle/>
          <a:p>
            <a:pPr indent="-228600" lvl="0" marL="241300" marR="5080" rtl="0" algn="l">
              <a:lnSpc>
                <a:spcPct val="90000"/>
              </a:lnSpc>
              <a:spcBef>
                <a:spcPts val="0"/>
              </a:spcBef>
              <a:spcAft>
                <a:spcPts val="0"/>
              </a:spcAft>
              <a:buClr>
                <a:srgbClr val="9A9B9D"/>
              </a:buClr>
              <a:buSzPts val="1400"/>
              <a:buFont typeface="Arial"/>
              <a:buChar char="•"/>
            </a:pPr>
            <a:r>
              <a:rPr b="0" i="0" lang="en-US" sz="1400" u="none" cap="none" strike="noStrike">
                <a:solidFill>
                  <a:schemeClr val="dk1"/>
                </a:solidFill>
                <a:latin typeface="Calibri"/>
                <a:ea typeface="Calibri"/>
                <a:cs typeface="Calibri"/>
                <a:sym typeface="Calibri"/>
              </a:rPr>
              <a:t>SunStar Online Book Rentals — успешная компания, сдающая в аренду книги. В связи с расширением бизнеса библиотеке SunStar потребовалось улучшить имеющуюся информационную систему, чтобы обеспечить поддержку организационных изменений. SunStar пользуется</a:t>
            </a:r>
            <a:endParaRPr b="0" i="0" sz="1400" u="none" cap="none" strike="noStrike">
              <a:solidFill>
                <a:schemeClr val="dk1"/>
              </a:solidFill>
              <a:latin typeface="Calibri"/>
              <a:ea typeface="Calibri"/>
              <a:cs typeface="Calibri"/>
              <a:sym typeface="Calibri"/>
            </a:endParaRPr>
          </a:p>
          <a:p>
            <a:pPr indent="-228600" lvl="0" marL="241300" marR="3754120" rtl="0" algn="l">
              <a:lnSpc>
                <a:spcPct val="90000"/>
              </a:lnSpc>
              <a:spcBef>
                <a:spcPts val="20"/>
              </a:spcBef>
              <a:spcAft>
                <a:spcPts val="0"/>
              </a:spcAft>
              <a:buClr>
                <a:schemeClr val="dk1"/>
              </a:buClr>
              <a:buSzPts val="1400"/>
              <a:buFont typeface="Arial"/>
              <a:buChar char="•"/>
            </a:pPr>
            <a:r>
              <a:rPr b="0" i="0" lang="en-US" sz="1400" u="none" cap="none" strike="noStrike">
                <a:solidFill>
                  <a:schemeClr val="dk1"/>
                </a:solidFill>
                <a:latin typeface="Calibri"/>
                <a:ea typeface="Calibri"/>
                <a:cs typeface="Calibri"/>
                <a:sym typeface="Calibri"/>
              </a:rPr>
              <a:t>популярностью, и число клиентов быстро растет. Однако клиентская база нестабильна, и это вызывает затруднения.</a:t>
            </a:r>
            <a:endParaRPr b="0" i="0" sz="1400" u="none" cap="none" strike="noStrike">
              <a:solidFill>
                <a:schemeClr val="dk1"/>
              </a:solidFill>
              <a:latin typeface="Calibri"/>
              <a:ea typeface="Calibri"/>
              <a:cs typeface="Calibri"/>
              <a:sym typeface="Calibri"/>
            </a:endParaRPr>
          </a:p>
        </p:txBody>
      </p:sp>
      <p:sp>
        <p:nvSpPr>
          <p:cNvPr id="162" name="Google Shape;162;p6"/>
          <p:cNvSpPr/>
          <p:nvPr/>
        </p:nvSpPr>
        <p:spPr>
          <a:xfrm flipH="1" rot="10800000">
            <a:off x="8123333" y="-5"/>
            <a:ext cx="4092521" cy="6858000"/>
          </a:xfrm>
          <a:prstGeom prst="rect">
            <a:avLst/>
          </a:prstGeom>
          <a:gradFill>
            <a:gsLst>
              <a:gs pos="0">
                <a:srgbClr val="000000">
                  <a:alpha val="93725"/>
                </a:srgbClr>
              </a:gs>
              <a:gs pos="8000">
                <a:srgbClr val="000000">
                  <a:alpha val="93725"/>
                </a:srgbClr>
              </a:gs>
              <a:gs pos="100000">
                <a:schemeClr val="accent1"/>
              </a:gs>
            </a:gsLst>
            <a:lin ang="2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3" name="Google Shape;163;p6"/>
          <p:cNvSpPr/>
          <p:nvPr/>
        </p:nvSpPr>
        <p:spPr>
          <a:xfrm flipH="1" rot="10800000">
            <a:off x="8123333" y="-2"/>
            <a:ext cx="4092521" cy="6400369"/>
          </a:xfrm>
          <a:prstGeom prst="rect">
            <a:avLst/>
          </a:prstGeom>
          <a:gradFill>
            <a:gsLst>
              <a:gs pos="0">
                <a:srgbClr val="1F3864">
                  <a:alpha val="0"/>
                </a:srgbClr>
              </a:gs>
              <a:gs pos="31000">
                <a:srgbClr val="1F3864">
                  <a:alpha val="0"/>
                </a:srgbClr>
              </a:gs>
              <a:gs pos="100000">
                <a:srgbClr val="1F3864">
                  <a:alpha val="25882"/>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4" name="Google Shape;164;p6"/>
          <p:cNvSpPr/>
          <p:nvPr/>
        </p:nvSpPr>
        <p:spPr>
          <a:xfrm flipH="1" rot="10800000">
            <a:off x="8123333" y="-22"/>
            <a:ext cx="4068667" cy="6400389"/>
          </a:xfrm>
          <a:prstGeom prst="rect">
            <a:avLst/>
          </a:prstGeom>
          <a:gradFill>
            <a:gsLst>
              <a:gs pos="0">
                <a:srgbClr val="4472C4">
                  <a:alpha val="0"/>
                </a:srgbClr>
              </a:gs>
              <a:gs pos="72000">
                <a:srgbClr val="000000">
                  <a:alpha val="20784"/>
                </a:srgbClr>
              </a:gs>
              <a:gs pos="100000">
                <a:srgbClr val="000000">
                  <a:alpha val="20784"/>
                </a:srgbClr>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5" name="Google Shape;165;p6"/>
          <p:cNvSpPr/>
          <p:nvPr/>
        </p:nvSpPr>
        <p:spPr>
          <a:xfrm flipH="1" rot="10800000">
            <a:off x="8123333" y="-10"/>
            <a:ext cx="3611467" cy="6857997"/>
          </a:xfrm>
          <a:prstGeom prst="rect">
            <a:avLst/>
          </a:prstGeom>
          <a:gradFill>
            <a:gsLst>
              <a:gs pos="0">
                <a:srgbClr val="4472C4">
                  <a:alpha val="0"/>
                </a:srgbClr>
              </a:gs>
              <a:gs pos="93000">
                <a:srgbClr val="000000">
                  <a:alpha val="28627"/>
                </a:srgbClr>
              </a:gs>
              <a:gs pos="100000">
                <a:srgbClr val="000000">
                  <a:alpha val="28627"/>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66" name="Google Shape;166;p6"/>
          <p:cNvPicPr preferRelativeResize="0"/>
          <p:nvPr/>
        </p:nvPicPr>
        <p:blipFill rotWithShape="1">
          <a:blip r:embed="rId3">
            <a:alphaModFix/>
          </a:blip>
          <a:srcRect b="0" l="0" r="0" t="0"/>
          <a:stretch/>
        </p:blipFill>
        <p:spPr>
          <a:xfrm>
            <a:off x="7075967" y="2054770"/>
            <a:ext cx="4170530" cy="2780353"/>
          </a:xfrm>
          <a:prstGeom prst="rect">
            <a:avLst/>
          </a:prstGeom>
          <a:noFill/>
          <a:ln>
            <a:noFill/>
          </a:ln>
        </p:spPr>
      </p:pic>
    </p:spTree>
  </p:cSld>
  <p:clrMapOvr>
    <a:masterClrMapping/>
  </p:clrMapOvr>
  <p:transition spd="med">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0" name="Shape 170"/>
        <p:cNvGrpSpPr/>
        <p:nvPr/>
      </p:nvGrpSpPr>
      <p:grpSpPr>
        <a:xfrm>
          <a:off x="0" y="0"/>
          <a:ext cx="0" cy="0"/>
          <a:chOff x="0" y="0"/>
          <a:chExt cx="0" cy="0"/>
        </a:xfrm>
      </p:grpSpPr>
      <p:sp>
        <p:nvSpPr>
          <p:cNvPr id="171" name="Google Shape;171;p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2" name="Google Shape;172;p7"/>
          <p:cNvSpPr txBox="1"/>
          <p:nvPr>
            <p:ph type="title"/>
          </p:nvPr>
        </p:nvSpPr>
        <p:spPr>
          <a:xfrm>
            <a:off x="1136397" y="502020"/>
            <a:ext cx="5323715" cy="1642970"/>
          </a:xfrm>
          <a:prstGeom prst="rect">
            <a:avLst/>
          </a:prstGeom>
          <a:noFill/>
          <a:ln>
            <a:noFill/>
          </a:ln>
        </p:spPr>
        <p:txBody>
          <a:bodyPr anchorCtr="0" anchor="b" bIns="45700" lIns="91425" spcFirstLastPara="1" rIns="91425" wrap="square" tIns="45700">
            <a:normAutofit/>
          </a:bodyPr>
          <a:lstStyle/>
          <a:p>
            <a:pPr indent="0" lvl="0" marL="12700" marR="5080" rtl="0" algn="l">
              <a:lnSpc>
                <a:spcPct val="90000"/>
              </a:lnSpc>
              <a:spcBef>
                <a:spcPts val="0"/>
              </a:spcBef>
              <a:spcAft>
                <a:spcPts val="0"/>
              </a:spcAft>
              <a:buClr>
                <a:schemeClr val="dk1"/>
              </a:buClr>
              <a:buSzPts val="3700"/>
              <a:buFont typeface="Calibri"/>
              <a:buNone/>
            </a:pPr>
            <a:r>
              <a:rPr lang="en-US" sz="3700">
                <a:solidFill>
                  <a:schemeClr val="dk1"/>
                </a:solidFill>
                <a:latin typeface="Calibri"/>
                <a:ea typeface="Calibri"/>
                <a:cs typeface="Calibri"/>
                <a:sym typeface="Calibri"/>
              </a:rPr>
              <a:t>Практический сценарий: Определение бизнес-правил</a:t>
            </a:r>
            <a:endParaRPr/>
          </a:p>
        </p:txBody>
      </p:sp>
      <p:sp>
        <p:nvSpPr>
          <p:cNvPr id="173" name="Google Shape;173;p7"/>
          <p:cNvSpPr txBox="1"/>
          <p:nvPr/>
        </p:nvSpPr>
        <p:spPr>
          <a:xfrm>
            <a:off x="1144923" y="2405894"/>
            <a:ext cx="5315189" cy="3535083"/>
          </a:xfrm>
          <a:prstGeom prst="rect">
            <a:avLst/>
          </a:prstGeom>
          <a:noFill/>
          <a:ln>
            <a:noFill/>
          </a:ln>
        </p:spPr>
        <p:txBody>
          <a:bodyPr anchorCtr="0" anchor="t" bIns="45700" lIns="91425" spcFirstLastPara="1" rIns="91425" wrap="square" tIns="45700">
            <a:normAutofit/>
          </a:bodyPr>
          <a:lstStyle/>
          <a:p>
            <a:pPr indent="-228600" lvl="0" marL="241300" marR="5080" rtl="0" algn="l">
              <a:lnSpc>
                <a:spcPct val="90000"/>
              </a:lnSpc>
              <a:spcBef>
                <a:spcPts val="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Основная идея — предложить клиентам три типа участия (Gold, Silver, Bronze) и иметь возможность в дальнейшем предлагать дополнительные варианты. Участие уровня Bronze — бесплатное. Участники уровня Silver и Gold должны платить взносы, но получают</a:t>
            </a:r>
            <a:endParaRPr b="0" i="0" sz="2000" u="none" cap="none" strike="noStrike">
              <a:solidFill>
                <a:schemeClr val="dk1"/>
              </a:solidFill>
              <a:latin typeface="Calibri"/>
              <a:ea typeface="Calibri"/>
              <a:cs typeface="Calibri"/>
              <a:sym typeface="Calibri"/>
            </a:endParaRPr>
          </a:p>
          <a:p>
            <a:pPr indent="-228600" lvl="0" marL="2413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определенные привилегии.</a:t>
            </a:r>
            <a:endParaRPr b="0" i="0" sz="2000" u="none" cap="none" strike="noStrike">
              <a:solidFill>
                <a:schemeClr val="dk1"/>
              </a:solidFill>
              <a:latin typeface="Calibri"/>
              <a:ea typeface="Calibri"/>
              <a:cs typeface="Calibri"/>
              <a:sym typeface="Calibri"/>
            </a:endParaRPr>
          </a:p>
          <a:p>
            <a:pPr indent="-228600" lvl="0" marL="2413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Тип участия не может меняться.</a:t>
            </a:r>
            <a:endParaRPr b="0" i="0" sz="2000" u="none" cap="none" strike="noStrike">
              <a:solidFill>
                <a:schemeClr val="dk1"/>
              </a:solidFill>
              <a:latin typeface="Calibri"/>
              <a:ea typeface="Calibri"/>
              <a:cs typeface="Calibri"/>
              <a:sym typeface="Calibri"/>
            </a:endParaRPr>
          </a:p>
        </p:txBody>
      </p:sp>
      <p:sp>
        <p:nvSpPr>
          <p:cNvPr id="174" name="Google Shape;174;p7"/>
          <p:cNvSpPr/>
          <p:nvPr/>
        </p:nvSpPr>
        <p:spPr>
          <a:xfrm flipH="1" rot="10800000">
            <a:off x="8123333" y="-5"/>
            <a:ext cx="4092521" cy="6858000"/>
          </a:xfrm>
          <a:prstGeom prst="rect">
            <a:avLst/>
          </a:prstGeom>
          <a:gradFill>
            <a:gsLst>
              <a:gs pos="0">
                <a:srgbClr val="000000">
                  <a:alpha val="93725"/>
                </a:srgbClr>
              </a:gs>
              <a:gs pos="8000">
                <a:srgbClr val="000000">
                  <a:alpha val="93725"/>
                </a:srgbClr>
              </a:gs>
              <a:gs pos="100000">
                <a:schemeClr val="accent1"/>
              </a:gs>
            </a:gsLst>
            <a:lin ang="2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5" name="Google Shape;175;p7"/>
          <p:cNvSpPr/>
          <p:nvPr/>
        </p:nvSpPr>
        <p:spPr>
          <a:xfrm flipH="1" rot="10800000">
            <a:off x="8123333" y="-2"/>
            <a:ext cx="4092521" cy="6400369"/>
          </a:xfrm>
          <a:prstGeom prst="rect">
            <a:avLst/>
          </a:prstGeom>
          <a:gradFill>
            <a:gsLst>
              <a:gs pos="0">
                <a:srgbClr val="1F3864">
                  <a:alpha val="0"/>
                </a:srgbClr>
              </a:gs>
              <a:gs pos="31000">
                <a:srgbClr val="1F3864">
                  <a:alpha val="0"/>
                </a:srgbClr>
              </a:gs>
              <a:gs pos="100000">
                <a:srgbClr val="1F3864">
                  <a:alpha val="25882"/>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6" name="Google Shape;176;p7"/>
          <p:cNvSpPr/>
          <p:nvPr/>
        </p:nvSpPr>
        <p:spPr>
          <a:xfrm flipH="1" rot="10800000">
            <a:off x="8123333" y="-22"/>
            <a:ext cx="4068667" cy="6400389"/>
          </a:xfrm>
          <a:prstGeom prst="rect">
            <a:avLst/>
          </a:prstGeom>
          <a:gradFill>
            <a:gsLst>
              <a:gs pos="0">
                <a:srgbClr val="4472C4">
                  <a:alpha val="0"/>
                </a:srgbClr>
              </a:gs>
              <a:gs pos="72000">
                <a:srgbClr val="000000">
                  <a:alpha val="20784"/>
                </a:srgbClr>
              </a:gs>
              <a:gs pos="100000">
                <a:srgbClr val="000000">
                  <a:alpha val="20784"/>
                </a:srgbClr>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7" name="Google Shape;177;p7"/>
          <p:cNvSpPr/>
          <p:nvPr/>
        </p:nvSpPr>
        <p:spPr>
          <a:xfrm flipH="1" rot="10800000">
            <a:off x="8123333" y="-10"/>
            <a:ext cx="3611467" cy="6857997"/>
          </a:xfrm>
          <a:prstGeom prst="rect">
            <a:avLst/>
          </a:prstGeom>
          <a:gradFill>
            <a:gsLst>
              <a:gs pos="0">
                <a:srgbClr val="4472C4">
                  <a:alpha val="0"/>
                </a:srgbClr>
              </a:gs>
              <a:gs pos="93000">
                <a:srgbClr val="000000">
                  <a:alpha val="28627"/>
                </a:srgbClr>
              </a:gs>
              <a:gs pos="100000">
                <a:srgbClr val="000000">
                  <a:alpha val="28627"/>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78" name="Google Shape;178;p7"/>
          <p:cNvPicPr preferRelativeResize="0"/>
          <p:nvPr/>
        </p:nvPicPr>
        <p:blipFill rotWithShape="1">
          <a:blip r:embed="rId3">
            <a:alphaModFix/>
          </a:blip>
          <a:srcRect b="0" l="0" r="0" t="0"/>
          <a:stretch/>
        </p:blipFill>
        <p:spPr>
          <a:xfrm>
            <a:off x="7075967" y="2054770"/>
            <a:ext cx="4170530" cy="2780353"/>
          </a:xfrm>
          <a:prstGeom prst="rect">
            <a:avLst/>
          </a:prstGeom>
          <a:noFill/>
          <a:ln>
            <a:noFill/>
          </a:ln>
        </p:spPr>
      </p:pic>
    </p:spTree>
  </p:cSld>
  <p:clrMapOvr>
    <a:masterClrMapping/>
  </p:clrMapOvr>
  <p:transition spd="med">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2" name="Shape 182"/>
        <p:cNvGrpSpPr/>
        <p:nvPr/>
      </p:nvGrpSpPr>
      <p:grpSpPr>
        <a:xfrm>
          <a:off x="0" y="0"/>
          <a:ext cx="0" cy="0"/>
          <a:chOff x="0" y="0"/>
          <a:chExt cx="0" cy="0"/>
        </a:xfrm>
      </p:grpSpPr>
      <p:sp>
        <p:nvSpPr>
          <p:cNvPr id="183" name="Google Shape;183;p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4" name="Google Shape;184;p8"/>
          <p:cNvSpPr txBox="1"/>
          <p:nvPr>
            <p:ph type="title"/>
          </p:nvPr>
        </p:nvSpPr>
        <p:spPr>
          <a:xfrm>
            <a:off x="1136397" y="502020"/>
            <a:ext cx="5323715" cy="1642970"/>
          </a:xfrm>
          <a:prstGeom prst="rect">
            <a:avLst/>
          </a:prstGeom>
          <a:noFill/>
          <a:ln>
            <a:noFill/>
          </a:ln>
        </p:spPr>
        <p:txBody>
          <a:bodyPr anchorCtr="0" anchor="b" bIns="45700" lIns="91425" spcFirstLastPara="1" rIns="91425" wrap="square" tIns="45700">
            <a:normAutofit/>
          </a:bodyPr>
          <a:lstStyle/>
          <a:p>
            <a:pPr indent="0" lvl="0" marL="18415" marR="5080" rtl="0" algn="l">
              <a:lnSpc>
                <a:spcPct val="90000"/>
              </a:lnSpc>
              <a:spcBef>
                <a:spcPts val="0"/>
              </a:spcBef>
              <a:spcAft>
                <a:spcPts val="0"/>
              </a:spcAft>
              <a:buClr>
                <a:schemeClr val="dk1"/>
              </a:buClr>
              <a:buSzPts val="3400"/>
              <a:buFont typeface="Calibri"/>
              <a:buNone/>
            </a:pPr>
            <a:r>
              <a:rPr lang="en-US" sz="3400">
                <a:solidFill>
                  <a:schemeClr val="dk1"/>
                </a:solidFill>
                <a:latin typeface="Calibri"/>
                <a:ea typeface="Calibri"/>
                <a:cs typeface="Calibri"/>
                <a:sym typeface="Calibri"/>
              </a:rPr>
              <a:t>Практический сценарий: Решение для определения бизнес-правил</a:t>
            </a:r>
            <a:endParaRPr/>
          </a:p>
        </p:txBody>
      </p:sp>
      <p:sp>
        <p:nvSpPr>
          <p:cNvPr id="185" name="Google Shape;185;p8"/>
          <p:cNvSpPr txBox="1"/>
          <p:nvPr/>
        </p:nvSpPr>
        <p:spPr>
          <a:xfrm>
            <a:off x="1144923" y="2405894"/>
            <a:ext cx="5315189" cy="3535083"/>
          </a:xfrm>
          <a:prstGeom prst="rect">
            <a:avLst/>
          </a:prstGeom>
          <a:noFill/>
          <a:ln>
            <a:noFill/>
          </a:ln>
        </p:spPr>
        <p:txBody>
          <a:bodyPr anchorCtr="0" anchor="t"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Бизнес-правило:</a:t>
            </a:r>
            <a:endParaRPr b="0" i="0" sz="2000" u="none" cap="none" strike="noStrike">
              <a:solidFill>
                <a:schemeClr val="dk1"/>
              </a:solidFill>
              <a:latin typeface="Calibri"/>
              <a:ea typeface="Calibri"/>
              <a:cs typeface="Calibri"/>
              <a:sym typeface="Calibri"/>
            </a:endParaRPr>
          </a:p>
          <a:p>
            <a:pPr indent="-228600" lvl="0" marL="515619" marR="0" rtl="0" algn="l">
              <a:lnSpc>
                <a:spcPct val="90000"/>
              </a:lnSpc>
              <a:spcBef>
                <a:spcPts val="535"/>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Участники должны платить взносы.</a:t>
            </a:r>
            <a:endParaRPr b="0" i="0" sz="2000" u="none" cap="none" strike="noStrike">
              <a:solidFill>
                <a:schemeClr val="dk1"/>
              </a:solidFill>
              <a:latin typeface="Calibri"/>
              <a:ea typeface="Calibri"/>
              <a:cs typeface="Calibri"/>
              <a:sym typeface="Calibri"/>
            </a:endParaRPr>
          </a:p>
          <a:p>
            <a:pPr indent="-12700" lvl="0" marL="12700" marR="0" rtl="0" algn="l">
              <a:lnSpc>
                <a:spcPct val="90000"/>
              </a:lnSpc>
              <a:spcBef>
                <a:spcPts val="835"/>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Ограничение:</a:t>
            </a:r>
            <a:endParaRPr b="0" i="0" sz="2000" u="none" cap="none" strike="noStrike">
              <a:solidFill>
                <a:schemeClr val="dk1"/>
              </a:solidFill>
              <a:latin typeface="Calibri"/>
              <a:ea typeface="Calibri"/>
              <a:cs typeface="Calibri"/>
              <a:sym typeface="Calibri"/>
            </a:endParaRPr>
          </a:p>
          <a:p>
            <a:pPr indent="-228600" lvl="0" marL="514984" marR="5080" rtl="0" algn="l">
              <a:lnSpc>
                <a:spcPct val="90000"/>
              </a:lnSpc>
              <a:spcBef>
                <a:spcPts val="87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Участники должны относиться к одному из трех уровней (Gold, Silver или Bronze).</a:t>
            </a:r>
            <a:endParaRPr b="0" i="0" sz="2000" u="none" cap="none" strike="noStrike">
              <a:solidFill>
                <a:schemeClr val="dk1"/>
              </a:solidFill>
              <a:latin typeface="Calibri"/>
              <a:ea typeface="Calibri"/>
              <a:cs typeface="Calibri"/>
              <a:sym typeface="Calibri"/>
            </a:endParaRPr>
          </a:p>
        </p:txBody>
      </p:sp>
      <p:sp>
        <p:nvSpPr>
          <p:cNvPr id="186" name="Google Shape;186;p8"/>
          <p:cNvSpPr/>
          <p:nvPr/>
        </p:nvSpPr>
        <p:spPr>
          <a:xfrm flipH="1" rot="10800000">
            <a:off x="8123333" y="-5"/>
            <a:ext cx="4092521" cy="6858000"/>
          </a:xfrm>
          <a:prstGeom prst="rect">
            <a:avLst/>
          </a:prstGeom>
          <a:gradFill>
            <a:gsLst>
              <a:gs pos="0">
                <a:srgbClr val="000000">
                  <a:alpha val="93725"/>
                </a:srgbClr>
              </a:gs>
              <a:gs pos="8000">
                <a:srgbClr val="000000">
                  <a:alpha val="93725"/>
                </a:srgbClr>
              </a:gs>
              <a:gs pos="100000">
                <a:schemeClr val="accent1"/>
              </a:gs>
            </a:gsLst>
            <a:lin ang="2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7" name="Google Shape;187;p8"/>
          <p:cNvSpPr/>
          <p:nvPr/>
        </p:nvSpPr>
        <p:spPr>
          <a:xfrm flipH="1" rot="10800000">
            <a:off x="8123333" y="-2"/>
            <a:ext cx="4092521" cy="6400369"/>
          </a:xfrm>
          <a:prstGeom prst="rect">
            <a:avLst/>
          </a:prstGeom>
          <a:gradFill>
            <a:gsLst>
              <a:gs pos="0">
                <a:srgbClr val="1F3864">
                  <a:alpha val="0"/>
                </a:srgbClr>
              </a:gs>
              <a:gs pos="31000">
                <a:srgbClr val="1F3864">
                  <a:alpha val="0"/>
                </a:srgbClr>
              </a:gs>
              <a:gs pos="100000">
                <a:srgbClr val="1F3864">
                  <a:alpha val="25882"/>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8" name="Google Shape;188;p8"/>
          <p:cNvSpPr/>
          <p:nvPr/>
        </p:nvSpPr>
        <p:spPr>
          <a:xfrm flipH="1" rot="10800000">
            <a:off x="8123333" y="-22"/>
            <a:ext cx="4068667" cy="6400389"/>
          </a:xfrm>
          <a:prstGeom prst="rect">
            <a:avLst/>
          </a:prstGeom>
          <a:gradFill>
            <a:gsLst>
              <a:gs pos="0">
                <a:srgbClr val="4472C4">
                  <a:alpha val="0"/>
                </a:srgbClr>
              </a:gs>
              <a:gs pos="72000">
                <a:srgbClr val="000000">
                  <a:alpha val="20784"/>
                </a:srgbClr>
              </a:gs>
              <a:gs pos="100000">
                <a:srgbClr val="000000">
                  <a:alpha val="20784"/>
                </a:srgbClr>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9" name="Google Shape;189;p8"/>
          <p:cNvSpPr/>
          <p:nvPr/>
        </p:nvSpPr>
        <p:spPr>
          <a:xfrm flipH="1" rot="10800000">
            <a:off x="8123333" y="-10"/>
            <a:ext cx="3611467" cy="6857997"/>
          </a:xfrm>
          <a:prstGeom prst="rect">
            <a:avLst/>
          </a:prstGeom>
          <a:gradFill>
            <a:gsLst>
              <a:gs pos="0">
                <a:srgbClr val="4472C4">
                  <a:alpha val="0"/>
                </a:srgbClr>
              </a:gs>
              <a:gs pos="93000">
                <a:srgbClr val="000000">
                  <a:alpha val="28627"/>
                </a:srgbClr>
              </a:gs>
              <a:gs pos="100000">
                <a:srgbClr val="000000">
                  <a:alpha val="28627"/>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190" name="Google Shape;190;p8"/>
          <p:cNvPicPr preferRelativeResize="0"/>
          <p:nvPr/>
        </p:nvPicPr>
        <p:blipFill rotWithShape="1">
          <a:blip r:embed="rId3">
            <a:alphaModFix/>
          </a:blip>
          <a:srcRect b="0" l="0" r="0" t="0"/>
          <a:stretch/>
        </p:blipFill>
        <p:spPr>
          <a:xfrm>
            <a:off x="7075967" y="2056308"/>
            <a:ext cx="4170530" cy="2777277"/>
          </a:xfrm>
          <a:prstGeom prst="rect">
            <a:avLst/>
          </a:prstGeom>
          <a:noFill/>
          <a:ln>
            <a:noFill/>
          </a:ln>
        </p:spPr>
      </p:pic>
    </p:spTree>
  </p:cSld>
  <p:clrMapOvr>
    <a:masterClrMapping/>
  </p:clrMapOvr>
  <p:transition spd="med">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4" name="Shape 194"/>
        <p:cNvGrpSpPr/>
        <p:nvPr/>
      </p:nvGrpSpPr>
      <p:grpSpPr>
        <a:xfrm>
          <a:off x="0" y="0"/>
          <a:ext cx="0" cy="0"/>
          <a:chOff x="0" y="0"/>
          <a:chExt cx="0" cy="0"/>
        </a:xfrm>
      </p:grpSpPr>
      <p:sp>
        <p:nvSpPr>
          <p:cNvPr id="195" name="Google Shape;195;p9"/>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6" name="Google Shape;196;p9"/>
          <p:cNvSpPr txBox="1"/>
          <p:nvPr>
            <p:ph type="title"/>
          </p:nvPr>
        </p:nvSpPr>
        <p:spPr>
          <a:xfrm>
            <a:off x="1136397" y="502020"/>
            <a:ext cx="5323715" cy="1642970"/>
          </a:xfrm>
          <a:prstGeom prst="rect">
            <a:avLst/>
          </a:prstGeom>
          <a:noFill/>
          <a:ln>
            <a:noFill/>
          </a:ln>
        </p:spPr>
        <p:txBody>
          <a:bodyPr anchorCtr="0" anchor="b" bIns="45700" lIns="91425" spcFirstLastPara="1" rIns="91425" wrap="square" tIns="45700">
            <a:normAutofit/>
          </a:bodyPr>
          <a:lstStyle/>
          <a:p>
            <a:pPr indent="0" lvl="0" marL="18415" marR="5080" rtl="0" algn="l">
              <a:lnSpc>
                <a:spcPct val="90000"/>
              </a:lnSpc>
              <a:spcBef>
                <a:spcPts val="0"/>
              </a:spcBef>
              <a:spcAft>
                <a:spcPts val="0"/>
              </a:spcAft>
              <a:buClr>
                <a:schemeClr val="dk1"/>
              </a:buClr>
              <a:buSzPts val="3400"/>
              <a:buFont typeface="Calibri"/>
              <a:buNone/>
            </a:pPr>
            <a:r>
              <a:rPr lang="en-US" sz="3400">
                <a:solidFill>
                  <a:schemeClr val="dk1"/>
                </a:solidFill>
                <a:latin typeface="Calibri"/>
                <a:ea typeface="Calibri"/>
                <a:cs typeface="Calibri"/>
                <a:sym typeface="Calibri"/>
              </a:rPr>
              <a:t>Практический сценарий: Решение для определения бизнес-правил</a:t>
            </a:r>
            <a:endParaRPr/>
          </a:p>
        </p:txBody>
      </p:sp>
      <p:sp>
        <p:nvSpPr>
          <p:cNvPr id="197" name="Google Shape;197;p9"/>
          <p:cNvSpPr txBox="1"/>
          <p:nvPr/>
        </p:nvSpPr>
        <p:spPr>
          <a:xfrm>
            <a:off x="1144923" y="2405894"/>
            <a:ext cx="5315189" cy="3535083"/>
          </a:xfrm>
          <a:prstGeom prst="rect">
            <a:avLst/>
          </a:prstGeom>
          <a:noFill/>
          <a:ln>
            <a:noFill/>
          </a:ln>
        </p:spPr>
        <p:txBody>
          <a:bodyPr anchorCtr="0" anchor="t" bIns="45700" lIns="91425" spcFirstLastPara="1" rIns="91425" wrap="square" tIns="45700">
            <a:normAutofit/>
          </a:bodyPr>
          <a:lstStyle/>
          <a:p>
            <a:pPr indent="-12700" lvl="0" marL="12700" marR="0" rtl="0" algn="l">
              <a:lnSpc>
                <a:spcPct val="90000"/>
              </a:lnSpc>
              <a:spcBef>
                <a:spcPts val="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Бизнес-правило:</a:t>
            </a:r>
            <a:endParaRPr b="0" i="0" sz="2000" u="none" cap="none" strike="noStrike">
              <a:solidFill>
                <a:schemeClr val="dk1"/>
              </a:solidFill>
              <a:latin typeface="Calibri"/>
              <a:ea typeface="Calibri"/>
              <a:cs typeface="Calibri"/>
              <a:sym typeface="Calibri"/>
            </a:endParaRPr>
          </a:p>
          <a:p>
            <a:pPr indent="-228600" lvl="0" marL="514984" marR="5080" rtl="0" algn="l">
              <a:lnSpc>
                <a:spcPct val="90000"/>
              </a:lnSpc>
              <a:spcBef>
                <a:spcPts val="865"/>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Участие уровня Bronze — бесплатное. Участие уровня Silver и Gold обязывает платить взносы.</a:t>
            </a:r>
            <a:endParaRPr b="0" i="0" sz="2000" u="none" cap="none" strike="noStrike">
              <a:solidFill>
                <a:schemeClr val="dk1"/>
              </a:solidFill>
              <a:latin typeface="Calibri"/>
              <a:ea typeface="Calibri"/>
              <a:cs typeface="Calibri"/>
              <a:sym typeface="Calibri"/>
            </a:endParaRPr>
          </a:p>
          <a:p>
            <a:pPr indent="-12700" lvl="0" marL="12700" marR="0" rtl="0" algn="l">
              <a:lnSpc>
                <a:spcPct val="90000"/>
              </a:lnSpc>
              <a:spcBef>
                <a:spcPts val="800"/>
              </a:spcBef>
              <a:spcAft>
                <a:spcPts val="0"/>
              </a:spcAft>
              <a:buClr>
                <a:schemeClr val="dk1"/>
              </a:buClr>
              <a:buSzPts val="2000"/>
              <a:buFont typeface="Arial"/>
              <a:buChar char="•"/>
            </a:pPr>
            <a:r>
              <a:rPr b="0" i="0" lang="en-US" sz="2000" u="none" cap="none" strike="noStrike">
                <a:solidFill>
                  <a:schemeClr val="dk1"/>
                </a:solidFill>
                <a:latin typeface="Calibri"/>
                <a:ea typeface="Calibri"/>
                <a:cs typeface="Calibri"/>
                <a:sym typeface="Calibri"/>
              </a:rPr>
              <a:t>Ограничение:</a:t>
            </a:r>
            <a:endParaRPr b="0" i="0" sz="2000" u="none" cap="none" strike="noStrike">
              <a:solidFill>
                <a:schemeClr val="dk1"/>
              </a:solidFill>
              <a:latin typeface="Calibri"/>
              <a:ea typeface="Calibri"/>
              <a:cs typeface="Calibri"/>
              <a:sym typeface="Calibri"/>
            </a:endParaRPr>
          </a:p>
          <a:p>
            <a:pPr indent="-228600" lvl="0" marL="515619" marR="0" rtl="0" algn="l">
              <a:lnSpc>
                <a:spcPct val="90000"/>
              </a:lnSpc>
              <a:spcBef>
                <a:spcPts val="535"/>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Тип участия не может меняться.</a:t>
            </a:r>
            <a:endParaRPr b="0" i="0" sz="2000" u="none" cap="none" strike="noStrike">
              <a:solidFill>
                <a:schemeClr val="dk1"/>
              </a:solidFill>
              <a:latin typeface="Calibri"/>
              <a:ea typeface="Calibri"/>
              <a:cs typeface="Calibri"/>
              <a:sym typeface="Calibri"/>
            </a:endParaRPr>
          </a:p>
        </p:txBody>
      </p:sp>
      <p:sp>
        <p:nvSpPr>
          <p:cNvPr id="198" name="Google Shape;198;p9"/>
          <p:cNvSpPr/>
          <p:nvPr/>
        </p:nvSpPr>
        <p:spPr>
          <a:xfrm flipH="1" rot="10800000">
            <a:off x="8123333" y="-5"/>
            <a:ext cx="4092521" cy="6858000"/>
          </a:xfrm>
          <a:prstGeom prst="rect">
            <a:avLst/>
          </a:prstGeom>
          <a:gradFill>
            <a:gsLst>
              <a:gs pos="0">
                <a:srgbClr val="000000">
                  <a:alpha val="93725"/>
                </a:srgbClr>
              </a:gs>
              <a:gs pos="8000">
                <a:srgbClr val="000000">
                  <a:alpha val="93725"/>
                </a:srgbClr>
              </a:gs>
              <a:gs pos="100000">
                <a:schemeClr val="accent1"/>
              </a:gs>
            </a:gsLst>
            <a:lin ang="2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9" name="Google Shape;199;p9"/>
          <p:cNvSpPr/>
          <p:nvPr/>
        </p:nvSpPr>
        <p:spPr>
          <a:xfrm flipH="1" rot="10800000">
            <a:off x="8123333" y="-2"/>
            <a:ext cx="4092521" cy="6400369"/>
          </a:xfrm>
          <a:prstGeom prst="rect">
            <a:avLst/>
          </a:prstGeom>
          <a:gradFill>
            <a:gsLst>
              <a:gs pos="0">
                <a:srgbClr val="1F3864">
                  <a:alpha val="0"/>
                </a:srgbClr>
              </a:gs>
              <a:gs pos="31000">
                <a:srgbClr val="1F3864">
                  <a:alpha val="0"/>
                </a:srgbClr>
              </a:gs>
              <a:gs pos="100000">
                <a:srgbClr val="1F3864">
                  <a:alpha val="25882"/>
                </a:srgbClr>
              </a:gs>
            </a:gsLst>
            <a:lin ang="18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0" name="Google Shape;200;p9"/>
          <p:cNvSpPr/>
          <p:nvPr/>
        </p:nvSpPr>
        <p:spPr>
          <a:xfrm flipH="1" rot="10800000">
            <a:off x="8123333" y="-22"/>
            <a:ext cx="4068667" cy="6400389"/>
          </a:xfrm>
          <a:prstGeom prst="rect">
            <a:avLst/>
          </a:prstGeom>
          <a:gradFill>
            <a:gsLst>
              <a:gs pos="0">
                <a:srgbClr val="4472C4">
                  <a:alpha val="0"/>
                </a:srgbClr>
              </a:gs>
              <a:gs pos="72000">
                <a:srgbClr val="000000">
                  <a:alpha val="20784"/>
                </a:srgbClr>
              </a:gs>
              <a:gs pos="100000">
                <a:srgbClr val="000000">
                  <a:alpha val="20784"/>
                </a:srgbClr>
              </a:gs>
            </a:gsLst>
            <a:lin ang="30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1" name="Google Shape;201;p9"/>
          <p:cNvSpPr/>
          <p:nvPr/>
        </p:nvSpPr>
        <p:spPr>
          <a:xfrm flipH="1" rot="10800000">
            <a:off x="8123333" y="-10"/>
            <a:ext cx="3611467" cy="6857997"/>
          </a:xfrm>
          <a:prstGeom prst="rect">
            <a:avLst/>
          </a:prstGeom>
          <a:gradFill>
            <a:gsLst>
              <a:gs pos="0">
                <a:srgbClr val="4472C4">
                  <a:alpha val="0"/>
                </a:srgbClr>
              </a:gs>
              <a:gs pos="93000">
                <a:srgbClr val="000000">
                  <a:alpha val="28627"/>
                </a:srgbClr>
              </a:gs>
              <a:gs pos="100000">
                <a:srgbClr val="000000">
                  <a:alpha val="28627"/>
                </a:srgbClr>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pic>
        <p:nvPicPr>
          <p:cNvPr id="202" name="Google Shape;202;p9"/>
          <p:cNvPicPr preferRelativeResize="0"/>
          <p:nvPr/>
        </p:nvPicPr>
        <p:blipFill rotWithShape="1">
          <a:blip r:embed="rId3">
            <a:alphaModFix/>
          </a:blip>
          <a:srcRect b="0" l="0" r="0" t="0"/>
          <a:stretch/>
        </p:blipFill>
        <p:spPr>
          <a:xfrm>
            <a:off x="7075967" y="2056308"/>
            <a:ext cx="4170530" cy="2777277"/>
          </a:xfrm>
          <a:prstGeom prst="rect">
            <a:avLst/>
          </a:prstGeom>
          <a:noFill/>
          <a:ln>
            <a:noFill/>
          </a:ln>
        </p:spPr>
      </p:pic>
    </p:spTree>
  </p:cSld>
  <p:clrMapOvr>
    <a:masterClrMapping/>
  </p:clrMapOvr>
  <p:transition spd="med">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sp>
        <p:nvSpPr>
          <p:cNvPr id="207" name="Google Shape;207;p10"/>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8" name="Google Shape;208;p10"/>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9" name="Google Shape;209;p10"/>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0" name="Google Shape;210;p10"/>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1" name="Google Shape;211;p10"/>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12" name="Google Shape;212;p10"/>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12700" marR="5080" rtl="0" algn="l">
              <a:lnSpc>
                <a:spcPct val="90000"/>
              </a:lnSpc>
              <a:spcBef>
                <a:spcPts val="0"/>
              </a:spcBef>
              <a:spcAft>
                <a:spcPts val="0"/>
              </a:spcAft>
              <a:buClr>
                <a:srgbClr val="FFFFFF"/>
              </a:buClr>
              <a:buSzPts val="3400"/>
              <a:buFont typeface="Calibri"/>
              <a:buNone/>
            </a:pPr>
            <a:r>
              <a:rPr lang="en-US" sz="3400">
                <a:solidFill>
                  <a:srgbClr val="FFFFFF"/>
                </a:solidFill>
                <a:latin typeface="Calibri"/>
                <a:ea typeface="Calibri"/>
                <a:cs typeface="Calibri"/>
                <a:sym typeface="Calibri"/>
              </a:rPr>
              <a:t>Практический сценарий: Определение ключевых бизнес-правил, проблем и предположений</a:t>
            </a:r>
            <a:endParaRPr/>
          </a:p>
        </p:txBody>
      </p:sp>
      <p:sp>
        <p:nvSpPr>
          <p:cNvPr id="213" name="Google Shape;213;p10"/>
          <p:cNvSpPr txBox="1"/>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228600" lvl="0" marL="240665" marR="190500" rtl="0" algn="l">
              <a:lnSpc>
                <a:spcPct val="90000"/>
              </a:lnSpc>
              <a:spcBef>
                <a:spcPts val="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Бизнес-правило. Помогает понять бизнес-процессы, а также характер, роль и область применения данных.</a:t>
            </a:r>
            <a:endParaRPr b="0" i="0" sz="2000" u="none" cap="none" strike="noStrike">
              <a:solidFill>
                <a:schemeClr val="dk1"/>
              </a:solidFill>
              <a:latin typeface="Calibri"/>
              <a:ea typeface="Calibri"/>
              <a:cs typeface="Calibri"/>
              <a:sym typeface="Calibri"/>
            </a:endParaRPr>
          </a:p>
          <a:p>
            <a:pPr indent="-228600" lvl="0" marL="240665" marR="5080" rtl="0" algn="l">
              <a:lnSpc>
                <a:spcPct val="90000"/>
              </a:lnSpc>
              <a:spcBef>
                <a:spcPts val="81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Предположение. Может быть определено как факт или утверждение, принимаемое без доказательств.</a:t>
            </a:r>
            <a:endParaRPr b="0" i="0" sz="2000" u="none" cap="none" strike="noStrike">
              <a:solidFill>
                <a:schemeClr val="dk1"/>
              </a:solidFill>
              <a:latin typeface="Calibri"/>
              <a:ea typeface="Calibri"/>
              <a:cs typeface="Calibri"/>
              <a:sym typeface="Calibri"/>
            </a:endParaRPr>
          </a:p>
          <a:p>
            <a:pPr indent="-228600" lvl="0" marL="240665" marR="253365" rtl="0" algn="l">
              <a:lnSpc>
                <a:spcPct val="90000"/>
              </a:lnSpc>
              <a:spcBef>
                <a:spcPts val="800"/>
              </a:spcBef>
              <a:spcAft>
                <a:spcPts val="0"/>
              </a:spcAft>
              <a:buClr>
                <a:srgbClr val="9A9B9D"/>
              </a:buClr>
              <a:buSzPts val="2000"/>
              <a:buFont typeface="Arial"/>
              <a:buChar char="•"/>
            </a:pPr>
            <a:r>
              <a:rPr b="0" i="0" lang="en-US" sz="2000" u="none" cap="none" strike="noStrike">
                <a:solidFill>
                  <a:schemeClr val="dk1"/>
                </a:solidFill>
                <a:latin typeface="Calibri"/>
                <a:ea typeface="Calibri"/>
                <a:cs typeface="Calibri"/>
                <a:sym typeface="Calibri"/>
              </a:rPr>
              <a:t>Проблема. Может быть определена как ситуация или сценарий, который требует внимания и возможного решения, позволяющего упростить ситуацию.</a:t>
            </a:r>
            <a:endParaRPr b="0" i="0" sz="2000" u="none" cap="none" strike="noStrike">
              <a:solidFill>
                <a:schemeClr val="dk1"/>
              </a:solidFill>
              <a:latin typeface="Calibri"/>
              <a:ea typeface="Calibri"/>
              <a:cs typeface="Calibri"/>
              <a:sym typeface="Calibri"/>
            </a:endParaRPr>
          </a:p>
        </p:txBody>
      </p:sp>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graphicFrame>
        <p:nvGraphicFramePr>
          <p:cNvPr id="218" name="Google Shape;218;p11"/>
          <p:cNvGraphicFramePr/>
          <p:nvPr/>
        </p:nvGraphicFramePr>
        <p:xfrm>
          <a:off x="180975" y="484824"/>
          <a:ext cx="3000000" cy="3000000"/>
        </p:xfrm>
        <a:graphic>
          <a:graphicData uri="http://schemas.openxmlformats.org/drawingml/2006/table">
            <a:tbl>
              <a:tblPr bandRow="1" firstRow="1">
                <a:noFill/>
                <a:tableStyleId>{063E9A1C-7C3B-43E6-9CB8-0B6B60392EDD}</a:tableStyleId>
              </a:tblPr>
              <a:tblGrid>
                <a:gridCol w="817900"/>
                <a:gridCol w="3597300"/>
                <a:gridCol w="2475275"/>
                <a:gridCol w="2190200"/>
                <a:gridCol w="1878625"/>
                <a:gridCol w="470700"/>
              </a:tblGrid>
              <a:tr h="1425575">
                <a:tc gridSpan="6">
                  <a:txBody>
                    <a:bodyPr/>
                    <a:lstStyle/>
                    <a:p>
                      <a:pPr indent="0" lvl="0" marL="0" marR="0" rtl="0" algn="l">
                        <a:lnSpc>
                          <a:spcPct val="100000"/>
                        </a:lnSpc>
                        <a:spcBef>
                          <a:spcPts val="0"/>
                        </a:spcBef>
                        <a:spcAft>
                          <a:spcPts val="0"/>
                        </a:spcAft>
                        <a:buNone/>
                      </a:pPr>
                      <a:r>
                        <a:t/>
                      </a:r>
                      <a:endParaRPr sz="2350" u="none" cap="none" strike="noStrike">
                        <a:latin typeface="Times New Roman"/>
                        <a:ea typeface="Times New Roman"/>
                        <a:cs typeface="Times New Roman"/>
                        <a:sym typeface="Times New Roman"/>
                      </a:endParaRPr>
                    </a:p>
                    <a:p>
                      <a:pPr indent="0" lvl="0" marL="212725" marR="539115" rtl="0" algn="l">
                        <a:lnSpc>
                          <a:spcPct val="80000"/>
                        </a:lnSpc>
                        <a:spcBef>
                          <a:spcPts val="0"/>
                        </a:spcBef>
                        <a:spcAft>
                          <a:spcPts val="0"/>
                        </a:spcAft>
                        <a:buNone/>
                      </a:pPr>
                      <a:r>
                        <a:rPr lang="en-US" sz="3000" u="none" cap="none" strike="noStrike">
                          <a:solidFill>
                            <a:srgbClr val="58595B"/>
                          </a:solidFill>
                          <a:latin typeface="Calibri"/>
                          <a:ea typeface="Calibri"/>
                          <a:cs typeface="Calibri"/>
                          <a:sym typeface="Calibri"/>
                        </a:rPr>
                        <a:t>Практический сценарий: Определение ключевых бизнес-правил, проблем и предположений</a:t>
                      </a:r>
                      <a:endParaRPr sz="3000" u="none" cap="none" strike="noStrike">
                        <a:latin typeface="Calibri"/>
                        <a:ea typeface="Calibri"/>
                        <a:cs typeface="Calibri"/>
                        <a:sym typeface="Calibri"/>
                      </a:endParaRPr>
                    </a:p>
                  </a:txBody>
                  <a:tcPr marT="3800" marB="0" marR="0" marL="0"/>
                </a:tc>
                <a:tc hMerge="1"/>
                <a:tc hMerge="1"/>
                <a:tc hMerge="1"/>
                <a:tc hMerge="1"/>
                <a:tc hMerge="1"/>
              </a:tr>
              <a:tr h="57847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R cap="flat" cmpd="sng" w="12700">
                      <a:solidFill>
                        <a:srgbClr val="FFFFFF"/>
                      </a:solidFill>
                      <a:prstDash val="solid"/>
                      <a:round/>
                      <a:headEnd len="sm" w="sm" type="none"/>
                      <a:tailEnd len="sm" w="sm" type="none"/>
                    </a:lnR>
                  </a:tcPr>
                </a:tc>
                <a:tc>
                  <a:txBody>
                    <a:bodyPr/>
                    <a:lstStyle/>
                    <a:p>
                      <a:pPr indent="0" lvl="0" marL="91440" marR="0" rtl="0" algn="l">
                        <a:lnSpc>
                          <a:spcPct val="100000"/>
                        </a:lnSpc>
                        <a:spcBef>
                          <a:spcPts val="0"/>
                        </a:spcBef>
                        <a:spcAft>
                          <a:spcPts val="0"/>
                        </a:spcAft>
                        <a:buNone/>
                      </a:pPr>
                      <a:r>
                        <a:rPr b="1" lang="en-US" sz="1600" u="none" cap="none" strike="noStrike">
                          <a:solidFill>
                            <a:srgbClr val="FFFFFF"/>
                          </a:solidFill>
                          <a:latin typeface="Calibri"/>
                          <a:ea typeface="Calibri"/>
                          <a:cs typeface="Calibri"/>
                          <a:sym typeface="Calibri"/>
                        </a:rPr>
                        <a:t>Утверждение</a:t>
                      </a:r>
                      <a:endParaRPr sz="1600" u="none" cap="none" strike="noStrike">
                        <a:latin typeface="Calibri"/>
                        <a:ea typeface="Calibri"/>
                        <a:cs typeface="Calibri"/>
                        <a:sym typeface="Calibri"/>
                      </a:endParaRPr>
                    </a:p>
                  </a:txBody>
                  <a:tcPr marT="33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07395"/>
                    </a:solidFill>
                  </a:tcPr>
                </a:tc>
                <a:tc>
                  <a:txBody>
                    <a:bodyPr/>
                    <a:lstStyle/>
                    <a:p>
                      <a:pPr indent="0" lvl="0" marL="90805" marR="0" rtl="0" algn="l">
                        <a:lnSpc>
                          <a:spcPct val="100000"/>
                        </a:lnSpc>
                        <a:spcBef>
                          <a:spcPts val="0"/>
                        </a:spcBef>
                        <a:spcAft>
                          <a:spcPts val="0"/>
                        </a:spcAft>
                        <a:buNone/>
                      </a:pPr>
                      <a:r>
                        <a:rPr b="1" lang="en-US" sz="1600" u="none" cap="none" strike="noStrike">
                          <a:solidFill>
                            <a:srgbClr val="FFFFFF"/>
                          </a:solidFill>
                          <a:latin typeface="Calibri"/>
                          <a:ea typeface="Calibri"/>
                          <a:cs typeface="Calibri"/>
                          <a:sym typeface="Calibri"/>
                        </a:rPr>
                        <a:t>Бизнес-правило</a:t>
                      </a:r>
                      <a:endParaRPr sz="1600" u="none" cap="none" strike="noStrike">
                        <a:latin typeface="Calibri"/>
                        <a:ea typeface="Calibri"/>
                        <a:cs typeface="Calibri"/>
                        <a:sym typeface="Calibri"/>
                      </a:endParaRPr>
                    </a:p>
                  </a:txBody>
                  <a:tcPr marT="33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07395"/>
                    </a:solidFill>
                  </a:tcPr>
                </a:tc>
                <a:tc>
                  <a:txBody>
                    <a:bodyPr/>
                    <a:lstStyle/>
                    <a:p>
                      <a:pPr indent="0" lvl="0" marL="91440" marR="0" rtl="0" algn="l">
                        <a:lnSpc>
                          <a:spcPct val="100000"/>
                        </a:lnSpc>
                        <a:spcBef>
                          <a:spcPts val="0"/>
                        </a:spcBef>
                        <a:spcAft>
                          <a:spcPts val="0"/>
                        </a:spcAft>
                        <a:buNone/>
                      </a:pPr>
                      <a:r>
                        <a:rPr b="1" lang="en-US" sz="1600" u="none" cap="none" strike="noStrike">
                          <a:solidFill>
                            <a:srgbClr val="FFFFFF"/>
                          </a:solidFill>
                          <a:latin typeface="Calibri"/>
                          <a:ea typeface="Calibri"/>
                          <a:cs typeface="Calibri"/>
                          <a:sym typeface="Calibri"/>
                        </a:rPr>
                        <a:t>Предположение</a:t>
                      </a:r>
                      <a:endParaRPr sz="1600" u="none" cap="none" strike="noStrike">
                        <a:latin typeface="Calibri"/>
                        <a:ea typeface="Calibri"/>
                        <a:cs typeface="Calibri"/>
                        <a:sym typeface="Calibri"/>
                      </a:endParaRPr>
                    </a:p>
                  </a:txBody>
                  <a:tcPr marT="33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07395"/>
                    </a:solidFill>
                  </a:tcPr>
                </a:tc>
                <a:tc>
                  <a:txBody>
                    <a:bodyPr/>
                    <a:lstStyle/>
                    <a:p>
                      <a:pPr indent="0" lvl="0" marL="91440" marR="0" rtl="0" algn="l">
                        <a:lnSpc>
                          <a:spcPct val="100000"/>
                        </a:lnSpc>
                        <a:spcBef>
                          <a:spcPts val="0"/>
                        </a:spcBef>
                        <a:spcAft>
                          <a:spcPts val="0"/>
                        </a:spcAft>
                        <a:buNone/>
                      </a:pPr>
                      <a:r>
                        <a:rPr b="1" lang="en-US" sz="1600" u="none" cap="none" strike="noStrike">
                          <a:solidFill>
                            <a:srgbClr val="FFFFFF"/>
                          </a:solidFill>
                          <a:latin typeface="Calibri"/>
                          <a:ea typeface="Calibri"/>
                          <a:cs typeface="Calibri"/>
                          <a:sym typeface="Calibri"/>
                        </a:rPr>
                        <a:t>Проблема</a:t>
                      </a:r>
                      <a:endParaRPr sz="1600" u="none" cap="none" strike="noStrike">
                        <a:latin typeface="Calibri"/>
                        <a:ea typeface="Calibri"/>
                        <a:cs typeface="Calibri"/>
                        <a:sym typeface="Calibri"/>
                      </a:endParaRPr>
                    </a:p>
                  </a:txBody>
                  <a:tcPr marT="33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38100">
                      <a:solidFill>
                        <a:srgbClr val="FFFFFF"/>
                      </a:solidFill>
                      <a:prstDash val="solid"/>
                      <a:round/>
                      <a:headEnd len="sm" w="sm" type="none"/>
                      <a:tailEnd len="sm" w="sm" type="none"/>
                    </a:lnB>
                    <a:solidFill>
                      <a:srgbClr val="007395"/>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tcPr>
                </a:tc>
              </a:tr>
              <a:tr h="550550">
                <a:tc rowSpan="12">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tc>
                <a:tc>
                  <a:txBody>
                    <a:bodyPr/>
                    <a:lstStyle/>
                    <a:p>
                      <a:pPr indent="0" lvl="0" marL="91440" marR="452755" rtl="0" algn="l">
                        <a:lnSpc>
                          <a:spcPct val="100000"/>
                        </a:lnSpc>
                        <a:spcBef>
                          <a:spcPts val="0"/>
                        </a:spcBef>
                        <a:spcAft>
                          <a:spcPts val="0"/>
                        </a:spcAft>
                        <a:buNone/>
                      </a:pPr>
                      <a:r>
                        <a:rPr b="1" lang="en-US" sz="1600" u="none" cap="none" strike="noStrike">
                          <a:solidFill>
                            <a:srgbClr val="58595B"/>
                          </a:solidFill>
                          <a:latin typeface="Calibri"/>
                          <a:ea typeface="Calibri"/>
                          <a:cs typeface="Calibri"/>
                          <a:sym typeface="Calibri"/>
                        </a:rPr>
                        <a:t>Обеспечить поступление новых книг 21</a:t>
                      </a:r>
                      <a:r>
                        <a:rPr b="1" baseline="30000" lang="en-US" sz="1575" u="none" cap="none" strike="noStrike">
                          <a:solidFill>
                            <a:srgbClr val="58595B"/>
                          </a:solidFill>
                          <a:latin typeface="Calibri"/>
                          <a:ea typeface="Calibri"/>
                          <a:cs typeface="Calibri"/>
                          <a:sym typeface="Calibri"/>
                        </a:rPr>
                        <a:t>го </a:t>
                      </a:r>
                      <a:r>
                        <a:rPr b="1" lang="en-US" sz="1600" u="none" cap="none" strike="noStrike">
                          <a:solidFill>
                            <a:srgbClr val="58595B"/>
                          </a:solidFill>
                          <a:latin typeface="Calibri"/>
                          <a:ea typeface="Calibri"/>
                          <a:cs typeface="Calibri"/>
                          <a:sym typeface="Calibri"/>
                        </a:rPr>
                        <a:t>числа</a:t>
                      </a:r>
                      <a:endParaRPr sz="1600" u="none" cap="none" strike="noStrike">
                        <a:latin typeface="Calibri"/>
                        <a:ea typeface="Calibri"/>
                        <a:cs typeface="Calibri"/>
                        <a:sym typeface="Calibri"/>
                      </a:endParaRPr>
                    </a:p>
                  </a:txBody>
                  <a:tcPr marT="33025" marB="0" marR="0" marL="0">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solidFill>
                      <a:srgbClr val="CBD5DD"/>
                    </a:solidFill>
                  </a:tcPr>
                </a:tc>
                <a:tc rowSpan="2">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BD5DD"/>
                    </a:solidFill>
                  </a:tcPr>
                </a:tc>
                <a:tc rowSpan="2">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BD5DD"/>
                    </a:solidFill>
                  </a:tcPr>
                </a:tc>
                <a:tc rowSpan="2">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381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BD5DD"/>
                    </a:solidFill>
                  </a:tcPr>
                </a:tc>
                <a:tc rowSpan="12">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tcPr>
                </a:tc>
              </a:tr>
              <a:tr h="271775">
                <a:tc vMerge="1"/>
                <a:tc>
                  <a:txBody>
                    <a:bodyPr/>
                    <a:lstStyle/>
                    <a:p>
                      <a:pPr indent="0" lvl="0" marL="91440" marR="0" rtl="0" algn="l">
                        <a:lnSpc>
                          <a:spcPct val="104999"/>
                        </a:lnSpc>
                        <a:spcBef>
                          <a:spcPts val="0"/>
                        </a:spcBef>
                        <a:spcAft>
                          <a:spcPts val="0"/>
                        </a:spcAft>
                        <a:buNone/>
                      </a:pPr>
                      <a:r>
                        <a:rPr b="1" lang="en-US" sz="1600" u="none" cap="none" strike="noStrike">
                          <a:solidFill>
                            <a:srgbClr val="58595B"/>
                          </a:solidFill>
                          <a:latin typeface="Calibri"/>
                          <a:ea typeface="Calibri"/>
                          <a:cs typeface="Calibri"/>
                          <a:sym typeface="Calibri"/>
                        </a:rPr>
                        <a:t>каждого месяца.</a:t>
                      </a:r>
                      <a:endParaRPr sz="1600" u="none" cap="none" strike="noStrike">
                        <a:latin typeface="Calibri"/>
                        <a:ea typeface="Calibri"/>
                        <a:cs typeface="Calibri"/>
                        <a:sym typeface="Calibri"/>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B cap="flat" cmpd="sng" w="12700">
                      <a:solidFill>
                        <a:srgbClr val="FFFFFF"/>
                      </a:solidFill>
                      <a:prstDash val="solid"/>
                      <a:round/>
                      <a:headEnd len="sm" w="sm" type="none"/>
                      <a:tailEnd len="sm" w="sm" type="none"/>
                    </a:lnB>
                    <a:solidFill>
                      <a:srgbClr val="CBD5DD"/>
                    </a:solidFill>
                  </a:tcPr>
                </a:tc>
                <a:tc vMerge="1"/>
                <a:tc vMerge="1"/>
                <a:tc vMerge="1"/>
                <a:tc vMerge="1"/>
              </a:tr>
              <a:tr h="306700">
                <a:tc vMerge="1"/>
                <a:tc>
                  <a:txBody>
                    <a:bodyPr/>
                    <a:lstStyle/>
                    <a:p>
                      <a:pPr indent="0" lvl="0" marL="91440" marR="0" rtl="0" algn="l">
                        <a:lnSpc>
                          <a:spcPct val="100000"/>
                        </a:lnSpc>
                        <a:spcBef>
                          <a:spcPts val="0"/>
                        </a:spcBef>
                        <a:spcAft>
                          <a:spcPts val="0"/>
                        </a:spcAft>
                        <a:buNone/>
                      </a:pPr>
                      <a:r>
                        <a:rPr b="1" lang="en-US" sz="1600" u="none" cap="none" strike="noStrike">
                          <a:solidFill>
                            <a:srgbClr val="58595B"/>
                          </a:solidFill>
                          <a:latin typeface="Calibri"/>
                          <a:ea typeface="Calibri"/>
                          <a:cs typeface="Calibri"/>
                          <a:sym typeface="Calibri"/>
                        </a:rPr>
                        <a:t>Библиотекарю сложно</a:t>
                      </a:r>
                      <a:endParaRPr sz="1600" u="none" cap="none" strike="noStrike">
                        <a:latin typeface="Calibri"/>
                        <a:ea typeface="Calibri"/>
                        <a:cs typeface="Calibri"/>
                        <a:sym typeface="Calibri"/>
                      </a:endParaRPr>
                    </a:p>
                  </a:txBody>
                  <a:tcPr marT="3302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solidFill>
                      <a:srgbClr val="E7EBEF"/>
                    </a:solidFill>
                  </a:tcPr>
                </a:tc>
                <a:tc rowSpan="4">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7EBEF"/>
                    </a:solidFill>
                  </a:tcPr>
                </a:tc>
                <a:tc rowSpan="4">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7EBEF"/>
                    </a:solidFill>
                  </a:tcPr>
                </a:tc>
                <a:tc rowSpan="4">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E7EBEF"/>
                    </a:solidFill>
                  </a:tcPr>
                </a:tc>
                <a:tc vMerge="1"/>
              </a:tr>
              <a:tr h="243200">
                <a:tc vMerge="1"/>
                <a:tc>
                  <a:txBody>
                    <a:bodyPr/>
                    <a:lstStyle/>
                    <a:p>
                      <a:pPr indent="0" lvl="0" marL="91440" marR="0" rtl="0" algn="l">
                        <a:lnSpc>
                          <a:spcPct val="104999"/>
                        </a:lnSpc>
                        <a:spcBef>
                          <a:spcPts val="0"/>
                        </a:spcBef>
                        <a:spcAft>
                          <a:spcPts val="0"/>
                        </a:spcAft>
                        <a:buNone/>
                      </a:pPr>
                      <a:r>
                        <a:rPr b="1" lang="en-US" sz="1600" u="none" cap="none" strike="noStrike">
                          <a:solidFill>
                            <a:srgbClr val="58595B"/>
                          </a:solidFill>
                          <a:latin typeface="Calibri"/>
                          <a:ea typeface="Calibri"/>
                          <a:cs typeface="Calibri"/>
                          <a:sym typeface="Calibri"/>
                        </a:rPr>
                        <a:t>определить, какие DVD-</a:t>
                      </a:r>
                      <a:endParaRPr sz="1600" u="none" cap="none" strike="noStrike">
                        <a:latin typeface="Calibri"/>
                        <a:ea typeface="Calibri"/>
                        <a:cs typeface="Calibri"/>
                        <a:sym typeface="Calibri"/>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solidFill>
                      <a:srgbClr val="E7EBEF"/>
                    </a:solidFill>
                  </a:tcPr>
                </a:tc>
                <a:tc vMerge="1"/>
                <a:tc vMerge="1"/>
                <a:tc vMerge="1"/>
                <a:tc vMerge="1"/>
              </a:tr>
              <a:tr h="243200">
                <a:tc vMerge="1"/>
                <a:tc>
                  <a:txBody>
                    <a:bodyPr/>
                    <a:lstStyle/>
                    <a:p>
                      <a:pPr indent="0" lvl="0" marL="91440" marR="0" rtl="0" algn="l">
                        <a:lnSpc>
                          <a:spcPct val="104999"/>
                        </a:lnSpc>
                        <a:spcBef>
                          <a:spcPts val="0"/>
                        </a:spcBef>
                        <a:spcAft>
                          <a:spcPts val="0"/>
                        </a:spcAft>
                        <a:buNone/>
                      </a:pPr>
                      <a:r>
                        <a:rPr b="1" lang="en-US" sz="1600" u="none" cap="none" strike="noStrike">
                          <a:solidFill>
                            <a:srgbClr val="58595B"/>
                          </a:solidFill>
                          <a:latin typeface="Calibri"/>
                          <a:ea typeface="Calibri"/>
                          <a:cs typeface="Calibri"/>
                          <a:sym typeface="Calibri"/>
                        </a:rPr>
                        <a:t>диски серьезно просрочены</a:t>
                      </a:r>
                      <a:endParaRPr sz="1600" u="none" cap="none" strike="noStrike">
                        <a:latin typeface="Calibri"/>
                        <a:ea typeface="Calibri"/>
                        <a:cs typeface="Calibri"/>
                        <a:sym typeface="Calibri"/>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solidFill>
                      <a:srgbClr val="E7EBEF"/>
                    </a:solidFill>
                  </a:tcPr>
                </a:tc>
                <a:tc vMerge="1"/>
                <a:tc vMerge="1"/>
                <a:tc vMerge="1"/>
                <a:tc vMerge="1"/>
              </a:tr>
              <a:tr h="271775">
                <a:tc vMerge="1"/>
                <a:tc>
                  <a:txBody>
                    <a:bodyPr/>
                    <a:lstStyle/>
                    <a:p>
                      <a:pPr indent="0" lvl="0" marL="91440" marR="0" rtl="0" algn="l">
                        <a:lnSpc>
                          <a:spcPct val="104999"/>
                        </a:lnSpc>
                        <a:spcBef>
                          <a:spcPts val="0"/>
                        </a:spcBef>
                        <a:spcAft>
                          <a:spcPts val="0"/>
                        </a:spcAft>
                        <a:buNone/>
                      </a:pPr>
                      <a:r>
                        <a:rPr b="1" lang="en-US" sz="1600" u="none" cap="none" strike="noStrike">
                          <a:solidFill>
                            <a:srgbClr val="58595B"/>
                          </a:solidFill>
                          <a:latin typeface="Calibri"/>
                          <a:ea typeface="Calibri"/>
                          <a:cs typeface="Calibri"/>
                          <a:sym typeface="Calibri"/>
                        </a:rPr>
                        <a:t>(более чем на две недели).</a:t>
                      </a:r>
                      <a:endParaRPr sz="1600" u="none" cap="none" strike="noStrike">
                        <a:latin typeface="Calibri"/>
                        <a:ea typeface="Calibri"/>
                        <a:cs typeface="Calibri"/>
                        <a:sym typeface="Calibri"/>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B cap="flat" cmpd="sng" w="12700">
                      <a:solidFill>
                        <a:srgbClr val="FFFFFF"/>
                      </a:solidFill>
                      <a:prstDash val="solid"/>
                      <a:round/>
                      <a:headEnd len="sm" w="sm" type="none"/>
                      <a:tailEnd len="sm" w="sm" type="none"/>
                    </a:lnB>
                    <a:solidFill>
                      <a:srgbClr val="E7EBEF"/>
                    </a:solidFill>
                  </a:tcPr>
                </a:tc>
                <a:tc vMerge="1"/>
                <a:tc vMerge="1"/>
                <a:tc vMerge="1"/>
                <a:tc vMerge="1"/>
              </a:tr>
              <a:tr h="306700">
                <a:tc vMerge="1"/>
                <a:tc>
                  <a:txBody>
                    <a:bodyPr/>
                    <a:lstStyle/>
                    <a:p>
                      <a:pPr indent="0" lvl="0" marL="91440" marR="0" rtl="0" algn="l">
                        <a:lnSpc>
                          <a:spcPct val="100000"/>
                        </a:lnSpc>
                        <a:spcBef>
                          <a:spcPts val="0"/>
                        </a:spcBef>
                        <a:spcAft>
                          <a:spcPts val="0"/>
                        </a:spcAft>
                        <a:buNone/>
                      </a:pPr>
                      <a:r>
                        <a:rPr b="1" lang="en-US" sz="1600" u="none" cap="none" strike="noStrike">
                          <a:solidFill>
                            <a:srgbClr val="58595B"/>
                          </a:solidFill>
                          <a:latin typeface="Calibri"/>
                          <a:ea typeface="Calibri"/>
                          <a:cs typeface="Calibri"/>
                          <a:sym typeface="Calibri"/>
                        </a:rPr>
                        <a:t>Наша текущая система,</a:t>
                      </a:r>
                      <a:endParaRPr sz="1600" u="none" cap="none" strike="noStrike">
                        <a:latin typeface="Calibri"/>
                        <a:ea typeface="Calibri"/>
                        <a:cs typeface="Calibri"/>
                        <a:sym typeface="Calibri"/>
                      </a:endParaRPr>
                    </a:p>
                  </a:txBody>
                  <a:tcPr marT="32375"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solidFill>
                      <a:srgbClr val="CBD5DD"/>
                    </a:solidFill>
                  </a:tcPr>
                </a:tc>
                <a:tc rowSpan="4">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BD5DD"/>
                    </a:solidFill>
                  </a:tcPr>
                </a:tc>
                <a:tc rowSpan="4">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BD5DD"/>
                    </a:solidFill>
                  </a:tcPr>
                </a:tc>
                <a:tc rowSpan="4">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T cap="flat" cmpd="sng" w="12700">
                      <a:solidFill>
                        <a:srgbClr val="FFFFFF"/>
                      </a:solidFill>
                      <a:prstDash val="solid"/>
                      <a:round/>
                      <a:headEnd len="sm" w="sm" type="none"/>
                      <a:tailEnd len="sm" w="sm" type="none"/>
                    </a:lnT>
                    <a:lnB cap="flat" cmpd="sng" w="12700">
                      <a:solidFill>
                        <a:srgbClr val="FFFFFF"/>
                      </a:solidFill>
                      <a:prstDash val="solid"/>
                      <a:round/>
                      <a:headEnd len="sm" w="sm" type="none"/>
                      <a:tailEnd len="sm" w="sm" type="none"/>
                    </a:lnB>
                    <a:solidFill>
                      <a:srgbClr val="CBD5DD"/>
                    </a:solidFill>
                  </a:tcPr>
                </a:tc>
                <a:tc vMerge="1"/>
              </a:tr>
              <a:tr h="243200">
                <a:tc vMerge="1"/>
                <a:tc>
                  <a:txBody>
                    <a:bodyPr/>
                    <a:lstStyle/>
                    <a:p>
                      <a:pPr indent="0" lvl="0" marL="91440" marR="0" rtl="0" algn="l">
                        <a:lnSpc>
                          <a:spcPct val="104999"/>
                        </a:lnSpc>
                        <a:spcBef>
                          <a:spcPts val="0"/>
                        </a:spcBef>
                        <a:spcAft>
                          <a:spcPts val="0"/>
                        </a:spcAft>
                        <a:buNone/>
                      </a:pPr>
                      <a:r>
                        <a:rPr b="1" lang="en-US" sz="1600" u="none" cap="none" strike="noStrike">
                          <a:solidFill>
                            <a:srgbClr val="58595B"/>
                          </a:solidFill>
                          <a:latin typeface="Calibri"/>
                          <a:ea typeface="Calibri"/>
                          <a:cs typeface="Calibri"/>
                          <a:sym typeface="Calibri"/>
                        </a:rPr>
                        <a:t>вероятно, использует Oracle</a:t>
                      </a:r>
                      <a:endParaRPr sz="1600" u="none" cap="none" strike="noStrike">
                        <a:latin typeface="Calibri"/>
                        <a:ea typeface="Calibri"/>
                        <a:cs typeface="Calibri"/>
                        <a:sym typeface="Calibri"/>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solidFill>
                      <a:srgbClr val="CBD5DD"/>
                    </a:solidFill>
                  </a:tcPr>
                </a:tc>
                <a:tc vMerge="1"/>
                <a:tc vMerge="1"/>
                <a:tc vMerge="1"/>
                <a:tc vMerge="1"/>
              </a:tr>
              <a:tr h="243200">
                <a:tc vMerge="1"/>
                <a:tc>
                  <a:txBody>
                    <a:bodyPr/>
                    <a:lstStyle/>
                    <a:p>
                      <a:pPr indent="0" lvl="0" marL="91440" marR="0" rtl="0" algn="l">
                        <a:lnSpc>
                          <a:spcPct val="104999"/>
                        </a:lnSpc>
                        <a:spcBef>
                          <a:spcPts val="0"/>
                        </a:spcBef>
                        <a:spcAft>
                          <a:spcPts val="0"/>
                        </a:spcAft>
                        <a:buNone/>
                      </a:pPr>
                      <a:r>
                        <a:rPr b="1" lang="en-US" sz="1600" u="none" cap="none" strike="noStrike">
                          <a:solidFill>
                            <a:srgbClr val="58595B"/>
                          </a:solidFill>
                          <a:latin typeface="Calibri"/>
                          <a:ea typeface="Calibri"/>
                          <a:cs typeface="Calibri"/>
                          <a:sym typeface="Calibri"/>
                        </a:rPr>
                        <a:t>Database 10</a:t>
                      </a:r>
                      <a:r>
                        <a:rPr b="1" i="1" lang="en-US" sz="1600" u="none" cap="none" strike="noStrike">
                          <a:solidFill>
                            <a:srgbClr val="58595B"/>
                          </a:solidFill>
                          <a:latin typeface="Calibri"/>
                          <a:ea typeface="Calibri"/>
                          <a:cs typeface="Calibri"/>
                          <a:sym typeface="Calibri"/>
                        </a:rPr>
                        <a:t>g </a:t>
                      </a:r>
                      <a:r>
                        <a:rPr b="1" lang="en-US" sz="1600" u="none" cap="none" strike="noStrike">
                          <a:solidFill>
                            <a:srgbClr val="58595B"/>
                          </a:solidFill>
                          <a:latin typeface="Calibri"/>
                          <a:ea typeface="Calibri"/>
                          <a:cs typeface="Calibri"/>
                          <a:sym typeface="Calibri"/>
                        </a:rPr>
                        <a:t>и работает под</a:t>
                      </a:r>
                      <a:endParaRPr sz="1600" u="none" cap="none" strike="noStrike">
                        <a:latin typeface="Calibri"/>
                        <a:ea typeface="Calibri"/>
                        <a:cs typeface="Calibri"/>
                        <a:sym typeface="Calibri"/>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solidFill>
                      <a:srgbClr val="CBD5DD"/>
                    </a:solidFill>
                  </a:tcPr>
                </a:tc>
                <a:tc vMerge="1"/>
                <a:tc vMerge="1"/>
                <a:tc vMerge="1"/>
                <a:tc vMerge="1"/>
              </a:tr>
              <a:tr h="271775">
                <a:tc vMerge="1"/>
                <a:tc>
                  <a:txBody>
                    <a:bodyPr/>
                    <a:lstStyle/>
                    <a:p>
                      <a:pPr indent="0" lvl="0" marL="91440" marR="0" rtl="0" algn="l">
                        <a:lnSpc>
                          <a:spcPct val="104999"/>
                        </a:lnSpc>
                        <a:spcBef>
                          <a:spcPts val="0"/>
                        </a:spcBef>
                        <a:spcAft>
                          <a:spcPts val="0"/>
                        </a:spcAft>
                        <a:buNone/>
                      </a:pPr>
                      <a:r>
                        <a:rPr b="1" lang="en-US" sz="1600" u="none" cap="none" strike="noStrike">
                          <a:solidFill>
                            <a:srgbClr val="58595B"/>
                          </a:solidFill>
                          <a:latin typeface="Calibri"/>
                          <a:ea typeface="Calibri"/>
                          <a:cs typeface="Calibri"/>
                          <a:sym typeface="Calibri"/>
                        </a:rPr>
                        <a:t>управлением UNIX.</a:t>
                      </a:r>
                      <a:endParaRPr sz="1600" u="none" cap="none" strike="noStrike">
                        <a:latin typeface="Calibri"/>
                        <a:ea typeface="Calibri"/>
                        <a:cs typeface="Calibri"/>
                        <a:sym typeface="Calibri"/>
                      </a:endParaRPr>
                    </a:p>
                  </a:txBody>
                  <a:tcPr marT="0" marB="0" marR="0" marL="0">
                    <a:lnL cap="flat" cmpd="sng" w="12700">
                      <a:solidFill>
                        <a:srgbClr val="FFFFFF"/>
                      </a:solidFill>
                      <a:prstDash val="solid"/>
                      <a:round/>
                      <a:headEnd len="sm" w="sm" type="none"/>
                      <a:tailEnd len="sm" w="sm" type="none"/>
                    </a:lnL>
                    <a:lnR cap="flat" cmpd="sng" w="12700">
                      <a:solidFill>
                        <a:srgbClr val="FFFFFF"/>
                      </a:solidFill>
                      <a:prstDash val="solid"/>
                      <a:round/>
                      <a:headEnd len="sm" w="sm" type="none"/>
                      <a:tailEnd len="sm" w="sm" type="none"/>
                    </a:lnR>
                    <a:lnB cap="flat" cmpd="sng" w="12700">
                      <a:solidFill>
                        <a:srgbClr val="FFFFFF"/>
                      </a:solidFill>
                      <a:prstDash val="solid"/>
                      <a:round/>
                      <a:headEnd len="sm" w="sm" type="none"/>
                      <a:tailEnd len="sm" w="sm" type="none"/>
                    </a:lnB>
                    <a:solidFill>
                      <a:srgbClr val="CBD5DD"/>
                    </a:solidFill>
                  </a:tcPr>
                </a:tc>
                <a:tc vMerge="1"/>
                <a:tc vMerge="1"/>
                <a:tc vMerge="1"/>
                <a:tc vMerge="1"/>
              </a:tr>
              <a:tr h="354325">
                <a:tc vMerge="1"/>
                <a:tc gridSpan="4">
                  <a:txBody>
                    <a:bodyPr/>
                    <a:lstStyle/>
                    <a:p>
                      <a:pPr indent="0" lvl="0" marL="532765" marR="0" rtl="0" algn="l">
                        <a:lnSpc>
                          <a:spcPct val="100000"/>
                        </a:lnSpc>
                        <a:spcBef>
                          <a:spcPts val="0"/>
                        </a:spcBef>
                        <a:spcAft>
                          <a:spcPts val="0"/>
                        </a:spcAft>
                        <a:buNone/>
                      </a:pPr>
                      <a:r>
                        <a:rPr b="1" i="1" lang="en-US" sz="1800" u="none" cap="none" strike="noStrike">
                          <a:solidFill>
                            <a:srgbClr val="F80000"/>
                          </a:solidFill>
                          <a:latin typeface="Calibri"/>
                          <a:ea typeface="Calibri"/>
                          <a:cs typeface="Calibri"/>
                          <a:sym typeface="Calibri"/>
                        </a:rPr>
                        <a:t>Определите, какое из утверждений является бизнес-правилом,</a:t>
                      </a:r>
                      <a:endParaRPr sz="1800" u="none" cap="none" strike="noStrike">
                        <a:latin typeface="Calibri"/>
                        <a:ea typeface="Calibri"/>
                        <a:cs typeface="Calibri"/>
                        <a:sym typeface="Calibri"/>
                      </a:endParaRPr>
                    </a:p>
                  </a:txBody>
                  <a:tcPr marT="45725" marB="0" marR="0" marL="0">
                    <a:lnT cap="flat" cmpd="sng" w="12700">
                      <a:solidFill>
                        <a:srgbClr val="FFFFFF"/>
                      </a:solidFill>
                      <a:prstDash val="solid"/>
                      <a:round/>
                      <a:headEnd len="sm" w="sm" type="none"/>
                      <a:tailEnd len="sm" w="sm" type="none"/>
                    </a:lnT>
                  </a:tcPr>
                </a:tc>
                <a:tc hMerge="1"/>
                <a:tc hMerge="1"/>
                <a:tc hMerge="1"/>
                <a:tc vMerge="1"/>
              </a:tr>
              <a:tr h="892175">
                <a:tc vMerge="1"/>
                <a:tc gridSpan="4">
                  <a:txBody>
                    <a:bodyPr/>
                    <a:lstStyle/>
                    <a:p>
                      <a:pPr indent="0" lvl="0" marL="532765" marR="0" rtl="0" algn="l">
                        <a:lnSpc>
                          <a:spcPct val="104944"/>
                        </a:lnSpc>
                        <a:spcBef>
                          <a:spcPts val="0"/>
                        </a:spcBef>
                        <a:spcAft>
                          <a:spcPts val="0"/>
                        </a:spcAft>
                        <a:buNone/>
                      </a:pPr>
                      <a:r>
                        <a:rPr b="1" i="1" lang="en-US" sz="1800" u="none" cap="none" strike="noStrike">
                          <a:solidFill>
                            <a:srgbClr val="F80000"/>
                          </a:solidFill>
                          <a:latin typeface="Calibri"/>
                          <a:ea typeface="Calibri"/>
                          <a:cs typeface="Calibri"/>
                          <a:sym typeface="Calibri"/>
                        </a:rPr>
                        <a:t>проблемой или предположением (ответ добавьте в результаты выполнения заданий).</a:t>
                      </a:r>
                      <a:endParaRPr sz="1800" u="none" cap="none" strike="noStrike">
                        <a:latin typeface="Calibri"/>
                        <a:ea typeface="Calibri"/>
                        <a:cs typeface="Calibri"/>
                        <a:sym typeface="Calibri"/>
                      </a:endParaRPr>
                    </a:p>
                  </a:txBody>
                  <a:tcPr marT="0" marB="0" marR="0" marL="0"/>
                </a:tc>
                <a:tc hMerge="1"/>
                <a:tc hMerge="1"/>
                <a:tc hMerge="1"/>
                <a:tc vMerge="1"/>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3" name="Shape 223"/>
        <p:cNvGrpSpPr/>
        <p:nvPr/>
      </p:nvGrpSpPr>
      <p:grpSpPr>
        <a:xfrm>
          <a:off x="0" y="0"/>
          <a:ext cx="0" cy="0"/>
          <a:chOff x="0" y="0"/>
          <a:chExt cx="0" cy="0"/>
        </a:xfrm>
      </p:grpSpPr>
      <p:sp>
        <p:nvSpPr>
          <p:cNvPr id="224" name="Google Shape;224;p12"/>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5" name="Google Shape;225;p12"/>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6" name="Google Shape;226;p12"/>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7" name="Google Shape;227;p12"/>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8" name="Google Shape;228;p12"/>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229" name="Google Shape;229;p12"/>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Calibri"/>
              <a:buNone/>
            </a:pPr>
            <a:r>
              <a:rPr lang="en-US" sz="3700">
                <a:solidFill>
                  <a:srgbClr val="FFFFFF"/>
                </a:solidFill>
              </a:rPr>
              <a:t>Описание и требования к проектированию БД</a:t>
            </a:r>
            <a:endParaRPr/>
          </a:p>
        </p:txBody>
      </p:sp>
      <p:sp>
        <p:nvSpPr>
          <p:cNvPr id="230" name="Google Shape;230;p12"/>
          <p:cNvSpPr txBox="1"/>
          <p:nvPr>
            <p:ph idx="1" type="body"/>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Краткое описание предметной области;</a:t>
            </a:r>
            <a:endParaRPr/>
          </a:p>
          <a:p>
            <a:pPr indent="-228600" lvl="0" marL="228600" rtl="0" algn="l">
              <a:lnSpc>
                <a:spcPct val="90000"/>
              </a:lnSpc>
              <a:spcBef>
                <a:spcPts val="1000"/>
              </a:spcBef>
              <a:spcAft>
                <a:spcPts val="0"/>
              </a:spcAft>
              <a:buClr>
                <a:schemeClr val="dk1"/>
              </a:buClr>
              <a:buSzPts val="2000"/>
              <a:buChar char="•"/>
            </a:pPr>
            <a:r>
              <a:rPr lang="en-US" sz="2000"/>
              <a:t>Семантическое описание:</a:t>
            </a:r>
            <a:endParaRPr/>
          </a:p>
          <a:p>
            <a:pPr indent="-228600" lvl="1" marL="685800" rtl="0" algn="l">
              <a:lnSpc>
                <a:spcPct val="90000"/>
              </a:lnSpc>
              <a:spcBef>
                <a:spcPts val="500"/>
              </a:spcBef>
              <a:spcAft>
                <a:spcPts val="0"/>
              </a:spcAft>
              <a:buClr>
                <a:schemeClr val="dk1"/>
              </a:buClr>
              <a:buSzPts val="2000"/>
              <a:buChar char="•"/>
            </a:pPr>
            <a:r>
              <a:rPr lang="en-US" sz="2000"/>
              <a:t>полное описание бизнес-логики(состоящие из бизнес-правил, требований);</a:t>
            </a:r>
            <a:endParaRPr/>
          </a:p>
          <a:p>
            <a:pPr indent="-228600" lvl="1" marL="685800" rtl="0" algn="l">
              <a:lnSpc>
                <a:spcPct val="90000"/>
              </a:lnSpc>
              <a:spcBef>
                <a:spcPts val="500"/>
              </a:spcBef>
              <a:spcAft>
                <a:spcPts val="0"/>
              </a:spcAft>
              <a:buClr>
                <a:schemeClr val="dk1"/>
              </a:buClr>
              <a:buSzPts val="2000"/>
              <a:buChar char="•"/>
            </a:pPr>
            <a:r>
              <a:rPr lang="en-US" sz="2000"/>
              <a:t>Ограничения;</a:t>
            </a:r>
            <a:endParaRPr/>
          </a:p>
          <a:p>
            <a:pPr indent="-228600" lvl="1" marL="685800" rtl="0" algn="l">
              <a:lnSpc>
                <a:spcPct val="90000"/>
              </a:lnSpc>
              <a:spcBef>
                <a:spcPts val="500"/>
              </a:spcBef>
              <a:spcAft>
                <a:spcPts val="0"/>
              </a:spcAft>
              <a:buClr>
                <a:schemeClr val="dk1"/>
              </a:buClr>
              <a:buSzPts val="2000"/>
              <a:buChar char="•"/>
            </a:pPr>
            <a:r>
              <a:rPr lang="en-US" sz="2000"/>
              <a:t>Выделение пользователей и их действий.</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3"/>
          <p:cNvSpPr/>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90000"/>
              </a:lnSpc>
              <a:spcBef>
                <a:spcPts val="0"/>
              </a:spcBef>
              <a:spcAft>
                <a:spcPts val="0"/>
              </a:spcAft>
              <a:buNone/>
            </a:pPr>
            <a:r>
              <a:rPr b="1" i="0" lang="en-US" sz="4000" u="none" cap="none" strike="noStrike">
                <a:solidFill>
                  <a:schemeClr val="dk1"/>
                </a:solidFill>
                <a:latin typeface="Calibri"/>
                <a:ea typeface="Calibri"/>
                <a:cs typeface="Calibri"/>
                <a:sym typeface="Calibri"/>
              </a:rPr>
              <a:t>Шаг 1. Определение сущностей</a:t>
            </a:r>
            <a:endParaRPr b="1" i="0" sz="4000" u="none" cap="none" strike="noStrike">
              <a:solidFill>
                <a:schemeClr val="dk1"/>
              </a:solidFill>
              <a:latin typeface="Calibri"/>
              <a:ea typeface="Calibri"/>
              <a:cs typeface="Calibri"/>
              <a:sym typeface="Calibri"/>
            </a:endParaRPr>
          </a:p>
        </p:txBody>
      </p:sp>
      <p:sp>
        <p:nvSpPr>
          <p:cNvPr id="237" name="Google Shape;237;p13"/>
          <p:cNvSpPr/>
          <p:nvPr/>
        </p:nvSpPr>
        <p:spPr>
          <a:xfrm>
            <a:off x="1289304" y="2039112"/>
            <a:ext cx="9171432" cy="4251960"/>
          </a:xfrm>
          <a:prstGeom prst="rect">
            <a:avLst/>
          </a:prstGeom>
          <a:noFill/>
          <a:ln>
            <a:noFill/>
          </a:ln>
        </p:spPr>
        <p:txBody>
          <a:bodyPr anchorCtr="0" anchor="t" bIns="45700" lIns="91425" spcFirstLastPara="1" rIns="91425" wrap="square" tIns="45700">
            <a:normAutofit/>
          </a:bodyPr>
          <a:lstStyle/>
          <a:p>
            <a:pPr indent="0" lvl="0" marL="0" marR="0" rtl="0" algn="l">
              <a:lnSpc>
                <a:spcPct val="130000"/>
              </a:lnSpc>
              <a:spcBef>
                <a:spcPts val="0"/>
              </a:spcBef>
              <a:spcAft>
                <a:spcPts val="0"/>
              </a:spcAft>
              <a:buClr>
                <a:schemeClr val="dk1"/>
              </a:buClr>
              <a:buSzPts val="2200"/>
              <a:buFont typeface="Calibri"/>
              <a:buNone/>
            </a:pPr>
            <a:r>
              <a:rPr b="0" i="0" lang="en-US" sz="2200" u="none" cap="none" strike="noStrike">
                <a:solidFill>
                  <a:schemeClr val="dk1"/>
                </a:solidFill>
                <a:latin typeface="Calibri"/>
                <a:ea typeface="Calibri"/>
                <a:cs typeface="Calibri"/>
                <a:sym typeface="Calibri"/>
              </a:rPr>
              <a:t>Сущности могут быть вещественными, реальными объектами, такими как ПЕРСОНА или МОРОЖЕНОЕ, или неосязаемыми концептуальными абстракциями как ЦЕНТР ЗАТРАТ или РЫНОК. </a:t>
            </a:r>
            <a:endParaRPr/>
          </a:p>
          <a:p>
            <a:pPr indent="0" lvl="0" marL="0" marR="0" rtl="0" algn="l">
              <a:lnSpc>
                <a:spcPct val="130000"/>
              </a:lnSpc>
              <a:spcBef>
                <a:spcPts val="1800"/>
              </a:spcBef>
              <a:spcAft>
                <a:spcPts val="0"/>
              </a:spcAft>
              <a:buClr>
                <a:srgbClr val="002E15"/>
              </a:buClr>
              <a:buSzPts val="2200"/>
              <a:buFont typeface="Calibri"/>
              <a:buNone/>
            </a:pPr>
            <a:r>
              <a:rPr b="0" i="0" lang="en-US" sz="2200" u="none" cap="none" strike="noStrike">
                <a:solidFill>
                  <a:srgbClr val="002E15"/>
                </a:solidFill>
                <a:latin typeface="Calibri"/>
                <a:ea typeface="Calibri"/>
                <a:cs typeface="Calibri"/>
                <a:sym typeface="Calibri"/>
              </a:rPr>
              <a:t>Сущности не предназначены для представления единичного объекта, они представляют наборы экземпляров,  которые имеют значение для конкретной организации и в дальнейшем будут храниться в базе данных.</a:t>
            </a:r>
            <a:endParaRPr/>
          </a:p>
          <a:p>
            <a:pPr indent="0" lvl="0" marL="0" marR="0" rtl="0" algn="l">
              <a:lnSpc>
                <a:spcPct val="130000"/>
              </a:lnSpc>
              <a:spcBef>
                <a:spcPts val="1800"/>
              </a:spcBef>
              <a:spcAft>
                <a:spcPts val="0"/>
              </a:spcAft>
              <a:buClr>
                <a:schemeClr val="dk1"/>
              </a:buClr>
              <a:buSzPts val="2200"/>
              <a:buFont typeface="Calibri"/>
              <a:buNone/>
            </a:pPr>
            <a:r>
              <a:rPr b="0" i="0" lang="en-US" sz="2200" u="none" cap="none" strike="noStrike">
                <a:solidFill>
                  <a:schemeClr val="dk1"/>
                </a:solidFill>
                <a:latin typeface="Calibri"/>
                <a:ea typeface="Calibri"/>
                <a:cs typeface="Calibri"/>
                <a:sym typeface="Calibri"/>
              </a:rPr>
              <a:t>Например, сущность </a:t>
            </a:r>
            <a:r>
              <a:rPr b="0" i="0" lang="en-US" sz="2200" u="none" cap="none" strike="noStrike">
                <a:solidFill>
                  <a:srgbClr val="0070C0"/>
                </a:solidFill>
                <a:latin typeface="Calibri"/>
                <a:ea typeface="Calibri"/>
                <a:cs typeface="Calibri"/>
                <a:sym typeface="Calibri"/>
              </a:rPr>
              <a:t>ПЕРСОНА </a:t>
            </a:r>
            <a:r>
              <a:rPr b="0" i="0" lang="en-US" sz="2200" u="none" cap="none" strike="noStrike">
                <a:solidFill>
                  <a:schemeClr val="dk1"/>
                </a:solidFill>
                <a:latin typeface="Calibri"/>
                <a:ea typeface="Calibri"/>
                <a:cs typeface="Calibri"/>
                <a:sym typeface="Calibri"/>
              </a:rPr>
              <a:t>может представлять следующий набор экземпляров:  </a:t>
            </a:r>
            <a:r>
              <a:rPr b="0" i="0" lang="en-US" sz="2200" u="none" cap="none" strike="noStrike">
                <a:solidFill>
                  <a:srgbClr val="0070C0"/>
                </a:solidFill>
                <a:latin typeface="Calibri"/>
                <a:ea typeface="Calibri"/>
                <a:cs typeface="Calibri"/>
                <a:sym typeface="Calibri"/>
              </a:rPr>
              <a:t>Иван Петров, Мария Русанова и Савелий Богданов</a:t>
            </a:r>
            <a:r>
              <a:rPr b="0" i="0" lang="en-US" sz="2200" u="none" cap="none" strike="noStrike">
                <a:solidFill>
                  <a:schemeClr val="dk1"/>
                </a:solidFill>
                <a:latin typeface="Calibri"/>
                <a:ea typeface="Calibri"/>
                <a:cs typeface="Calibri"/>
                <a:sym typeface="Calibri"/>
              </a:rPr>
              <a:t>. </a:t>
            </a:r>
            <a:endParaRPr b="1" i="0" sz="2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4"/>
          <p:cNvSpPr/>
          <p:nvPr/>
        </p:nvSpPr>
        <p:spPr>
          <a:xfrm>
            <a:off x="1043631" y="873940"/>
            <a:ext cx="5052369" cy="1035781"/>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90000"/>
              </a:lnSpc>
              <a:spcBef>
                <a:spcPts val="0"/>
              </a:spcBef>
              <a:spcAft>
                <a:spcPts val="0"/>
              </a:spcAft>
              <a:buNone/>
            </a:pPr>
            <a:r>
              <a:rPr b="1" i="0" lang="en-US" sz="3300" u="none" cap="none" strike="noStrike">
                <a:solidFill>
                  <a:schemeClr val="dk1"/>
                </a:solidFill>
                <a:latin typeface="Calibri"/>
                <a:ea typeface="Calibri"/>
                <a:cs typeface="Calibri"/>
                <a:sym typeface="Calibri"/>
              </a:rPr>
              <a:t>Шаг 1. Определение типов сущностей</a:t>
            </a:r>
            <a:endParaRPr/>
          </a:p>
        </p:txBody>
      </p:sp>
      <p:sp>
        <p:nvSpPr>
          <p:cNvPr id="244" name="Google Shape;244;p14"/>
          <p:cNvSpPr/>
          <p:nvPr/>
        </p:nvSpPr>
        <p:spPr>
          <a:xfrm>
            <a:off x="1074000" y="1909721"/>
            <a:ext cx="4991629" cy="4031668"/>
          </a:xfrm>
          <a:prstGeom prst="rect">
            <a:avLst/>
          </a:prstGeom>
          <a:noFill/>
          <a:ln>
            <a:noFill/>
          </a:ln>
        </p:spPr>
        <p:txBody>
          <a:bodyPr anchorCtr="0" anchor="ctr" bIns="45700" lIns="91425" spcFirstLastPara="1" rIns="91425" wrap="square" tIns="45700">
            <a:normAutofit/>
          </a:bodyPr>
          <a:lstStyle/>
          <a:p>
            <a:pPr indent="-228600" lvl="0" marL="241300" marR="1060450" rtl="0" algn="l">
              <a:lnSpc>
                <a:spcPct val="90000"/>
              </a:lnSpc>
              <a:spcBef>
                <a:spcPts val="0"/>
              </a:spcBef>
              <a:spcAft>
                <a:spcPts val="0"/>
              </a:spcAft>
              <a:buClr>
                <a:srgbClr val="9A9B9D"/>
              </a:buClr>
              <a:buSzPts val="2800"/>
              <a:buFont typeface="Arial"/>
              <a:buChar char="•"/>
            </a:pPr>
            <a:r>
              <a:rPr b="0" i="0" lang="en-US" sz="2800" u="none" cap="none" strike="noStrike">
                <a:solidFill>
                  <a:schemeClr val="dk1"/>
                </a:solidFill>
                <a:latin typeface="Calibri"/>
                <a:ea typeface="Calibri"/>
                <a:cs typeface="Calibri"/>
                <a:sym typeface="Calibri"/>
              </a:rPr>
              <a:t>Сущность содержит  экземпляры.</a:t>
            </a:r>
            <a:endParaRPr b="0" i="0" sz="2800" u="none" cap="none" strike="noStrike">
              <a:solidFill>
                <a:schemeClr val="dk1"/>
              </a:solidFill>
              <a:latin typeface="Calibri"/>
              <a:ea typeface="Calibri"/>
              <a:cs typeface="Calibri"/>
              <a:sym typeface="Calibri"/>
            </a:endParaRPr>
          </a:p>
          <a:p>
            <a:pPr indent="-228600" lvl="0" marL="241300" marR="0" rtl="0" algn="l">
              <a:lnSpc>
                <a:spcPct val="90000"/>
              </a:lnSpc>
              <a:spcBef>
                <a:spcPts val="825"/>
              </a:spcBef>
              <a:spcAft>
                <a:spcPts val="0"/>
              </a:spcAft>
              <a:buClr>
                <a:srgbClr val="9A9B9D"/>
              </a:buClr>
              <a:buSzPts val="2800"/>
              <a:buFont typeface="Arial"/>
              <a:buChar char="•"/>
            </a:pPr>
            <a:r>
              <a:rPr b="0" i="0" lang="en-US" sz="2800" u="none" cap="none" strike="noStrike">
                <a:solidFill>
                  <a:schemeClr val="dk1"/>
                </a:solidFill>
                <a:latin typeface="Calibri"/>
                <a:ea typeface="Calibri"/>
                <a:cs typeface="Calibri"/>
                <a:sym typeface="Calibri"/>
              </a:rPr>
              <a:t>Экземпляр сущности —</a:t>
            </a:r>
            <a:endParaRPr/>
          </a:p>
          <a:p>
            <a:pPr indent="-228600" lvl="0" marL="2413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одно значение сущности.</a:t>
            </a:r>
            <a:endParaRPr b="1" i="0" sz="2800" u="none" cap="none" strike="noStrike">
              <a:solidFill>
                <a:schemeClr val="dk1"/>
              </a:solidFill>
              <a:latin typeface="Calibri"/>
              <a:ea typeface="Calibri"/>
              <a:cs typeface="Calibri"/>
              <a:sym typeface="Calibri"/>
            </a:endParaRPr>
          </a:p>
          <a:p>
            <a:pPr indent="177800" lvl="0" marL="0" marR="0" rtl="0" algn="l">
              <a:lnSpc>
                <a:spcPct val="90000"/>
              </a:lnSpc>
              <a:spcBef>
                <a:spcPts val="0"/>
              </a:spcBef>
              <a:spcAft>
                <a:spcPts val="0"/>
              </a:spcAft>
              <a:buClr>
                <a:schemeClr val="dk1"/>
              </a:buClr>
              <a:buSzPts val="2800"/>
              <a:buFont typeface="Arial"/>
              <a:buNone/>
            </a:pPr>
            <a:r>
              <a:t/>
            </a:r>
            <a:endParaRPr b="1" i="0" sz="2800" u="none" cap="none" strike="noStrike">
              <a:solidFill>
                <a:schemeClr val="dk1"/>
              </a:solidFill>
              <a:latin typeface="Calibri"/>
              <a:ea typeface="Calibri"/>
              <a:cs typeface="Calibri"/>
              <a:sym typeface="Calibri"/>
            </a:endParaRPr>
          </a:p>
        </p:txBody>
      </p:sp>
      <p:pic>
        <p:nvPicPr>
          <p:cNvPr id="245" name="Google Shape;245;p14"/>
          <p:cNvPicPr preferRelativeResize="0"/>
          <p:nvPr/>
        </p:nvPicPr>
        <p:blipFill rotWithShape="1">
          <a:blip r:embed="rId3">
            <a:alphaModFix/>
          </a:blip>
          <a:srcRect b="0" l="0" r="0" t="0"/>
          <a:stretch/>
        </p:blipFill>
        <p:spPr>
          <a:xfrm>
            <a:off x="6422480" y="1501558"/>
            <a:ext cx="4286677" cy="478951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5"/>
          <p:cNvSpPr/>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342900" lvl="0" marL="342900" marR="0" rtl="0" algn="l">
              <a:lnSpc>
                <a:spcPct val="90000"/>
              </a:lnSpc>
              <a:spcBef>
                <a:spcPts val="0"/>
              </a:spcBef>
              <a:spcAft>
                <a:spcPts val="0"/>
              </a:spcAft>
              <a:buNone/>
            </a:pPr>
            <a:r>
              <a:rPr b="1" i="0" lang="en-US" sz="4000" u="none" cap="none" strike="noStrike">
                <a:solidFill>
                  <a:schemeClr val="dk1"/>
                </a:solidFill>
                <a:latin typeface="Calibri"/>
                <a:ea typeface="Calibri"/>
                <a:cs typeface="Calibri"/>
                <a:sym typeface="Calibri"/>
              </a:rPr>
              <a:t>Определение сущностей</a:t>
            </a:r>
            <a:endParaRPr b="1" i="0" sz="4000" u="none" cap="none" strike="noStrike">
              <a:solidFill>
                <a:schemeClr val="dk1"/>
              </a:solidFill>
              <a:latin typeface="Calibri"/>
              <a:ea typeface="Calibri"/>
              <a:cs typeface="Calibri"/>
              <a:sym typeface="Calibri"/>
            </a:endParaRPr>
          </a:p>
        </p:txBody>
      </p:sp>
      <p:sp>
        <p:nvSpPr>
          <p:cNvPr id="252" name="Google Shape;252;p15"/>
          <p:cNvSpPr/>
          <p:nvPr/>
        </p:nvSpPr>
        <p:spPr>
          <a:xfrm>
            <a:off x="1277112" y="1690687"/>
            <a:ext cx="9646920" cy="4917377"/>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Сущность имеет следующие признаки:</a:t>
            </a:r>
            <a:endParaRPr/>
          </a:p>
          <a:p>
            <a:pPr indent="0" lvl="0" marL="0" marR="0" rtl="0" algn="l">
              <a:spcBef>
                <a:spcPts val="60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Она имеет имя и описание.</a:t>
            </a:r>
            <a:endParaRPr/>
          </a:p>
          <a:p>
            <a:pPr indent="0" lvl="0" marL="0" marR="0" rtl="0" algn="l">
              <a:spcBef>
                <a:spcPts val="60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Она представляет класс, а не единичный экземпляр абстракции.</a:t>
            </a:r>
            <a:endParaRPr/>
          </a:p>
          <a:p>
            <a:pPr indent="0" lvl="0" marL="0" marR="0" rtl="0" algn="l">
              <a:spcBef>
                <a:spcPts val="60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Ее конкретные представители (экземпляры) могут быть уникально идентифицированы.</a:t>
            </a:r>
            <a:endParaRPr/>
          </a:p>
          <a:p>
            <a:pPr indent="0" lvl="0" marL="0" marR="0" rtl="0" algn="l">
              <a:spcBef>
                <a:spcPts val="600"/>
              </a:spcBef>
              <a:spcAft>
                <a:spcPts val="0"/>
              </a:spcAft>
              <a:buClr>
                <a:schemeClr val="dk1"/>
              </a:buClr>
              <a:buSzPts val="1800"/>
              <a:buFont typeface="Calibri"/>
              <a:buNone/>
            </a:pPr>
            <a:r>
              <a:rPr b="0" i="0" lang="en-US" sz="1800" u="none" cap="none" strike="noStrike">
                <a:solidFill>
                  <a:schemeClr val="dk1"/>
                </a:solidFill>
                <a:latin typeface="Calibri"/>
                <a:ea typeface="Calibri"/>
                <a:cs typeface="Calibri"/>
                <a:sym typeface="Calibri"/>
              </a:rPr>
              <a:t>• Она содержит логическую группировку атрибутов, представляющих информацию, интересную с точки зрения корпорации.</a:t>
            </a:r>
            <a:endParaRPr/>
          </a:p>
          <a:p>
            <a:pPr indent="0" lvl="0" marL="0" marR="0" rtl="0" algn="l">
              <a:spcBef>
                <a:spcPts val="600"/>
              </a:spcBef>
              <a:spcAft>
                <a:spcPts val="0"/>
              </a:spcAft>
              <a:buClr>
                <a:schemeClr val="dk1"/>
              </a:buClr>
              <a:buSzPts val="1600"/>
              <a:buFont typeface="Calibri"/>
              <a:buNone/>
            </a:pPr>
            <a:r>
              <a:rPr b="0" i="1" lang="en-US" sz="1600" u="none" cap="none" strike="noStrike">
                <a:solidFill>
                  <a:schemeClr val="dk1"/>
                </a:solidFill>
                <a:latin typeface="Calibri"/>
                <a:ea typeface="Calibri"/>
                <a:cs typeface="Calibri"/>
                <a:sym typeface="Calibri"/>
              </a:rPr>
              <a:t>Как приступить к процессу выделения сущностей? Большинство сущностей выявляются в ходе рабочих сессий и интервью. Анализ требований к информации, полученной от экспертов в предметной области и конечных пользователей - вот наилучший источник информации. Другим хорошим источником является корпоративная модель.</a:t>
            </a:r>
            <a:endParaRPr/>
          </a:p>
          <a:p>
            <a:pPr indent="0" lvl="0" marL="0" marR="0" rtl="0" algn="l">
              <a:lnSpc>
                <a:spcPct val="90000"/>
              </a:lnSpc>
              <a:spcBef>
                <a:spcPts val="600"/>
              </a:spcBef>
              <a:spcAft>
                <a:spcPts val="0"/>
              </a:spcAft>
              <a:buNone/>
            </a:pPr>
            <a:r>
              <a:rPr b="0" i="0" lang="en-US" sz="1600" u="none" cap="none" strike="noStrike">
                <a:solidFill>
                  <a:schemeClr val="dk1"/>
                </a:solidFill>
                <a:latin typeface="Calibri"/>
                <a:ea typeface="Calibri"/>
                <a:cs typeface="Calibri"/>
                <a:sym typeface="Calibri"/>
              </a:rPr>
              <a:t>Альтернативный способ идентификации сущностей состоит в поиске объектов, которые существуют независимо от других. Например, объект "работник" является сущностью.</a:t>
            </a:r>
            <a:endParaRPr b="0" i="0" sz="1600" u="none" cap="none" strike="noStrike">
              <a:solidFill>
                <a:schemeClr val="dk1"/>
              </a:solidFill>
              <a:latin typeface="Calibri"/>
              <a:ea typeface="Calibri"/>
              <a:cs typeface="Calibri"/>
              <a:sym typeface="Calibri"/>
            </a:endParaRPr>
          </a:p>
          <a:p>
            <a:pPr indent="0" lvl="0" marL="0" marR="0" rtl="0" algn="l">
              <a:lnSpc>
                <a:spcPct val="90000"/>
              </a:lnSpc>
              <a:spcBef>
                <a:spcPts val="600"/>
              </a:spcBef>
              <a:spcAft>
                <a:spcPts val="0"/>
              </a:spcAft>
              <a:buNone/>
            </a:pPr>
            <a:r>
              <a:t/>
            </a:r>
            <a:endParaRPr b="0" i="0" sz="1600" u="none" cap="none" strike="noStrike">
              <a:solidFill>
                <a:schemeClr val="dk1"/>
              </a:solidFill>
              <a:latin typeface="Calibri"/>
              <a:ea typeface="Calibri"/>
              <a:cs typeface="Calibri"/>
              <a:sym typeface="Calibri"/>
            </a:endParaRPr>
          </a:p>
          <a:p>
            <a:pPr indent="0" lvl="0" marL="0" marR="0" rtl="0" algn="l">
              <a:spcBef>
                <a:spcPts val="600"/>
              </a:spcBef>
              <a:spcAft>
                <a:spcPts val="0"/>
              </a:spcAft>
              <a:buClr>
                <a:schemeClr val="dk1"/>
              </a:buClr>
              <a:buSzPts val="1600"/>
              <a:buFont typeface="Calibri"/>
              <a:buNone/>
            </a:pPr>
            <a:r>
              <a:rPr b="0" i="1" lang="en-US" sz="1600" u="none" cap="none" strike="noStrike">
                <a:solidFill>
                  <a:schemeClr val="dk1"/>
                </a:solidFill>
                <a:latin typeface="Calibri"/>
                <a:ea typeface="Calibri"/>
                <a:cs typeface="Calibri"/>
                <a:sym typeface="Calibri"/>
              </a:rPr>
              <a:t>Обратите внимание на имена существительные и имена объектов - вполне возможно, что они станут логическими сущностями. Старайтесь не представлять единичные экземпляры в виде сущностей, как это часто бывает, когда сущности моделируются в терминах роли.</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16"/>
          <p:cNvSpPr txBox="1"/>
          <p:nvPr>
            <p:ph type="title"/>
          </p:nvPr>
        </p:nvSpPr>
        <p:spPr>
          <a:xfrm>
            <a:off x="1009495" y="506833"/>
            <a:ext cx="10173010" cy="15544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b="1" lang="en-US" sz="4800">
                <a:latin typeface="Calibri"/>
                <a:ea typeface="Calibri"/>
                <a:cs typeface="Calibri"/>
                <a:sym typeface="Calibri"/>
              </a:rPr>
              <a:t>Типы сущностей</a:t>
            </a:r>
            <a:endParaRPr sz="4800"/>
          </a:p>
        </p:txBody>
      </p:sp>
      <p:graphicFrame>
        <p:nvGraphicFramePr>
          <p:cNvPr id="259" name="Google Shape;259;p16"/>
          <p:cNvGraphicFramePr/>
          <p:nvPr/>
        </p:nvGraphicFramePr>
        <p:xfrm>
          <a:off x="1370073" y="1707745"/>
          <a:ext cx="3000000" cy="3000000"/>
        </p:xfrm>
        <a:graphic>
          <a:graphicData uri="http://schemas.openxmlformats.org/drawingml/2006/table">
            <a:tbl>
              <a:tblPr bandRow="1" firstRow="1">
                <a:solidFill>
                  <a:srgbClr val="F2F2F2"/>
                </a:solidFill>
                <a:tableStyleId>{C252CF71-F075-4070-AD07-B88892A602E3}</a:tableStyleId>
              </a:tblPr>
              <a:tblGrid>
                <a:gridCol w="2982475"/>
                <a:gridCol w="4061000"/>
                <a:gridCol w="3334975"/>
              </a:tblGrid>
              <a:tr h="613550">
                <a:tc>
                  <a:txBody>
                    <a:bodyPr/>
                    <a:lstStyle/>
                    <a:p>
                      <a:pPr indent="0" lvl="0" marL="73025" marR="0" rtl="0" algn="l">
                        <a:lnSpc>
                          <a:spcPct val="100000"/>
                        </a:lnSpc>
                        <a:spcBef>
                          <a:spcPts val="0"/>
                        </a:spcBef>
                        <a:spcAft>
                          <a:spcPts val="0"/>
                        </a:spcAft>
                        <a:buNone/>
                      </a:pPr>
                      <a:r>
                        <a:rPr b="0" lang="en-US" sz="2300" u="none" cap="none" strike="noStrike">
                          <a:solidFill>
                            <a:schemeClr val="lt1"/>
                          </a:solidFill>
                        </a:rPr>
                        <a:t>Тип</a:t>
                      </a:r>
                      <a:endParaRPr b="0" sz="2300" u="none" cap="none" strike="noStrike">
                        <a:solidFill>
                          <a:schemeClr val="lt1"/>
                        </a:solidFill>
                        <a:latin typeface="Calibri"/>
                        <a:ea typeface="Calibri"/>
                        <a:cs typeface="Calibri"/>
                        <a:sym typeface="Calibri"/>
                      </a:endParaRPr>
                    </a:p>
                  </a:txBody>
                  <a:tcPr marT="133450" marB="70800" marR="0" marL="92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2"/>
                    </a:solidFill>
                  </a:tcPr>
                </a:tc>
                <a:tc>
                  <a:txBody>
                    <a:bodyPr/>
                    <a:lstStyle/>
                    <a:p>
                      <a:pPr indent="0" lvl="0" marL="73025" marR="0" rtl="0" algn="l">
                        <a:lnSpc>
                          <a:spcPct val="100000"/>
                        </a:lnSpc>
                        <a:spcBef>
                          <a:spcPts val="0"/>
                        </a:spcBef>
                        <a:spcAft>
                          <a:spcPts val="0"/>
                        </a:spcAft>
                        <a:buNone/>
                      </a:pPr>
                      <a:r>
                        <a:rPr b="0" lang="en-US" sz="2300" u="none" cap="none" strike="noStrike">
                          <a:solidFill>
                            <a:schemeClr val="lt1"/>
                          </a:solidFill>
                        </a:rPr>
                        <a:t>Описание</a:t>
                      </a:r>
                      <a:endParaRPr b="0" sz="2300" u="none" cap="none" strike="noStrike">
                        <a:solidFill>
                          <a:schemeClr val="lt1"/>
                        </a:solidFill>
                        <a:latin typeface="Calibri"/>
                        <a:ea typeface="Calibri"/>
                        <a:cs typeface="Calibri"/>
                        <a:sym typeface="Calibri"/>
                      </a:endParaRPr>
                    </a:p>
                  </a:txBody>
                  <a:tcPr marT="133450" marB="70800" marR="0" marL="92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2"/>
                    </a:solidFill>
                  </a:tcPr>
                </a:tc>
                <a:tc>
                  <a:txBody>
                    <a:bodyPr/>
                    <a:lstStyle/>
                    <a:p>
                      <a:pPr indent="0" lvl="0" marL="73025" marR="0" rtl="0" algn="l">
                        <a:lnSpc>
                          <a:spcPct val="100000"/>
                        </a:lnSpc>
                        <a:spcBef>
                          <a:spcPts val="0"/>
                        </a:spcBef>
                        <a:spcAft>
                          <a:spcPts val="0"/>
                        </a:spcAft>
                        <a:buNone/>
                      </a:pPr>
                      <a:r>
                        <a:rPr b="0" lang="en-US" sz="2300" u="none" cap="none" strike="noStrike">
                          <a:solidFill>
                            <a:schemeClr val="lt1"/>
                          </a:solidFill>
                        </a:rPr>
                        <a:t>Пример</a:t>
                      </a:r>
                      <a:endParaRPr b="0" sz="2300" u="none" cap="none" strike="noStrike">
                        <a:solidFill>
                          <a:schemeClr val="lt1"/>
                        </a:solidFill>
                        <a:latin typeface="Calibri"/>
                        <a:ea typeface="Calibri"/>
                        <a:cs typeface="Calibri"/>
                        <a:sym typeface="Calibri"/>
                      </a:endParaRPr>
                    </a:p>
                  </a:txBody>
                  <a:tcPr marT="133450" marB="70800" marR="0" marL="92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2"/>
                    </a:solidFill>
                  </a:tcPr>
                </a:tc>
              </a:tr>
              <a:tr h="791500">
                <a:tc>
                  <a:txBody>
                    <a:bodyPr/>
                    <a:lstStyle/>
                    <a:p>
                      <a:pPr indent="0" lvl="0" marL="73025" marR="0" rtl="0" algn="l">
                        <a:lnSpc>
                          <a:spcPct val="100000"/>
                        </a:lnSpc>
                        <a:spcBef>
                          <a:spcPts val="0"/>
                        </a:spcBef>
                        <a:spcAft>
                          <a:spcPts val="0"/>
                        </a:spcAft>
                        <a:buNone/>
                      </a:pPr>
                      <a:r>
                        <a:rPr b="1" lang="en-US" sz="1800" u="none" cap="none" strike="noStrike">
                          <a:solidFill>
                            <a:schemeClr val="dk1"/>
                          </a:solidFill>
                        </a:rPr>
                        <a:t>Первичная (основная, стержневая)</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1260475" rtl="0" algn="l">
                        <a:lnSpc>
                          <a:spcPct val="100000"/>
                        </a:lnSpc>
                        <a:spcBef>
                          <a:spcPts val="0"/>
                        </a:spcBef>
                        <a:spcAft>
                          <a:spcPts val="0"/>
                        </a:spcAft>
                        <a:buNone/>
                      </a:pPr>
                      <a:r>
                        <a:rPr b="1" lang="en-US" sz="1800" u="none" cap="none" strike="noStrike">
                          <a:solidFill>
                            <a:schemeClr val="dk1"/>
                          </a:solidFill>
                        </a:rPr>
                        <a:t>Существует  независимо</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0" rtl="0" algn="l">
                        <a:lnSpc>
                          <a:spcPct val="100000"/>
                        </a:lnSpc>
                        <a:spcBef>
                          <a:spcPts val="0"/>
                        </a:spcBef>
                        <a:spcAft>
                          <a:spcPts val="0"/>
                        </a:spcAft>
                        <a:buNone/>
                      </a:pPr>
                      <a:r>
                        <a:rPr b="1" lang="en-US" sz="1800" u="none" cap="none" strike="noStrike">
                          <a:solidFill>
                            <a:schemeClr val="dk1"/>
                          </a:solidFill>
                        </a:rPr>
                        <a:t>CUSTOMER,</a:t>
                      </a:r>
                      <a:endParaRPr sz="1800" u="none" cap="none" strike="noStrike">
                        <a:solidFill>
                          <a:schemeClr val="dk1"/>
                        </a:solidFill>
                      </a:endParaRPr>
                    </a:p>
                    <a:p>
                      <a:pPr indent="0" lvl="0" marL="73025" marR="0" rtl="0" algn="l">
                        <a:lnSpc>
                          <a:spcPct val="100000"/>
                        </a:lnSpc>
                        <a:spcBef>
                          <a:spcPts val="0"/>
                        </a:spcBef>
                        <a:spcAft>
                          <a:spcPts val="0"/>
                        </a:spcAft>
                        <a:buNone/>
                      </a:pPr>
                      <a:r>
                        <a:rPr b="1" lang="en-US" sz="1800" u="none" cap="none" strike="noStrike">
                          <a:solidFill>
                            <a:schemeClr val="dk1"/>
                          </a:solidFill>
                        </a:rPr>
                        <a:t>INSTRUCTOR</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r>
              <a:tr h="791500">
                <a:tc>
                  <a:txBody>
                    <a:bodyPr/>
                    <a:lstStyle/>
                    <a:p>
                      <a:pPr indent="0" lvl="0" marL="73025" marR="0" rtl="0" algn="l">
                        <a:lnSpc>
                          <a:spcPct val="100000"/>
                        </a:lnSpc>
                        <a:spcBef>
                          <a:spcPts val="0"/>
                        </a:spcBef>
                        <a:spcAft>
                          <a:spcPts val="0"/>
                        </a:spcAft>
                        <a:buNone/>
                      </a:pPr>
                      <a:r>
                        <a:rPr b="1" lang="en-US" sz="1800" u="none" cap="none" strike="noStrike">
                          <a:solidFill>
                            <a:schemeClr val="dk1"/>
                          </a:solidFill>
                        </a:rPr>
                        <a:t>Характеристика (характеристическая)</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85090" rtl="0" algn="just">
                        <a:lnSpc>
                          <a:spcPct val="100000"/>
                        </a:lnSpc>
                        <a:spcBef>
                          <a:spcPts val="0"/>
                        </a:spcBef>
                        <a:spcAft>
                          <a:spcPts val="0"/>
                        </a:spcAft>
                        <a:buNone/>
                      </a:pPr>
                      <a:r>
                        <a:rPr b="1" lang="en-US" sz="1800" u="none" cap="none" strike="noStrike">
                          <a:solidFill>
                            <a:schemeClr val="dk1"/>
                          </a:solidFill>
                        </a:rPr>
                        <a:t>Существует благодаря  другому (первичному)  объекту</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0" rtl="0" algn="l">
                        <a:lnSpc>
                          <a:spcPct val="100000"/>
                        </a:lnSpc>
                        <a:spcBef>
                          <a:spcPts val="0"/>
                        </a:spcBef>
                        <a:spcAft>
                          <a:spcPts val="0"/>
                        </a:spcAft>
                        <a:buNone/>
                      </a:pPr>
                      <a:r>
                        <a:rPr b="1" lang="en-US" sz="1800" u="none" cap="none" strike="noStrike">
                          <a:solidFill>
                            <a:schemeClr val="dk1"/>
                          </a:solidFill>
                        </a:rPr>
                        <a:t>ORDER, CLASS</a:t>
                      </a:r>
                      <a:endParaRPr sz="1800" u="none" cap="none" strike="noStrike">
                        <a:solidFill>
                          <a:schemeClr val="dk1"/>
                        </a:solidFill>
                      </a:endParaRPr>
                    </a:p>
                    <a:p>
                      <a:pPr indent="0" lvl="0" marL="73025" marR="0" rtl="0" algn="l">
                        <a:lnSpc>
                          <a:spcPct val="100000"/>
                        </a:lnSpc>
                        <a:spcBef>
                          <a:spcPts val="0"/>
                        </a:spcBef>
                        <a:spcAft>
                          <a:spcPts val="0"/>
                        </a:spcAft>
                        <a:buNone/>
                      </a:pPr>
                      <a:r>
                        <a:rPr b="1" lang="en-US" sz="1800" u="none" cap="none" strike="noStrike">
                          <a:solidFill>
                            <a:schemeClr val="dk1"/>
                          </a:solidFill>
                        </a:rPr>
                        <a:t>OFFERING</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r>
              <a:tr h="791500">
                <a:tc>
                  <a:txBody>
                    <a:bodyPr/>
                    <a:lstStyle/>
                    <a:p>
                      <a:pPr indent="0" lvl="0" marL="73025" marR="0" rtl="0" algn="l">
                        <a:lnSpc>
                          <a:spcPct val="100000"/>
                        </a:lnSpc>
                        <a:spcBef>
                          <a:spcPts val="0"/>
                        </a:spcBef>
                        <a:spcAft>
                          <a:spcPts val="0"/>
                        </a:spcAft>
                        <a:buNone/>
                      </a:pPr>
                      <a:r>
                        <a:rPr b="1" lang="en-US" sz="1800" u="none" cap="none" strike="noStrike">
                          <a:solidFill>
                            <a:schemeClr val="dk1"/>
                          </a:solidFill>
                        </a:rPr>
                        <a:t>Пересечение (ассоциативная)</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137795" rtl="0" algn="l">
                        <a:lnSpc>
                          <a:spcPct val="100000"/>
                        </a:lnSpc>
                        <a:spcBef>
                          <a:spcPts val="0"/>
                        </a:spcBef>
                        <a:spcAft>
                          <a:spcPts val="0"/>
                        </a:spcAft>
                        <a:buNone/>
                      </a:pPr>
                      <a:r>
                        <a:rPr b="1" lang="en-US" sz="1800" u="none" cap="none" strike="noStrike">
                          <a:solidFill>
                            <a:schemeClr val="dk1"/>
                          </a:solidFill>
                        </a:rPr>
                        <a:t>Существует благодаря  двум или более  объектам</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435609" rtl="0" algn="l">
                        <a:lnSpc>
                          <a:spcPct val="100000"/>
                        </a:lnSpc>
                        <a:spcBef>
                          <a:spcPts val="0"/>
                        </a:spcBef>
                        <a:spcAft>
                          <a:spcPts val="0"/>
                        </a:spcAft>
                        <a:buNone/>
                      </a:pPr>
                      <a:r>
                        <a:rPr b="1" lang="en-US" sz="1800" u="none" cap="none" strike="noStrike">
                          <a:solidFill>
                            <a:schemeClr val="dk1"/>
                          </a:solidFill>
                        </a:rPr>
                        <a:t>ORDER ITEM, CLASS  ENROLLMENT</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r>
              <a:tr h="791500">
                <a:tc>
                  <a:txBody>
                    <a:bodyPr/>
                    <a:lstStyle/>
                    <a:p>
                      <a:pPr indent="0" lvl="0" marL="73025" marR="0" rtl="0" algn="l">
                        <a:lnSpc>
                          <a:spcPct val="100000"/>
                        </a:lnSpc>
                        <a:spcBef>
                          <a:spcPts val="0"/>
                        </a:spcBef>
                        <a:spcAft>
                          <a:spcPts val="0"/>
                        </a:spcAft>
                        <a:buNone/>
                      </a:pPr>
                      <a:r>
                        <a:rPr b="1" lang="en-US" sz="1800" u="none" cap="none" strike="noStrike">
                          <a:solidFill>
                            <a:schemeClr val="dk1"/>
                          </a:solidFill>
                          <a:latin typeface="Calibri"/>
                          <a:ea typeface="Calibri"/>
                          <a:cs typeface="Calibri"/>
                          <a:sym typeface="Calibri"/>
                        </a:rPr>
                        <a:t>Код/ссылка/классификатор</a:t>
                      </a:r>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137795" rtl="0" algn="l">
                        <a:lnSpc>
                          <a:spcPct val="100000"/>
                        </a:lnSpc>
                        <a:spcBef>
                          <a:spcPts val="0"/>
                        </a:spcBef>
                        <a:spcAft>
                          <a:spcPts val="0"/>
                        </a:spcAft>
                        <a:buNone/>
                      </a:pPr>
                      <a:r>
                        <a:rPr b="1" lang="en-US" sz="1800" u="none" cap="none" strike="noStrike">
                          <a:solidFill>
                            <a:schemeClr val="dk1"/>
                          </a:solidFill>
                          <a:latin typeface="Calibri"/>
                          <a:ea typeface="Calibri"/>
                          <a:cs typeface="Calibri"/>
                          <a:sym typeface="Calibri"/>
                        </a:rPr>
                        <a:t>Содержат данные вида «ключ-значение»</a:t>
                      </a:r>
                      <a:endParaRPr b="1"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435609" rtl="0" algn="l">
                        <a:lnSpc>
                          <a:spcPct val="100000"/>
                        </a:lnSpc>
                        <a:spcBef>
                          <a:spcPts val="0"/>
                        </a:spcBef>
                        <a:spcAft>
                          <a:spcPts val="0"/>
                        </a:spcAft>
                        <a:buNone/>
                      </a:pPr>
                      <a:r>
                        <a:rPr b="1" lang="en-US" sz="1800" u="none" cap="none" strike="noStrike">
                          <a:solidFill>
                            <a:schemeClr val="dk1"/>
                          </a:solidFill>
                          <a:latin typeface="Calibri"/>
                          <a:ea typeface="Calibri"/>
                          <a:cs typeface="Calibri"/>
                          <a:sym typeface="Calibri"/>
                        </a:rPr>
                        <a:t>COUNTRY, CITY</a:t>
                      </a:r>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17"/>
          <p:cNvSpPr txBox="1"/>
          <p:nvPr>
            <p:ph type="title"/>
          </p:nvPr>
        </p:nvSpPr>
        <p:spPr>
          <a:xfrm>
            <a:off x="1009495" y="506833"/>
            <a:ext cx="10173010" cy="15544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b="1" lang="en-US" sz="4800">
                <a:latin typeface="Calibri"/>
                <a:ea typeface="Calibri"/>
                <a:cs typeface="Calibri"/>
                <a:sym typeface="Calibri"/>
              </a:rPr>
              <a:t>Типы сущностей</a:t>
            </a:r>
            <a:endParaRPr sz="4800"/>
          </a:p>
        </p:txBody>
      </p:sp>
      <p:sp>
        <p:nvSpPr>
          <p:cNvPr id="266" name="Google Shape;266;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90000"/>
              </a:lnSpc>
              <a:spcBef>
                <a:spcPts val="0"/>
              </a:spcBef>
              <a:spcAft>
                <a:spcPts val="0"/>
              </a:spcAft>
              <a:buClr>
                <a:schemeClr val="dk1"/>
              </a:buClr>
              <a:buSzPct val="100000"/>
              <a:buNone/>
            </a:pPr>
            <a:r>
              <a:rPr lang="en-US" sz="2200">
                <a:latin typeface="Calibri"/>
                <a:ea typeface="Calibri"/>
                <a:cs typeface="Calibri"/>
                <a:sym typeface="Calibri"/>
              </a:rPr>
              <a:t>Сущности могут быть </a:t>
            </a:r>
            <a:r>
              <a:rPr lang="en-US" sz="2200">
                <a:solidFill>
                  <a:srgbClr val="0070C0"/>
                </a:solidFill>
                <a:latin typeface="Calibri"/>
                <a:ea typeface="Calibri"/>
                <a:cs typeface="Calibri"/>
                <a:sym typeface="Calibri"/>
              </a:rPr>
              <a:t>независимыми и зависимыми (сильными и слабыми). </a:t>
            </a:r>
            <a:endParaRPr/>
          </a:p>
          <a:p>
            <a:pPr indent="0" lvl="0" marL="0" rtl="0" algn="l">
              <a:lnSpc>
                <a:spcPct val="90000"/>
              </a:lnSpc>
              <a:spcBef>
                <a:spcPts val="2200"/>
              </a:spcBef>
              <a:spcAft>
                <a:spcPts val="0"/>
              </a:spcAft>
              <a:buClr>
                <a:srgbClr val="000000"/>
              </a:buClr>
              <a:buSzPct val="100000"/>
              <a:buNone/>
            </a:pPr>
            <a:r>
              <a:rPr b="0" i="0" lang="en-US" sz="2200">
                <a:solidFill>
                  <a:srgbClr val="000000"/>
                </a:solidFill>
                <a:latin typeface="Calibri"/>
                <a:ea typeface="Calibri"/>
                <a:cs typeface="Calibri"/>
                <a:sym typeface="Calibri"/>
              </a:rPr>
              <a:t>Cущность является </a:t>
            </a:r>
            <a:r>
              <a:rPr b="0" i="1" lang="en-US" sz="2200">
                <a:solidFill>
                  <a:srgbClr val="000000"/>
                </a:solidFill>
                <a:latin typeface="Calibri"/>
                <a:ea typeface="Calibri"/>
                <a:cs typeface="Calibri"/>
                <a:sym typeface="Calibri"/>
              </a:rPr>
              <a:t>независимой от идентификаторов</a:t>
            </a:r>
            <a:r>
              <a:rPr b="0" i="0" lang="en-US" sz="2200">
                <a:solidFill>
                  <a:srgbClr val="000000"/>
                </a:solidFill>
                <a:latin typeface="Calibri"/>
                <a:ea typeface="Calibri"/>
                <a:cs typeface="Calibri"/>
                <a:sym typeface="Calibri"/>
              </a:rPr>
              <a:t> или просто </a:t>
            </a:r>
            <a:r>
              <a:rPr i="1" lang="en-US" sz="2200">
                <a:solidFill>
                  <a:srgbClr val="000000"/>
                </a:solidFill>
                <a:latin typeface="Calibri"/>
                <a:ea typeface="Calibri"/>
                <a:cs typeface="Calibri"/>
                <a:sym typeface="Calibri"/>
              </a:rPr>
              <a:t>независимой</a:t>
            </a:r>
            <a:r>
              <a:rPr i="0" lang="en-US" sz="2200">
                <a:solidFill>
                  <a:srgbClr val="000000"/>
                </a:solidFill>
                <a:latin typeface="Calibri"/>
                <a:ea typeface="Calibri"/>
                <a:cs typeface="Calibri"/>
                <a:sym typeface="Calibri"/>
              </a:rPr>
              <a:t>, </a:t>
            </a:r>
            <a:r>
              <a:rPr b="0" i="0" lang="en-US" sz="2200">
                <a:solidFill>
                  <a:srgbClr val="000000"/>
                </a:solidFill>
                <a:latin typeface="Calibri"/>
                <a:ea typeface="Calibri"/>
                <a:cs typeface="Calibri"/>
                <a:sym typeface="Calibri"/>
              </a:rPr>
              <a:t>если каждый экземпляр сущности может быть однозначно идентифицирован без определения его отношений с другими сущностями. </a:t>
            </a:r>
            <a:endParaRPr/>
          </a:p>
          <a:p>
            <a:pPr indent="0" lvl="0" marL="0" rtl="0" algn="l">
              <a:lnSpc>
                <a:spcPct val="90000"/>
              </a:lnSpc>
              <a:spcBef>
                <a:spcPts val="2200"/>
              </a:spcBef>
              <a:spcAft>
                <a:spcPts val="0"/>
              </a:spcAft>
              <a:buClr>
                <a:srgbClr val="000000"/>
              </a:buClr>
              <a:buSzPct val="100000"/>
              <a:buNone/>
            </a:pPr>
            <a:r>
              <a:rPr b="0" i="0" lang="en-US" sz="2200">
                <a:solidFill>
                  <a:srgbClr val="000000"/>
                </a:solidFill>
                <a:latin typeface="Calibri"/>
                <a:ea typeface="Calibri"/>
                <a:cs typeface="Calibri"/>
                <a:sym typeface="Calibri"/>
              </a:rPr>
              <a:t>Сущность называется </a:t>
            </a:r>
            <a:r>
              <a:rPr b="0" i="1" lang="en-US" sz="2200">
                <a:solidFill>
                  <a:srgbClr val="000000"/>
                </a:solidFill>
                <a:latin typeface="Calibri"/>
                <a:ea typeface="Calibri"/>
                <a:cs typeface="Calibri"/>
                <a:sym typeface="Calibri"/>
              </a:rPr>
              <a:t>зависимой от идентификаторов</a:t>
            </a:r>
            <a:r>
              <a:rPr b="0" i="0" lang="en-US" sz="2200">
                <a:solidFill>
                  <a:srgbClr val="000000"/>
                </a:solidFill>
                <a:latin typeface="Calibri"/>
                <a:ea typeface="Calibri"/>
                <a:cs typeface="Calibri"/>
                <a:sym typeface="Calibri"/>
              </a:rPr>
              <a:t> или просто </a:t>
            </a:r>
            <a:r>
              <a:rPr b="0" i="1" lang="en-US" sz="2200">
                <a:solidFill>
                  <a:srgbClr val="000000"/>
                </a:solidFill>
                <a:latin typeface="Calibri"/>
                <a:ea typeface="Calibri"/>
                <a:cs typeface="Calibri"/>
                <a:sym typeface="Calibri"/>
              </a:rPr>
              <a:t>зависимой</a:t>
            </a:r>
            <a:r>
              <a:rPr b="0" i="0" lang="en-US" sz="2200">
                <a:solidFill>
                  <a:srgbClr val="000000"/>
                </a:solidFill>
                <a:latin typeface="Calibri"/>
                <a:ea typeface="Calibri"/>
                <a:cs typeface="Calibri"/>
                <a:sym typeface="Calibri"/>
              </a:rPr>
              <a:t>, если однозначная идентификация экземпляра сущности зависит от его отношения к другой сущности.</a:t>
            </a:r>
            <a:endParaRPr/>
          </a:p>
          <a:p>
            <a:pPr indent="0" lvl="0" marL="0" rtl="0" algn="l">
              <a:lnSpc>
                <a:spcPct val="90000"/>
              </a:lnSpc>
              <a:spcBef>
                <a:spcPts val="2200"/>
              </a:spcBef>
              <a:spcAft>
                <a:spcPts val="0"/>
              </a:spcAft>
              <a:buClr>
                <a:srgbClr val="000000"/>
              </a:buClr>
              <a:buSzPct val="100000"/>
              <a:buNone/>
            </a:pPr>
            <a:br>
              <a:rPr b="0" i="0" lang="en-US" sz="2200">
                <a:solidFill>
                  <a:srgbClr val="000000"/>
                </a:solidFill>
                <a:latin typeface="Calibri"/>
                <a:ea typeface="Calibri"/>
                <a:cs typeface="Calibri"/>
                <a:sym typeface="Calibri"/>
              </a:rPr>
            </a:br>
            <a:r>
              <a:rPr b="0" i="1" lang="en-US" sz="2200">
                <a:solidFill>
                  <a:srgbClr val="000000"/>
                </a:solidFill>
                <a:latin typeface="Calibri"/>
                <a:ea typeface="Calibri"/>
                <a:cs typeface="Calibri"/>
                <a:sym typeface="Calibri"/>
              </a:rPr>
              <a:t>Другое определение (сильные и слабые сущности): </a:t>
            </a:r>
            <a:endParaRPr/>
          </a:p>
          <a:p>
            <a:pPr indent="0" lvl="0" marL="0" rtl="0" algn="l">
              <a:lnSpc>
                <a:spcPct val="90000"/>
              </a:lnSpc>
              <a:spcBef>
                <a:spcPts val="2200"/>
              </a:spcBef>
              <a:spcAft>
                <a:spcPts val="0"/>
              </a:spcAft>
              <a:buClr>
                <a:srgbClr val="000000"/>
              </a:buClr>
              <a:buSzPct val="100000"/>
              <a:buNone/>
            </a:pPr>
            <a:r>
              <a:rPr i="1" lang="en-US" sz="2200">
                <a:solidFill>
                  <a:srgbClr val="000000"/>
                </a:solidFill>
                <a:latin typeface="Calibri"/>
                <a:ea typeface="Calibri"/>
                <a:cs typeface="Calibri"/>
                <a:sym typeface="Calibri"/>
              </a:rPr>
              <a:t>С</a:t>
            </a:r>
            <a:r>
              <a:rPr i="1" lang="en-US" sz="2200">
                <a:latin typeface="Calibri"/>
                <a:ea typeface="Calibri"/>
                <a:cs typeface="Calibri"/>
                <a:sym typeface="Calibri"/>
              </a:rPr>
              <a:t>ильная (обычная) сущность имеет естественный идентификатор, который однозначно отличает её экземпляры.</a:t>
            </a:r>
            <a:endParaRPr/>
          </a:p>
          <a:p>
            <a:pPr indent="0" lvl="0" marL="0" rtl="0" algn="l">
              <a:lnSpc>
                <a:spcPct val="90000"/>
              </a:lnSpc>
              <a:spcBef>
                <a:spcPts val="2200"/>
              </a:spcBef>
              <a:spcAft>
                <a:spcPts val="0"/>
              </a:spcAft>
              <a:buClr>
                <a:schemeClr val="dk1"/>
              </a:buClr>
              <a:buSzPct val="100000"/>
              <a:buNone/>
            </a:pPr>
            <a:r>
              <a:rPr i="1" lang="en-US" sz="2200">
                <a:latin typeface="Calibri"/>
                <a:ea typeface="Calibri"/>
                <a:cs typeface="Calibri"/>
                <a:sym typeface="Calibri"/>
              </a:rPr>
              <a:t>Слабая (зависимая) сущность не имеет такого естественного идентификатора, и её экземпляры уникальны только вместе со связью с экземпляром сильной сущности (или нескольких) и не могут существовать без связи с экземпляром сильной сущности (или нескольких).</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18"/>
          <p:cNvSpPr txBox="1"/>
          <p:nvPr>
            <p:ph type="title"/>
          </p:nvPr>
        </p:nvSpPr>
        <p:spPr>
          <a:xfrm>
            <a:off x="1009495" y="214225"/>
            <a:ext cx="10173010" cy="155448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800"/>
              <a:buFont typeface="Calibri"/>
              <a:buNone/>
            </a:pPr>
            <a:r>
              <a:rPr b="1" lang="en-US" sz="4800">
                <a:latin typeface="Calibri"/>
                <a:ea typeface="Calibri"/>
                <a:cs typeface="Calibri"/>
                <a:sym typeface="Calibri"/>
              </a:rPr>
              <a:t>Свойства сущностей</a:t>
            </a:r>
            <a:endParaRPr sz="4800"/>
          </a:p>
        </p:txBody>
      </p:sp>
      <p:graphicFrame>
        <p:nvGraphicFramePr>
          <p:cNvPr id="273" name="Google Shape;273;p18"/>
          <p:cNvGraphicFramePr/>
          <p:nvPr/>
        </p:nvGraphicFramePr>
        <p:xfrm>
          <a:off x="1487324" y="1441820"/>
          <a:ext cx="3000000" cy="3000000"/>
        </p:xfrm>
        <a:graphic>
          <a:graphicData uri="http://schemas.openxmlformats.org/drawingml/2006/table">
            <a:tbl>
              <a:tblPr bandRow="1" firstRow="1">
                <a:solidFill>
                  <a:srgbClr val="F2F2F2"/>
                </a:solidFill>
                <a:tableStyleId>{C252CF71-F075-4070-AD07-B88892A602E3}</a:tableStyleId>
              </a:tblPr>
              <a:tblGrid>
                <a:gridCol w="573025"/>
                <a:gridCol w="6973825"/>
                <a:gridCol w="2721775"/>
              </a:tblGrid>
              <a:tr h="613550">
                <a:tc>
                  <a:txBody>
                    <a:bodyPr/>
                    <a:lstStyle/>
                    <a:p>
                      <a:pPr indent="0" lvl="0" marL="73025" marR="0" rtl="0" algn="l">
                        <a:lnSpc>
                          <a:spcPct val="100000"/>
                        </a:lnSpc>
                        <a:spcBef>
                          <a:spcPts val="0"/>
                        </a:spcBef>
                        <a:spcAft>
                          <a:spcPts val="0"/>
                        </a:spcAft>
                        <a:buNone/>
                      </a:pPr>
                      <a:r>
                        <a:rPr b="0" lang="en-US" sz="2300" u="none" cap="none" strike="noStrike">
                          <a:solidFill>
                            <a:schemeClr val="lt1"/>
                          </a:solidFill>
                        </a:rPr>
                        <a:t>№</a:t>
                      </a:r>
                      <a:endParaRPr b="0" sz="2300" u="none" cap="none" strike="noStrike">
                        <a:solidFill>
                          <a:schemeClr val="lt1"/>
                        </a:solidFill>
                        <a:latin typeface="Calibri"/>
                        <a:ea typeface="Calibri"/>
                        <a:cs typeface="Calibri"/>
                        <a:sym typeface="Calibri"/>
                      </a:endParaRPr>
                    </a:p>
                  </a:txBody>
                  <a:tcPr marT="133450" marB="70800" marR="0" marL="92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2"/>
                    </a:solidFill>
                  </a:tcPr>
                </a:tc>
                <a:tc>
                  <a:txBody>
                    <a:bodyPr/>
                    <a:lstStyle/>
                    <a:p>
                      <a:pPr indent="0" lvl="0" marL="73025" marR="0" rtl="0" algn="l">
                        <a:lnSpc>
                          <a:spcPct val="100000"/>
                        </a:lnSpc>
                        <a:spcBef>
                          <a:spcPts val="0"/>
                        </a:spcBef>
                        <a:spcAft>
                          <a:spcPts val="0"/>
                        </a:spcAft>
                        <a:buNone/>
                      </a:pPr>
                      <a:r>
                        <a:rPr b="0" lang="en-US" sz="2300" u="none" cap="none" strike="noStrike">
                          <a:solidFill>
                            <a:schemeClr val="lt1"/>
                          </a:solidFill>
                        </a:rPr>
                        <a:t>Свойство</a:t>
                      </a:r>
                      <a:endParaRPr b="0" sz="2300" u="none" cap="none" strike="noStrike">
                        <a:solidFill>
                          <a:schemeClr val="lt1"/>
                        </a:solidFill>
                        <a:latin typeface="Calibri"/>
                        <a:ea typeface="Calibri"/>
                        <a:cs typeface="Calibri"/>
                        <a:sym typeface="Calibri"/>
                      </a:endParaRPr>
                    </a:p>
                  </a:txBody>
                  <a:tcPr marT="133450" marB="70800" marR="0" marL="92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2"/>
                    </a:solidFill>
                  </a:tcPr>
                </a:tc>
                <a:tc>
                  <a:txBody>
                    <a:bodyPr/>
                    <a:lstStyle/>
                    <a:p>
                      <a:pPr indent="0" lvl="0" marL="73025" marR="0" rtl="0" algn="l">
                        <a:lnSpc>
                          <a:spcPct val="100000"/>
                        </a:lnSpc>
                        <a:spcBef>
                          <a:spcPts val="0"/>
                        </a:spcBef>
                        <a:spcAft>
                          <a:spcPts val="0"/>
                        </a:spcAft>
                        <a:buNone/>
                      </a:pPr>
                      <a:r>
                        <a:rPr b="0" lang="en-US" sz="2300" u="none" cap="none" strike="noStrike">
                          <a:solidFill>
                            <a:schemeClr val="lt1"/>
                          </a:solidFill>
                        </a:rPr>
                        <a:t>Примеры</a:t>
                      </a:r>
                      <a:endParaRPr b="0" sz="2300" u="none" cap="none" strike="noStrike">
                        <a:solidFill>
                          <a:schemeClr val="lt1"/>
                        </a:solidFill>
                        <a:latin typeface="Calibri"/>
                        <a:ea typeface="Calibri"/>
                        <a:cs typeface="Calibri"/>
                        <a:sym typeface="Calibri"/>
                      </a:endParaRPr>
                    </a:p>
                  </a:txBody>
                  <a:tcPr marT="133450" marB="70800" marR="0" marL="920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chemeClr val="accent2"/>
                    </a:solidFill>
                  </a:tcPr>
                </a:tc>
              </a:tr>
              <a:tr h="791500">
                <a:tc>
                  <a:txBody>
                    <a:bodyPr/>
                    <a:lstStyle/>
                    <a:p>
                      <a:pPr indent="0" lvl="0" marL="73025" marR="0" rtl="0" algn="l">
                        <a:lnSpc>
                          <a:spcPct val="100000"/>
                        </a:lnSpc>
                        <a:spcBef>
                          <a:spcPts val="0"/>
                        </a:spcBef>
                        <a:spcAft>
                          <a:spcPts val="0"/>
                        </a:spcAft>
                        <a:buNone/>
                      </a:pPr>
                      <a:r>
                        <a:rPr b="1" lang="en-US" sz="1800" u="none" cap="none" strike="noStrike">
                          <a:solidFill>
                            <a:schemeClr val="dk1"/>
                          </a:solidFill>
                          <a:latin typeface="Calibri"/>
                          <a:ea typeface="Calibri"/>
                          <a:cs typeface="Calibri"/>
                          <a:sym typeface="Calibri"/>
                        </a:rPr>
                        <a:t>1</a:t>
                      </a:r>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85090" rtl="0" algn="just">
                        <a:lnSpc>
                          <a:spcPct val="100000"/>
                        </a:lnSpc>
                        <a:spcBef>
                          <a:spcPts val="0"/>
                        </a:spcBef>
                        <a:spcAft>
                          <a:spcPts val="0"/>
                        </a:spcAft>
                        <a:buNone/>
                      </a:pPr>
                      <a:r>
                        <a:rPr b="1" lang="en-US" sz="1800" u="none" cap="none" strike="noStrike">
                          <a:solidFill>
                            <a:schemeClr val="dk1"/>
                          </a:solidFill>
                        </a:rPr>
                        <a:t>Каждая сущность должна иметь уникальное имя, к одному и тому же имени должна всегда применяться одна и та же интерпретация. Одна и та же интерпретация не может применяться к различным именам, если только они не являются псевдонимами</a:t>
                      </a:r>
                      <a:endParaRPr b="1"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0" rtl="0" algn="l">
                        <a:lnSpc>
                          <a:spcPct val="100000"/>
                        </a:lnSpc>
                        <a:spcBef>
                          <a:spcPts val="0"/>
                        </a:spcBef>
                        <a:spcAft>
                          <a:spcPts val="0"/>
                        </a:spcAft>
                        <a:buNone/>
                      </a:pPr>
                      <a:r>
                        <a:rPr b="1" lang="en-US" sz="1800" u="none" cap="none" strike="noStrike">
                          <a:solidFill>
                            <a:schemeClr val="dk1"/>
                          </a:solidFill>
                        </a:rPr>
                        <a:t>ORDER, EMPLOYEE</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r>
              <a:tr h="791500">
                <a:tc>
                  <a:txBody>
                    <a:bodyPr/>
                    <a:lstStyle/>
                    <a:p>
                      <a:pPr indent="0" lvl="0" marL="73025" marR="0" rtl="0" algn="l">
                        <a:lnSpc>
                          <a:spcPct val="100000"/>
                        </a:lnSpc>
                        <a:spcBef>
                          <a:spcPts val="0"/>
                        </a:spcBef>
                        <a:spcAft>
                          <a:spcPts val="0"/>
                        </a:spcAft>
                        <a:buNone/>
                      </a:pPr>
                      <a:r>
                        <a:rPr b="1" lang="en-US" sz="1800" u="none" cap="none" strike="noStrike">
                          <a:solidFill>
                            <a:schemeClr val="dk1"/>
                          </a:solidFill>
                          <a:latin typeface="Calibri"/>
                          <a:ea typeface="Calibri"/>
                          <a:cs typeface="Calibri"/>
                          <a:sym typeface="Calibri"/>
                        </a:rPr>
                        <a:t>2</a:t>
                      </a:r>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137795" rtl="0" algn="l">
                        <a:lnSpc>
                          <a:spcPct val="100000"/>
                        </a:lnSpc>
                        <a:spcBef>
                          <a:spcPts val="0"/>
                        </a:spcBef>
                        <a:spcAft>
                          <a:spcPts val="0"/>
                        </a:spcAft>
                        <a:buNone/>
                      </a:pPr>
                      <a:r>
                        <a:rPr b="1" i="0" lang="en-US" sz="1800" u="none" cap="none" strike="noStrike">
                          <a:solidFill>
                            <a:schemeClr val="dk1"/>
                          </a:solidFill>
                          <a:latin typeface="Calibri"/>
                          <a:ea typeface="Calibri"/>
                          <a:cs typeface="Calibri"/>
                          <a:sym typeface="Calibri"/>
                        </a:rPr>
                        <a:t>Сущность обладает одним или несколькими атрибутами, которые либо принадлежат сущности, либо наследуются через связь</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435609" rtl="0" algn="l">
                        <a:lnSpc>
                          <a:spcPct val="100000"/>
                        </a:lnSpc>
                        <a:spcBef>
                          <a:spcPts val="0"/>
                        </a:spcBef>
                        <a:spcAft>
                          <a:spcPts val="0"/>
                        </a:spcAft>
                        <a:buNone/>
                      </a:pPr>
                      <a:r>
                        <a:rPr b="1" lang="en-US" sz="1800" u="none" cap="none" strike="noStrike">
                          <a:solidFill>
                            <a:schemeClr val="dk1"/>
                          </a:solidFill>
                        </a:rPr>
                        <a:t>ORDER (Id, Name, Description)</a:t>
                      </a:r>
                      <a:endParaRPr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r>
              <a:tr h="791500">
                <a:tc>
                  <a:txBody>
                    <a:bodyPr/>
                    <a:lstStyle/>
                    <a:p>
                      <a:pPr indent="0" lvl="0" marL="73025" marR="0" rtl="0" algn="l">
                        <a:lnSpc>
                          <a:spcPct val="100000"/>
                        </a:lnSpc>
                        <a:spcBef>
                          <a:spcPts val="0"/>
                        </a:spcBef>
                        <a:spcAft>
                          <a:spcPts val="0"/>
                        </a:spcAft>
                        <a:buNone/>
                      </a:pPr>
                      <a:r>
                        <a:rPr b="1" lang="en-US" sz="1800" u="none" cap="none" strike="noStrike">
                          <a:solidFill>
                            <a:schemeClr val="dk1"/>
                          </a:solidFill>
                          <a:latin typeface="Calibri"/>
                          <a:ea typeface="Calibri"/>
                          <a:cs typeface="Calibri"/>
                          <a:sym typeface="Calibri"/>
                        </a:rPr>
                        <a:t>3</a:t>
                      </a:r>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137795" rtl="0" algn="l">
                        <a:lnSpc>
                          <a:spcPct val="100000"/>
                        </a:lnSpc>
                        <a:spcBef>
                          <a:spcPts val="0"/>
                        </a:spcBef>
                        <a:spcAft>
                          <a:spcPts val="0"/>
                        </a:spcAft>
                        <a:buNone/>
                      </a:pPr>
                      <a:r>
                        <a:rPr b="1" i="0" lang="en-US" sz="1800" u="none" cap="none" strike="noStrike">
                          <a:solidFill>
                            <a:schemeClr val="dk1"/>
                          </a:solidFill>
                          <a:latin typeface="Calibri"/>
                          <a:ea typeface="Calibri"/>
                          <a:cs typeface="Calibri"/>
                          <a:sym typeface="Calibri"/>
                        </a:rPr>
                        <a:t>Cущность обладает первичным ключом (PK) - одним или несколькими атрибутами, которые однозначно идентифицируют каждый экземпляр сущности</a:t>
                      </a:r>
                      <a:endParaRPr b="1"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435609" rtl="0" algn="l">
                        <a:lnSpc>
                          <a:spcPct val="100000"/>
                        </a:lnSpc>
                        <a:spcBef>
                          <a:spcPts val="0"/>
                        </a:spcBef>
                        <a:spcAft>
                          <a:spcPts val="0"/>
                        </a:spcAft>
                        <a:buNone/>
                      </a:pPr>
                      <a:r>
                        <a:rPr b="1" lang="en-US" sz="1800" u="none" cap="none" strike="noStrike">
                          <a:solidFill>
                            <a:schemeClr val="dk1"/>
                          </a:solidFill>
                          <a:latin typeface="Calibri"/>
                          <a:ea typeface="Calibri"/>
                          <a:cs typeface="Calibri"/>
                          <a:sym typeface="Calibri"/>
                        </a:rPr>
                        <a:t>ORDER (</a:t>
                      </a:r>
                      <a:r>
                        <a:rPr b="1" lang="en-US" sz="1800" u="sng" cap="none" strike="noStrike">
                          <a:solidFill>
                            <a:schemeClr val="dk1"/>
                          </a:solidFill>
                          <a:latin typeface="Calibri"/>
                          <a:ea typeface="Calibri"/>
                          <a:cs typeface="Calibri"/>
                          <a:sym typeface="Calibri"/>
                        </a:rPr>
                        <a:t>Id</a:t>
                      </a:r>
                      <a:r>
                        <a:rPr b="1" lang="en-US" sz="1800" u="none" cap="none" strike="noStrike">
                          <a:solidFill>
                            <a:schemeClr val="dk1"/>
                          </a:solidFill>
                          <a:latin typeface="Calibri"/>
                          <a:ea typeface="Calibri"/>
                          <a:cs typeface="Calibri"/>
                          <a:sym typeface="Calibri"/>
                        </a:rPr>
                        <a:t> (PK), Name, Description)</a:t>
                      </a:r>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r>
              <a:tr h="791500">
                <a:tc>
                  <a:txBody>
                    <a:bodyPr/>
                    <a:lstStyle/>
                    <a:p>
                      <a:pPr indent="0" lvl="0" marL="73025" marR="0" rtl="0" algn="l">
                        <a:lnSpc>
                          <a:spcPct val="100000"/>
                        </a:lnSpc>
                        <a:spcBef>
                          <a:spcPts val="0"/>
                        </a:spcBef>
                        <a:spcAft>
                          <a:spcPts val="0"/>
                        </a:spcAft>
                        <a:buNone/>
                      </a:pPr>
                      <a:r>
                        <a:rPr b="1" lang="en-US" sz="1800" u="none" cap="none" strike="noStrike">
                          <a:solidFill>
                            <a:schemeClr val="dk1"/>
                          </a:solidFill>
                          <a:latin typeface="Calibri"/>
                          <a:ea typeface="Calibri"/>
                          <a:cs typeface="Calibri"/>
                          <a:sym typeface="Calibri"/>
                        </a:rPr>
                        <a:t>4</a:t>
                      </a:r>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137795" rtl="0" algn="l">
                        <a:lnSpc>
                          <a:spcPct val="100000"/>
                        </a:lnSpc>
                        <a:spcBef>
                          <a:spcPts val="0"/>
                        </a:spcBef>
                        <a:spcAft>
                          <a:spcPts val="0"/>
                        </a:spcAft>
                        <a:buNone/>
                      </a:pPr>
                      <a:r>
                        <a:rPr b="1" i="0" lang="en-US" sz="1800" u="none" cap="none" strike="noStrike">
                          <a:solidFill>
                            <a:schemeClr val="dk1"/>
                          </a:solidFill>
                          <a:latin typeface="Calibri"/>
                          <a:ea typeface="Calibri"/>
                          <a:cs typeface="Calibri"/>
                          <a:sym typeface="Calibri"/>
                        </a:rPr>
                        <a:t>Каждая сущность может обладать любым количеством связей с другими сущностями модели</a:t>
                      </a:r>
                      <a:endParaRPr b="1" sz="1800" u="none" cap="none" strike="noStrike">
                        <a:solidFill>
                          <a:schemeClr val="dk1"/>
                        </a:solidFill>
                        <a:latin typeface="Calibri"/>
                        <a:ea typeface="Calibri"/>
                        <a:cs typeface="Calibri"/>
                        <a:sym typeface="Calibri"/>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c>
                  <a:txBody>
                    <a:bodyPr/>
                    <a:lstStyle/>
                    <a:p>
                      <a:pPr indent="0" lvl="0" marL="73025" marR="435609" rtl="0" algn="l">
                        <a:lnSpc>
                          <a:spcPct val="100000"/>
                        </a:lnSpc>
                        <a:spcBef>
                          <a:spcPts val="0"/>
                        </a:spcBef>
                        <a:spcAft>
                          <a:spcPts val="0"/>
                        </a:spcAft>
                        <a:buNone/>
                      </a:pPr>
                      <a:r>
                        <a:rPr b="1" lang="en-US" sz="1800" u="none" cap="none" strike="noStrike">
                          <a:solidFill>
                            <a:schemeClr val="dk1"/>
                          </a:solidFill>
                          <a:latin typeface="Calibri"/>
                          <a:ea typeface="Calibri"/>
                          <a:cs typeface="Calibri"/>
                          <a:sym typeface="Calibri"/>
                        </a:rPr>
                        <a:t>BOOK – PUBLISHER, BOOK – AUTHOR</a:t>
                      </a:r>
                      <a:endParaRPr/>
                    </a:p>
                  </a:txBody>
                  <a:tcPr marT="133450" marB="70800" marR="0" marL="92050">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7F7F7F"/>
                      </a:solidFill>
                      <a:prstDash val="solid"/>
                      <a:round/>
                      <a:headEnd len="sm" w="sm" type="none"/>
                      <a:tailEnd len="sm" w="sm" type="none"/>
                    </a:lnT>
                    <a:lnB cap="flat" cmpd="sng" w="9525">
                      <a:solidFill>
                        <a:srgbClr val="7F7F7F"/>
                      </a:solidFill>
                      <a:prstDash val="solid"/>
                      <a:round/>
                      <a:headEnd len="sm" w="sm" type="none"/>
                      <a:tailEnd len="sm" w="sm" type="none"/>
                    </a:lnB>
                    <a:solidFill>
                      <a:srgbClr val="F2F2F2"/>
                    </a:solidFill>
                  </a:tcPr>
                </a:tc>
              </a:tr>
            </a:tbl>
          </a:graphicData>
        </a:graphic>
      </p:graphicFrame>
      <p:sp>
        <p:nvSpPr>
          <p:cNvPr id="274" name="Google Shape;274;p18"/>
          <p:cNvSpPr txBox="1"/>
          <p:nvPr/>
        </p:nvSpPr>
        <p:spPr>
          <a:xfrm>
            <a:off x="1487324" y="6320610"/>
            <a:ext cx="10378441" cy="3231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500" u="none" cap="none" strike="noStrike">
                <a:solidFill>
                  <a:schemeClr val="dk1"/>
                </a:solidFill>
                <a:latin typeface="Calibri"/>
                <a:ea typeface="Calibri"/>
                <a:cs typeface="Calibri"/>
                <a:sym typeface="Calibri"/>
              </a:rPr>
              <a:t>Из учебника: С.Д.Кузнецова «Проектирование и разработка корпоративных информационных систем»</a:t>
            </a:r>
            <a:endParaRPr b="1" sz="1500">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600"/>
              <a:buFont typeface="Times New Roman"/>
              <a:buNone/>
            </a:pPr>
            <a:r>
              <a:rPr lang="en-US" sz="4600">
                <a:latin typeface="Times New Roman"/>
                <a:ea typeface="Times New Roman"/>
                <a:cs typeface="Times New Roman"/>
                <a:sym typeface="Times New Roman"/>
              </a:rPr>
              <a:t>Шаг 2. Определение связей</a:t>
            </a:r>
            <a:endParaRPr sz="4600"/>
          </a:p>
        </p:txBody>
      </p:sp>
      <p:sp>
        <p:nvSpPr>
          <p:cNvPr id="281" name="Google Shape;281;p19"/>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lang="en-US"/>
              <a:t>Связь – двунаправленная ассоциация между двумя сущностями или сущности с самой собой, которую необходимо учесть при построении информационной модели. </a:t>
            </a:r>
            <a:endParaRPr/>
          </a:p>
          <a:p>
            <a:pPr indent="0" lvl="0" marL="0" rtl="0" algn="l">
              <a:lnSpc>
                <a:spcPct val="90000"/>
              </a:lnSpc>
              <a:spcBef>
                <a:spcPts val="1000"/>
              </a:spcBef>
              <a:spcAft>
                <a:spcPts val="0"/>
              </a:spcAft>
              <a:buClr>
                <a:schemeClr val="dk1"/>
              </a:buClr>
              <a:buSzPct val="100000"/>
              <a:buNone/>
            </a:pPr>
            <a:r>
              <a:rPr lang="en-US"/>
              <a:t>Компонентами связи являются:</a:t>
            </a:r>
            <a:endParaRPr/>
          </a:p>
          <a:p>
            <a:pPr indent="0" lvl="0" marL="0" rtl="0" algn="l">
              <a:lnSpc>
                <a:spcPct val="90000"/>
              </a:lnSpc>
              <a:spcBef>
                <a:spcPts val="1000"/>
              </a:spcBef>
              <a:spcAft>
                <a:spcPts val="0"/>
              </a:spcAft>
              <a:buClr>
                <a:schemeClr val="dk1"/>
              </a:buClr>
              <a:buSzPct val="100000"/>
              <a:buNone/>
            </a:pPr>
            <a:r>
              <a:rPr lang="en-US"/>
              <a:t>1. </a:t>
            </a:r>
            <a:r>
              <a:rPr lang="en-US">
                <a:solidFill>
                  <a:srgbClr val="0070C0"/>
                </a:solidFill>
              </a:rPr>
              <a:t>Имя</a:t>
            </a:r>
            <a:r>
              <a:rPr lang="en-US"/>
              <a:t> – метка, которая появляется рядом с сущностью, для которой она назначена. Это глагол:</a:t>
            </a:r>
            <a:endParaRPr/>
          </a:p>
          <a:p>
            <a:pPr indent="-228600" lvl="0" marL="228600" rtl="0" algn="l">
              <a:lnSpc>
                <a:spcPct val="90000"/>
              </a:lnSpc>
              <a:spcBef>
                <a:spcPts val="1000"/>
              </a:spcBef>
              <a:spcAft>
                <a:spcPts val="0"/>
              </a:spcAft>
              <a:buClr>
                <a:schemeClr val="dk1"/>
              </a:buClr>
              <a:buSzPct val="100000"/>
              <a:buFont typeface="Noto Sans Symbols"/>
              <a:buChar char="⮚"/>
            </a:pPr>
            <a:r>
              <a:rPr lang="en-US" sz="3200"/>
              <a:t> </a:t>
            </a:r>
            <a:r>
              <a:rPr i="1" lang="en-US" sz="2400"/>
              <a:t>Преподаватель преподает дисциплину или</a:t>
            </a:r>
            <a:endParaRPr/>
          </a:p>
          <a:p>
            <a:pPr indent="-228600" lvl="0" marL="228600" rtl="0" algn="l">
              <a:lnSpc>
                <a:spcPct val="90000"/>
              </a:lnSpc>
              <a:spcBef>
                <a:spcPts val="1000"/>
              </a:spcBef>
              <a:spcAft>
                <a:spcPts val="0"/>
              </a:spcAft>
              <a:buClr>
                <a:schemeClr val="dk1"/>
              </a:buClr>
              <a:buSzPct val="100000"/>
              <a:buFont typeface="Noto Sans Symbols"/>
              <a:buChar char="⮚"/>
            </a:pPr>
            <a:r>
              <a:rPr i="1" lang="en-US" sz="2400"/>
              <a:t> Дисциплину преподает преподаватель.</a:t>
            </a:r>
            <a:br>
              <a:rPr i="1" lang="en-US" sz="2400"/>
            </a:br>
            <a:endParaRPr i="1" sz="2400"/>
          </a:p>
          <a:p>
            <a:pPr indent="0" lvl="0" marL="0" rtl="0" algn="l">
              <a:lnSpc>
                <a:spcPct val="90000"/>
              </a:lnSpc>
              <a:spcBef>
                <a:spcPts val="1000"/>
              </a:spcBef>
              <a:spcAft>
                <a:spcPts val="0"/>
              </a:spcAft>
              <a:buClr>
                <a:schemeClr val="dk1"/>
              </a:buClr>
              <a:buSzPct val="100000"/>
              <a:buNone/>
            </a:pPr>
            <a:r>
              <a:rPr lang="en-US"/>
              <a:t>2. </a:t>
            </a:r>
            <a:r>
              <a:rPr lang="en-US">
                <a:solidFill>
                  <a:srgbClr val="0070C0"/>
                </a:solidFill>
              </a:rPr>
              <a:t>Кардинальность (мощность)</a:t>
            </a:r>
            <a:r>
              <a:rPr lang="en-US"/>
              <a:t>: минимальное и максимальное число значений в связи</a:t>
            </a:r>
            <a:endParaRPr b="0" i="0"/>
          </a:p>
          <a:p>
            <a:pPr indent="0" lvl="0" marL="0" rtl="0" algn="l">
              <a:lnSpc>
                <a:spcPct val="90000"/>
              </a:lnSpc>
              <a:spcBef>
                <a:spcPts val="1000"/>
              </a:spcBef>
              <a:spcAft>
                <a:spcPts val="0"/>
              </a:spcAft>
              <a:buClr>
                <a:schemeClr val="dk1"/>
              </a:buClr>
              <a:buSzPct val="100000"/>
              <a:buNone/>
            </a:pPr>
            <a:r>
              <a:rPr b="0" i="0" lang="en-US"/>
              <a:t>3. </a:t>
            </a:r>
            <a:r>
              <a:rPr b="0" i="0" lang="en-US">
                <a:solidFill>
                  <a:srgbClr val="0070C0"/>
                </a:solidFill>
              </a:rPr>
              <a:t>Обязательность</a:t>
            </a:r>
            <a:r>
              <a:rPr b="0" i="0" lang="en-US"/>
              <a:t>: должна или может существовать.</a:t>
            </a:r>
            <a:endParaRPr/>
          </a:p>
          <a:p>
            <a:pPr indent="0" lvl="0" marL="0" rtl="0" algn="l">
              <a:lnSpc>
                <a:spcPct val="90000"/>
              </a:lnSpc>
              <a:spcBef>
                <a:spcPts val="1000"/>
              </a:spcBef>
              <a:spcAft>
                <a:spcPts val="0"/>
              </a:spcAft>
              <a:buClr>
                <a:schemeClr val="dk1"/>
              </a:buClr>
              <a:buSzPct val="100000"/>
              <a:buNone/>
            </a:pPr>
            <a:r>
              <a:t/>
            </a:r>
            <a:endParaRPr sz="32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288" name="Google Shape;288;p20"/>
          <p:cNvPicPr preferRelativeResize="0"/>
          <p:nvPr/>
        </p:nvPicPr>
        <p:blipFill rotWithShape="1">
          <a:blip r:embed="rId3">
            <a:alphaModFix/>
          </a:blip>
          <a:srcRect b="0" l="0" r="0" t="0"/>
          <a:stretch/>
        </p:blipFill>
        <p:spPr>
          <a:xfrm>
            <a:off x="1589428" y="1505340"/>
            <a:ext cx="7647547" cy="4883268"/>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295" name="Google Shape;295;p21"/>
          <p:cNvPicPr preferRelativeResize="0"/>
          <p:nvPr/>
        </p:nvPicPr>
        <p:blipFill rotWithShape="1">
          <a:blip r:embed="rId3">
            <a:alphaModFix/>
          </a:blip>
          <a:srcRect b="0" l="0" r="0" t="0"/>
          <a:stretch/>
        </p:blipFill>
        <p:spPr>
          <a:xfrm>
            <a:off x="1536192" y="1430091"/>
            <a:ext cx="7350624" cy="4885952"/>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Шаг 3. Определение атрибутов</a:t>
            </a:r>
            <a:endParaRPr/>
          </a:p>
        </p:txBody>
      </p:sp>
      <p:sp>
        <p:nvSpPr>
          <p:cNvPr id="302" name="Google Shape;302;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70C0"/>
              </a:buClr>
              <a:buSzPts val="2800"/>
              <a:buNone/>
            </a:pPr>
            <a:r>
              <a:rPr lang="en-US">
                <a:solidFill>
                  <a:srgbClr val="0070C0"/>
                </a:solidFill>
              </a:rPr>
              <a:t>Атрибут</a:t>
            </a:r>
            <a:r>
              <a:rPr lang="en-US" sz="1900"/>
              <a:t> - любая характеристика сущности, значимая для рассматриваемой предметной области и предназначенная для квалификации, идентификации, классификации, количественной характеристики или выражения состояния сущности.</a:t>
            </a:r>
            <a:endParaRPr/>
          </a:p>
          <a:p>
            <a:pPr indent="0" lvl="0" marL="0" rtl="0" algn="l">
              <a:lnSpc>
                <a:spcPct val="90000"/>
              </a:lnSpc>
              <a:spcBef>
                <a:spcPts val="1000"/>
              </a:spcBef>
              <a:spcAft>
                <a:spcPts val="0"/>
              </a:spcAft>
              <a:buClr>
                <a:schemeClr val="dk1"/>
              </a:buClr>
              <a:buSzPts val="1900"/>
              <a:buNone/>
            </a:pPr>
            <a:r>
              <a:t/>
            </a:r>
            <a:endParaRPr sz="1900"/>
          </a:p>
          <a:p>
            <a:pPr indent="0" lvl="0" marL="0" rtl="0" algn="l">
              <a:lnSpc>
                <a:spcPct val="90000"/>
              </a:lnSpc>
              <a:spcBef>
                <a:spcPts val="1000"/>
              </a:spcBef>
              <a:spcAft>
                <a:spcPts val="0"/>
              </a:spcAft>
              <a:buClr>
                <a:schemeClr val="dk1"/>
              </a:buClr>
              <a:buSzPts val="2000"/>
              <a:buNone/>
            </a:pPr>
            <a:r>
              <a:rPr lang="en-US" sz="2000"/>
              <a:t>Выделяют следующие виды атрибутов:</a:t>
            </a:r>
            <a:endParaRPr/>
          </a:p>
          <a:p>
            <a:pPr indent="-228600" lvl="0" marL="228600" rtl="0" algn="l">
              <a:lnSpc>
                <a:spcPct val="90000"/>
              </a:lnSpc>
              <a:spcBef>
                <a:spcPts val="1000"/>
              </a:spcBef>
              <a:spcAft>
                <a:spcPts val="0"/>
              </a:spcAft>
              <a:buClr>
                <a:srgbClr val="0070C0"/>
              </a:buClr>
              <a:buSzPts val="2000"/>
              <a:buFont typeface="Noto Sans Symbols"/>
              <a:buChar char="⮚"/>
            </a:pPr>
            <a:r>
              <a:rPr lang="en-US" sz="2000">
                <a:solidFill>
                  <a:srgbClr val="0070C0"/>
                </a:solidFill>
              </a:rPr>
              <a:t>Простой или составной;</a:t>
            </a:r>
            <a:endParaRPr/>
          </a:p>
          <a:p>
            <a:pPr indent="-228600" lvl="0" marL="228600" rtl="0" algn="l">
              <a:lnSpc>
                <a:spcPct val="90000"/>
              </a:lnSpc>
              <a:spcBef>
                <a:spcPts val="1000"/>
              </a:spcBef>
              <a:spcAft>
                <a:spcPts val="0"/>
              </a:spcAft>
              <a:buClr>
                <a:srgbClr val="0070C0"/>
              </a:buClr>
              <a:buSzPts val="2000"/>
              <a:buFont typeface="Noto Sans Symbols"/>
              <a:buChar char="⮚"/>
            </a:pPr>
            <a:r>
              <a:rPr lang="en-US" sz="2000">
                <a:solidFill>
                  <a:srgbClr val="0070C0"/>
                </a:solidFill>
              </a:rPr>
              <a:t>Однозначный или многозначный;</a:t>
            </a:r>
            <a:endParaRPr/>
          </a:p>
          <a:p>
            <a:pPr indent="-228600" lvl="0" marL="228600" rtl="0" algn="l">
              <a:lnSpc>
                <a:spcPct val="90000"/>
              </a:lnSpc>
              <a:spcBef>
                <a:spcPts val="1000"/>
              </a:spcBef>
              <a:spcAft>
                <a:spcPts val="0"/>
              </a:spcAft>
              <a:buClr>
                <a:srgbClr val="0070C0"/>
              </a:buClr>
              <a:buSzPts val="2000"/>
              <a:buFont typeface="Noto Sans Symbols"/>
              <a:buChar char="⮚"/>
            </a:pPr>
            <a:r>
              <a:rPr lang="en-US" sz="2000">
                <a:solidFill>
                  <a:srgbClr val="0070C0"/>
                </a:solidFill>
              </a:rPr>
              <a:t>Производный(вычисляемый);</a:t>
            </a:r>
            <a:endParaRPr/>
          </a:p>
          <a:p>
            <a:pPr indent="-228600" lvl="0" marL="228600" rtl="0" algn="l">
              <a:lnSpc>
                <a:spcPct val="90000"/>
              </a:lnSpc>
              <a:spcBef>
                <a:spcPts val="1000"/>
              </a:spcBef>
              <a:spcAft>
                <a:spcPts val="0"/>
              </a:spcAft>
              <a:buClr>
                <a:srgbClr val="0070C0"/>
              </a:buClr>
              <a:buSzPts val="2000"/>
              <a:buFont typeface="Noto Sans Symbols"/>
              <a:buChar char="⮚"/>
            </a:pPr>
            <a:r>
              <a:rPr lang="en-US" sz="2000">
                <a:solidFill>
                  <a:srgbClr val="0070C0"/>
                </a:solidFill>
              </a:rPr>
              <a:t>Уникальный или не уникальный;</a:t>
            </a:r>
            <a:endParaRPr/>
          </a:p>
          <a:p>
            <a:pPr indent="-228600" lvl="0" marL="228600" rtl="0" algn="l">
              <a:lnSpc>
                <a:spcPct val="90000"/>
              </a:lnSpc>
              <a:spcBef>
                <a:spcPts val="1000"/>
              </a:spcBef>
              <a:spcAft>
                <a:spcPts val="0"/>
              </a:spcAft>
              <a:buClr>
                <a:srgbClr val="0070C0"/>
              </a:buClr>
              <a:buSzPts val="2000"/>
              <a:buFont typeface="Noto Sans Symbols"/>
              <a:buChar char="⮚"/>
            </a:pPr>
            <a:r>
              <a:rPr lang="en-US" sz="2000">
                <a:solidFill>
                  <a:srgbClr val="0070C0"/>
                </a:solidFill>
              </a:rPr>
              <a:t>Временный или постоянный;</a:t>
            </a:r>
            <a:endParaRPr/>
          </a:p>
          <a:p>
            <a:pPr indent="-228600" lvl="0" marL="228600" rtl="0" algn="l">
              <a:lnSpc>
                <a:spcPct val="90000"/>
              </a:lnSpc>
              <a:spcBef>
                <a:spcPts val="1000"/>
              </a:spcBef>
              <a:spcAft>
                <a:spcPts val="0"/>
              </a:spcAft>
              <a:buClr>
                <a:srgbClr val="0070C0"/>
              </a:buClr>
              <a:buSzPts val="2000"/>
              <a:buFont typeface="Noto Sans Symbols"/>
              <a:buChar char="⮚"/>
            </a:pPr>
            <a:r>
              <a:rPr lang="en-US" sz="2000">
                <a:solidFill>
                  <a:srgbClr val="0070C0"/>
                </a:solidFill>
              </a:rPr>
              <a:t>Обязательный или необязательный.</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Шаг 4. Определение доменов атрибутов</a:t>
            </a:r>
            <a:endParaRPr/>
          </a:p>
        </p:txBody>
      </p:sp>
      <p:sp>
        <p:nvSpPr>
          <p:cNvPr id="309" name="Google Shape;309;p23"/>
          <p:cNvSpPr txBox="1"/>
          <p:nvPr>
            <p:ph idx="1" type="body"/>
          </p:nvPr>
        </p:nvSpPr>
        <p:spPr>
          <a:xfrm>
            <a:off x="838200" y="1825625"/>
            <a:ext cx="10780776" cy="466725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070C0"/>
              </a:buClr>
              <a:buSzPts val="2000"/>
              <a:buNone/>
            </a:pPr>
            <a:r>
              <a:rPr lang="en-US" sz="2000">
                <a:solidFill>
                  <a:srgbClr val="0070C0"/>
                </a:solidFill>
              </a:rPr>
              <a:t>Домен атрибута – потенциально допустимое множество значений атрибута.</a:t>
            </a:r>
            <a:endParaRPr/>
          </a:p>
          <a:p>
            <a:pPr indent="0" lvl="0" marL="0" rtl="0" algn="l">
              <a:lnSpc>
                <a:spcPct val="90000"/>
              </a:lnSpc>
              <a:spcBef>
                <a:spcPts val="1000"/>
              </a:spcBef>
              <a:spcAft>
                <a:spcPts val="0"/>
              </a:spcAft>
              <a:buClr>
                <a:schemeClr val="dk1"/>
              </a:buClr>
              <a:buSzPts val="2000"/>
              <a:buNone/>
            </a:pPr>
            <a:r>
              <a:t/>
            </a:r>
            <a:endParaRPr sz="2000">
              <a:solidFill>
                <a:srgbClr val="0C0C0C"/>
              </a:solidFill>
            </a:endParaRPr>
          </a:p>
          <a:p>
            <a:pPr indent="0" lvl="0" marL="0" rtl="0" algn="l">
              <a:lnSpc>
                <a:spcPct val="90000"/>
              </a:lnSpc>
              <a:spcBef>
                <a:spcPts val="1000"/>
              </a:spcBef>
              <a:spcAft>
                <a:spcPts val="0"/>
              </a:spcAft>
              <a:buClr>
                <a:srgbClr val="0C0C0C"/>
              </a:buClr>
              <a:buSzPts val="2000"/>
              <a:buNone/>
            </a:pPr>
            <a:r>
              <a:rPr lang="en-US" sz="2000">
                <a:solidFill>
                  <a:srgbClr val="0C0C0C"/>
                </a:solidFill>
              </a:rPr>
              <a:t>Домен определен на конкретном типе данных. </a:t>
            </a:r>
            <a:endParaRPr/>
          </a:p>
          <a:p>
            <a:pPr indent="0" lvl="0" marL="0" rtl="0" algn="l">
              <a:lnSpc>
                <a:spcPct val="90000"/>
              </a:lnSpc>
              <a:spcBef>
                <a:spcPts val="1000"/>
              </a:spcBef>
              <a:spcAft>
                <a:spcPts val="0"/>
              </a:spcAft>
              <a:buClr>
                <a:srgbClr val="0C0C0C"/>
              </a:buClr>
              <a:buSzPts val="2000"/>
              <a:buNone/>
            </a:pPr>
            <a:r>
              <a:rPr lang="en-US" sz="2000">
                <a:solidFill>
                  <a:srgbClr val="0C0C0C"/>
                </a:solidFill>
              </a:rPr>
              <a:t>Домен может иметь некоторое логическое условие, позволяющее описать подмножество допустимых данных.</a:t>
            </a:r>
            <a:endParaRPr/>
          </a:p>
          <a:p>
            <a:pPr indent="0" lvl="0" marL="0" rtl="0" algn="l">
              <a:lnSpc>
                <a:spcPct val="90000"/>
              </a:lnSpc>
              <a:spcBef>
                <a:spcPts val="1000"/>
              </a:spcBef>
              <a:spcAft>
                <a:spcPts val="0"/>
              </a:spcAft>
              <a:buClr>
                <a:srgbClr val="0C0C0C"/>
              </a:buClr>
              <a:buSzPts val="2000"/>
              <a:buNone/>
            </a:pPr>
            <a:r>
              <a:rPr lang="en-US" sz="2000">
                <a:solidFill>
                  <a:srgbClr val="0C0C0C"/>
                </a:solidFill>
              </a:rPr>
              <a:t>Домен несет определенную смысловую нагрузку.</a:t>
            </a:r>
            <a:endParaRPr/>
          </a:p>
          <a:p>
            <a:pPr indent="0" lvl="0" marL="0" rtl="0" algn="l">
              <a:lnSpc>
                <a:spcPct val="90000"/>
              </a:lnSpc>
              <a:spcBef>
                <a:spcPts val="1000"/>
              </a:spcBef>
              <a:spcAft>
                <a:spcPts val="0"/>
              </a:spcAft>
              <a:buClr>
                <a:schemeClr val="dk1"/>
              </a:buClr>
              <a:buSzPts val="2000"/>
              <a:buNone/>
            </a:pPr>
            <a:r>
              <a:t/>
            </a:r>
            <a:endParaRPr sz="2000">
              <a:solidFill>
                <a:srgbClr val="0C0C0C"/>
              </a:solidFill>
            </a:endParaRPr>
          </a:p>
          <a:p>
            <a:pPr indent="0" lvl="0" marL="0" rtl="0" algn="l">
              <a:lnSpc>
                <a:spcPct val="90000"/>
              </a:lnSpc>
              <a:spcBef>
                <a:spcPts val="1000"/>
              </a:spcBef>
              <a:spcAft>
                <a:spcPts val="0"/>
              </a:spcAft>
              <a:buClr>
                <a:srgbClr val="0C0C0C"/>
              </a:buClr>
              <a:buSzPts val="2000"/>
              <a:buNone/>
            </a:pPr>
            <a:r>
              <a:rPr lang="en-US" sz="2000">
                <a:solidFill>
                  <a:srgbClr val="0C0C0C"/>
                </a:solidFill>
              </a:rPr>
              <a:t>Например, домен, имеющий смысл «возраст сотрудника» можно описать как следующее подмножество множества натуральных чисел:</a:t>
            </a:r>
            <a:endParaRPr/>
          </a:p>
          <a:p>
            <a:pPr indent="0" lvl="0" marL="0" rtl="0" algn="l">
              <a:lnSpc>
                <a:spcPct val="90000"/>
              </a:lnSpc>
              <a:spcBef>
                <a:spcPts val="1000"/>
              </a:spcBef>
              <a:spcAft>
                <a:spcPts val="0"/>
              </a:spcAft>
              <a:buClr>
                <a:schemeClr val="dk1"/>
              </a:buClr>
              <a:buSzPts val="2000"/>
              <a:buNone/>
            </a:pPr>
            <a:r>
              <a:t/>
            </a:r>
            <a:endParaRPr sz="2000">
              <a:solidFill>
                <a:srgbClr val="0070C0"/>
              </a:solidFill>
            </a:endParaRPr>
          </a:p>
        </p:txBody>
      </p:sp>
      <p:pic>
        <p:nvPicPr>
          <p:cNvPr id="310" name="Google Shape;310;p23"/>
          <p:cNvPicPr preferRelativeResize="0"/>
          <p:nvPr/>
        </p:nvPicPr>
        <p:blipFill rotWithShape="1">
          <a:blip r:embed="rId3">
            <a:alphaModFix/>
          </a:blip>
          <a:srcRect b="0" l="0" r="0" t="0"/>
          <a:stretch/>
        </p:blipFill>
        <p:spPr>
          <a:xfrm>
            <a:off x="1513186" y="5320555"/>
            <a:ext cx="3883125" cy="416049"/>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Шаг 5. Определение ключей: </a:t>
            </a:r>
            <a:br>
              <a:rPr lang="en-US">
                <a:latin typeface="Times New Roman"/>
                <a:ea typeface="Times New Roman"/>
                <a:cs typeface="Times New Roman"/>
                <a:sym typeface="Times New Roman"/>
              </a:rPr>
            </a:br>
            <a:r>
              <a:rPr lang="en-US" sz="2000">
                <a:latin typeface="Times New Roman"/>
                <a:ea typeface="Times New Roman"/>
                <a:cs typeface="Times New Roman"/>
                <a:sym typeface="Times New Roman"/>
              </a:rPr>
              <a:t>существует разная терминология. Вариант 1</a:t>
            </a:r>
            <a:endParaRPr/>
          </a:p>
        </p:txBody>
      </p:sp>
      <p:sp>
        <p:nvSpPr>
          <p:cNvPr id="317" name="Google Shape;317;p24"/>
          <p:cNvSpPr txBox="1"/>
          <p:nvPr>
            <p:ph idx="1" type="body"/>
          </p:nvPr>
        </p:nvSpPr>
        <p:spPr>
          <a:xfrm>
            <a:off x="838200" y="1690688"/>
            <a:ext cx="10244328" cy="4802187"/>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rgbClr val="0070C0"/>
              </a:buClr>
              <a:buSzPct val="100000"/>
              <a:buNone/>
            </a:pPr>
            <a:r>
              <a:rPr lang="en-US" sz="2000">
                <a:solidFill>
                  <a:srgbClr val="0070C0"/>
                </a:solidFill>
              </a:rPr>
              <a:t>Ключ</a:t>
            </a:r>
            <a:r>
              <a:rPr lang="en-US" sz="2000">
                <a:solidFill>
                  <a:srgbClr val="0C0C0C"/>
                </a:solidFill>
              </a:rPr>
              <a:t> – один или несколько атрибутов сущности, однозначно идентифицирующий(-е) ее экземпляры.</a:t>
            </a:r>
            <a:endParaRPr/>
          </a:p>
          <a:p>
            <a:pPr indent="0" lvl="0" marL="0" rtl="0" algn="l">
              <a:lnSpc>
                <a:spcPct val="90000"/>
              </a:lnSpc>
              <a:spcBef>
                <a:spcPts val="1000"/>
              </a:spcBef>
              <a:spcAft>
                <a:spcPts val="0"/>
              </a:spcAft>
              <a:buClr>
                <a:srgbClr val="0070C0"/>
              </a:buClr>
              <a:buSzPct val="100000"/>
              <a:buNone/>
            </a:pPr>
            <a:r>
              <a:rPr lang="en-US" sz="2000">
                <a:solidFill>
                  <a:srgbClr val="0070C0"/>
                </a:solidFill>
              </a:rPr>
              <a:t>Суперключ</a:t>
            </a:r>
            <a:r>
              <a:rPr lang="en-US" sz="2000">
                <a:solidFill>
                  <a:srgbClr val="0C0C0C"/>
                </a:solidFill>
              </a:rPr>
              <a:t> – один или несколько атрибутов, единственным образом идентифицирующий(-е) экземпляр сущности (может содержать дополнительные атрибуты, которые можно исключить, не нарушая свойство однозначной идентификации).</a:t>
            </a:r>
            <a:endParaRPr/>
          </a:p>
          <a:p>
            <a:pPr indent="0" lvl="0" marL="0" rtl="0" algn="l">
              <a:lnSpc>
                <a:spcPct val="90000"/>
              </a:lnSpc>
              <a:spcBef>
                <a:spcPts val="1000"/>
              </a:spcBef>
              <a:spcAft>
                <a:spcPts val="0"/>
              </a:spcAft>
              <a:buClr>
                <a:srgbClr val="0070C0"/>
              </a:buClr>
              <a:buSzPct val="100000"/>
              <a:buNone/>
            </a:pPr>
            <a:r>
              <a:rPr lang="en-US" sz="2000">
                <a:solidFill>
                  <a:srgbClr val="0070C0"/>
                </a:solidFill>
              </a:rPr>
              <a:t>Потенциальный ключ </a:t>
            </a:r>
            <a:r>
              <a:rPr lang="en-US" sz="2000">
                <a:solidFill>
                  <a:srgbClr val="0C0C0C"/>
                </a:solidFill>
              </a:rPr>
              <a:t>– суперключ, который содержит минимальную совокупность атрибутов, однозначно идентифицирующих экземпляр сущности.</a:t>
            </a:r>
            <a:endParaRPr/>
          </a:p>
          <a:p>
            <a:pPr indent="0" lvl="0" marL="0" rtl="0" algn="l">
              <a:lnSpc>
                <a:spcPct val="90000"/>
              </a:lnSpc>
              <a:spcBef>
                <a:spcPts val="1000"/>
              </a:spcBef>
              <a:spcAft>
                <a:spcPts val="0"/>
              </a:spcAft>
              <a:buClr>
                <a:srgbClr val="0070C0"/>
              </a:buClr>
              <a:buSzPct val="100000"/>
              <a:buNone/>
            </a:pPr>
            <a:r>
              <a:rPr lang="en-US" sz="2000">
                <a:solidFill>
                  <a:srgbClr val="0070C0"/>
                </a:solidFill>
              </a:rPr>
              <a:t>Первичный ключ </a:t>
            </a:r>
            <a:r>
              <a:rPr lang="en-US" sz="2000">
                <a:solidFill>
                  <a:srgbClr val="0C0C0C"/>
                </a:solidFill>
              </a:rPr>
              <a:t>– потенциальный ключ, выбранный для уникальной идентификации экземпляров сущности. </a:t>
            </a:r>
            <a:r>
              <a:rPr i="1" lang="en-US" sz="2000">
                <a:solidFill>
                  <a:srgbClr val="0C0C0C"/>
                </a:solidFill>
              </a:rPr>
              <a:t>Он должен содержать уникальное значение для каждого экземпляра сущности. Он не может содержать пустых значений. Каждый экземпляр сущности должен иметь значение первичного ключа.</a:t>
            </a:r>
            <a:endParaRPr/>
          </a:p>
          <a:p>
            <a:pPr indent="0" lvl="0" marL="0" rtl="0" algn="l">
              <a:lnSpc>
                <a:spcPct val="90000"/>
              </a:lnSpc>
              <a:spcBef>
                <a:spcPts val="1000"/>
              </a:spcBef>
              <a:spcAft>
                <a:spcPts val="0"/>
              </a:spcAft>
              <a:buClr>
                <a:srgbClr val="0070C0"/>
              </a:buClr>
              <a:buSzPct val="100000"/>
              <a:buNone/>
            </a:pPr>
            <a:r>
              <a:rPr lang="en-US" sz="2000">
                <a:solidFill>
                  <a:srgbClr val="0070C0"/>
                </a:solidFill>
              </a:rPr>
              <a:t>Альтернативные ключи </a:t>
            </a:r>
            <a:r>
              <a:rPr lang="en-US" sz="2000">
                <a:solidFill>
                  <a:srgbClr val="0C0C0C"/>
                </a:solidFill>
              </a:rPr>
              <a:t>– потенциальные ключи, не выбранные в качестве первичного ключа.</a:t>
            </a:r>
            <a:endParaRPr/>
          </a:p>
          <a:p>
            <a:pPr indent="0" lvl="0" marL="0" rtl="0" algn="l">
              <a:lnSpc>
                <a:spcPct val="90000"/>
              </a:lnSpc>
              <a:spcBef>
                <a:spcPts val="1000"/>
              </a:spcBef>
              <a:spcAft>
                <a:spcPts val="0"/>
              </a:spcAft>
              <a:buClr>
                <a:srgbClr val="0070C0"/>
              </a:buClr>
              <a:buSzPct val="100000"/>
              <a:buNone/>
            </a:pPr>
            <a:r>
              <a:rPr lang="en-US" sz="2000">
                <a:solidFill>
                  <a:srgbClr val="0070C0"/>
                </a:solidFill>
              </a:rPr>
              <a:t>Суррогатный ключ</a:t>
            </a:r>
            <a:r>
              <a:rPr lang="en-US" sz="2000">
                <a:solidFill>
                  <a:srgbClr val="0C0C0C"/>
                </a:solidFill>
              </a:rPr>
              <a:t> – искусственный атрибут, добавленный в сущность для однозначной идентификации ее экземпляров.</a:t>
            </a:r>
            <a:endParaRPr/>
          </a:p>
          <a:p>
            <a:pPr indent="0" lvl="0" marL="0" rtl="0" algn="l">
              <a:lnSpc>
                <a:spcPct val="90000"/>
              </a:lnSpc>
              <a:spcBef>
                <a:spcPts val="1000"/>
              </a:spcBef>
              <a:spcAft>
                <a:spcPts val="0"/>
              </a:spcAft>
              <a:buClr>
                <a:srgbClr val="0070C0"/>
              </a:buClr>
              <a:buSzPct val="100000"/>
              <a:buNone/>
            </a:pPr>
            <a:r>
              <a:rPr lang="en-US" sz="2000">
                <a:solidFill>
                  <a:srgbClr val="0070C0"/>
                </a:solidFill>
              </a:rPr>
              <a:t>Внешний ключ </a:t>
            </a:r>
            <a:r>
              <a:rPr lang="en-US" sz="2000">
                <a:solidFill>
                  <a:srgbClr val="0C0C0C"/>
                </a:solidFill>
              </a:rPr>
              <a:t>– набор атрибутов подчиненной сущности, соответствующий первичному ключу главной сущности, используется для поддержания целостности базы данных.</a:t>
            </a:r>
            <a:endParaRPr/>
          </a:p>
          <a:p>
            <a:pPr indent="0" lvl="0" marL="0" rtl="0" algn="l">
              <a:lnSpc>
                <a:spcPct val="90000"/>
              </a:lnSpc>
              <a:spcBef>
                <a:spcPts val="1000"/>
              </a:spcBef>
              <a:spcAft>
                <a:spcPts val="0"/>
              </a:spcAft>
              <a:buClr>
                <a:schemeClr val="dk1"/>
              </a:buClr>
              <a:buSzPct val="100000"/>
              <a:buNone/>
            </a:pPr>
            <a:r>
              <a:t/>
            </a:r>
            <a:endParaRPr i="1" sz="16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ct val="100000"/>
              <a:buNone/>
            </a:pPr>
            <a:r>
              <a:rPr i="1" lang="en-US" sz="1600">
                <a:latin typeface="Times New Roman"/>
                <a:ea typeface="Times New Roman"/>
                <a:cs typeface="Times New Roman"/>
                <a:sym typeface="Times New Roman"/>
              </a:rPr>
              <a:t>(В другом варианте терминологии употребляется слово «идентификатор», см. далее, после описания схемы Баркера).</a:t>
            </a:r>
            <a:endParaRPr i="1" sz="1600">
              <a:solidFill>
                <a:srgbClr val="0C0C0C"/>
              </a:solidFill>
            </a:endParaRPr>
          </a:p>
          <a:p>
            <a:pPr indent="0" lvl="0" marL="0" rtl="0" algn="l">
              <a:lnSpc>
                <a:spcPct val="90000"/>
              </a:lnSpc>
              <a:spcBef>
                <a:spcPts val="1000"/>
              </a:spcBef>
              <a:spcAft>
                <a:spcPts val="0"/>
              </a:spcAft>
              <a:buClr>
                <a:schemeClr val="dk1"/>
              </a:buClr>
              <a:buSzPct val="100000"/>
              <a:buNone/>
            </a:pPr>
            <a:r>
              <a:t/>
            </a:r>
            <a:endParaRPr sz="2000">
              <a:solidFill>
                <a:srgbClr val="0C0C0C"/>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5"/>
          <p:cNvSpPr txBox="1"/>
          <p:nvPr>
            <p:ph type="title"/>
          </p:nvPr>
        </p:nvSpPr>
        <p:spPr>
          <a:xfrm>
            <a:off x="838200" y="64554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800"/>
              <a:buFont typeface="Times New Roman"/>
              <a:buNone/>
            </a:pPr>
            <a:r>
              <a:rPr lang="en-US" sz="3800">
                <a:latin typeface="Times New Roman"/>
                <a:ea typeface="Times New Roman"/>
                <a:cs typeface="Times New Roman"/>
                <a:sym typeface="Times New Roman"/>
              </a:rPr>
              <a:t>Нотации (системы обозначений) моделей «Сущность-связь»</a:t>
            </a:r>
            <a:endParaRPr sz="3800"/>
          </a:p>
        </p:txBody>
      </p:sp>
      <p:sp>
        <p:nvSpPr>
          <p:cNvPr id="324" name="Google Shape;324;p25"/>
          <p:cNvSpPr txBox="1"/>
          <p:nvPr/>
        </p:nvSpPr>
        <p:spPr>
          <a:xfrm>
            <a:off x="926592" y="2247638"/>
            <a:ext cx="4718304" cy="461664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202122"/>
              </a:buClr>
              <a:buSzPts val="1800"/>
              <a:buFont typeface="Arial"/>
              <a:buChar char="•"/>
            </a:pPr>
            <a:r>
              <a:rPr b="1" i="0" lang="en-US" sz="1800">
                <a:solidFill>
                  <a:srgbClr val="202122"/>
                </a:solidFill>
                <a:latin typeface="Calibri"/>
                <a:ea typeface="Calibri"/>
                <a:cs typeface="Calibri"/>
                <a:sym typeface="Calibri"/>
              </a:rPr>
              <a:t>Р. Баркера (Barker Notation);</a:t>
            </a:r>
            <a:endParaRPr b="1" i="0" sz="1800">
              <a:solidFill>
                <a:srgbClr val="333333"/>
              </a:solidFill>
              <a:latin typeface="Calibri"/>
              <a:ea typeface="Calibri"/>
              <a:cs typeface="Calibri"/>
              <a:sym typeface="Calibri"/>
            </a:endParaRPr>
          </a:p>
          <a:p>
            <a:pPr indent="-285750" lvl="0" marL="285750" marR="0" rtl="0" algn="l">
              <a:spcBef>
                <a:spcPts val="1200"/>
              </a:spcBef>
              <a:spcAft>
                <a:spcPts val="0"/>
              </a:spcAft>
              <a:buClr>
                <a:srgbClr val="202122"/>
              </a:buClr>
              <a:buSzPts val="1800"/>
              <a:buFont typeface="Arial"/>
              <a:buChar char="•"/>
            </a:pPr>
            <a:r>
              <a:rPr b="1" i="0" lang="en-US" sz="1800">
                <a:solidFill>
                  <a:srgbClr val="202122"/>
                </a:solidFill>
                <a:latin typeface="Calibri"/>
                <a:ea typeface="Calibri"/>
                <a:cs typeface="Calibri"/>
                <a:sym typeface="Calibri"/>
              </a:rPr>
              <a:t>Ч. Бахмана;</a:t>
            </a:r>
            <a:endParaRPr b="1" i="0" sz="1800">
              <a:solidFill>
                <a:srgbClr val="202122"/>
              </a:solidFill>
              <a:latin typeface="Calibri"/>
              <a:ea typeface="Calibri"/>
              <a:cs typeface="Calibri"/>
              <a:sym typeface="Calibri"/>
            </a:endParaRPr>
          </a:p>
          <a:p>
            <a:pPr indent="-285750" lvl="0" marL="285750" marR="0" rtl="0" algn="l">
              <a:spcBef>
                <a:spcPts val="1200"/>
              </a:spcBef>
              <a:spcAft>
                <a:spcPts val="0"/>
              </a:spcAft>
              <a:buClr>
                <a:srgbClr val="202122"/>
              </a:buClr>
              <a:buSzPts val="1800"/>
              <a:buFont typeface="Arial"/>
              <a:buChar char="•"/>
            </a:pPr>
            <a:r>
              <a:rPr b="1" i="0" lang="en-US" sz="1800">
                <a:solidFill>
                  <a:srgbClr val="202122"/>
                </a:solidFill>
                <a:latin typeface="Calibri"/>
                <a:ea typeface="Calibri"/>
                <a:cs typeface="Calibri"/>
                <a:sym typeface="Calibri"/>
              </a:rPr>
              <a:t>IE (Information Engineering) информационной</a:t>
            </a:r>
            <a:r>
              <a:rPr b="1" i="0" lang="en-US" sz="1800">
                <a:solidFill>
                  <a:srgbClr val="333333"/>
                </a:solidFill>
                <a:latin typeface="Calibri"/>
                <a:ea typeface="Calibri"/>
                <a:cs typeface="Calibri"/>
                <a:sym typeface="Calibri"/>
              </a:rPr>
              <a:t> инженерии</a:t>
            </a:r>
            <a:r>
              <a:rPr b="1" i="0" lang="en-US" sz="1800">
                <a:solidFill>
                  <a:srgbClr val="202122"/>
                </a:solidFill>
                <a:latin typeface="Calibri"/>
                <a:ea typeface="Calibri"/>
                <a:cs typeface="Calibri"/>
                <a:sym typeface="Calibri"/>
              </a:rPr>
              <a:t>: К. Финкельштейна (C. Finkelstein), Дж. Мартина (James Martin) или «Вороньи лапки» (Crow’s Foot);</a:t>
            </a:r>
            <a:endParaRPr b="1" i="0" sz="1800">
              <a:solidFill>
                <a:srgbClr val="333333"/>
              </a:solidFill>
              <a:latin typeface="Calibri"/>
              <a:ea typeface="Calibri"/>
              <a:cs typeface="Calibri"/>
              <a:sym typeface="Calibri"/>
            </a:endParaRPr>
          </a:p>
          <a:p>
            <a:pPr indent="-285750" lvl="0" marL="285750" marR="0" rtl="0" algn="l">
              <a:spcBef>
                <a:spcPts val="1200"/>
              </a:spcBef>
              <a:spcAft>
                <a:spcPts val="0"/>
              </a:spcAft>
              <a:buClr>
                <a:srgbClr val="202122"/>
              </a:buClr>
              <a:buSzPts val="1800"/>
              <a:buFont typeface="Arial"/>
              <a:buChar char="•"/>
            </a:pPr>
            <a:r>
              <a:rPr b="1" i="0" lang="en-US" sz="1800">
                <a:solidFill>
                  <a:srgbClr val="202122"/>
                </a:solidFill>
                <a:latin typeface="Calibri"/>
                <a:ea typeface="Calibri"/>
                <a:cs typeface="Calibri"/>
                <a:sym typeface="Calibri"/>
              </a:rPr>
              <a:t>IDEF1X (Integration Definition for Information Modeling);</a:t>
            </a:r>
            <a:endParaRPr b="1" i="0" sz="1800">
              <a:solidFill>
                <a:srgbClr val="333333"/>
              </a:solidFill>
              <a:latin typeface="Calibri"/>
              <a:ea typeface="Calibri"/>
              <a:cs typeface="Calibri"/>
              <a:sym typeface="Calibri"/>
            </a:endParaRPr>
          </a:p>
          <a:p>
            <a:pPr indent="-285750" lvl="0" marL="285750" marR="0" rtl="0" algn="l">
              <a:spcBef>
                <a:spcPts val="1200"/>
              </a:spcBef>
              <a:spcAft>
                <a:spcPts val="0"/>
              </a:spcAft>
              <a:buClr>
                <a:srgbClr val="202122"/>
              </a:buClr>
              <a:buSzPts val="1800"/>
              <a:buFont typeface="Arial"/>
              <a:buChar char="•"/>
            </a:pPr>
            <a:r>
              <a:rPr b="1" i="0" lang="en-US" sz="1800">
                <a:solidFill>
                  <a:srgbClr val="202122"/>
                </a:solidFill>
                <a:latin typeface="Calibri"/>
                <a:ea typeface="Calibri"/>
                <a:cs typeface="Calibri"/>
                <a:sym typeface="Calibri"/>
              </a:rPr>
              <a:t>П. Чена (Peter Chen Notation);</a:t>
            </a:r>
            <a:endParaRPr/>
          </a:p>
          <a:p>
            <a:pPr indent="-285750" lvl="0" marL="285750" marR="0" rtl="0" algn="l">
              <a:spcBef>
                <a:spcPts val="1200"/>
              </a:spcBef>
              <a:spcAft>
                <a:spcPts val="0"/>
              </a:spcAft>
              <a:buClr>
                <a:srgbClr val="202122"/>
              </a:buClr>
              <a:buSzPts val="1800"/>
              <a:buFont typeface="Arial"/>
              <a:buChar char="•"/>
            </a:pPr>
            <a:r>
              <a:rPr b="1" i="0" lang="en-US" sz="1800">
                <a:solidFill>
                  <a:srgbClr val="202122"/>
                </a:solidFill>
                <a:latin typeface="Calibri"/>
                <a:ea typeface="Calibri"/>
                <a:cs typeface="Calibri"/>
                <a:sym typeface="Calibri"/>
              </a:rPr>
              <a:t>Другие: н</a:t>
            </a:r>
            <a:r>
              <a:rPr b="1" i="0" lang="en-US" sz="1800">
                <a:solidFill>
                  <a:srgbClr val="333333"/>
                </a:solidFill>
                <a:latin typeface="Calibri"/>
                <a:ea typeface="Calibri"/>
                <a:cs typeface="Calibri"/>
                <a:sym typeface="Calibri"/>
              </a:rPr>
              <a:t>отация Ж.-Р. Абриаля (мин-макс), диаграммы классов UML, …</a:t>
            </a:r>
            <a:endParaRPr/>
          </a:p>
          <a:p>
            <a:pPr indent="-171450" lvl="0" marL="285750" marR="0" rtl="0" algn="l">
              <a:spcBef>
                <a:spcPts val="1200"/>
              </a:spcBef>
              <a:spcAft>
                <a:spcPts val="0"/>
              </a:spcAft>
              <a:buClr>
                <a:schemeClr val="dk1"/>
              </a:buClr>
              <a:buSzPts val="1800"/>
              <a:buFont typeface="Arial"/>
              <a:buNone/>
            </a:pPr>
            <a:r>
              <a:t/>
            </a:r>
            <a:endParaRPr b="1" i="0" sz="1800">
              <a:solidFill>
                <a:srgbClr val="333333"/>
              </a:solidFill>
              <a:latin typeface="Calibri"/>
              <a:ea typeface="Calibri"/>
              <a:cs typeface="Calibri"/>
              <a:sym typeface="Calibri"/>
            </a:endParaRPr>
          </a:p>
        </p:txBody>
      </p:sp>
      <p:sp>
        <p:nvSpPr>
          <p:cNvPr id="325" name="Google Shape;325;p25"/>
          <p:cNvSpPr txBox="1"/>
          <p:nvPr/>
        </p:nvSpPr>
        <p:spPr>
          <a:xfrm>
            <a:off x="5644896" y="2243638"/>
            <a:ext cx="6096000" cy="452431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Модель «Сущность-связь» (Entity Relationship Model, ER-model) – один из наиболее распространение методов семантического моделирования. Разработал П. Чен в 1976 г.</a:t>
            </a:r>
            <a:endParaRPr/>
          </a:p>
          <a:p>
            <a:pPr indent="0" lvl="0" marL="0" marR="0" rtl="0" algn="l">
              <a:spcBef>
                <a:spcPts val="1200"/>
              </a:spcBef>
              <a:spcAft>
                <a:spcPts val="0"/>
              </a:spcAft>
              <a:buNone/>
            </a:pPr>
            <a:r>
              <a:rPr lang="en-US" sz="1400">
                <a:solidFill>
                  <a:schemeClr val="dk1"/>
                </a:solidFill>
                <a:latin typeface="Calibri"/>
                <a:ea typeface="Calibri"/>
                <a:cs typeface="Calibri"/>
                <a:sym typeface="Calibri"/>
              </a:rPr>
              <a:t>ER-модель – формальная конструкция, которая сама по себе не предписывает никаких графических средств ее визуализации. </a:t>
            </a:r>
            <a:endParaRPr/>
          </a:p>
          <a:p>
            <a:pPr indent="0" lvl="0" marL="0" marR="0" rtl="0" algn="l">
              <a:spcBef>
                <a:spcPts val="1200"/>
              </a:spcBef>
              <a:spcAft>
                <a:spcPts val="0"/>
              </a:spcAft>
              <a:buNone/>
            </a:pPr>
            <a:r>
              <a:rPr lang="en-US" sz="1400">
                <a:solidFill>
                  <a:schemeClr val="dk1"/>
                </a:solidFill>
                <a:latin typeface="Calibri"/>
                <a:ea typeface="Calibri"/>
                <a:cs typeface="Calibri"/>
                <a:sym typeface="Calibri"/>
              </a:rPr>
              <a:t>В качестве стандартной графической нотации, с помощью которой можно визуализировать ER-модель, была предложена диаграмма «Сущность-связь».</a:t>
            </a:r>
            <a:endParaRPr/>
          </a:p>
          <a:p>
            <a:pPr indent="0" lvl="0" marL="0" marR="0" rtl="0" algn="l">
              <a:spcBef>
                <a:spcPts val="1200"/>
              </a:spcBef>
              <a:spcAft>
                <a:spcPts val="0"/>
              </a:spcAft>
              <a:buNone/>
            </a:pPr>
            <a:r>
              <a:rPr lang="en-US" sz="1400">
                <a:solidFill>
                  <a:schemeClr val="dk1"/>
                </a:solidFill>
                <a:latin typeface="Calibri"/>
                <a:ea typeface="Calibri"/>
                <a:cs typeface="Calibri"/>
                <a:sym typeface="Calibri"/>
              </a:rPr>
              <a:t>Диаграмма «Сущность-связь» (ERD, Entity-Relationship Diagram, ER-диаграмма) – разновидность блок-схемы, где показано, как разные «сущности» (люди, объекты, концепции и так далее) связаны между собой внутри системы.</a:t>
            </a:r>
            <a:endParaRPr/>
          </a:p>
          <a:p>
            <a:pPr indent="0" lvl="0" marL="0" marR="0" rtl="0" algn="l">
              <a:spcBef>
                <a:spcPts val="1200"/>
              </a:spcBef>
              <a:spcAft>
                <a:spcPts val="0"/>
              </a:spcAft>
              <a:buNone/>
            </a:pPr>
            <a:r>
              <a:rPr lang="en-US" sz="1400">
                <a:solidFill>
                  <a:schemeClr val="dk1"/>
                </a:solidFill>
                <a:latin typeface="Calibri"/>
                <a:ea typeface="Calibri"/>
                <a:cs typeface="Calibri"/>
                <a:sym typeface="Calibri"/>
              </a:rPr>
              <a:t>ER-диаграммы полагаются на стандартный набор символов, включая прямоугольники, ромбы, овалы и соединительные линии, для отображения сущностей, их атрибутов и связей. </a:t>
            </a:r>
            <a:endParaRPr/>
          </a:p>
          <a:p>
            <a:pPr indent="0" lvl="0" marL="0" marR="0" rtl="0" algn="l">
              <a:spcBef>
                <a:spcPts val="1200"/>
              </a:spcBef>
              <a:spcAft>
                <a:spcPts val="0"/>
              </a:spcAft>
              <a:buNone/>
            </a:pPr>
            <a:r>
              <a:rPr lang="en-US" sz="1400">
                <a:solidFill>
                  <a:schemeClr val="dk1"/>
                </a:solidFill>
                <a:latin typeface="Calibri"/>
                <a:ea typeface="Calibri"/>
                <a:cs typeface="Calibri"/>
                <a:sym typeface="Calibri"/>
              </a:rPr>
              <a:t>Эти диаграммы устроены по тому же принципу, что и грамматические структуры: сущности выполняют роль существительных, а связи – глаголов.</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grpSp>
        <p:nvGrpSpPr>
          <p:cNvPr id="330" name="Google Shape;330;p26"/>
          <p:cNvGrpSpPr/>
          <p:nvPr/>
        </p:nvGrpSpPr>
        <p:grpSpPr>
          <a:xfrm>
            <a:off x="4818126" y="1731267"/>
            <a:ext cx="1824989" cy="1143000"/>
            <a:chOff x="3294126" y="1731267"/>
            <a:chExt cx="1824989" cy="1143000"/>
          </a:xfrm>
        </p:grpSpPr>
        <p:sp>
          <p:nvSpPr>
            <p:cNvPr id="331" name="Google Shape;331;p26"/>
            <p:cNvSpPr/>
            <p:nvPr/>
          </p:nvSpPr>
          <p:spPr>
            <a:xfrm>
              <a:off x="3294126" y="1731267"/>
              <a:ext cx="1824989" cy="1143000"/>
            </a:xfrm>
            <a:custGeom>
              <a:rect b="b" l="l" r="r" t="t"/>
              <a:pathLst>
                <a:path extrusionOk="0" h="1143000" w="1824989">
                  <a:moveTo>
                    <a:pt x="1634489" y="0"/>
                  </a:moveTo>
                  <a:lnTo>
                    <a:pt x="190500" y="0"/>
                  </a:lnTo>
                  <a:lnTo>
                    <a:pt x="146821" y="5031"/>
                  </a:lnTo>
                  <a:lnTo>
                    <a:pt x="106724" y="19363"/>
                  </a:lnTo>
                  <a:lnTo>
                    <a:pt x="71353" y="41851"/>
                  </a:lnTo>
                  <a:lnTo>
                    <a:pt x="41851" y="71353"/>
                  </a:lnTo>
                  <a:lnTo>
                    <a:pt x="19363" y="106724"/>
                  </a:lnTo>
                  <a:lnTo>
                    <a:pt x="5031" y="146821"/>
                  </a:lnTo>
                  <a:lnTo>
                    <a:pt x="0" y="190500"/>
                  </a:lnTo>
                  <a:lnTo>
                    <a:pt x="0" y="952487"/>
                  </a:lnTo>
                  <a:lnTo>
                    <a:pt x="5031" y="996170"/>
                  </a:lnTo>
                  <a:lnTo>
                    <a:pt x="19363" y="1036270"/>
                  </a:lnTo>
                  <a:lnTo>
                    <a:pt x="41851" y="1071644"/>
                  </a:lnTo>
                  <a:lnTo>
                    <a:pt x="71353" y="1101147"/>
                  </a:lnTo>
                  <a:lnTo>
                    <a:pt x="106724" y="1123636"/>
                  </a:lnTo>
                  <a:lnTo>
                    <a:pt x="146821" y="1137968"/>
                  </a:lnTo>
                  <a:lnTo>
                    <a:pt x="190500" y="1143000"/>
                  </a:lnTo>
                  <a:lnTo>
                    <a:pt x="1634489" y="1143000"/>
                  </a:lnTo>
                  <a:lnTo>
                    <a:pt x="1678168" y="1137968"/>
                  </a:lnTo>
                  <a:lnTo>
                    <a:pt x="1718265" y="1123636"/>
                  </a:lnTo>
                  <a:lnTo>
                    <a:pt x="1753636" y="1101147"/>
                  </a:lnTo>
                  <a:lnTo>
                    <a:pt x="1783138" y="1071644"/>
                  </a:lnTo>
                  <a:lnTo>
                    <a:pt x="1805626" y="1036270"/>
                  </a:lnTo>
                  <a:lnTo>
                    <a:pt x="1819958" y="996170"/>
                  </a:lnTo>
                  <a:lnTo>
                    <a:pt x="1824989" y="952487"/>
                  </a:lnTo>
                  <a:lnTo>
                    <a:pt x="1824989" y="190500"/>
                  </a:lnTo>
                  <a:lnTo>
                    <a:pt x="1819958" y="146821"/>
                  </a:lnTo>
                  <a:lnTo>
                    <a:pt x="1805626" y="106724"/>
                  </a:lnTo>
                  <a:lnTo>
                    <a:pt x="1783138" y="71353"/>
                  </a:lnTo>
                  <a:lnTo>
                    <a:pt x="1753636" y="41851"/>
                  </a:lnTo>
                  <a:lnTo>
                    <a:pt x="1718265" y="19363"/>
                  </a:lnTo>
                  <a:lnTo>
                    <a:pt x="1678168" y="5031"/>
                  </a:lnTo>
                  <a:lnTo>
                    <a:pt x="1634489" y="0"/>
                  </a:lnTo>
                  <a:close/>
                </a:path>
              </a:pathLst>
            </a:custGeom>
            <a:solidFill>
              <a:srgbClr val="C8D9D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2" name="Google Shape;332;p26"/>
            <p:cNvSpPr/>
            <p:nvPr/>
          </p:nvSpPr>
          <p:spPr>
            <a:xfrm>
              <a:off x="3294126" y="1731267"/>
              <a:ext cx="1824989" cy="1143000"/>
            </a:xfrm>
            <a:custGeom>
              <a:rect b="b" l="l" r="r" t="t"/>
              <a:pathLst>
                <a:path extrusionOk="0" h="1143000" w="1824989">
                  <a:moveTo>
                    <a:pt x="0" y="190500"/>
                  </a:moveTo>
                  <a:lnTo>
                    <a:pt x="5031" y="146821"/>
                  </a:lnTo>
                  <a:lnTo>
                    <a:pt x="19363" y="106724"/>
                  </a:lnTo>
                  <a:lnTo>
                    <a:pt x="41851" y="71353"/>
                  </a:lnTo>
                  <a:lnTo>
                    <a:pt x="71353" y="41851"/>
                  </a:lnTo>
                  <a:lnTo>
                    <a:pt x="106724" y="19363"/>
                  </a:lnTo>
                  <a:lnTo>
                    <a:pt x="146821" y="5031"/>
                  </a:lnTo>
                  <a:lnTo>
                    <a:pt x="190500" y="0"/>
                  </a:lnTo>
                  <a:lnTo>
                    <a:pt x="1634489" y="0"/>
                  </a:lnTo>
                  <a:lnTo>
                    <a:pt x="1678168" y="5031"/>
                  </a:lnTo>
                  <a:lnTo>
                    <a:pt x="1718265" y="19363"/>
                  </a:lnTo>
                  <a:lnTo>
                    <a:pt x="1753636" y="41851"/>
                  </a:lnTo>
                  <a:lnTo>
                    <a:pt x="1783138" y="71353"/>
                  </a:lnTo>
                  <a:lnTo>
                    <a:pt x="1805626" y="106724"/>
                  </a:lnTo>
                  <a:lnTo>
                    <a:pt x="1819958" y="146821"/>
                  </a:lnTo>
                  <a:lnTo>
                    <a:pt x="1824989" y="190500"/>
                  </a:lnTo>
                  <a:lnTo>
                    <a:pt x="1824989" y="952487"/>
                  </a:lnTo>
                  <a:lnTo>
                    <a:pt x="1819958" y="996170"/>
                  </a:lnTo>
                  <a:lnTo>
                    <a:pt x="1805626" y="1036270"/>
                  </a:lnTo>
                  <a:lnTo>
                    <a:pt x="1783138" y="1071644"/>
                  </a:lnTo>
                  <a:lnTo>
                    <a:pt x="1753636" y="1101147"/>
                  </a:lnTo>
                  <a:lnTo>
                    <a:pt x="1718265" y="1123636"/>
                  </a:lnTo>
                  <a:lnTo>
                    <a:pt x="1678168" y="1137968"/>
                  </a:lnTo>
                  <a:lnTo>
                    <a:pt x="1634489" y="1143000"/>
                  </a:lnTo>
                  <a:lnTo>
                    <a:pt x="190500" y="1143000"/>
                  </a:lnTo>
                  <a:lnTo>
                    <a:pt x="146821" y="1137968"/>
                  </a:lnTo>
                  <a:lnTo>
                    <a:pt x="106724" y="1123636"/>
                  </a:lnTo>
                  <a:lnTo>
                    <a:pt x="71353" y="1101147"/>
                  </a:lnTo>
                  <a:lnTo>
                    <a:pt x="41851" y="1071644"/>
                  </a:lnTo>
                  <a:lnTo>
                    <a:pt x="19363" y="1036270"/>
                  </a:lnTo>
                  <a:lnTo>
                    <a:pt x="5031" y="996170"/>
                  </a:lnTo>
                  <a:lnTo>
                    <a:pt x="0" y="952487"/>
                  </a:lnTo>
                  <a:lnTo>
                    <a:pt x="0" y="190500"/>
                  </a:lnTo>
                  <a:close/>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3" name="Google Shape;333;p26"/>
          <p:cNvSpPr txBox="1"/>
          <p:nvPr>
            <p:ph type="title"/>
          </p:nvPr>
        </p:nvSpPr>
        <p:spPr>
          <a:xfrm>
            <a:off x="1916111" y="308287"/>
            <a:ext cx="9560271" cy="1367041"/>
          </a:xfrm>
          <a:prstGeom prst="rect">
            <a:avLst/>
          </a:prstGeom>
          <a:noFill/>
          <a:ln>
            <a:noFill/>
          </a:ln>
        </p:spPr>
        <p:txBody>
          <a:bodyPr anchorCtr="0" anchor="ctr" bIns="0" lIns="0" spcFirstLastPara="1" rIns="0" wrap="square" tIns="12700">
            <a:spAutoFit/>
          </a:bodyPr>
          <a:lstStyle/>
          <a:p>
            <a:pPr indent="0" lvl="0" marL="12700" rtl="0" algn="l">
              <a:lnSpc>
                <a:spcPct val="100000"/>
              </a:lnSpc>
              <a:spcBef>
                <a:spcPts val="0"/>
              </a:spcBef>
              <a:spcAft>
                <a:spcPts val="0"/>
              </a:spcAft>
              <a:buClr>
                <a:schemeClr val="dk1"/>
              </a:buClr>
              <a:buSzPts val="4400"/>
              <a:buFont typeface="Calibri"/>
              <a:buNone/>
            </a:pPr>
            <a:r>
              <a:rPr lang="en-US"/>
              <a:t>Обозначения в модели данных: примеры</a:t>
            </a:r>
            <a:endParaRPr/>
          </a:p>
        </p:txBody>
      </p:sp>
      <p:sp>
        <p:nvSpPr>
          <p:cNvPr id="334" name="Google Shape;334;p26"/>
          <p:cNvSpPr txBox="1"/>
          <p:nvPr>
            <p:ph idx="12" type="sldNum"/>
          </p:nvPr>
        </p:nvSpPr>
        <p:spPr>
          <a:xfrm>
            <a:off x="8610600" y="6356350"/>
            <a:ext cx="2743200" cy="365125"/>
          </a:xfrm>
          <a:prstGeom prst="rect">
            <a:avLst/>
          </a:prstGeom>
          <a:noFill/>
          <a:ln>
            <a:noFill/>
          </a:ln>
        </p:spPr>
        <p:txBody>
          <a:bodyPr anchorCtr="0" anchor="ctr" bIns="0" lIns="0" spcFirstLastPara="1" rIns="0" wrap="square" tIns="0">
            <a:spAutoFit/>
          </a:bodyPr>
          <a:lstStyle/>
          <a:p>
            <a:pPr indent="0" lvl="0" marL="38100" marR="0" rtl="0" algn="l">
              <a:lnSpc>
                <a:spcPct val="107058"/>
              </a:lnSpc>
              <a:spcBef>
                <a:spcPts val="0"/>
              </a:spcBef>
              <a:spcAft>
                <a:spcPts val="0"/>
              </a:spcAft>
              <a:buNone/>
            </a:pPr>
            <a:fld id="{00000000-1234-1234-1234-123412341234}" type="slidenum">
              <a:rPr b="0" i="0" lang="en-US" sz="850">
                <a:solidFill>
                  <a:srgbClr val="58595B"/>
                </a:solidFill>
                <a:latin typeface="Calibri"/>
                <a:ea typeface="Calibri"/>
                <a:cs typeface="Calibri"/>
                <a:sym typeface="Calibri"/>
              </a:rPr>
              <a:t>‹#›</a:t>
            </a:fld>
            <a:endParaRPr b="0" i="0" sz="850">
              <a:solidFill>
                <a:srgbClr val="58595B"/>
              </a:solidFill>
              <a:latin typeface="Calibri"/>
              <a:ea typeface="Calibri"/>
              <a:cs typeface="Calibri"/>
              <a:sym typeface="Calibri"/>
            </a:endParaRPr>
          </a:p>
        </p:txBody>
      </p:sp>
      <p:sp>
        <p:nvSpPr>
          <p:cNvPr id="335" name="Google Shape;335;p26"/>
          <p:cNvSpPr txBox="1"/>
          <p:nvPr/>
        </p:nvSpPr>
        <p:spPr>
          <a:xfrm>
            <a:off x="4953024" y="1805722"/>
            <a:ext cx="1040130"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58595B"/>
                </a:solidFill>
                <a:latin typeface="Calibri"/>
                <a:ea typeface="Calibri"/>
                <a:cs typeface="Calibri"/>
                <a:sym typeface="Calibri"/>
              </a:rPr>
              <a:t>EMPLOYEE</a:t>
            </a:r>
            <a:endParaRPr sz="1800">
              <a:solidFill>
                <a:schemeClr val="dk1"/>
              </a:solidFill>
              <a:latin typeface="Calibri"/>
              <a:ea typeface="Calibri"/>
              <a:cs typeface="Calibri"/>
              <a:sym typeface="Calibri"/>
            </a:endParaRPr>
          </a:p>
        </p:txBody>
      </p:sp>
      <p:grpSp>
        <p:nvGrpSpPr>
          <p:cNvPr id="336" name="Google Shape;336;p26"/>
          <p:cNvGrpSpPr/>
          <p:nvPr/>
        </p:nvGrpSpPr>
        <p:grpSpPr>
          <a:xfrm>
            <a:off x="8201406" y="1731267"/>
            <a:ext cx="1824989" cy="1143000"/>
            <a:chOff x="6677406" y="1731267"/>
            <a:chExt cx="1824989" cy="1143000"/>
          </a:xfrm>
        </p:grpSpPr>
        <p:sp>
          <p:nvSpPr>
            <p:cNvPr id="337" name="Google Shape;337;p26"/>
            <p:cNvSpPr/>
            <p:nvPr/>
          </p:nvSpPr>
          <p:spPr>
            <a:xfrm>
              <a:off x="6677406" y="1731267"/>
              <a:ext cx="1824989" cy="1143000"/>
            </a:xfrm>
            <a:custGeom>
              <a:rect b="b" l="l" r="r" t="t"/>
              <a:pathLst>
                <a:path extrusionOk="0" h="1143000" w="1824990">
                  <a:moveTo>
                    <a:pt x="1634489" y="0"/>
                  </a:moveTo>
                  <a:lnTo>
                    <a:pt x="190500" y="0"/>
                  </a:lnTo>
                  <a:lnTo>
                    <a:pt x="146821" y="5031"/>
                  </a:lnTo>
                  <a:lnTo>
                    <a:pt x="106724" y="19363"/>
                  </a:lnTo>
                  <a:lnTo>
                    <a:pt x="71353" y="41851"/>
                  </a:lnTo>
                  <a:lnTo>
                    <a:pt x="41851" y="71353"/>
                  </a:lnTo>
                  <a:lnTo>
                    <a:pt x="19363" y="106724"/>
                  </a:lnTo>
                  <a:lnTo>
                    <a:pt x="5031" y="146821"/>
                  </a:lnTo>
                  <a:lnTo>
                    <a:pt x="0" y="190500"/>
                  </a:lnTo>
                  <a:lnTo>
                    <a:pt x="0" y="952487"/>
                  </a:lnTo>
                  <a:lnTo>
                    <a:pt x="5031" y="996170"/>
                  </a:lnTo>
                  <a:lnTo>
                    <a:pt x="19363" y="1036270"/>
                  </a:lnTo>
                  <a:lnTo>
                    <a:pt x="41851" y="1071644"/>
                  </a:lnTo>
                  <a:lnTo>
                    <a:pt x="71353" y="1101147"/>
                  </a:lnTo>
                  <a:lnTo>
                    <a:pt x="106724" y="1123636"/>
                  </a:lnTo>
                  <a:lnTo>
                    <a:pt x="146821" y="1137968"/>
                  </a:lnTo>
                  <a:lnTo>
                    <a:pt x="190500" y="1143000"/>
                  </a:lnTo>
                  <a:lnTo>
                    <a:pt x="1634489" y="1143000"/>
                  </a:lnTo>
                  <a:lnTo>
                    <a:pt x="1678168" y="1137968"/>
                  </a:lnTo>
                  <a:lnTo>
                    <a:pt x="1718265" y="1123636"/>
                  </a:lnTo>
                  <a:lnTo>
                    <a:pt x="1753636" y="1101147"/>
                  </a:lnTo>
                  <a:lnTo>
                    <a:pt x="1783138" y="1071644"/>
                  </a:lnTo>
                  <a:lnTo>
                    <a:pt x="1805626" y="1036270"/>
                  </a:lnTo>
                  <a:lnTo>
                    <a:pt x="1819958" y="996170"/>
                  </a:lnTo>
                  <a:lnTo>
                    <a:pt x="1824989" y="952487"/>
                  </a:lnTo>
                  <a:lnTo>
                    <a:pt x="1824989" y="190500"/>
                  </a:lnTo>
                  <a:lnTo>
                    <a:pt x="1819958" y="146821"/>
                  </a:lnTo>
                  <a:lnTo>
                    <a:pt x="1805626" y="106724"/>
                  </a:lnTo>
                  <a:lnTo>
                    <a:pt x="1783138" y="71353"/>
                  </a:lnTo>
                  <a:lnTo>
                    <a:pt x="1753636" y="41851"/>
                  </a:lnTo>
                  <a:lnTo>
                    <a:pt x="1718265" y="19363"/>
                  </a:lnTo>
                  <a:lnTo>
                    <a:pt x="1678168" y="5031"/>
                  </a:lnTo>
                  <a:lnTo>
                    <a:pt x="1634489" y="0"/>
                  </a:lnTo>
                  <a:close/>
                </a:path>
              </a:pathLst>
            </a:custGeom>
            <a:solidFill>
              <a:srgbClr val="C8D9D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38" name="Google Shape;338;p26"/>
            <p:cNvSpPr/>
            <p:nvPr/>
          </p:nvSpPr>
          <p:spPr>
            <a:xfrm>
              <a:off x="6677406" y="1731267"/>
              <a:ext cx="1824989" cy="1143000"/>
            </a:xfrm>
            <a:custGeom>
              <a:rect b="b" l="l" r="r" t="t"/>
              <a:pathLst>
                <a:path extrusionOk="0" h="1143000" w="1824990">
                  <a:moveTo>
                    <a:pt x="0" y="190500"/>
                  </a:moveTo>
                  <a:lnTo>
                    <a:pt x="5031" y="146821"/>
                  </a:lnTo>
                  <a:lnTo>
                    <a:pt x="19363" y="106724"/>
                  </a:lnTo>
                  <a:lnTo>
                    <a:pt x="41851" y="71353"/>
                  </a:lnTo>
                  <a:lnTo>
                    <a:pt x="71353" y="41851"/>
                  </a:lnTo>
                  <a:lnTo>
                    <a:pt x="106724" y="19363"/>
                  </a:lnTo>
                  <a:lnTo>
                    <a:pt x="146821" y="5031"/>
                  </a:lnTo>
                  <a:lnTo>
                    <a:pt x="190500" y="0"/>
                  </a:lnTo>
                  <a:lnTo>
                    <a:pt x="1634489" y="0"/>
                  </a:lnTo>
                  <a:lnTo>
                    <a:pt x="1678168" y="5031"/>
                  </a:lnTo>
                  <a:lnTo>
                    <a:pt x="1718265" y="19363"/>
                  </a:lnTo>
                  <a:lnTo>
                    <a:pt x="1753636" y="41851"/>
                  </a:lnTo>
                  <a:lnTo>
                    <a:pt x="1783138" y="71353"/>
                  </a:lnTo>
                  <a:lnTo>
                    <a:pt x="1805626" y="106724"/>
                  </a:lnTo>
                  <a:lnTo>
                    <a:pt x="1819958" y="146821"/>
                  </a:lnTo>
                  <a:lnTo>
                    <a:pt x="1824989" y="190500"/>
                  </a:lnTo>
                  <a:lnTo>
                    <a:pt x="1824989" y="952487"/>
                  </a:lnTo>
                  <a:lnTo>
                    <a:pt x="1819958" y="996170"/>
                  </a:lnTo>
                  <a:lnTo>
                    <a:pt x="1805626" y="1036270"/>
                  </a:lnTo>
                  <a:lnTo>
                    <a:pt x="1783138" y="1071644"/>
                  </a:lnTo>
                  <a:lnTo>
                    <a:pt x="1753636" y="1101147"/>
                  </a:lnTo>
                  <a:lnTo>
                    <a:pt x="1718265" y="1123636"/>
                  </a:lnTo>
                  <a:lnTo>
                    <a:pt x="1678168" y="1137968"/>
                  </a:lnTo>
                  <a:lnTo>
                    <a:pt x="1634489" y="1143000"/>
                  </a:lnTo>
                  <a:lnTo>
                    <a:pt x="190500" y="1143000"/>
                  </a:lnTo>
                  <a:lnTo>
                    <a:pt x="146821" y="1137968"/>
                  </a:lnTo>
                  <a:lnTo>
                    <a:pt x="106724" y="1123636"/>
                  </a:lnTo>
                  <a:lnTo>
                    <a:pt x="71353" y="1101147"/>
                  </a:lnTo>
                  <a:lnTo>
                    <a:pt x="41851" y="1071644"/>
                  </a:lnTo>
                  <a:lnTo>
                    <a:pt x="19363" y="1036270"/>
                  </a:lnTo>
                  <a:lnTo>
                    <a:pt x="5031" y="996170"/>
                  </a:lnTo>
                  <a:lnTo>
                    <a:pt x="0" y="952487"/>
                  </a:lnTo>
                  <a:lnTo>
                    <a:pt x="0" y="190500"/>
                  </a:lnTo>
                  <a:close/>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39" name="Google Shape;339;p26"/>
          <p:cNvSpPr txBox="1"/>
          <p:nvPr/>
        </p:nvSpPr>
        <p:spPr>
          <a:xfrm>
            <a:off x="8336304" y="1805722"/>
            <a:ext cx="1341120"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58595B"/>
                </a:solidFill>
                <a:latin typeface="Calibri"/>
                <a:ea typeface="Calibri"/>
                <a:cs typeface="Calibri"/>
                <a:sym typeface="Calibri"/>
              </a:rPr>
              <a:t>DEPARTMENT</a:t>
            </a:r>
            <a:endParaRPr sz="1800">
              <a:solidFill>
                <a:schemeClr val="dk1"/>
              </a:solidFill>
              <a:latin typeface="Calibri"/>
              <a:ea typeface="Calibri"/>
              <a:cs typeface="Calibri"/>
              <a:sym typeface="Calibri"/>
            </a:endParaRPr>
          </a:p>
        </p:txBody>
      </p:sp>
      <p:grpSp>
        <p:nvGrpSpPr>
          <p:cNvPr id="340" name="Google Shape;340;p26"/>
          <p:cNvGrpSpPr/>
          <p:nvPr/>
        </p:nvGrpSpPr>
        <p:grpSpPr>
          <a:xfrm>
            <a:off x="6646926" y="2036064"/>
            <a:ext cx="1524000" cy="457200"/>
            <a:chOff x="5122926" y="2036063"/>
            <a:chExt cx="1524000" cy="457200"/>
          </a:xfrm>
        </p:grpSpPr>
        <p:sp>
          <p:nvSpPr>
            <p:cNvPr id="341" name="Google Shape;341;p26"/>
            <p:cNvSpPr/>
            <p:nvPr/>
          </p:nvSpPr>
          <p:spPr>
            <a:xfrm>
              <a:off x="5124450" y="2264663"/>
              <a:ext cx="838200" cy="0"/>
            </a:xfrm>
            <a:custGeom>
              <a:rect b="b" l="l" r="r" t="t"/>
              <a:pathLst>
                <a:path extrusionOk="0" h="120000" w="838200">
                  <a:moveTo>
                    <a:pt x="0" y="0"/>
                  </a:moveTo>
                  <a:lnTo>
                    <a:pt x="838200" y="0"/>
                  </a:lnTo>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2" name="Google Shape;342;p26"/>
            <p:cNvSpPr/>
            <p:nvPr/>
          </p:nvSpPr>
          <p:spPr>
            <a:xfrm>
              <a:off x="6098286" y="2264663"/>
              <a:ext cx="548640" cy="0"/>
            </a:xfrm>
            <a:custGeom>
              <a:rect b="b" l="l" r="r" t="t"/>
              <a:pathLst>
                <a:path extrusionOk="0" h="120000" w="548640">
                  <a:moveTo>
                    <a:pt x="0" y="0"/>
                  </a:moveTo>
                  <a:lnTo>
                    <a:pt x="548640" y="0"/>
                  </a:lnTo>
                </a:path>
              </a:pathLst>
            </a:custGeom>
            <a:noFill/>
            <a:ln cap="flat" cmpd="sng" w="28950">
              <a:solidFill>
                <a:srgbClr val="58595B"/>
              </a:solidFill>
              <a:prstDash val="lgDash"/>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3" name="Google Shape;343;p26"/>
            <p:cNvSpPr/>
            <p:nvPr/>
          </p:nvSpPr>
          <p:spPr>
            <a:xfrm>
              <a:off x="5122926" y="2036063"/>
              <a:ext cx="152400" cy="228600"/>
            </a:xfrm>
            <a:custGeom>
              <a:rect b="b" l="l" r="r" t="t"/>
              <a:pathLst>
                <a:path extrusionOk="0" h="228600" w="152400">
                  <a:moveTo>
                    <a:pt x="0" y="0"/>
                  </a:moveTo>
                  <a:lnTo>
                    <a:pt x="152400" y="228600"/>
                  </a:lnTo>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44" name="Google Shape;344;p26"/>
            <p:cNvSpPr/>
            <p:nvPr/>
          </p:nvSpPr>
          <p:spPr>
            <a:xfrm>
              <a:off x="5122926" y="2264663"/>
              <a:ext cx="152400" cy="228600"/>
            </a:xfrm>
            <a:custGeom>
              <a:rect b="b" l="l" r="r" t="t"/>
              <a:pathLst>
                <a:path extrusionOk="0" h="228600" w="152400">
                  <a:moveTo>
                    <a:pt x="152400" y="0"/>
                  </a:moveTo>
                  <a:lnTo>
                    <a:pt x="0" y="228600"/>
                  </a:lnTo>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45" name="Google Shape;345;p26"/>
          <p:cNvSpPr txBox="1"/>
          <p:nvPr/>
        </p:nvSpPr>
        <p:spPr>
          <a:xfrm>
            <a:off x="6817467" y="1899395"/>
            <a:ext cx="826769"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58595B"/>
                </a:solidFill>
                <a:latin typeface="Calibri"/>
                <a:ea typeface="Calibri"/>
                <a:cs typeface="Calibri"/>
                <a:sym typeface="Calibri"/>
              </a:rPr>
              <a:t>works in</a:t>
            </a:r>
            <a:endParaRPr sz="1800">
              <a:solidFill>
                <a:schemeClr val="dk1"/>
              </a:solidFill>
              <a:latin typeface="Calibri"/>
              <a:ea typeface="Calibri"/>
              <a:cs typeface="Calibri"/>
              <a:sym typeface="Calibri"/>
            </a:endParaRPr>
          </a:p>
        </p:txBody>
      </p:sp>
      <p:sp>
        <p:nvSpPr>
          <p:cNvPr id="346" name="Google Shape;346;p26"/>
          <p:cNvSpPr txBox="1"/>
          <p:nvPr/>
        </p:nvSpPr>
        <p:spPr>
          <a:xfrm>
            <a:off x="6813581" y="3559717"/>
            <a:ext cx="826769"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58595B"/>
                </a:solidFill>
                <a:latin typeface="Calibri"/>
                <a:ea typeface="Calibri"/>
                <a:cs typeface="Calibri"/>
                <a:sym typeface="Calibri"/>
              </a:rPr>
              <a:t>works in</a:t>
            </a:r>
            <a:endParaRPr sz="1800">
              <a:solidFill>
                <a:schemeClr val="dk1"/>
              </a:solidFill>
              <a:latin typeface="Calibri"/>
              <a:ea typeface="Calibri"/>
              <a:cs typeface="Calibri"/>
              <a:sym typeface="Calibri"/>
            </a:endParaRPr>
          </a:p>
        </p:txBody>
      </p:sp>
      <p:sp>
        <p:nvSpPr>
          <p:cNvPr id="347" name="Google Shape;347;p26"/>
          <p:cNvSpPr txBox="1"/>
          <p:nvPr/>
        </p:nvSpPr>
        <p:spPr>
          <a:xfrm>
            <a:off x="7106874" y="2340593"/>
            <a:ext cx="823594"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58595B"/>
                </a:solidFill>
                <a:latin typeface="Calibri"/>
                <a:ea typeface="Calibri"/>
                <a:cs typeface="Calibri"/>
                <a:sym typeface="Calibri"/>
              </a:rPr>
              <a:t>contains</a:t>
            </a:r>
            <a:endParaRPr sz="1800">
              <a:solidFill>
                <a:schemeClr val="dk1"/>
              </a:solidFill>
              <a:latin typeface="Calibri"/>
              <a:ea typeface="Calibri"/>
              <a:cs typeface="Calibri"/>
              <a:sym typeface="Calibri"/>
            </a:endParaRPr>
          </a:p>
        </p:txBody>
      </p:sp>
      <p:sp>
        <p:nvSpPr>
          <p:cNvPr id="348" name="Google Shape;348;p26"/>
          <p:cNvSpPr txBox="1"/>
          <p:nvPr/>
        </p:nvSpPr>
        <p:spPr>
          <a:xfrm>
            <a:off x="7022292" y="3912218"/>
            <a:ext cx="823594"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58595B"/>
                </a:solidFill>
                <a:latin typeface="Calibri"/>
                <a:ea typeface="Calibri"/>
                <a:cs typeface="Calibri"/>
                <a:sym typeface="Calibri"/>
              </a:rPr>
              <a:t>contains</a:t>
            </a:r>
            <a:endParaRPr sz="1800">
              <a:solidFill>
                <a:schemeClr val="dk1"/>
              </a:solidFill>
              <a:latin typeface="Calibri"/>
              <a:ea typeface="Calibri"/>
              <a:cs typeface="Calibri"/>
              <a:sym typeface="Calibri"/>
            </a:endParaRPr>
          </a:p>
        </p:txBody>
      </p:sp>
      <p:grpSp>
        <p:nvGrpSpPr>
          <p:cNvPr id="349" name="Google Shape;349;p26"/>
          <p:cNvGrpSpPr/>
          <p:nvPr/>
        </p:nvGrpSpPr>
        <p:grpSpPr>
          <a:xfrm>
            <a:off x="6565392" y="5236465"/>
            <a:ext cx="1636903" cy="381000"/>
            <a:chOff x="5041391" y="5236464"/>
            <a:chExt cx="1636903" cy="381000"/>
          </a:xfrm>
        </p:grpSpPr>
        <p:sp>
          <p:nvSpPr>
            <p:cNvPr id="350" name="Google Shape;350;p26"/>
            <p:cNvSpPr/>
            <p:nvPr/>
          </p:nvSpPr>
          <p:spPr>
            <a:xfrm>
              <a:off x="5061584" y="5426964"/>
              <a:ext cx="1616710" cy="0"/>
            </a:xfrm>
            <a:custGeom>
              <a:rect b="b" l="l" r="r" t="t"/>
              <a:pathLst>
                <a:path extrusionOk="0" h="120000" w="1616709">
                  <a:moveTo>
                    <a:pt x="0" y="0"/>
                  </a:moveTo>
                  <a:lnTo>
                    <a:pt x="1616506" y="0"/>
                  </a:lnTo>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1" name="Google Shape;351;p26"/>
            <p:cNvSpPr/>
            <p:nvPr/>
          </p:nvSpPr>
          <p:spPr>
            <a:xfrm>
              <a:off x="5041391" y="5284470"/>
              <a:ext cx="201930" cy="142875"/>
            </a:xfrm>
            <a:custGeom>
              <a:rect b="b" l="l" r="r" t="t"/>
              <a:pathLst>
                <a:path extrusionOk="0" h="142875" w="201929">
                  <a:moveTo>
                    <a:pt x="0" y="0"/>
                  </a:moveTo>
                  <a:lnTo>
                    <a:pt x="201523" y="142874"/>
                  </a:lnTo>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2" name="Google Shape;352;p26"/>
            <p:cNvSpPr/>
            <p:nvPr/>
          </p:nvSpPr>
          <p:spPr>
            <a:xfrm>
              <a:off x="5041397" y="5426964"/>
              <a:ext cx="201930" cy="142875"/>
            </a:xfrm>
            <a:custGeom>
              <a:rect b="b" l="l" r="r" t="t"/>
              <a:pathLst>
                <a:path extrusionOk="0" h="142875" w="201929">
                  <a:moveTo>
                    <a:pt x="201523" y="0"/>
                  </a:moveTo>
                  <a:lnTo>
                    <a:pt x="0" y="142875"/>
                  </a:lnTo>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53" name="Google Shape;353;p26"/>
            <p:cNvSpPr/>
            <p:nvPr/>
          </p:nvSpPr>
          <p:spPr>
            <a:xfrm>
              <a:off x="6418325" y="5236464"/>
              <a:ext cx="0" cy="381000"/>
            </a:xfrm>
            <a:custGeom>
              <a:rect b="b" l="l" r="r" t="t"/>
              <a:pathLst>
                <a:path extrusionOk="0" h="381000" w="120000">
                  <a:moveTo>
                    <a:pt x="0" y="0"/>
                  </a:moveTo>
                  <a:lnTo>
                    <a:pt x="0" y="381000"/>
                  </a:lnTo>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54" name="Google Shape;354;p26"/>
          <p:cNvSpPr txBox="1"/>
          <p:nvPr/>
        </p:nvSpPr>
        <p:spPr>
          <a:xfrm>
            <a:off x="6817466" y="4982565"/>
            <a:ext cx="826769"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58595B"/>
                </a:solidFill>
                <a:latin typeface="Calibri"/>
                <a:ea typeface="Calibri"/>
                <a:cs typeface="Calibri"/>
                <a:sym typeface="Calibri"/>
              </a:rPr>
              <a:t>works in</a:t>
            </a:r>
            <a:endParaRPr sz="1800">
              <a:solidFill>
                <a:schemeClr val="dk1"/>
              </a:solidFill>
              <a:latin typeface="Calibri"/>
              <a:ea typeface="Calibri"/>
              <a:cs typeface="Calibri"/>
              <a:sym typeface="Calibri"/>
            </a:endParaRPr>
          </a:p>
        </p:txBody>
      </p:sp>
      <p:sp>
        <p:nvSpPr>
          <p:cNvPr id="355" name="Google Shape;355;p26"/>
          <p:cNvSpPr txBox="1"/>
          <p:nvPr/>
        </p:nvSpPr>
        <p:spPr>
          <a:xfrm>
            <a:off x="7140019" y="5560009"/>
            <a:ext cx="823594" cy="299720"/>
          </a:xfrm>
          <a:prstGeom prst="rect">
            <a:avLst/>
          </a:prstGeom>
          <a:noFill/>
          <a:ln>
            <a:noFill/>
          </a:ln>
        </p:spPr>
        <p:txBody>
          <a:bodyPr anchorCtr="0" anchor="t" bIns="0" lIns="0" spcFirstLastPara="1" rIns="0" wrap="square" tIns="12700">
            <a:spAutoFit/>
          </a:bodyPr>
          <a:lstStyle/>
          <a:p>
            <a:pPr indent="0" lvl="0" marL="12700" marR="0" rtl="0" algn="l">
              <a:spcBef>
                <a:spcPts val="0"/>
              </a:spcBef>
              <a:spcAft>
                <a:spcPts val="0"/>
              </a:spcAft>
              <a:buNone/>
            </a:pPr>
            <a:r>
              <a:rPr b="1" lang="en-US" sz="1800">
                <a:solidFill>
                  <a:srgbClr val="58595B"/>
                </a:solidFill>
                <a:latin typeface="Calibri"/>
                <a:ea typeface="Calibri"/>
                <a:cs typeface="Calibri"/>
                <a:sym typeface="Calibri"/>
              </a:rPr>
              <a:t>contains</a:t>
            </a:r>
            <a:endParaRPr sz="1800">
              <a:solidFill>
                <a:schemeClr val="dk1"/>
              </a:solidFill>
              <a:latin typeface="Calibri"/>
              <a:ea typeface="Calibri"/>
              <a:cs typeface="Calibri"/>
              <a:sym typeface="Calibri"/>
            </a:endParaRPr>
          </a:p>
        </p:txBody>
      </p:sp>
      <p:grpSp>
        <p:nvGrpSpPr>
          <p:cNvPr id="356" name="Google Shape;356;p26"/>
          <p:cNvGrpSpPr/>
          <p:nvPr/>
        </p:nvGrpSpPr>
        <p:grpSpPr>
          <a:xfrm>
            <a:off x="4913758" y="3301366"/>
            <a:ext cx="3273170" cy="2239899"/>
            <a:chOff x="3389757" y="3301365"/>
            <a:chExt cx="3273170" cy="2239899"/>
          </a:xfrm>
        </p:grpSpPr>
        <p:sp>
          <p:nvSpPr>
            <p:cNvPr id="357" name="Google Shape;357;p26"/>
            <p:cNvSpPr/>
            <p:nvPr/>
          </p:nvSpPr>
          <p:spPr>
            <a:xfrm>
              <a:off x="5275326" y="5312664"/>
              <a:ext cx="228600" cy="228600"/>
            </a:xfrm>
            <a:custGeom>
              <a:rect b="b" l="l" r="r" t="t"/>
              <a:pathLst>
                <a:path extrusionOk="0" h="228600" w="228600">
                  <a:moveTo>
                    <a:pt x="0" y="114300"/>
                  </a:moveTo>
                  <a:lnTo>
                    <a:pt x="8981" y="69806"/>
                  </a:lnTo>
                  <a:lnTo>
                    <a:pt x="33475" y="33475"/>
                  </a:lnTo>
                  <a:lnTo>
                    <a:pt x="69806" y="8981"/>
                  </a:lnTo>
                  <a:lnTo>
                    <a:pt x="114300" y="0"/>
                  </a:lnTo>
                  <a:lnTo>
                    <a:pt x="158793" y="8981"/>
                  </a:lnTo>
                  <a:lnTo>
                    <a:pt x="195124" y="33475"/>
                  </a:lnTo>
                  <a:lnTo>
                    <a:pt x="219618" y="69806"/>
                  </a:lnTo>
                  <a:lnTo>
                    <a:pt x="228600" y="114300"/>
                  </a:lnTo>
                  <a:lnTo>
                    <a:pt x="219618" y="158793"/>
                  </a:lnTo>
                  <a:lnTo>
                    <a:pt x="195124" y="195124"/>
                  </a:lnTo>
                  <a:lnTo>
                    <a:pt x="158793" y="219618"/>
                  </a:lnTo>
                  <a:lnTo>
                    <a:pt x="114300" y="228600"/>
                  </a:lnTo>
                  <a:lnTo>
                    <a:pt x="69806" y="219618"/>
                  </a:lnTo>
                  <a:lnTo>
                    <a:pt x="33475" y="195124"/>
                  </a:lnTo>
                  <a:lnTo>
                    <a:pt x="8981" y="158793"/>
                  </a:lnTo>
                  <a:lnTo>
                    <a:pt x="0" y="114300"/>
                  </a:lnTo>
                  <a:close/>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id="358" name="Google Shape;358;p26"/>
            <p:cNvPicPr preferRelativeResize="0"/>
            <p:nvPr/>
          </p:nvPicPr>
          <p:blipFill rotWithShape="1">
            <a:blip r:embed="rId3">
              <a:alphaModFix/>
            </a:blip>
            <a:srcRect b="0" l="0" r="0" t="0"/>
            <a:stretch/>
          </p:blipFill>
          <p:spPr>
            <a:xfrm>
              <a:off x="6510527" y="3722370"/>
              <a:ext cx="152400" cy="228600"/>
            </a:xfrm>
            <a:prstGeom prst="rect">
              <a:avLst/>
            </a:prstGeom>
            <a:noFill/>
            <a:ln>
              <a:noFill/>
            </a:ln>
          </p:spPr>
        </p:pic>
        <p:sp>
          <p:nvSpPr>
            <p:cNvPr id="359" name="Google Shape;359;p26"/>
            <p:cNvSpPr/>
            <p:nvPr/>
          </p:nvSpPr>
          <p:spPr>
            <a:xfrm>
              <a:off x="6510527" y="3722370"/>
              <a:ext cx="152400" cy="228600"/>
            </a:xfrm>
            <a:custGeom>
              <a:rect b="b" l="l" r="r" t="t"/>
              <a:pathLst>
                <a:path extrusionOk="0" h="228600" w="152400">
                  <a:moveTo>
                    <a:pt x="0" y="114299"/>
                  </a:moveTo>
                  <a:lnTo>
                    <a:pt x="5987" y="69806"/>
                  </a:lnTo>
                  <a:lnTo>
                    <a:pt x="22317" y="33475"/>
                  </a:lnTo>
                  <a:lnTo>
                    <a:pt x="46537" y="8981"/>
                  </a:lnTo>
                  <a:lnTo>
                    <a:pt x="76200" y="0"/>
                  </a:lnTo>
                  <a:lnTo>
                    <a:pt x="105862" y="8981"/>
                  </a:lnTo>
                  <a:lnTo>
                    <a:pt x="130082" y="33475"/>
                  </a:lnTo>
                  <a:lnTo>
                    <a:pt x="146412" y="69806"/>
                  </a:lnTo>
                  <a:lnTo>
                    <a:pt x="152400" y="114299"/>
                  </a:lnTo>
                  <a:lnTo>
                    <a:pt x="146412" y="158793"/>
                  </a:lnTo>
                  <a:lnTo>
                    <a:pt x="130082" y="195124"/>
                  </a:lnTo>
                  <a:lnTo>
                    <a:pt x="105862" y="219618"/>
                  </a:lnTo>
                  <a:lnTo>
                    <a:pt x="76200" y="228599"/>
                  </a:lnTo>
                  <a:lnTo>
                    <a:pt x="46537" y="219618"/>
                  </a:lnTo>
                  <a:lnTo>
                    <a:pt x="22317" y="195124"/>
                  </a:lnTo>
                  <a:lnTo>
                    <a:pt x="5987" y="158793"/>
                  </a:lnTo>
                  <a:lnTo>
                    <a:pt x="0" y="114299"/>
                  </a:lnTo>
                  <a:close/>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0" name="Google Shape;360;p26"/>
            <p:cNvSpPr/>
            <p:nvPr/>
          </p:nvSpPr>
          <p:spPr>
            <a:xfrm>
              <a:off x="5191500" y="3893820"/>
              <a:ext cx="1330960" cy="0"/>
            </a:xfrm>
            <a:custGeom>
              <a:rect b="b" l="l" r="r" t="t"/>
              <a:pathLst>
                <a:path extrusionOk="0" h="120000" w="1330959">
                  <a:moveTo>
                    <a:pt x="1330553" y="0"/>
                  </a:moveTo>
                  <a:lnTo>
                    <a:pt x="0" y="0"/>
                  </a:lnTo>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1" name="Google Shape;361;p26"/>
            <p:cNvSpPr/>
            <p:nvPr/>
          </p:nvSpPr>
          <p:spPr>
            <a:xfrm>
              <a:off x="5119113" y="3850383"/>
              <a:ext cx="86995" cy="86995"/>
            </a:xfrm>
            <a:custGeom>
              <a:rect b="b" l="l" r="r" t="t"/>
              <a:pathLst>
                <a:path extrusionOk="0" h="86995" w="86995">
                  <a:moveTo>
                    <a:pt x="86867" y="0"/>
                  </a:moveTo>
                  <a:lnTo>
                    <a:pt x="0" y="43434"/>
                  </a:lnTo>
                  <a:lnTo>
                    <a:pt x="86867" y="86868"/>
                  </a:lnTo>
                  <a:lnTo>
                    <a:pt x="86867" y="0"/>
                  </a:lnTo>
                  <a:close/>
                </a:path>
              </a:pathLst>
            </a:custGeom>
            <a:solidFill>
              <a:srgbClr val="58595B"/>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2" name="Google Shape;362;p26"/>
            <p:cNvSpPr/>
            <p:nvPr/>
          </p:nvSpPr>
          <p:spPr>
            <a:xfrm>
              <a:off x="3389757" y="3301365"/>
              <a:ext cx="1708150" cy="1062990"/>
            </a:xfrm>
            <a:custGeom>
              <a:rect b="b" l="l" r="r" t="t"/>
              <a:pathLst>
                <a:path extrusionOk="0" h="1062989" w="1708150">
                  <a:moveTo>
                    <a:pt x="1707641" y="0"/>
                  </a:moveTo>
                  <a:lnTo>
                    <a:pt x="0" y="0"/>
                  </a:lnTo>
                  <a:lnTo>
                    <a:pt x="0" y="1062989"/>
                  </a:lnTo>
                  <a:lnTo>
                    <a:pt x="1707641" y="1062989"/>
                  </a:lnTo>
                  <a:lnTo>
                    <a:pt x="1707641" y="0"/>
                  </a:lnTo>
                  <a:close/>
                </a:path>
              </a:pathLst>
            </a:custGeom>
            <a:solidFill>
              <a:srgbClr val="C8D9D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63" name="Google Shape;363;p26"/>
            <p:cNvSpPr/>
            <p:nvPr/>
          </p:nvSpPr>
          <p:spPr>
            <a:xfrm>
              <a:off x="3389757" y="3301365"/>
              <a:ext cx="1708150" cy="1062990"/>
            </a:xfrm>
            <a:custGeom>
              <a:rect b="b" l="l" r="r" t="t"/>
              <a:pathLst>
                <a:path extrusionOk="0" h="1062989" w="1708150">
                  <a:moveTo>
                    <a:pt x="0" y="0"/>
                  </a:moveTo>
                  <a:lnTo>
                    <a:pt x="1707641" y="0"/>
                  </a:lnTo>
                  <a:lnTo>
                    <a:pt x="1707641" y="1062989"/>
                  </a:lnTo>
                  <a:lnTo>
                    <a:pt x="0" y="1062989"/>
                  </a:lnTo>
                  <a:lnTo>
                    <a:pt x="0" y="0"/>
                  </a:lnTo>
                  <a:close/>
                </a:path>
              </a:pathLst>
            </a:custGeom>
            <a:noFill/>
            <a:ln cap="flat" cmpd="sng" w="25125">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64" name="Google Shape;364;p26"/>
          <p:cNvSpPr txBox="1"/>
          <p:nvPr/>
        </p:nvSpPr>
        <p:spPr>
          <a:xfrm>
            <a:off x="2307472" y="1716601"/>
            <a:ext cx="1768475" cy="1122680"/>
          </a:xfrm>
          <a:prstGeom prst="rect">
            <a:avLst/>
          </a:prstGeom>
          <a:noFill/>
          <a:ln>
            <a:noFill/>
          </a:ln>
        </p:spPr>
        <p:txBody>
          <a:bodyPr anchorCtr="0" anchor="t" bIns="0" lIns="0" spcFirstLastPara="1" rIns="0" wrap="square" tIns="12700">
            <a:spAutoFit/>
          </a:bodyPr>
          <a:lstStyle/>
          <a:p>
            <a:pPr indent="0" lvl="0" marL="12700" marR="5080" rtl="0" algn="l">
              <a:spcBef>
                <a:spcPts val="0"/>
              </a:spcBef>
              <a:spcAft>
                <a:spcPts val="0"/>
              </a:spcAft>
              <a:buNone/>
            </a:pPr>
            <a:r>
              <a:rPr b="1" lang="en-US" sz="2400">
                <a:solidFill>
                  <a:srgbClr val="58595B"/>
                </a:solidFill>
                <a:latin typeface="Calibri"/>
                <a:ea typeface="Calibri"/>
                <a:cs typeface="Calibri"/>
                <a:sym typeface="Calibri"/>
              </a:rPr>
              <a:t>Система  обозначений  Баркера</a:t>
            </a:r>
            <a:endParaRPr sz="2400">
              <a:solidFill>
                <a:schemeClr val="dk1"/>
              </a:solidFill>
              <a:latin typeface="Calibri"/>
              <a:ea typeface="Calibri"/>
              <a:cs typeface="Calibri"/>
              <a:sym typeface="Calibri"/>
            </a:endParaRPr>
          </a:p>
        </p:txBody>
      </p:sp>
      <p:sp>
        <p:nvSpPr>
          <p:cNvPr id="365" name="Google Shape;365;p26"/>
          <p:cNvSpPr txBox="1"/>
          <p:nvPr/>
        </p:nvSpPr>
        <p:spPr>
          <a:xfrm>
            <a:off x="2307472" y="3155563"/>
            <a:ext cx="1768475" cy="1618615"/>
          </a:xfrm>
          <a:prstGeom prst="rect">
            <a:avLst/>
          </a:prstGeom>
          <a:noFill/>
          <a:ln>
            <a:noFill/>
          </a:ln>
        </p:spPr>
        <p:txBody>
          <a:bodyPr anchorCtr="0" anchor="t" bIns="0" lIns="0" spcFirstLastPara="1" rIns="0" wrap="square" tIns="12700">
            <a:spAutoFit/>
          </a:bodyPr>
          <a:lstStyle/>
          <a:p>
            <a:pPr indent="0" lvl="0" marL="12700" marR="5080" rtl="0" algn="l">
              <a:spcBef>
                <a:spcPts val="0"/>
              </a:spcBef>
              <a:spcAft>
                <a:spcPts val="0"/>
              </a:spcAft>
              <a:buNone/>
            </a:pPr>
            <a:r>
              <a:rPr b="1" lang="en-US" sz="2400">
                <a:solidFill>
                  <a:srgbClr val="58595B"/>
                </a:solidFill>
                <a:latin typeface="Calibri"/>
                <a:ea typeface="Calibri"/>
                <a:cs typeface="Calibri"/>
                <a:sym typeface="Calibri"/>
              </a:rPr>
              <a:t>Система  обозначений  Бахмана</a:t>
            </a:r>
            <a:endParaRPr sz="2400">
              <a:solidFill>
                <a:schemeClr val="dk1"/>
              </a:solidFill>
              <a:latin typeface="Calibri"/>
              <a:ea typeface="Calibri"/>
              <a:cs typeface="Calibri"/>
              <a:sym typeface="Calibri"/>
            </a:endParaRPr>
          </a:p>
          <a:p>
            <a:pPr indent="0" lvl="0" marL="12700" marR="0" rtl="0" algn="l">
              <a:spcBef>
                <a:spcPts val="1025"/>
              </a:spcBef>
              <a:spcAft>
                <a:spcPts val="0"/>
              </a:spcAft>
              <a:buNone/>
            </a:pPr>
            <a:r>
              <a:rPr b="1" lang="en-US" sz="2400">
                <a:solidFill>
                  <a:srgbClr val="58595B"/>
                </a:solidFill>
                <a:latin typeface="Calibri"/>
                <a:ea typeface="Calibri"/>
                <a:cs typeface="Calibri"/>
                <a:sym typeface="Calibri"/>
              </a:rPr>
              <a:t>Система</a:t>
            </a:r>
            <a:endParaRPr sz="2400">
              <a:solidFill>
                <a:schemeClr val="dk1"/>
              </a:solidFill>
              <a:latin typeface="Calibri"/>
              <a:ea typeface="Calibri"/>
              <a:cs typeface="Calibri"/>
              <a:sym typeface="Calibri"/>
            </a:endParaRPr>
          </a:p>
        </p:txBody>
      </p:sp>
      <p:sp>
        <p:nvSpPr>
          <p:cNvPr id="366" name="Google Shape;366;p26"/>
          <p:cNvSpPr txBox="1"/>
          <p:nvPr/>
        </p:nvSpPr>
        <p:spPr>
          <a:xfrm>
            <a:off x="2307472" y="4748752"/>
            <a:ext cx="2432685" cy="1122680"/>
          </a:xfrm>
          <a:prstGeom prst="rect">
            <a:avLst/>
          </a:prstGeom>
          <a:noFill/>
          <a:ln>
            <a:noFill/>
          </a:ln>
        </p:spPr>
        <p:txBody>
          <a:bodyPr anchorCtr="0" anchor="t" bIns="0" lIns="0" spcFirstLastPara="1" rIns="0" wrap="square" tIns="12700">
            <a:spAutoFit/>
          </a:bodyPr>
          <a:lstStyle/>
          <a:p>
            <a:pPr indent="0" lvl="0" marL="12700" marR="5080" rtl="0" algn="l">
              <a:spcBef>
                <a:spcPts val="0"/>
              </a:spcBef>
              <a:spcAft>
                <a:spcPts val="0"/>
              </a:spcAft>
              <a:buNone/>
            </a:pPr>
            <a:r>
              <a:rPr b="1" lang="en-US" sz="2400">
                <a:solidFill>
                  <a:srgbClr val="58595B"/>
                </a:solidFill>
                <a:latin typeface="Calibri"/>
                <a:ea typeface="Calibri"/>
                <a:cs typeface="Calibri"/>
                <a:sym typeface="Calibri"/>
              </a:rPr>
              <a:t>обозначений в  информационной  инженерии</a:t>
            </a:r>
            <a:endParaRPr sz="2400">
              <a:solidFill>
                <a:schemeClr val="dk1"/>
              </a:solidFill>
              <a:latin typeface="Calibri"/>
              <a:ea typeface="Calibri"/>
              <a:cs typeface="Calibri"/>
              <a:sym typeface="Calibri"/>
            </a:endParaRPr>
          </a:p>
        </p:txBody>
      </p:sp>
      <p:sp>
        <p:nvSpPr>
          <p:cNvPr id="367" name="Google Shape;367;p26"/>
          <p:cNvSpPr txBox="1"/>
          <p:nvPr/>
        </p:nvSpPr>
        <p:spPr>
          <a:xfrm>
            <a:off x="4991945" y="3527954"/>
            <a:ext cx="1150620" cy="330200"/>
          </a:xfrm>
          <a:prstGeom prst="rect">
            <a:avLst/>
          </a:prstGeom>
          <a:noFill/>
          <a:ln>
            <a:noFill/>
          </a:ln>
        </p:spPr>
        <p:txBody>
          <a:bodyPr anchorCtr="0" anchor="t" bIns="0" lIns="0" spcFirstLastPara="1" rIns="0" wrap="square" tIns="12050">
            <a:spAutoFit/>
          </a:bodyPr>
          <a:lstStyle/>
          <a:p>
            <a:pPr indent="0" lvl="0" marL="12700" marR="0" rtl="0" algn="l">
              <a:spcBef>
                <a:spcPts val="0"/>
              </a:spcBef>
              <a:spcAft>
                <a:spcPts val="0"/>
              </a:spcAft>
              <a:buNone/>
            </a:pPr>
            <a:r>
              <a:rPr b="1" lang="en-US" sz="2000">
                <a:solidFill>
                  <a:srgbClr val="58595B"/>
                </a:solidFill>
                <a:latin typeface="Calibri"/>
                <a:ea typeface="Calibri"/>
                <a:cs typeface="Calibri"/>
                <a:sym typeface="Calibri"/>
              </a:rPr>
              <a:t>EMPLOYEE</a:t>
            </a:r>
            <a:endParaRPr sz="2000">
              <a:solidFill>
                <a:schemeClr val="dk1"/>
              </a:solidFill>
              <a:latin typeface="Calibri"/>
              <a:ea typeface="Calibri"/>
              <a:cs typeface="Calibri"/>
              <a:sym typeface="Calibri"/>
            </a:endParaRPr>
          </a:p>
        </p:txBody>
      </p:sp>
      <p:grpSp>
        <p:nvGrpSpPr>
          <p:cNvPr id="368" name="Google Shape;368;p26"/>
          <p:cNvGrpSpPr/>
          <p:nvPr/>
        </p:nvGrpSpPr>
        <p:grpSpPr>
          <a:xfrm>
            <a:off x="4877181" y="4778121"/>
            <a:ext cx="1708785" cy="1062990"/>
            <a:chOff x="3353180" y="4778121"/>
            <a:chExt cx="1708785" cy="1062990"/>
          </a:xfrm>
        </p:grpSpPr>
        <p:sp>
          <p:nvSpPr>
            <p:cNvPr id="369" name="Google Shape;369;p26"/>
            <p:cNvSpPr/>
            <p:nvPr/>
          </p:nvSpPr>
          <p:spPr>
            <a:xfrm>
              <a:off x="3353180" y="4778121"/>
              <a:ext cx="1708785" cy="1062990"/>
            </a:xfrm>
            <a:custGeom>
              <a:rect b="b" l="l" r="r" t="t"/>
              <a:pathLst>
                <a:path extrusionOk="0" h="1062989" w="1708785">
                  <a:moveTo>
                    <a:pt x="1708403" y="0"/>
                  </a:moveTo>
                  <a:lnTo>
                    <a:pt x="0" y="0"/>
                  </a:lnTo>
                  <a:lnTo>
                    <a:pt x="0" y="1062989"/>
                  </a:lnTo>
                  <a:lnTo>
                    <a:pt x="1708403" y="1062989"/>
                  </a:lnTo>
                  <a:lnTo>
                    <a:pt x="1708403" y="0"/>
                  </a:lnTo>
                  <a:close/>
                </a:path>
              </a:pathLst>
            </a:custGeom>
            <a:solidFill>
              <a:srgbClr val="C8D9D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0" name="Google Shape;370;p26"/>
            <p:cNvSpPr/>
            <p:nvPr/>
          </p:nvSpPr>
          <p:spPr>
            <a:xfrm>
              <a:off x="3353180" y="4778121"/>
              <a:ext cx="1708785" cy="1062990"/>
            </a:xfrm>
            <a:custGeom>
              <a:rect b="b" l="l" r="r" t="t"/>
              <a:pathLst>
                <a:path extrusionOk="0" h="1062989" w="1708785">
                  <a:moveTo>
                    <a:pt x="0" y="0"/>
                  </a:moveTo>
                  <a:lnTo>
                    <a:pt x="1708403" y="0"/>
                  </a:lnTo>
                  <a:lnTo>
                    <a:pt x="1708403" y="1062989"/>
                  </a:lnTo>
                  <a:lnTo>
                    <a:pt x="0" y="1062989"/>
                  </a:lnTo>
                  <a:lnTo>
                    <a:pt x="0" y="0"/>
                  </a:lnTo>
                  <a:close/>
                </a:path>
              </a:pathLst>
            </a:custGeom>
            <a:noFill/>
            <a:ln cap="flat" cmpd="sng" w="25125">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1" name="Google Shape;371;p26"/>
          <p:cNvSpPr txBox="1"/>
          <p:nvPr/>
        </p:nvSpPr>
        <p:spPr>
          <a:xfrm>
            <a:off x="4955668" y="5004635"/>
            <a:ext cx="1150620" cy="330200"/>
          </a:xfrm>
          <a:prstGeom prst="rect">
            <a:avLst/>
          </a:prstGeom>
          <a:noFill/>
          <a:ln>
            <a:noFill/>
          </a:ln>
        </p:spPr>
        <p:txBody>
          <a:bodyPr anchorCtr="0" anchor="t" bIns="0" lIns="0" spcFirstLastPara="1" rIns="0" wrap="square" tIns="12050">
            <a:spAutoFit/>
          </a:bodyPr>
          <a:lstStyle/>
          <a:p>
            <a:pPr indent="0" lvl="0" marL="12700" marR="0" rtl="0" algn="l">
              <a:spcBef>
                <a:spcPts val="0"/>
              </a:spcBef>
              <a:spcAft>
                <a:spcPts val="0"/>
              </a:spcAft>
              <a:buNone/>
            </a:pPr>
            <a:r>
              <a:rPr b="1" lang="en-US" sz="2000">
                <a:solidFill>
                  <a:srgbClr val="58595B"/>
                </a:solidFill>
                <a:latin typeface="Calibri"/>
                <a:ea typeface="Calibri"/>
                <a:cs typeface="Calibri"/>
                <a:sym typeface="Calibri"/>
              </a:rPr>
              <a:t>EMPLOYEE</a:t>
            </a:r>
            <a:endParaRPr sz="2000">
              <a:solidFill>
                <a:schemeClr val="dk1"/>
              </a:solidFill>
              <a:latin typeface="Calibri"/>
              <a:ea typeface="Calibri"/>
              <a:cs typeface="Calibri"/>
              <a:sym typeface="Calibri"/>
            </a:endParaRPr>
          </a:p>
        </p:txBody>
      </p:sp>
      <p:grpSp>
        <p:nvGrpSpPr>
          <p:cNvPr id="372" name="Google Shape;372;p26"/>
          <p:cNvGrpSpPr/>
          <p:nvPr/>
        </p:nvGrpSpPr>
        <p:grpSpPr>
          <a:xfrm>
            <a:off x="8220836" y="3267076"/>
            <a:ext cx="1708150" cy="1062355"/>
            <a:chOff x="6696836" y="3267075"/>
            <a:chExt cx="1708150" cy="1062355"/>
          </a:xfrm>
        </p:grpSpPr>
        <p:sp>
          <p:nvSpPr>
            <p:cNvPr id="373" name="Google Shape;373;p26"/>
            <p:cNvSpPr/>
            <p:nvPr/>
          </p:nvSpPr>
          <p:spPr>
            <a:xfrm>
              <a:off x="6696836" y="3267075"/>
              <a:ext cx="1708150" cy="1062355"/>
            </a:xfrm>
            <a:custGeom>
              <a:rect b="b" l="l" r="r" t="t"/>
              <a:pathLst>
                <a:path extrusionOk="0" h="1062354" w="1708150">
                  <a:moveTo>
                    <a:pt x="1707642" y="0"/>
                  </a:moveTo>
                  <a:lnTo>
                    <a:pt x="0" y="0"/>
                  </a:lnTo>
                  <a:lnTo>
                    <a:pt x="0" y="1062227"/>
                  </a:lnTo>
                  <a:lnTo>
                    <a:pt x="1707642" y="1062227"/>
                  </a:lnTo>
                  <a:lnTo>
                    <a:pt x="1707642" y="0"/>
                  </a:lnTo>
                  <a:close/>
                </a:path>
              </a:pathLst>
            </a:custGeom>
            <a:solidFill>
              <a:srgbClr val="C8D9D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4" name="Google Shape;374;p26"/>
            <p:cNvSpPr/>
            <p:nvPr/>
          </p:nvSpPr>
          <p:spPr>
            <a:xfrm>
              <a:off x="6696836" y="3267075"/>
              <a:ext cx="1708150" cy="1062355"/>
            </a:xfrm>
            <a:custGeom>
              <a:rect b="b" l="l" r="r" t="t"/>
              <a:pathLst>
                <a:path extrusionOk="0" h="1062354" w="1708150">
                  <a:moveTo>
                    <a:pt x="0" y="0"/>
                  </a:moveTo>
                  <a:lnTo>
                    <a:pt x="1707642" y="0"/>
                  </a:lnTo>
                  <a:lnTo>
                    <a:pt x="1707642" y="1062227"/>
                  </a:lnTo>
                  <a:lnTo>
                    <a:pt x="0" y="1062227"/>
                  </a:lnTo>
                  <a:lnTo>
                    <a:pt x="0" y="0"/>
                  </a:lnTo>
                  <a:close/>
                </a:path>
              </a:pathLst>
            </a:custGeom>
            <a:noFill/>
            <a:ln cap="flat" cmpd="sng" w="25125">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5" name="Google Shape;375;p26"/>
          <p:cNvSpPr txBox="1"/>
          <p:nvPr/>
        </p:nvSpPr>
        <p:spPr>
          <a:xfrm>
            <a:off x="8299222" y="3493240"/>
            <a:ext cx="1483995" cy="330200"/>
          </a:xfrm>
          <a:prstGeom prst="rect">
            <a:avLst/>
          </a:prstGeom>
          <a:noFill/>
          <a:ln>
            <a:noFill/>
          </a:ln>
        </p:spPr>
        <p:txBody>
          <a:bodyPr anchorCtr="0" anchor="t" bIns="0" lIns="0" spcFirstLastPara="1" rIns="0" wrap="square" tIns="12050">
            <a:spAutoFit/>
          </a:bodyPr>
          <a:lstStyle/>
          <a:p>
            <a:pPr indent="0" lvl="0" marL="12700" marR="0" rtl="0" algn="l">
              <a:spcBef>
                <a:spcPts val="0"/>
              </a:spcBef>
              <a:spcAft>
                <a:spcPts val="0"/>
              </a:spcAft>
              <a:buNone/>
            </a:pPr>
            <a:r>
              <a:rPr b="1" lang="en-US" sz="2000">
                <a:solidFill>
                  <a:srgbClr val="58595B"/>
                </a:solidFill>
                <a:latin typeface="Calibri"/>
                <a:ea typeface="Calibri"/>
                <a:cs typeface="Calibri"/>
                <a:sym typeface="Calibri"/>
              </a:rPr>
              <a:t>DEPARTMENT</a:t>
            </a:r>
            <a:endParaRPr sz="2000">
              <a:solidFill>
                <a:schemeClr val="dk1"/>
              </a:solidFill>
              <a:latin typeface="Calibri"/>
              <a:ea typeface="Calibri"/>
              <a:cs typeface="Calibri"/>
              <a:sym typeface="Calibri"/>
            </a:endParaRPr>
          </a:p>
        </p:txBody>
      </p:sp>
      <p:grpSp>
        <p:nvGrpSpPr>
          <p:cNvPr id="376" name="Google Shape;376;p26"/>
          <p:cNvGrpSpPr/>
          <p:nvPr/>
        </p:nvGrpSpPr>
        <p:grpSpPr>
          <a:xfrm>
            <a:off x="8260461" y="4713352"/>
            <a:ext cx="1708785" cy="1062355"/>
            <a:chOff x="6736460" y="4713351"/>
            <a:chExt cx="1708785" cy="1062355"/>
          </a:xfrm>
        </p:grpSpPr>
        <p:sp>
          <p:nvSpPr>
            <p:cNvPr id="377" name="Google Shape;377;p26"/>
            <p:cNvSpPr/>
            <p:nvPr/>
          </p:nvSpPr>
          <p:spPr>
            <a:xfrm>
              <a:off x="6736460" y="4713351"/>
              <a:ext cx="1708785" cy="1062355"/>
            </a:xfrm>
            <a:custGeom>
              <a:rect b="b" l="l" r="r" t="t"/>
              <a:pathLst>
                <a:path extrusionOk="0" h="1062354" w="1708784">
                  <a:moveTo>
                    <a:pt x="1708403" y="0"/>
                  </a:moveTo>
                  <a:lnTo>
                    <a:pt x="0" y="0"/>
                  </a:lnTo>
                  <a:lnTo>
                    <a:pt x="0" y="1062228"/>
                  </a:lnTo>
                  <a:lnTo>
                    <a:pt x="1708403" y="1062228"/>
                  </a:lnTo>
                  <a:lnTo>
                    <a:pt x="1708403" y="0"/>
                  </a:lnTo>
                  <a:close/>
                </a:path>
              </a:pathLst>
            </a:custGeom>
            <a:solidFill>
              <a:srgbClr val="C8D9DE"/>
            </a:solidFill>
            <a:ln>
              <a:noFill/>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78" name="Google Shape;378;p26"/>
            <p:cNvSpPr/>
            <p:nvPr/>
          </p:nvSpPr>
          <p:spPr>
            <a:xfrm>
              <a:off x="6736460" y="4713351"/>
              <a:ext cx="1708785" cy="1062355"/>
            </a:xfrm>
            <a:custGeom>
              <a:rect b="b" l="l" r="r" t="t"/>
              <a:pathLst>
                <a:path extrusionOk="0" h="1062354" w="1708784">
                  <a:moveTo>
                    <a:pt x="0" y="0"/>
                  </a:moveTo>
                  <a:lnTo>
                    <a:pt x="1708403" y="0"/>
                  </a:lnTo>
                  <a:lnTo>
                    <a:pt x="1708403" y="1062228"/>
                  </a:lnTo>
                  <a:lnTo>
                    <a:pt x="0" y="1062228"/>
                  </a:lnTo>
                  <a:lnTo>
                    <a:pt x="0" y="0"/>
                  </a:lnTo>
                  <a:close/>
                </a:path>
              </a:pathLst>
            </a:custGeom>
            <a:noFill/>
            <a:ln cap="flat" cmpd="sng" w="25125">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grpSp>
      <p:sp>
        <p:nvSpPr>
          <p:cNvPr id="379" name="Google Shape;379;p26"/>
          <p:cNvSpPr txBox="1"/>
          <p:nvPr/>
        </p:nvSpPr>
        <p:spPr>
          <a:xfrm>
            <a:off x="8338947" y="4939239"/>
            <a:ext cx="1483995" cy="330200"/>
          </a:xfrm>
          <a:prstGeom prst="rect">
            <a:avLst/>
          </a:prstGeom>
          <a:noFill/>
          <a:ln>
            <a:noFill/>
          </a:ln>
        </p:spPr>
        <p:txBody>
          <a:bodyPr anchorCtr="0" anchor="t" bIns="0" lIns="0" spcFirstLastPara="1" rIns="0" wrap="square" tIns="12050">
            <a:spAutoFit/>
          </a:bodyPr>
          <a:lstStyle/>
          <a:p>
            <a:pPr indent="0" lvl="0" marL="12700" marR="0" rtl="0" algn="l">
              <a:spcBef>
                <a:spcPts val="0"/>
              </a:spcBef>
              <a:spcAft>
                <a:spcPts val="0"/>
              </a:spcAft>
              <a:buNone/>
            </a:pPr>
            <a:r>
              <a:rPr b="1" lang="en-US" sz="2000">
                <a:solidFill>
                  <a:srgbClr val="58595B"/>
                </a:solidFill>
                <a:latin typeface="Calibri"/>
                <a:ea typeface="Calibri"/>
                <a:cs typeface="Calibri"/>
                <a:sym typeface="Calibri"/>
              </a:rPr>
              <a:t>DEPARTMENT</a:t>
            </a:r>
            <a:endParaRPr sz="2000">
              <a:solidFill>
                <a:schemeClr val="dk1"/>
              </a:solidFill>
              <a:latin typeface="Calibri"/>
              <a:ea typeface="Calibri"/>
              <a:cs typeface="Calibri"/>
              <a:sym typeface="Calibri"/>
            </a:endParaRPr>
          </a:p>
        </p:txBody>
      </p:sp>
      <p:sp>
        <p:nvSpPr>
          <p:cNvPr id="380" name="Google Shape;380;p26"/>
          <p:cNvSpPr/>
          <p:nvPr/>
        </p:nvSpPr>
        <p:spPr>
          <a:xfrm>
            <a:off x="8052054" y="5237988"/>
            <a:ext cx="0" cy="381000"/>
          </a:xfrm>
          <a:custGeom>
            <a:rect b="b" l="l" r="r" t="t"/>
            <a:pathLst>
              <a:path extrusionOk="0" h="381000" w="120000">
                <a:moveTo>
                  <a:pt x="0" y="0"/>
                </a:moveTo>
                <a:lnTo>
                  <a:pt x="0" y="381000"/>
                </a:lnTo>
              </a:path>
            </a:pathLst>
          </a:custGeom>
          <a:noFill/>
          <a:ln cap="flat" cmpd="sng" w="28950">
            <a:solidFill>
              <a:srgbClr val="58595B"/>
            </a:solidFill>
            <a:prstDash val="solid"/>
            <a:round/>
            <a:headEnd len="sm" w="sm" type="none"/>
            <a:tailEnd len="sm" w="sm" type="none"/>
          </a:ln>
        </p:spPr>
        <p:txBody>
          <a:bodyPr anchorCtr="0" anchor="t" bIns="0" lIns="0" spcFirstLastPara="1" rIns="0" wrap="square" tIns="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Tree>
  </p:cSld>
  <p:clrMapOvr>
    <a:masterClrMapping/>
  </p:clrMapOvr>
  <p:transition spd="med">
    <p:fade/>
  </p:transition>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5" name="Shape 385"/>
        <p:cNvGrpSpPr/>
        <p:nvPr/>
      </p:nvGrpSpPr>
      <p:grpSpPr>
        <a:xfrm>
          <a:off x="0" y="0"/>
          <a:ext cx="0" cy="0"/>
          <a:chOff x="0" y="0"/>
          <a:chExt cx="0" cy="0"/>
        </a:xfrm>
      </p:grpSpPr>
      <p:sp>
        <p:nvSpPr>
          <p:cNvPr id="386" name="Google Shape;38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Представление свя</a:t>
            </a:r>
            <a:r>
              <a:rPr lang="en-US">
                <a:latin typeface="Times New Roman"/>
                <a:ea typeface="Times New Roman"/>
                <a:cs typeface="Times New Roman"/>
                <a:sym typeface="Times New Roman"/>
              </a:rPr>
              <a:t>зей в нотации Баркера</a:t>
            </a:r>
            <a:endParaRPr/>
          </a:p>
        </p:txBody>
      </p:sp>
      <p:sp>
        <p:nvSpPr>
          <p:cNvPr id="387" name="Google Shape;387;p27"/>
          <p:cNvSpPr txBox="1"/>
          <p:nvPr/>
        </p:nvSpPr>
        <p:spPr>
          <a:xfrm>
            <a:off x="1645920" y="1466422"/>
            <a:ext cx="9595104" cy="520142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600">
                <a:solidFill>
                  <a:srgbClr val="000000"/>
                </a:solidFill>
                <a:latin typeface="Verdana"/>
                <a:ea typeface="Verdana"/>
                <a:cs typeface="Verdana"/>
                <a:sym typeface="Verdana"/>
              </a:rPr>
              <a:t>Все связи являются бинарными и представляются линиями с двумя концами (соединяющими сущности), для которых должно быть определено:</a:t>
            </a:r>
            <a:endParaRPr/>
          </a:p>
          <a:p>
            <a:pPr indent="-285750" lvl="0" marL="285750" marR="0" rtl="0" algn="l">
              <a:spcBef>
                <a:spcPts val="1200"/>
              </a:spcBef>
              <a:spcAft>
                <a:spcPts val="0"/>
              </a:spcAft>
              <a:buClr>
                <a:srgbClr val="000000"/>
              </a:buClr>
              <a:buSzPts val="1600"/>
              <a:buFont typeface="Arial"/>
              <a:buChar char="•"/>
            </a:pPr>
            <a:r>
              <a:rPr b="0" i="0" lang="en-US" sz="1600">
                <a:solidFill>
                  <a:srgbClr val="000000"/>
                </a:solidFill>
                <a:latin typeface="Verdana"/>
                <a:ea typeface="Verdana"/>
                <a:cs typeface="Verdana"/>
                <a:sym typeface="Verdana"/>
              </a:rPr>
              <a:t>имя связи;</a:t>
            </a:r>
            <a:endParaRPr/>
          </a:p>
          <a:p>
            <a:pPr indent="-285750" lvl="0" marL="285750" marR="0" rtl="0" algn="l">
              <a:spcBef>
                <a:spcPts val="1200"/>
              </a:spcBef>
              <a:spcAft>
                <a:spcPts val="0"/>
              </a:spcAft>
              <a:buClr>
                <a:srgbClr val="000000"/>
              </a:buClr>
              <a:buSzPts val="1600"/>
              <a:buFont typeface="Arial"/>
              <a:buChar char="•"/>
            </a:pPr>
            <a:r>
              <a:rPr b="0" i="0" lang="en-US" sz="1600">
                <a:solidFill>
                  <a:srgbClr val="000000"/>
                </a:solidFill>
                <a:latin typeface="Verdana"/>
                <a:ea typeface="Verdana"/>
                <a:cs typeface="Verdana"/>
                <a:sym typeface="Verdana"/>
              </a:rPr>
              <a:t>степень множественности (один или много объектов участвуют в связи: « 0,1» , «0,*» , «1» , «1,*» ;</a:t>
            </a:r>
            <a:endParaRPr/>
          </a:p>
          <a:p>
            <a:pPr indent="-285750" lvl="0" marL="285750" marR="0" rtl="0" algn="l">
              <a:spcBef>
                <a:spcPts val="1200"/>
              </a:spcBef>
              <a:spcAft>
                <a:spcPts val="0"/>
              </a:spcAft>
              <a:buClr>
                <a:srgbClr val="000000"/>
              </a:buClr>
              <a:buSzPts val="1600"/>
              <a:buFont typeface="Arial"/>
              <a:buChar char="•"/>
            </a:pPr>
            <a:r>
              <a:rPr b="0" i="0" lang="en-US" sz="1600">
                <a:solidFill>
                  <a:srgbClr val="000000"/>
                </a:solidFill>
                <a:latin typeface="Verdana"/>
                <a:ea typeface="Verdana"/>
                <a:cs typeface="Verdana"/>
                <a:sym typeface="Verdana"/>
              </a:rPr>
              <a:t>степень обязательности: обязательная («должен», сплошная линия) или необязательная («может», пунктир) связь между сущностями.</a:t>
            </a:r>
            <a:endParaRPr/>
          </a:p>
          <a:p>
            <a:pPr indent="0" lvl="0" marL="0" marR="0" rtl="0" algn="l">
              <a:spcBef>
                <a:spcPts val="1200"/>
              </a:spcBef>
              <a:spcAft>
                <a:spcPts val="0"/>
              </a:spcAft>
              <a:buNone/>
            </a:pPr>
            <a:r>
              <a:rPr b="0" i="0" lang="en-US" sz="1600">
                <a:solidFill>
                  <a:srgbClr val="000000"/>
                </a:solidFill>
                <a:latin typeface="Verdana"/>
                <a:ea typeface="Verdana"/>
                <a:cs typeface="Verdana"/>
                <a:sym typeface="Verdana"/>
              </a:rPr>
              <a:t>Если максимальное кардинальное число отображения равно бесконечности, то линия, представляющая связь, разветвляется, принимая вид «вороньей лапки» и примыкает к прямоугольнику, соответствующему множеству сущностей – области значений, в трех точках; в противном случае линия остается без изменений.</a:t>
            </a:r>
            <a:endParaRPr/>
          </a:p>
          <a:p>
            <a:pPr indent="0" lvl="0" marL="0" marR="0" rtl="0" algn="l">
              <a:spcBef>
                <a:spcPts val="1200"/>
              </a:spcBef>
              <a:spcAft>
                <a:spcPts val="0"/>
              </a:spcAft>
              <a:buNone/>
            </a:pPr>
            <a:r>
              <a:rPr b="0" i="0" lang="en-US" sz="1600">
                <a:solidFill>
                  <a:srgbClr val="000000"/>
                </a:solidFill>
                <a:latin typeface="Verdana"/>
                <a:ea typeface="Verdana"/>
                <a:cs typeface="Verdana"/>
                <a:sym typeface="Verdana"/>
              </a:rPr>
              <a:t>Если минимальное кардинальное число отображения равно нулю, то часть линии-связи, примыкающая к прямоугольнику, изображается при помощи пунктирной линии, в противном случае используется сплошная линия.</a:t>
            </a:r>
            <a:endParaRPr/>
          </a:p>
          <a:p>
            <a:pPr indent="0" lvl="0" marL="0" marR="0" rtl="0" algn="l">
              <a:spcBef>
                <a:spcPts val="1200"/>
              </a:spcBef>
              <a:spcAft>
                <a:spcPts val="0"/>
              </a:spcAft>
              <a:buNone/>
            </a:pPr>
            <a:r>
              <a:rPr b="0" i="0" lang="en-US" sz="1600">
                <a:solidFill>
                  <a:srgbClr val="000000"/>
                </a:solidFill>
                <a:latin typeface="Verdana"/>
                <a:ea typeface="Verdana"/>
                <a:cs typeface="Verdana"/>
                <a:sym typeface="Verdana"/>
              </a:rPr>
              <a:t>Нотация применяется к обоим отображениям, определяемым связью, при этом линия, изображающая связь, делится пополам, и каждая ее часть оформляется в соответствии со значениями кардинальных чисел.</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2" name="Shape 392"/>
        <p:cNvGrpSpPr/>
        <p:nvPr/>
      </p:nvGrpSpPr>
      <p:grpSpPr>
        <a:xfrm>
          <a:off x="0" y="0"/>
          <a:ext cx="0" cy="0"/>
          <a:chOff x="0" y="0"/>
          <a:chExt cx="0" cy="0"/>
        </a:xfrm>
      </p:grpSpPr>
      <p:sp>
        <p:nvSpPr>
          <p:cNvPr id="393" name="Google Shape;39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394" name="Google Shape;394;p28"/>
          <p:cNvPicPr preferRelativeResize="0"/>
          <p:nvPr/>
        </p:nvPicPr>
        <p:blipFill rotWithShape="1">
          <a:blip r:embed="rId3">
            <a:alphaModFix/>
          </a:blip>
          <a:srcRect b="0" l="0" r="0" t="0"/>
          <a:stretch/>
        </p:blipFill>
        <p:spPr>
          <a:xfrm>
            <a:off x="1590172" y="1690688"/>
            <a:ext cx="7426696" cy="4135319"/>
          </a:xfrm>
          <a:prstGeom prst="rect">
            <a:avLst/>
          </a:prstGeom>
          <a:noFill/>
          <a:ln>
            <a:noFill/>
          </a:ln>
        </p:spPr>
      </p:pic>
      <p:pic>
        <p:nvPicPr>
          <p:cNvPr id="395" name="Google Shape;395;p28"/>
          <p:cNvPicPr preferRelativeResize="0"/>
          <p:nvPr/>
        </p:nvPicPr>
        <p:blipFill rotWithShape="1">
          <a:blip r:embed="rId4">
            <a:alphaModFix/>
          </a:blip>
          <a:srcRect b="0" l="0" r="0" t="0"/>
          <a:stretch/>
        </p:blipFill>
        <p:spPr>
          <a:xfrm>
            <a:off x="9169918" y="4482795"/>
            <a:ext cx="2581635" cy="1343212"/>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402" name="Google Shape;402;p29"/>
          <p:cNvPicPr preferRelativeResize="0"/>
          <p:nvPr/>
        </p:nvPicPr>
        <p:blipFill rotWithShape="1">
          <a:blip r:embed="rId3">
            <a:alphaModFix/>
          </a:blip>
          <a:srcRect b="4913" l="0" r="0" t="0"/>
          <a:stretch/>
        </p:blipFill>
        <p:spPr>
          <a:xfrm>
            <a:off x="1627463" y="1523049"/>
            <a:ext cx="6961970" cy="4718915"/>
          </a:xfrm>
          <a:prstGeom prst="rect">
            <a:avLst/>
          </a:prstGeom>
          <a:noFill/>
          <a:ln>
            <a:noFill/>
          </a:ln>
        </p:spPr>
      </p:pic>
      <p:pic>
        <p:nvPicPr>
          <p:cNvPr id="403" name="Google Shape;403;p29"/>
          <p:cNvPicPr preferRelativeResize="0"/>
          <p:nvPr/>
        </p:nvPicPr>
        <p:blipFill rotWithShape="1">
          <a:blip r:embed="rId4">
            <a:alphaModFix/>
          </a:blip>
          <a:srcRect b="0" l="0" r="0" t="0"/>
          <a:stretch/>
        </p:blipFill>
        <p:spPr>
          <a:xfrm>
            <a:off x="6497007" y="6113298"/>
            <a:ext cx="2092426" cy="368329"/>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410" name="Google Shape;410;p30"/>
          <p:cNvPicPr preferRelativeResize="0"/>
          <p:nvPr/>
        </p:nvPicPr>
        <p:blipFill rotWithShape="1">
          <a:blip r:embed="rId3">
            <a:alphaModFix/>
          </a:blip>
          <a:srcRect b="0" l="0" r="0" t="0"/>
          <a:stretch/>
        </p:blipFill>
        <p:spPr>
          <a:xfrm>
            <a:off x="1845080" y="1488445"/>
            <a:ext cx="7376076" cy="488899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Характеристики атрибутов в нотации Баркера</a:t>
            </a:r>
            <a:endParaRPr sz="2000"/>
          </a:p>
        </p:txBody>
      </p:sp>
      <p:pic>
        <p:nvPicPr>
          <p:cNvPr id="417" name="Google Shape;417;p31"/>
          <p:cNvPicPr preferRelativeResize="0"/>
          <p:nvPr/>
        </p:nvPicPr>
        <p:blipFill rotWithShape="1">
          <a:blip r:embed="rId3">
            <a:alphaModFix/>
          </a:blip>
          <a:srcRect b="0" l="0" r="0" t="22118"/>
          <a:stretch/>
        </p:blipFill>
        <p:spPr>
          <a:xfrm>
            <a:off x="1861546" y="2316480"/>
            <a:ext cx="8468907" cy="2203528"/>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Характеристики атрибутов в нотации Баркера</a:t>
            </a:r>
            <a:endParaRPr/>
          </a:p>
        </p:txBody>
      </p:sp>
      <p:pic>
        <p:nvPicPr>
          <p:cNvPr id="424" name="Google Shape;424;p32"/>
          <p:cNvPicPr preferRelativeResize="0"/>
          <p:nvPr/>
        </p:nvPicPr>
        <p:blipFill rotWithShape="1">
          <a:blip r:embed="rId3">
            <a:alphaModFix/>
          </a:blip>
          <a:srcRect b="0" l="0" r="0" t="0"/>
          <a:stretch/>
        </p:blipFill>
        <p:spPr>
          <a:xfrm>
            <a:off x="2572512" y="1806513"/>
            <a:ext cx="6771658" cy="488209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9" name="Shape 429"/>
        <p:cNvGrpSpPr/>
        <p:nvPr/>
      </p:nvGrpSpPr>
      <p:grpSpPr>
        <a:xfrm>
          <a:off x="0" y="0"/>
          <a:ext cx="0" cy="0"/>
          <a:chOff x="0" y="0"/>
          <a:chExt cx="0" cy="0"/>
        </a:xfrm>
      </p:grpSpPr>
      <p:sp>
        <p:nvSpPr>
          <p:cNvPr id="430" name="Google Shape;43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Характеристики атрибутов в нотации Баркера</a:t>
            </a:r>
            <a:endParaRPr/>
          </a:p>
        </p:txBody>
      </p:sp>
      <p:pic>
        <p:nvPicPr>
          <p:cNvPr id="431" name="Google Shape;431;p33"/>
          <p:cNvPicPr preferRelativeResize="0"/>
          <p:nvPr/>
        </p:nvPicPr>
        <p:blipFill rotWithShape="1">
          <a:blip r:embed="rId3">
            <a:alphaModFix/>
          </a:blip>
          <a:srcRect b="0" l="0" r="0" t="0"/>
          <a:stretch/>
        </p:blipFill>
        <p:spPr>
          <a:xfrm>
            <a:off x="2292096" y="1681817"/>
            <a:ext cx="8057410" cy="50437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4"/>
          <p:cNvSpPr txBox="1"/>
          <p:nvPr>
            <p:ph type="title"/>
          </p:nvPr>
        </p:nvSpPr>
        <p:spPr>
          <a:xfrm>
            <a:off x="704088" y="124031"/>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Характеристики атрибутов</a:t>
            </a:r>
            <a:endParaRPr/>
          </a:p>
        </p:txBody>
      </p:sp>
      <p:pic>
        <p:nvPicPr>
          <p:cNvPr id="438" name="Google Shape;438;p34"/>
          <p:cNvPicPr preferRelativeResize="0"/>
          <p:nvPr/>
        </p:nvPicPr>
        <p:blipFill rotWithShape="1">
          <a:blip r:embed="rId3">
            <a:alphaModFix/>
          </a:blip>
          <a:srcRect b="0" l="0" r="0" t="0"/>
          <a:stretch/>
        </p:blipFill>
        <p:spPr>
          <a:xfrm>
            <a:off x="2304288" y="1547765"/>
            <a:ext cx="7901011" cy="5079222"/>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Характеристики атрибутов</a:t>
            </a:r>
            <a:endParaRPr/>
          </a:p>
        </p:txBody>
      </p:sp>
      <p:pic>
        <p:nvPicPr>
          <p:cNvPr id="445" name="Google Shape;445;p35"/>
          <p:cNvPicPr preferRelativeResize="0"/>
          <p:nvPr/>
        </p:nvPicPr>
        <p:blipFill rotWithShape="1">
          <a:blip r:embed="rId3">
            <a:alphaModFix/>
          </a:blip>
          <a:srcRect b="0" l="0" r="0" t="0"/>
          <a:stretch/>
        </p:blipFill>
        <p:spPr>
          <a:xfrm>
            <a:off x="1647969" y="1425152"/>
            <a:ext cx="8280716" cy="5067723"/>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Oracle Academy: о</a:t>
            </a:r>
            <a:r>
              <a:rPr lang="en-US" sz="4400">
                <a:latin typeface="Times New Roman"/>
                <a:ea typeface="Times New Roman"/>
                <a:cs typeface="Times New Roman"/>
                <a:sym typeface="Times New Roman"/>
              </a:rPr>
              <a:t>пределение ключей </a:t>
            </a:r>
            <a:br>
              <a:rPr lang="en-US" sz="4400">
                <a:latin typeface="Times New Roman"/>
                <a:ea typeface="Times New Roman"/>
                <a:cs typeface="Times New Roman"/>
                <a:sym typeface="Times New Roman"/>
              </a:rPr>
            </a:br>
            <a:r>
              <a:rPr lang="en-US" sz="2200">
                <a:latin typeface="Times New Roman"/>
                <a:ea typeface="Times New Roman"/>
                <a:cs typeface="Times New Roman"/>
                <a:sym typeface="Times New Roman"/>
              </a:rPr>
              <a:t>(Вариант 2: на этапе построения ER в отдельных источниках ключи называются идентификаторами)</a:t>
            </a:r>
            <a:endParaRPr sz="2200"/>
          </a:p>
        </p:txBody>
      </p:sp>
      <p:pic>
        <p:nvPicPr>
          <p:cNvPr id="452" name="Google Shape;452;p36"/>
          <p:cNvPicPr preferRelativeResize="0"/>
          <p:nvPr/>
        </p:nvPicPr>
        <p:blipFill rotWithShape="1">
          <a:blip r:embed="rId3">
            <a:alphaModFix/>
          </a:blip>
          <a:srcRect b="0" l="0" r="0" t="0"/>
          <a:stretch/>
        </p:blipFill>
        <p:spPr>
          <a:xfrm>
            <a:off x="2218943" y="1690688"/>
            <a:ext cx="7328163" cy="463361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459" name="Google Shape;459;p37"/>
          <p:cNvPicPr preferRelativeResize="0"/>
          <p:nvPr/>
        </p:nvPicPr>
        <p:blipFill rotWithShape="1">
          <a:blip r:embed="rId3">
            <a:alphaModFix/>
          </a:blip>
          <a:srcRect b="0" l="0" r="0" t="0"/>
          <a:stretch/>
        </p:blipFill>
        <p:spPr>
          <a:xfrm>
            <a:off x="1471970" y="1690688"/>
            <a:ext cx="8516539" cy="4467849"/>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466" name="Google Shape;466;p38"/>
          <p:cNvPicPr preferRelativeResize="0"/>
          <p:nvPr/>
        </p:nvPicPr>
        <p:blipFill rotWithShape="1">
          <a:blip r:embed="rId3">
            <a:alphaModFix/>
          </a:blip>
          <a:srcRect b="0" l="0" r="0" t="0"/>
          <a:stretch/>
        </p:blipFill>
        <p:spPr>
          <a:xfrm>
            <a:off x="1938528" y="1412588"/>
            <a:ext cx="7694316" cy="4032823"/>
          </a:xfrm>
          <a:prstGeom prst="rect">
            <a:avLst/>
          </a:prstGeom>
          <a:noFill/>
          <a:ln>
            <a:noFill/>
          </a:ln>
        </p:spPr>
      </p:pic>
      <p:pic>
        <p:nvPicPr>
          <p:cNvPr id="467" name="Google Shape;467;p38"/>
          <p:cNvPicPr preferRelativeResize="0"/>
          <p:nvPr/>
        </p:nvPicPr>
        <p:blipFill rotWithShape="1">
          <a:blip r:embed="rId4">
            <a:alphaModFix/>
          </a:blip>
          <a:srcRect b="0" l="0" r="0" t="0"/>
          <a:stretch/>
        </p:blipFill>
        <p:spPr>
          <a:xfrm>
            <a:off x="5059680" y="5445411"/>
            <a:ext cx="4455576" cy="134254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474" name="Google Shape;474;p39"/>
          <p:cNvPicPr preferRelativeResize="0"/>
          <p:nvPr/>
        </p:nvPicPr>
        <p:blipFill rotWithShape="1">
          <a:blip r:embed="rId3">
            <a:alphaModFix/>
          </a:blip>
          <a:srcRect b="0" l="0" r="0" t="0"/>
          <a:stretch/>
        </p:blipFill>
        <p:spPr>
          <a:xfrm>
            <a:off x="1903835" y="1579594"/>
            <a:ext cx="7470880" cy="491328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481" name="Google Shape;481;p40"/>
          <p:cNvPicPr preferRelativeResize="0"/>
          <p:nvPr/>
        </p:nvPicPr>
        <p:blipFill rotWithShape="1">
          <a:blip r:embed="rId3">
            <a:alphaModFix/>
          </a:blip>
          <a:srcRect b="0" l="0" r="0" t="0"/>
          <a:stretch/>
        </p:blipFill>
        <p:spPr>
          <a:xfrm>
            <a:off x="1720666" y="1485414"/>
            <a:ext cx="7545254" cy="500746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6" name="Shape 486"/>
        <p:cNvGrpSpPr/>
        <p:nvPr/>
      </p:nvGrpSpPr>
      <p:grpSpPr>
        <a:xfrm>
          <a:off x="0" y="0"/>
          <a:ext cx="0" cy="0"/>
          <a:chOff x="0" y="0"/>
          <a:chExt cx="0" cy="0"/>
        </a:xfrm>
      </p:grpSpPr>
      <p:sp>
        <p:nvSpPr>
          <p:cNvPr id="487" name="Google Shape;487;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488" name="Google Shape;488;p41"/>
          <p:cNvPicPr preferRelativeResize="0"/>
          <p:nvPr/>
        </p:nvPicPr>
        <p:blipFill rotWithShape="1">
          <a:blip r:embed="rId3">
            <a:alphaModFix/>
          </a:blip>
          <a:srcRect b="0" l="0" r="0" t="0"/>
          <a:stretch/>
        </p:blipFill>
        <p:spPr>
          <a:xfrm>
            <a:off x="1487423" y="1388104"/>
            <a:ext cx="8717281" cy="4810574"/>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3" name="Shape 493"/>
        <p:cNvGrpSpPr/>
        <p:nvPr/>
      </p:nvGrpSpPr>
      <p:grpSpPr>
        <a:xfrm>
          <a:off x="0" y="0"/>
          <a:ext cx="0" cy="0"/>
          <a:chOff x="0" y="0"/>
          <a:chExt cx="0" cy="0"/>
        </a:xfrm>
      </p:grpSpPr>
      <p:sp>
        <p:nvSpPr>
          <p:cNvPr id="494" name="Google Shape;494;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495" name="Google Shape;495;p42"/>
          <p:cNvPicPr preferRelativeResize="0"/>
          <p:nvPr/>
        </p:nvPicPr>
        <p:blipFill rotWithShape="1">
          <a:blip r:embed="rId3">
            <a:alphaModFix/>
          </a:blip>
          <a:srcRect b="633" l="0" r="0" t="0"/>
          <a:stretch/>
        </p:blipFill>
        <p:spPr>
          <a:xfrm>
            <a:off x="1767840" y="1690688"/>
            <a:ext cx="7345686" cy="478767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502" name="Google Shape;502;p43"/>
          <p:cNvPicPr preferRelativeResize="0"/>
          <p:nvPr/>
        </p:nvPicPr>
        <p:blipFill rotWithShape="1">
          <a:blip r:embed="rId3">
            <a:alphaModFix/>
          </a:blip>
          <a:srcRect b="0" l="0" r="0" t="0"/>
          <a:stretch/>
        </p:blipFill>
        <p:spPr>
          <a:xfrm>
            <a:off x="1717569" y="1560031"/>
            <a:ext cx="6791688" cy="4718849"/>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7" name="Shape 507"/>
        <p:cNvGrpSpPr/>
        <p:nvPr/>
      </p:nvGrpSpPr>
      <p:grpSpPr>
        <a:xfrm>
          <a:off x="0" y="0"/>
          <a:ext cx="0" cy="0"/>
          <a:chOff x="0" y="0"/>
          <a:chExt cx="0" cy="0"/>
        </a:xfrm>
      </p:grpSpPr>
      <p:sp>
        <p:nvSpPr>
          <p:cNvPr id="508" name="Google Shape;508;p4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509" name="Google Shape;509;p44"/>
          <p:cNvPicPr preferRelativeResize="0"/>
          <p:nvPr/>
        </p:nvPicPr>
        <p:blipFill rotWithShape="1">
          <a:blip r:embed="rId3">
            <a:alphaModFix/>
          </a:blip>
          <a:srcRect b="0" l="0" r="0" t="0"/>
          <a:stretch/>
        </p:blipFill>
        <p:spPr>
          <a:xfrm>
            <a:off x="1539404" y="1690688"/>
            <a:ext cx="7190067" cy="456499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516" name="Google Shape;516;p45"/>
          <p:cNvPicPr preferRelativeResize="0"/>
          <p:nvPr/>
        </p:nvPicPr>
        <p:blipFill rotWithShape="1">
          <a:blip r:embed="rId3">
            <a:alphaModFix/>
          </a:blip>
          <a:srcRect b="0" l="0" r="0" t="0"/>
          <a:stretch/>
        </p:blipFill>
        <p:spPr>
          <a:xfrm>
            <a:off x="1728430" y="1762792"/>
            <a:ext cx="7144723" cy="4211288"/>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523" name="Google Shape;523;p46"/>
          <p:cNvPicPr preferRelativeResize="0"/>
          <p:nvPr/>
        </p:nvPicPr>
        <p:blipFill rotWithShape="1">
          <a:blip r:embed="rId3">
            <a:alphaModFix/>
          </a:blip>
          <a:srcRect b="0" l="0" r="0" t="0"/>
          <a:stretch/>
        </p:blipFill>
        <p:spPr>
          <a:xfrm>
            <a:off x="1760700" y="1524743"/>
            <a:ext cx="7104615" cy="4827289"/>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530" name="Google Shape;530;p47"/>
          <p:cNvPicPr preferRelativeResize="0"/>
          <p:nvPr/>
        </p:nvPicPr>
        <p:blipFill rotWithShape="1">
          <a:blip r:embed="rId3">
            <a:alphaModFix/>
          </a:blip>
          <a:srcRect b="0" l="0" r="0" t="0"/>
          <a:stretch/>
        </p:blipFill>
        <p:spPr>
          <a:xfrm>
            <a:off x="1882054" y="1563417"/>
            <a:ext cx="6987063" cy="478861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4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537" name="Google Shape;537;p48"/>
          <p:cNvPicPr preferRelativeResize="0"/>
          <p:nvPr/>
        </p:nvPicPr>
        <p:blipFill rotWithShape="1">
          <a:blip r:embed="rId3">
            <a:alphaModFix/>
          </a:blip>
          <a:srcRect b="0" l="0" r="0" t="0"/>
          <a:stretch/>
        </p:blipFill>
        <p:spPr>
          <a:xfrm>
            <a:off x="1511807" y="1538637"/>
            <a:ext cx="7498081" cy="4954238"/>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Oracle Academy</a:t>
            </a:r>
            <a:endParaRPr/>
          </a:p>
        </p:txBody>
      </p:sp>
      <p:pic>
        <p:nvPicPr>
          <p:cNvPr id="544" name="Google Shape;544;p49"/>
          <p:cNvPicPr preferRelativeResize="0"/>
          <p:nvPr/>
        </p:nvPicPr>
        <p:blipFill rotWithShape="1">
          <a:blip r:embed="rId3">
            <a:alphaModFix/>
          </a:blip>
          <a:srcRect b="0" l="0" r="0" t="0"/>
          <a:stretch/>
        </p:blipFill>
        <p:spPr>
          <a:xfrm>
            <a:off x="1524000" y="1347362"/>
            <a:ext cx="7914164" cy="514551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5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Times New Roman"/>
              <a:buNone/>
            </a:pPr>
            <a:r>
              <a:rPr lang="en-US" sz="4400">
                <a:latin typeface="Times New Roman"/>
                <a:ea typeface="Times New Roman"/>
                <a:cs typeface="Times New Roman"/>
                <a:sym typeface="Times New Roman"/>
              </a:rPr>
              <a:t>Типы связей: идентифицирующая связь</a:t>
            </a:r>
            <a:endParaRPr/>
          </a:p>
        </p:txBody>
      </p:sp>
      <p:sp>
        <p:nvSpPr>
          <p:cNvPr id="551" name="Google Shape;551;p50"/>
          <p:cNvSpPr txBox="1"/>
          <p:nvPr/>
        </p:nvSpPr>
        <p:spPr>
          <a:xfrm>
            <a:off x="1584960" y="1690688"/>
            <a:ext cx="10034016" cy="261610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Сущность называется </a:t>
            </a:r>
            <a:r>
              <a:rPr b="1" lang="en-US" sz="1800">
                <a:solidFill>
                  <a:schemeClr val="dk1"/>
                </a:solidFill>
                <a:latin typeface="Calibri"/>
                <a:ea typeface="Calibri"/>
                <a:cs typeface="Calibri"/>
                <a:sym typeface="Calibri"/>
              </a:rPr>
              <a:t>независимой (сильной)</a:t>
            </a:r>
            <a:r>
              <a:rPr lang="en-US" sz="1800">
                <a:solidFill>
                  <a:schemeClr val="dk1"/>
                </a:solidFill>
                <a:latin typeface="Calibri"/>
                <a:ea typeface="Calibri"/>
                <a:cs typeface="Calibri"/>
                <a:sym typeface="Calibri"/>
              </a:rPr>
              <a:t>, если каждый экземпляр сущности может быть однозначно идентифицирован без определения его отношений с другими сущностями. Сущность называется </a:t>
            </a:r>
            <a:r>
              <a:rPr b="1" lang="en-US" sz="1800">
                <a:solidFill>
                  <a:schemeClr val="dk1"/>
                </a:solidFill>
                <a:latin typeface="Calibri"/>
                <a:ea typeface="Calibri"/>
                <a:cs typeface="Calibri"/>
                <a:sym typeface="Calibri"/>
              </a:rPr>
              <a:t>зависимой  (слабой) </a:t>
            </a:r>
            <a:r>
              <a:rPr lang="en-US" sz="1800">
                <a:solidFill>
                  <a:schemeClr val="dk1"/>
                </a:solidFill>
                <a:latin typeface="Calibri"/>
                <a:ea typeface="Calibri"/>
                <a:cs typeface="Calibri"/>
                <a:sym typeface="Calibri"/>
              </a:rPr>
              <a:t>от идентификаторов или просто зависимой, если однозначная идентификация экземпляра сущности зависит от его отношения к другой сущности.</a:t>
            </a:r>
            <a:endParaRPr b="1" i="0" sz="1800">
              <a:solidFill>
                <a:schemeClr val="dk1"/>
              </a:solidFill>
              <a:latin typeface="Calibri"/>
              <a:ea typeface="Calibri"/>
              <a:cs typeface="Calibri"/>
              <a:sym typeface="Calibri"/>
            </a:endParaRPr>
          </a:p>
          <a:p>
            <a:pPr indent="0" lvl="0" marL="0" marR="0" rtl="0" algn="l">
              <a:spcBef>
                <a:spcPts val="1200"/>
              </a:spcBef>
              <a:spcAft>
                <a:spcPts val="0"/>
              </a:spcAft>
              <a:buNone/>
            </a:pPr>
            <a:r>
              <a:rPr i="0" lang="en-US" sz="1800">
                <a:solidFill>
                  <a:schemeClr val="dk1"/>
                </a:solidFill>
                <a:latin typeface="Calibri"/>
                <a:ea typeface="Calibri"/>
                <a:cs typeface="Calibri"/>
                <a:sym typeface="Calibri"/>
              </a:rPr>
              <a:t>Иначе -</a:t>
            </a:r>
            <a:r>
              <a:rPr b="1" i="0" lang="en-US" sz="1800">
                <a:solidFill>
                  <a:schemeClr val="dk1"/>
                </a:solidFill>
                <a:latin typeface="Calibri"/>
                <a:ea typeface="Calibri"/>
                <a:cs typeface="Calibri"/>
                <a:sym typeface="Calibri"/>
              </a:rPr>
              <a:t> слабой сущностью </a:t>
            </a:r>
            <a:r>
              <a:rPr b="0" i="0" lang="en-US" sz="1800">
                <a:solidFill>
                  <a:srgbClr val="000000"/>
                </a:solidFill>
                <a:latin typeface="Calibri"/>
                <a:ea typeface="Calibri"/>
                <a:cs typeface="Calibri"/>
                <a:sym typeface="Calibri"/>
              </a:rPr>
              <a:t>называется сущность, у которой недостаточно атрибутов для идентификации.</a:t>
            </a:r>
            <a:endParaRPr/>
          </a:p>
          <a:p>
            <a:pPr indent="0" lvl="0" marL="0" marR="0" rtl="0" algn="l">
              <a:spcBef>
                <a:spcPts val="1200"/>
              </a:spcBef>
              <a:spcAft>
                <a:spcPts val="0"/>
              </a:spcAft>
              <a:buNone/>
            </a:pPr>
            <a:r>
              <a:rPr b="1" i="0" lang="en-US" sz="1800">
                <a:solidFill>
                  <a:srgbClr val="222222"/>
                </a:solidFill>
                <a:latin typeface="Calibri"/>
                <a:ea typeface="Calibri"/>
                <a:cs typeface="Calibri"/>
                <a:sym typeface="Calibri"/>
              </a:rPr>
              <a:t>Идентифицирующей связью</a:t>
            </a:r>
            <a:r>
              <a:rPr b="0" i="0" lang="en-US" sz="1800">
                <a:solidFill>
                  <a:srgbClr val="222222"/>
                </a:solidFill>
                <a:latin typeface="Calibri"/>
                <a:ea typeface="Calibri"/>
                <a:cs typeface="Calibri"/>
                <a:sym typeface="Calibri"/>
              </a:rPr>
              <a:t> называется связь, позволяющая слабой сущности получить атрибуты, необходимые для ее идентификации.</a:t>
            </a:r>
            <a:endParaRPr sz="1800">
              <a:solidFill>
                <a:srgbClr val="000000"/>
              </a:solidFill>
              <a:latin typeface="Calibri"/>
              <a:ea typeface="Calibri"/>
              <a:cs typeface="Calibri"/>
              <a:sym typeface="Calibri"/>
            </a:endParaRPr>
          </a:p>
        </p:txBody>
      </p:sp>
      <p:sp>
        <p:nvSpPr>
          <p:cNvPr id="552" name="Google Shape;552;p50"/>
          <p:cNvSpPr txBox="1"/>
          <p:nvPr/>
        </p:nvSpPr>
        <p:spPr>
          <a:xfrm>
            <a:off x="7107936" y="4407497"/>
            <a:ext cx="4511040"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Идентифицирующая связь в нотации Баркера </a:t>
            </a:r>
            <a:r>
              <a:rPr lang="en-US" sz="1800">
                <a:solidFill>
                  <a:schemeClr val="dk1"/>
                </a:solidFill>
                <a:latin typeface="Calibri"/>
                <a:ea typeface="Calibri"/>
                <a:cs typeface="Calibri"/>
                <a:sym typeface="Calibri"/>
              </a:rPr>
              <a:t>изображается поперечной линией на стороне вороньей лапки</a:t>
            </a:r>
            <a:endParaRPr/>
          </a:p>
          <a:p>
            <a:pPr indent="0" lvl="0" marL="0" marR="0" rtl="0" algn="l">
              <a:spcBef>
                <a:spcPts val="0"/>
              </a:spcBef>
              <a:spcAft>
                <a:spcPts val="0"/>
              </a:spcAft>
              <a:buNone/>
            </a:pPr>
            <a:r>
              <a:t/>
            </a:r>
            <a:endParaRPr b="1"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400">
                <a:solidFill>
                  <a:schemeClr val="dk1"/>
                </a:solidFill>
                <a:latin typeface="Calibri"/>
                <a:ea typeface="Calibri"/>
                <a:cs typeface="Calibri"/>
                <a:sym typeface="Calibri"/>
              </a:rPr>
              <a:t>Пример: в сущность «Матч» для идентификации нужно добавить код страны из сущности «Страна»</a:t>
            </a:r>
            <a:endParaRPr/>
          </a:p>
        </p:txBody>
      </p:sp>
      <p:sp>
        <p:nvSpPr>
          <p:cNvPr id="553" name="Google Shape;553;p50"/>
          <p:cNvSpPr/>
          <p:nvPr/>
        </p:nvSpPr>
        <p:spPr>
          <a:xfrm>
            <a:off x="1584960" y="4974336"/>
            <a:ext cx="1719072" cy="914400"/>
          </a:xfrm>
          <a:prstGeom prst="roundRect">
            <a:avLst>
              <a:gd fmla="val 16667" name="adj"/>
            </a:avLst>
          </a:prstGeom>
          <a:solidFill>
            <a:srgbClr val="BBD6EE"/>
          </a:solidFill>
          <a:ln cap="flat" cmpd="sng" w="12700">
            <a:solidFill>
              <a:srgbClr val="26415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Страна</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 Код страны</a:t>
            </a:r>
            <a:endParaRPr/>
          </a:p>
        </p:txBody>
      </p:sp>
      <p:cxnSp>
        <p:nvCxnSpPr>
          <p:cNvPr id="554" name="Google Shape;554;p50"/>
          <p:cNvCxnSpPr>
            <a:stCxn id="553" idx="3"/>
          </p:cNvCxnSpPr>
          <p:nvPr/>
        </p:nvCxnSpPr>
        <p:spPr>
          <a:xfrm>
            <a:off x="3304032" y="5431536"/>
            <a:ext cx="1578900" cy="0"/>
          </a:xfrm>
          <a:prstGeom prst="straightConnector1">
            <a:avLst/>
          </a:prstGeom>
          <a:noFill/>
          <a:ln cap="flat" cmpd="sng" w="9525">
            <a:solidFill>
              <a:schemeClr val="dk1"/>
            </a:solidFill>
            <a:prstDash val="solid"/>
            <a:miter lim="800000"/>
            <a:headEnd len="sm" w="sm" type="none"/>
            <a:tailEnd len="sm" w="sm" type="none"/>
          </a:ln>
        </p:spPr>
      </p:cxnSp>
      <p:cxnSp>
        <p:nvCxnSpPr>
          <p:cNvPr id="555" name="Google Shape;555;p50"/>
          <p:cNvCxnSpPr/>
          <p:nvPr/>
        </p:nvCxnSpPr>
        <p:spPr>
          <a:xfrm flipH="1" rot="10800000">
            <a:off x="4584192" y="5303520"/>
            <a:ext cx="298704" cy="128016"/>
          </a:xfrm>
          <a:prstGeom prst="straightConnector1">
            <a:avLst/>
          </a:prstGeom>
          <a:noFill/>
          <a:ln cap="flat" cmpd="sng" w="9525">
            <a:solidFill>
              <a:schemeClr val="dk1"/>
            </a:solidFill>
            <a:prstDash val="solid"/>
            <a:miter lim="800000"/>
            <a:headEnd len="sm" w="sm" type="none"/>
            <a:tailEnd len="sm" w="sm" type="none"/>
          </a:ln>
        </p:spPr>
      </p:cxnSp>
      <p:cxnSp>
        <p:nvCxnSpPr>
          <p:cNvPr id="556" name="Google Shape;556;p50"/>
          <p:cNvCxnSpPr/>
          <p:nvPr/>
        </p:nvCxnSpPr>
        <p:spPr>
          <a:xfrm>
            <a:off x="4584192" y="5431536"/>
            <a:ext cx="298704" cy="138009"/>
          </a:xfrm>
          <a:prstGeom prst="straightConnector1">
            <a:avLst/>
          </a:prstGeom>
          <a:noFill/>
          <a:ln cap="flat" cmpd="sng" w="9525">
            <a:solidFill>
              <a:schemeClr val="dk1"/>
            </a:solidFill>
            <a:prstDash val="solid"/>
            <a:miter lim="800000"/>
            <a:headEnd len="sm" w="sm" type="none"/>
            <a:tailEnd len="sm" w="sm" type="none"/>
          </a:ln>
        </p:spPr>
      </p:cxnSp>
      <p:cxnSp>
        <p:nvCxnSpPr>
          <p:cNvPr id="557" name="Google Shape;557;p50"/>
          <p:cNvCxnSpPr/>
          <p:nvPr/>
        </p:nvCxnSpPr>
        <p:spPr>
          <a:xfrm>
            <a:off x="4511040" y="5303520"/>
            <a:ext cx="0" cy="266025"/>
          </a:xfrm>
          <a:prstGeom prst="straightConnector1">
            <a:avLst/>
          </a:prstGeom>
          <a:noFill/>
          <a:ln cap="flat" cmpd="sng" w="9525">
            <a:solidFill>
              <a:schemeClr val="dk1"/>
            </a:solidFill>
            <a:prstDash val="solid"/>
            <a:miter lim="800000"/>
            <a:headEnd len="sm" w="sm" type="none"/>
            <a:tailEnd len="sm" w="sm" type="none"/>
          </a:ln>
        </p:spPr>
      </p:cxnSp>
      <p:sp>
        <p:nvSpPr>
          <p:cNvPr id="558" name="Google Shape;558;p50"/>
          <p:cNvSpPr txBox="1"/>
          <p:nvPr/>
        </p:nvSpPr>
        <p:spPr>
          <a:xfrm>
            <a:off x="3304032" y="5475469"/>
            <a:ext cx="2987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a:t>
            </a:r>
            <a:endParaRPr/>
          </a:p>
        </p:txBody>
      </p:sp>
      <p:sp>
        <p:nvSpPr>
          <p:cNvPr id="559" name="Google Shape;559;p50"/>
          <p:cNvSpPr txBox="1"/>
          <p:nvPr/>
        </p:nvSpPr>
        <p:spPr>
          <a:xfrm>
            <a:off x="4459224" y="5542962"/>
            <a:ext cx="298703"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
            </a:r>
            <a:endParaRPr/>
          </a:p>
        </p:txBody>
      </p:sp>
      <p:sp>
        <p:nvSpPr>
          <p:cNvPr id="560" name="Google Shape;560;p50"/>
          <p:cNvSpPr/>
          <p:nvPr/>
        </p:nvSpPr>
        <p:spPr>
          <a:xfrm>
            <a:off x="4882896" y="4974336"/>
            <a:ext cx="1719072" cy="914400"/>
          </a:xfrm>
          <a:prstGeom prst="roundRect">
            <a:avLst>
              <a:gd fmla="val 16667" name="adj"/>
            </a:avLst>
          </a:prstGeom>
          <a:solidFill>
            <a:srgbClr val="BBD6EE"/>
          </a:solidFill>
          <a:ln cap="flat" cmpd="sng" w="12700">
            <a:solidFill>
              <a:srgbClr val="26415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Матч</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 Номер матча</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561" name="Google Shape;561;p50"/>
          <p:cNvSpPr/>
          <p:nvPr/>
        </p:nvSpPr>
        <p:spPr>
          <a:xfrm>
            <a:off x="2243328" y="5499225"/>
            <a:ext cx="3499104" cy="1011936"/>
          </a:xfrm>
          <a:custGeom>
            <a:rect b="b" l="l" r="r" t="t"/>
            <a:pathLst>
              <a:path extrusionOk="0" h="1011936" w="3499104">
                <a:moveTo>
                  <a:pt x="0" y="121920"/>
                </a:moveTo>
                <a:cubicBezTo>
                  <a:pt x="13653" y="190184"/>
                  <a:pt x="16989" y="219970"/>
                  <a:pt x="48768" y="292608"/>
                </a:cubicBezTo>
                <a:cubicBezTo>
                  <a:pt x="61901" y="322626"/>
                  <a:pt x="84403" y="347934"/>
                  <a:pt x="97536" y="377952"/>
                </a:cubicBezTo>
                <a:cubicBezTo>
                  <a:pt x="112989" y="413274"/>
                  <a:pt x="118925" y="452243"/>
                  <a:pt x="134112" y="487680"/>
                </a:cubicBezTo>
                <a:cubicBezTo>
                  <a:pt x="150521" y="525968"/>
                  <a:pt x="192733" y="579536"/>
                  <a:pt x="219456" y="609600"/>
                </a:cubicBezTo>
                <a:cubicBezTo>
                  <a:pt x="234729" y="626783"/>
                  <a:pt x="253263" y="640913"/>
                  <a:pt x="268224" y="658368"/>
                </a:cubicBezTo>
                <a:cubicBezTo>
                  <a:pt x="277760" y="669493"/>
                  <a:pt x="280886" y="686152"/>
                  <a:pt x="292608" y="694944"/>
                </a:cubicBezTo>
                <a:cubicBezTo>
                  <a:pt x="314418" y="711301"/>
                  <a:pt x="341056" y="719991"/>
                  <a:pt x="365760" y="731520"/>
                </a:cubicBezTo>
                <a:cubicBezTo>
                  <a:pt x="445203" y="768593"/>
                  <a:pt x="525523" y="803467"/>
                  <a:pt x="609600" y="829056"/>
                </a:cubicBezTo>
                <a:cubicBezTo>
                  <a:pt x="657691" y="843692"/>
                  <a:pt x="708027" y="850311"/>
                  <a:pt x="755904" y="865632"/>
                </a:cubicBezTo>
                <a:cubicBezTo>
                  <a:pt x="809816" y="882884"/>
                  <a:pt x="860266" y="910051"/>
                  <a:pt x="914400" y="926592"/>
                </a:cubicBezTo>
                <a:cubicBezTo>
                  <a:pt x="1149273" y="998359"/>
                  <a:pt x="1125163" y="991037"/>
                  <a:pt x="1292352" y="1011936"/>
                </a:cubicBezTo>
                <a:cubicBezTo>
                  <a:pt x="1328762" y="1010680"/>
                  <a:pt x="1626123" y="1011019"/>
                  <a:pt x="1743456" y="987552"/>
                </a:cubicBezTo>
                <a:cubicBezTo>
                  <a:pt x="1772468" y="981750"/>
                  <a:pt x="1800213" y="970791"/>
                  <a:pt x="1828800" y="963168"/>
                </a:cubicBezTo>
                <a:cubicBezTo>
                  <a:pt x="1861181" y="954533"/>
                  <a:pt x="1893474" y="945356"/>
                  <a:pt x="1926336" y="938784"/>
                </a:cubicBezTo>
                <a:cubicBezTo>
                  <a:pt x="1954515" y="933148"/>
                  <a:pt x="1983501" y="932228"/>
                  <a:pt x="2011680" y="926592"/>
                </a:cubicBezTo>
                <a:cubicBezTo>
                  <a:pt x="2085161" y="911896"/>
                  <a:pt x="2157984" y="894080"/>
                  <a:pt x="2231136" y="877824"/>
                </a:cubicBezTo>
                <a:cubicBezTo>
                  <a:pt x="2267712" y="869696"/>
                  <a:pt x="2305319" y="865288"/>
                  <a:pt x="2340864" y="853440"/>
                </a:cubicBezTo>
                <a:cubicBezTo>
                  <a:pt x="2377440" y="841248"/>
                  <a:pt x="2414492" y="830401"/>
                  <a:pt x="2450592" y="816864"/>
                </a:cubicBezTo>
                <a:cubicBezTo>
                  <a:pt x="2479572" y="805997"/>
                  <a:pt x="2506574" y="790075"/>
                  <a:pt x="2535936" y="780288"/>
                </a:cubicBezTo>
                <a:cubicBezTo>
                  <a:pt x="2567729" y="769690"/>
                  <a:pt x="2600960" y="764032"/>
                  <a:pt x="2633472" y="755904"/>
                </a:cubicBezTo>
                <a:lnTo>
                  <a:pt x="2828544" y="633984"/>
                </a:lnTo>
                <a:cubicBezTo>
                  <a:pt x="2861056" y="613664"/>
                  <a:pt x="2896627" y="597568"/>
                  <a:pt x="2926080" y="573024"/>
                </a:cubicBezTo>
                <a:cubicBezTo>
                  <a:pt x="2974848" y="532384"/>
                  <a:pt x="3020727" y="488002"/>
                  <a:pt x="3072384" y="451104"/>
                </a:cubicBezTo>
                <a:cubicBezTo>
                  <a:pt x="3247443" y="326062"/>
                  <a:pt x="3078484" y="453810"/>
                  <a:pt x="3218688" y="329184"/>
                </a:cubicBezTo>
                <a:cubicBezTo>
                  <a:pt x="3233875" y="315684"/>
                  <a:pt x="3253088" y="306976"/>
                  <a:pt x="3267456" y="292608"/>
                </a:cubicBezTo>
                <a:cubicBezTo>
                  <a:pt x="3285857" y="274207"/>
                  <a:pt x="3301789" y="253300"/>
                  <a:pt x="3316224" y="231648"/>
                </a:cubicBezTo>
                <a:cubicBezTo>
                  <a:pt x="3326306" y="216526"/>
                  <a:pt x="3328780" y="196679"/>
                  <a:pt x="3340608" y="182880"/>
                </a:cubicBezTo>
                <a:cubicBezTo>
                  <a:pt x="3353832" y="167452"/>
                  <a:pt x="3375008" y="160672"/>
                  <a:pt x="3389376" y="146304"/>
                </a:cubicBezTo>
                <a:cubicBezTo>
                  <a:pt x="3470656" y="65024"/>
                  <a:pt x="3352800" y="150368"/>
                  <a:pt x="3450336" y="85344"/>
                </a:cubicBezTo>
                <a:cubicBezTo>
                  <a:pt x="3454400" y="73152"/>
                  <a:pt x="3474023" y="54515"/>
                  <a:pt x="3462528" y="48768"/>
                </a:cubicBezTo>
                <a:cubicBezTo>
                  <a:pt x="3443993" y="39501"/>
                  <a:pt x="3420504" y="52544"/>
                  <a:pt x="3401568" y="60960"/>
                </a:cubicBezTo>
                <a:cubicBezTo>
                  <a:pt x="3382999" y="69213"/>
                  <a:pt x="3361887" y="79361"/>
                  <a:pt x="3352800" y="97536"/>
                </a:cubicBezTo>
                <a:cubicBezTo>
                  <a:pt x="3347053" y="109031"/>
                  <a:pt x="3377184" y="89408"/>
                  <a:pt x="3389376" y="85344"/>
                </a:cubicBezTo>
                <a:cubicBezTo>
                  <a:pt x="3393440" y="73152"/>
                  <a:pt x="3391424" y="56658"/>
                  <a:pt x="3401568" y="48768"/>
                </a:cubicBezTo>
                <a:cubicBezTo>
                  <a:pt x="3430261" y="26452"/>
                  <a:pt x="3499104" y="0"/>
                  <a:pt x="3499104" y="0"/>
                </a:cubicBezTo>
                <a:cubicBezTo>
                  <a:pt x="3490976" y="36576"/>
                  <a:pt x="3482571" y="73091"/>
                  <a:pt x="3474720" y="109728"/>
                </a:cubicBezTo>
                <a:cubicBezTo>
                  <a:pt x="3470378" y="129990"/>
                  <a:pt x="3462528" y="170688"/>
                  <a:pt x="3462528" y="170688"/>
                </a:cubicBezTo>
              </a:path>
            </a:pathLst>
          </a:custGeom>
          <a:no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51"/>
          <p:cNvSpPr txBox="1"/>
          <p:nvPr>
            <p:ph type="title"/>
          </p:nvPr>
        </p:nvSpPr>
        <p:spPr>
          <a:xfrm>
            <a:off x="838200" y="645541"/>
            <a:ext cx="7490552"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sz="3600">
                <a:latin typeface="Calibri"/>
                <a:ea typeface="Calibri"/>
                <a:cs typeface="Calibri"/>
                <a:sym typeface="Calibri"/>
              </a:rPr>
              <a:t>Нотация Мартина, «Вороньи лапки» (</a:t>
            </a:r>
            <a:r>
              <a:rPr b="1" i="0" lang="en-US" sz="3600">
                <a:solidFill>
                  <a:srgbClr val="202122"/>
                </a:solidFill>
                <a:latin typeface="Calibri"/>
                <a:ea typeface="Calibri"/>
                <a:cs typeface="Calibri"/>
                <a:sym typeface="Calibri"/>
              </a:rPr>
              <a:t>Crow’s Foot</a:t>
            </a:r>
            <a:r>
              <a:rPr lang="en-US" sz="3600">
                <a:latin typeface="Calibri"/>
                <a:ea typeface="Calibri"/>
                <a:cs typeface="Calibri"/>
                <a:sym typeface="Calibri"/>
              </a:rPr>
              <a:t>)  (информационная инженерия)</a:t>
            </a:r>
            <a:endParaRPr sz="3600">
              <a:latin typeface="Calibri"/>
              <a:ea typeface="Calibri"/>
              <a:cs typeface="Calibri"/>
              <a:sym typeface="Calibri"/>
            </a:endParaRPr>
          </a:p>
        </p:txBody>
      </p:sp>
      <p:pic>
        <p:nvPicPr>
          <p:cNvPr id="568" name="Google Shape;568;p51"/>
          <p:cNvPicPr preferRelativeResize="0"/>
          <p:nvPr/>
        </p:nvPicPr>
        <p:blipFill rotWithShape="1">
          <a:blip r:embed="rId3">
            <a:alphaModFix/>
          </a:blip>
          <a:srcRect b="0" l="0" r="0" t="0"/>
          <a:stretch/>
        </p:blipFill>
        <p:spPr>
          <a:xfrm>
            <a:off x="940018" y="1971104"/>
            <a:ext cx="6662081" cy="4608227"/>
          </a:xfrm>
          <a:prstGeom prst="rect">
            <a:avLst/>
          </a:prstGeom>
          <a:noFill/>
          <a:ln>
            <a:noFill/>
          </a:ln>
        </p:spPr>
      </p:pic>
      <p:sp>
        <p:nvSpPr>
          <p:cNvPr id="569" name="Google Shape;569;p51"/>
          <p:cNvSpPr txBox="1"/>
          <p:nvPr/>
        </p:nvSpPr>
        <p:spPr>
          <a:xfrm>
            <a:off x="7899093" y="777743"/>
            <a:ext cx="4164376" cy="600164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300">
                <a:solidFill>
                  <a:schemeClr val="dk1"/>
                </a:solidFill>
                <a:latin typeface="Calibri"/>
                <a:ea typeface="Calibri"/>
                <a:cs typeface="Calibri"/>
                <a:sym typeface="Calibri"/>
              </a:rPr>
              <a:t>Сущность изображается в виде прямоугольника, содержащего её имя, выражаемое существительным. Имя сущности должно быть уникальным в рамках одной модели. При этом, имя сущности — это имя типа, а не конкретного экземпляра данного типа. </a:t>
            </a:r>
            <a:endParaRPr/>
          </a:p>
          <a:p>
            <a:pPr indent="0" lvl="0" marL="0" marR="0" rtl="0" algn="l">
              <a:spcBef>
                <a:spcPts val="1200"/>
              </a:spcBef>
              <a:spcAft>
                <a:spcPts val="0"/>
              </a:spcAft>
              <a:buNone/>
            </a:pPr>
            <a:r>
              <a:rPr lang="en-US" sz="1300">
                <a:solidFill>
                  <a:schemeClr val="dk1"/>
                </a:solidFill>
                <a:latin typeface="Calibri"/>
                <a:ea typeface="Calibri"/>
                <a:cs typeface="Calibri"/>
                <a:sym typeface="Calibri"/>
              </a:rPr>
              <a:t>Связь изображается линией, которая связывает две сущности, участвующие в отношении. Степень конца связи указывается графически, множественность связи изображается в виде «вилки» на конце связи. Модальность связи так же изображается графически — необязательность связи помечается кружком на конце связи, обязательность – поперечной линией.  Именование обычно выражается одним глаголом в изъявительном наклонении настоящего времени: «имеет», «принадлежит» и т. д.; или глаголом с поясняющими словами: «включает в себя», и т. п. Наименование может быть одно для всей связи или два для каждого из концов связи. Во втором случае, название левого конца связи указывается над линией связи, а правого — под линией. Каждое из названий располагаются рядом с сущностью, к которой оно относится.</a:t>
            </a:r>
            <a:endParaRPr/>
          </a:p>
          <a:p>
            <a:pPr indent="0" lvl="0" marL="0" marR="0" rtl="0" algn="l">
              <a:spcBef>
                <a:spcPts val="1200"/>
              </a:spcBef>
              <a:spcAft>
                <a:spcPts val="0"/>
              </a:spcAft>
              <a:buNone/>
            </a:pPr>
            <a:r>
              <a:rPr lang="en-US" sz="1300">
                <a:solidFill>
                  <a:schemeClr val="dk1"/>
                </a:solidFill>
                <a:latin typeface="Calibri"/>
                <a:ea typeface="Calibri"/>
                <a:cs typeface="Calibri"/>
                <a:sym typeface="Calibri"/>
              </a:rPr>
              <a:t>Атрибуты сущности записываются внутри прямоугольника, изображающего сущность, и выражаются существительным в единственном числе (возможно, с уточняющими словами). Среди атрибутов выделяется (первичный) ключ сущности, он подчеркивается.</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4" name="Shape 574"/>
        <p:cNvGrpSpPr/>
        <p:nvPr/>
      </p:nvGrpSpPr>
      <p:grpSpPr>
        <a:xfrm>
          <a:off x="0" y="0"/>
          <a:ext cx="0" cy="0"/>
          <a:chOff x="0" y="0"/>
          <a:chExt cx="0" cy="0"/>
        </a:xfrm>
      </p:grpSpPr>
      <p:sp>
        <p:nvSpPr>
          <p:cNvPr id="575" name="Google Shape;575;p52"/>
          <p:cNvSpPr txBox="1"/>
          <p:nvPr>
            <p:ph type="title"/>
          </p:nvPr>
        </p:nvSpPr>
        <p:spPr>
          <a:xfrm>
            <a:off x="838200" y="645541"/>
            <a:ext cx="10524744"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lang="en-US" sz="3600">
                <a:latin typeface="Calibri"/>
                <a:ea typeface="Calibri"/>
                <a:cs typeface="Calibri"/>
                <a:sym typeface="Calibri"/>
              </a:rPr>
              <a:t>Нотация Мартина, «Вороньи лапки» (</a:t>
            </a:r>
            <a:r>
              <a:rPr b="1" i="0" lang="en-US" sz="3600">
                <a:solidFill>
                  <a:srgbClr val="202122"/>
                </a:solidFill>
                <a:latin typeface="Calibri"/>
                <a:ea typeface="Calibri"/>
                <a:cs typeface="Calibri"/>
                <a:sym typeface="Calibri"/>
              </a:rPr>
              <a:t>Crow’s Foot</a:t>
            </a:r>
            <a:r>
              <a:rPr lang="en-US" sz="3600">
                <a:latin typeface="Calibri"/>
                <a:ea typeface="Calibri"/>
                <a:cs typeface="Calibri"/>
                <a:sym typeface="Calibri"/>
              </a:rPr>
              <a:t>)  (информационная инженерия)</a:t>
            </a:r>
            <a:endParaRPr sz="3600">
              <a:latin typeface="Calibri"/>
              <a:ea typeface="Calibri"/>
              <a:cs typeface="Calibri"/>
              <a:sym typeface="Calibri"/>
            </a:endParaRPr>
          </a:p>
        </p:txBody>
      </p:sp>
      <p:pic>
        <p:nvPicPr>
          <p:cNvPr id="576" name="Google Shape;576;p52"/>
          <p:cNvPicPr preferRelativeResize="0"/>
          <p:nvPr/>
        </p:nvPicPr>
        <p:blipFill rotWithShape="1">
          <a:blip r:embed="rId3">
            <a:alphaModFix/>
          </a:blip>
          <a:srcRect b="0" l="0" r="0" t="0"/>
          <a:stretch/>
        </p:blipFill>
        <p:spPr>
          <a:xfrm>
            <a:off x="6903009" y="2216735"/>
            <a:ext cx="5288991" cy="1933271"/>
          </a:xfrm>
          <a:prstGeom prst="rect">
            <a:avLst/>
          </a:prstGeom>
          <a:noFill/>
          <a:ln>
            <a:noFill/>
          </a:ln>
        </p:spPr>
      </p:pic>
      <p:pic>
        <p:nvPicPr>
          <p:cNvPr id="577" name="Google Shape;577;p52"/>
          <p:cNvPicPr preferRelativeResize="0"/>
          <p:nvPr/>
        </p:nvPicPr>
        <p:blipFill rotWithShape="1">
          <a:blip r:embed="rId4">
            <a:alphaModFix/>
          </a:blip>
          <a:srcRect b="0" l="0" r="9279" t="16107"/>
          <a:stretch/>
        </p:blipFill>
        <p:spPr>
          <a:xfrm>
            <a:off x="339424" y="2216735"/>
            <a:ext cx="6317408" cy="3995724"/>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2" name="Shape 582"/>
        <p:cNvGrpSpPr/>
        <p:nvPr/>
      </p:nvGrpSpPr>
      <p:grpSpPr>
        <a:xfrm>
          <a:off x="0" y="0"/>
          <a:ext cx="0" cy="0"/>
          <a:chOff x="0" y="0"/>
          <a:chExt cx="0" cy="0"/>
        </a:xfrm>
      </p:grpSpPr>
      <p:sp>
        <p:nvSpPr>
          <p:cNvPr id="583" name="Google Shape;583;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Определяющие связи</a:t>
            </a:r>
            <a:endParaRPr/>
          </a:p>
        </p:txBody>
      </p:sp>
      <p:sp>
        <p:nvSpPr>
          <p:cNvPr id="584" name="Google Shape;584;p53"/>
          <p:cNvSpPr txBox="1"/>
          <p:nvPr>
            <p:ph idx="1" type="body"/>
          </p:nvPr>
        </p:nvSpPr>
        <p:spPr>
          <a:xfrm>
            <a:off x="1069848" y="2121408"/>
            <a:ext cx="10058400" cy="43518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Какой первичный ключ у сущности СЧЕТ?</a:t>
            </a:r>
            <a:endParaRPr/>
          </a:p>
          <a:p>
            <a:pPr indent="0" lvl="0" marL="0" rtl="0" algn="l">
              <a:lnSpc>
                <a:spcPct val="90000"/>
              </a:lnSpc>
              <a:spcBef>
                <a:spcPts val="1000"/>
              </a:spcBef>
              <a:spcAft>
                <a:spcPts val="0"/>
              </a:spcAft>
              <a:buClr>
                <a:schemeClr val="dk1"/>
              </a:buClr>
              <a:buSzPts val="2800"/>
              <a:buNone/>
            </a:pPr>
            <a:r>
              <a:t/>
            </a:r>
            <a:endParaRPr/>
          </a:p>
          <a:p>
            <a:pPr indent="0" lvl="0" marL="0" rtl="0" algn="l">
              <a:lnSpc>
                <a:spcPct val="90000"/>
              </a:lnSpc>
              <a:spcBef>
                <a:spcPts val="1000"/>
              </a:spcBef>
              <a:spcAft>
                <a:spcPts val="0"/>
              </a:spcAft>
              <a:buClr>
                <a:schemeClr val="dk1"/>
              </a:buClr>
              <a:buSzPts val="2800"/>
              <a:buNone/>
            </a:pPr>
            <a:r>
              <a:t/>
            </a:r>
            <a:endParaRPr/>
          </a:p>
        </p:txBody>
      </p:sp>
      <p:sp>
        <p:nvSpPr>
          <p:cNvPr id="585" name="Google Shape;585;p53"/>
          <p:cNvSpPr txBox="1"/>
          <p:nvPr/>
        </p:nvSpPr>
        <p:spPr>
          <a:xfrm>
            <a:off x="1122783" y="3844213"/>
            <a:ext cx="9010044" cy="914399"/>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2F5496"/>
              </a:buClr>
              <a:buSzPts val="1530"/>
              <a:buFont typeface="Noto Sans Symbols"/>
              <a:buNone/>
            </a:pPr>
            <a:r>
              <a:rPr lang="en-US" sz="1800">
                <a:solidFill>
                  <a:schemeClr val="dk1"/>
                </a:solidFill>
                <a:latin typeface="Calibri"/>
                <a:ea typeface="Calibri"/>
                <a:cs typeface="Calibri"/>
                <a:sym typeface="Calibri"/>
              </a:rPr>
              <a:t>Для первичного ключа требуются атрибут Номер счета сущности СЧЕТ и связь между сущностями СЧЕТ и БАНК.</a:t>
            </a:r>
            <a:endParaRPr/>
          </a:p>
          <a:p>
            <a:pPr indent="0" lvl="0" marL="0" marR="0" rtl="0" algn="l">
              <a:lnSpc>
                <a:spcPct val="90000"/>
              </a:lnSpc>
              <a:spcBef>
                <a:spcPts val="1200"/>
              </a:spcBef>
              <a:spcAft>
                <a:spcPts val="0"/>
              </a:spcAft>
              <a:buClr>
                <a:srgbClr val="2F5496"/>
              </a:buClr>
              <a:buSzPts val="1700"/>
              <a:buFont typeface="Noto Sans Symbols"/>
              <a:buNone/>
            </a:pPr>
            <a:r>
              <a:t/>
            </a:r>
            <a:endParaRPr sz="2000">
              <a:solidFill>
                <a:schemeClr val="dk1"/>
              </a:solidFill>
              <a:latin typeface="Calibri"/>
              <a:ea typeface="Calibri"/>
              <a:cs typeface="Calibri"/>
              <a:sym typeface="Calibri"/>
            </a:endParaRPr>
          </a:p>
        </p:txBody>
      </p:sp>
      <p:sp>
        <p:nvSpPr>
          <p:cNvPr id="586" name="Google Shape;586;p53"/>
          <p:cNvSpPr/>
          <p:nvPr/>
        </p:nvSpPr>
        <p:spPr>
          <a:xfrm>
            <a:off x="2127378" y="2611141"/>
            <a:ext cx="1987421" cy="914400"/>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СЧЕТ</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 счета</a:t>
            </a:r>
            <a:endParaRPr/>
          </a:p>
        </p:txBody>
      </p:sp>
      <p:sp>
        <p:nvSpPr>
          <p:cNvPr id="587" name="Google Shape;587;p53"/>
          <p:cNvSpPr/>
          <p:nvPr/>
        </p:nvSpPr>
        <p:spPr>
          <a:xfrm>
            <a:off x="6060543" y="2611141"/>
            <a:ext cx="1987421" cy="914400"/>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БАНК</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a:t>
            </a:r>
            <a:endParaRPr/>
          </a:p>
        </p:txBody>
      </p:sp>
      <p:cxnSp>
        <p:nvCxnSpPr>
          <p:cNvPr id="588" name="Google Shape;588;p53"/>
          <p:cNvCxnSpPr/>
          <p:nvPr/>
        </p:nvCxnSpPr>
        <p:spPr>
          <a:xfrm>
            <a:off x="4114799" y="3068341"/>
            <a:ext cx="961054" cy="0"/>
          </a:xfrm>
          <a:prstGeom prst="straightConnector1">
            <a:avLst/>
          </a:prstGeom>
          <a:noFill/>
          <a:ln cap="flat" cmpd="sng" w="28575">
            <a:solidFill>
              <a:schemeClr val="dk1"/>
            </a:solidFill>
            <a:prstDash val="solid"/>
            <a:miter lim="800000"/>
            <a:headEnd len="sm" w="sm" type="none"/>
            <a:tailEnd len="sm" w="sm" type="none"/>
          </a:ln>
        </p:spPr>
      </p:cxnSp>
      <p:cxnSp>
        <p:nvCxnSpPr>
          <p:cNvPr id="589" name="Google Shape;589;p53"/>
          <p:cNvCxnSpPr/>
          <p:nvPr/>
        </p:nvCxnSpPr>
        <p:spPr>
          <a:xfrm>
            <a:off x="5075853" y="3068341"/>
            <a:ext cx="961054" cy="0"/>
          </a:xfrm>
          <a:prstGeom prst="straightConnector1">
            <a:avLst/>
          </a:prstGeom>
          <a:noFill/>
          <a:ln cap="flat" cmpd="sng" w="28575">
            <a:solidFill>
              <a:schemeClr val="dk1"/>
            </a:solidFill>
            <a:prstDash val="dash"/>
            <a:miter lim="800000"/>
            <a:headEnd len="sm" w="sm" type="none"/>
            <a:tailEnd len="sm" w="sm" type="none"/>
          </a:ln>
        </p:spPr>
      </p:cxnSp>
      <p:cxnSp>
        <p:nvCxnSpPr>
          <p:cNvPr id="590" name="Google Shape;590;p53"/>
          <p:cNvCxnSpPr/>
          <p:nvPr/>
        </p:nvCxnSpPr>
        <p:spPr>
          <a:xfrm>
            <a:off x="4114799" y="2903220"/>
            <a:ext cx="175261" cy="165121"/>
          </a:xfrm>
          <a:prstGeom prst="straightConnector1">
            <a:avLst/>
          </a:prstGeom>
          <a:noFill/>
          <a:ln cap="flat" cmpd="sng" w="19050">
            <a:solidFill>
              <a:schemeClr val="dk1"/>
            </a:solidFill>
            <a:prstDash val="solid"/>
            <a:miter lim="800000"/>
            <a:headEnd len="sm" w="sm" type="none"/>
            <a:tailEnd len="sm" w="sm" type="none"/>
          </a:ln>
        </p:spPr>
      </p:cxnSp>
      <p:cxnSp>
        <p:nvCxnSpPr>
          <p:cNvPr id="591" name="Google Shape;591;p53"/>
          <p:cNvCxnSpPr/>
          <p:nvPr/>
        </p:nvCxnSpPr>
        <p:spPr>
          <a:xfrm flipH="1">
            <a:off x="4114799" y="3070860"/>
            <a:ext cx="175261" cy="154982"/>
          </a:xfrm>
          <a:prstGeom prst="straightConnector1">
            <a:avLst/>
          </a:prstGeom>
          <a:noFill/>
          <a:ln cap="flat" cmpd="sng" w="19050">
            <a:solidFill>
              <a:schemeClr val="dk1"/>
            </a:solidFill>
            <a:prstDash val="solid"/>
            <a:miter lim="800000"/>
            <a:headEnd len="sm" w="sm" type="none"/>
            <a:tailEnd len="sm" w="sm" type="none"/>
          </a:ln>
        </p:spPr>
      </p:cxnSp>
      <p:sp>
        <p:nvSpPr>
          <p:cNvPr id="592" name="Google Shape;592;p53"/>
          <p:cNvSpPr txBox="1"/>
          <p:nvPr/>
        </p:nvSpPr>
        <p:spPr>
          <a:xfrm>
            <a:off x="1080251" y="5627342"/>
            <a:ext cx="9052575" cy="1028639"/>
          </a:xfrm>
          <a:prstGeom prst="rect">
            <a:avLst/>
          </a:prstGeom>
          <a:noFill/>
          <a:ln>
            <a:noFill/>
          </a:ln>
        </p:spPr>
        <p:txBody>
          <a:bodyPr anchorCtr="0" anchor="t" bIns="45700" lIns="91425" spcFirstLastPara="1" rIns="91425" wrap="square" tIns="45700">
            <a:normAutofit/>
          </a:bodyPr>
          <a:lstStyle/>
          <a:p>
            <a:pPr indent="-182880" lvl="0" marL="182880" marR="0" rtl="0" algn="l">
              <a:lnSpc>
                <a:spcPct val="90000"/>
              </a:lnSpc>
              <a:spcBef>
                <a:spcPts val="0"/>
              </a:spcBef>
              <a:spcAft>
                <a:spcPts val="0"/>
              </a:spcAft>
              <a:buClr>
                <a:srgbClr val="2F5496"/>
              </a:buClr>
              <a:buSzPts val="1530"/>
              <a:buFont typeface="Noto Sans Symbols"/>
              <a:buChar char="▪"/>
            </a:pPr>
            <a:r>
              <a:rPr lang="en-US" sz="1800">
                <a:solidFill>
                  <a:schemeClr val="dk1"/>
                </a:solidFill>
                <a:latin typeface="Calibri"/>
                <a:ea typeface="Calibri"/>
                <a:cs typeface="Calibri"/>
                <a:sym typeface="Calibri"/>
              </a:rPr>
              <a:t>Первичный ключ для сущности СЧЕТ состоит из атрибута Номер счета и атрибута Номер сущности БАНК, который представлен полосой на линии связи (в нотации Баркера).</a:t>
            </a:r>
            <a:endParaRPr/>
          </a:p>
          <a:p>
            <a:pPr indent="0" lvl="0" marL="0" marR="0" rtl="0" algn="l">
              <a:lnSpc>
                <a:spcPct val="90000"/>
              </a:lnSpc>
              <a:spcBef>
                <a:spcPts val="1200"/>
              </a:spcBef>
              <a:spcAft>
                <a:spcPts val="0"/>
              </a:spcAft>
              <a:buClr>
                <a:srgbClr val="2F5496"/>
              </a:buClr>
              <a:buSzPts val="1700"/>
              <a:buFont typeface="Noto Sans Symbols"/>
              <a:buNone/>
            </a:pPr>
            <a:r>
              <a:t/>
            </a:r>
            <a:endParaRPr sz="2000">
              <a:solidFill>
                <a:schemeClr val="dk1"/>
              </a:solidFill>
              <a:latin typeface="Calibri"/>
              <a:ea typeface="Calibri"/>
              <a:cs typeface="Calibri"/>
              <a:sym typeface="Calibri"/>
            </a:endParaRPr>
          </a:p>
          <a:p>
            <a:pPr indent="0" lvl="0" marL="0" marR="0" rtl="0" algn="l">
              <a:lnSpc>
                <a:spcPct val="90000"/>
              </a:lnSpc>
              <a:spcBef>
                <a:spcPts val="1200"/>
              </a:spcBef>
              <a:spcAft>
                <a:spcPts val="0"/>
              </a:spcAft>
              <a:buClr>
                <a:srgbClr val="2F5496"/>
              </a:buClr>
              <a:buSzPts val="1700"/>
              <a:buFont typeface="Noto Sans Symbols"/>
              <a:buNone/>
            </a:pPr>
            <a:r>
              <a:t/>
            </a:r>
            <a:endParaRPr sz="2000">
              <a:solidFill>
                <a:schemeClr val="dk1"/>
              </a:solidFill>
              <a:latin typeface="Calibri"/>
              <a:ea typeface="Calibri"/>
              <a:cs typeface="Calibri"/>
              <a:sym typeface="Calibri"/>
            </a:endParaRPr>
          </a:p>
        </p:txBody>
      </p:sp>
      <p:sp>
        <p:nvSpPr>
          <p:cNvPr id="593" name="Google Shape;593;p53"/>
          <p:cNvSpPr/>
          <p:nvPr/>
        </p:nvSpPr>
        <p:spPr>
          <a:xfrm>
            <a:off x="2150238" y="4620083"/>
            <a:ext cx="1987421" cy="914400"/>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СЧЕТ</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 счета</a:t>
            </a:r>
            <a:endParaRPr/>
          </a:p>
        </p:txBody>
      </p:sp>
      <p:sp>
        <p:nvSpPr>
          <p:cNvPr id="594" name="Google Shape;594;p53"/>
          <p:cNvSpPr/>
          <p:nvPr/>
        </p:nvSpPr>
        <p:spPr>
          <a:xfrm>
            <a:off x="6083403" y="4620083"/>
            <a:ext cx="1987421" cy="914400"/>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БАНК</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a:t>
            </a:r>
            <a:endParaRPr/>
          </a:p>
        </p:txBody>
      </p:sp>
      <p:cxnSp>
        <p:nvCxnSpPr>
          <p:cNvPr id="595" name="Google Shape;595;p53"/>
          <p:cNvCxnSpPr/>
          <p:nvPr/>
        </p:nvCxnSpPr>
        <p:spPr>
          <a:xfrm>
            <a:off x="4137659" y="5077283"/>
            <a:ext cx="961054" cy="0"/>
          </a:xfrm>
          <a:prstGeom prst="straightConnector1">
            <a:avLst/>
          </a:prstGeom>
          <a:noFill/>
          <a:ln cap="flat" cmpd="sng" w="28575">
            <a:solidFill>
              <a:schemeClr val="dk1"/>
            </a:solidFill>
            <a:prstDash val="solid"/>
            <a:miter lim="800000"/>
            <a:headEnd len="sm" w="sm" type="none"/>
            <a:tailEnd len="sm" w="sm" type="none"/>
          </a:ln>
        </p:spPr>
      </p:cxnSp>
      <p:cxnSp>
        <p:nvCxnSpPr>
          <p:cNvPr id="596" name="Google Shape;596;p53"/>
          <p:cNvCxnSpPr/>
          <p:nvPr/>
        </p:nvCxnSpPr>
        <p:spPr>
          <a:xfrm>
            <a:off x="5098713" y="5077283"/>
            <a:ext cx="961054" cy="0"/>
          </a:xfrm>
          <a:prstGeom prst="straightConnector1">
            <a:avLst/>
          </a:prstGeom>
          <a:noFill/>
          <a:ln cap="flat" cmpd="sng" w="28575">
            <a:solidFill>
              <a:schemeClr val="dk1"/>
            </a:solidFill>
            <a:prstDash val="dash"/>
            <a:miter lim="800000"/>
            <a:headEnd len="sm" w="sm" type="none"/>
            <a:tailEnd len="sm" w="sm" type="none"/>
          </a:ln>
        </p:spPr>
      </p:cxnSp>
      <p:cxnSp>
        <p:nvCxnSpPr>
          <p:cNvPr id="597" name="Google Shape;597;p53"/>
          <p:cNvCxnSpPr/>
          <p:nvPr/>
        </p:nvCxnSpPr>
        <p:spPr>
          <a:xfrm>
            <a:off x="4137659" y="4912162"/>
            <a:ext cx="175261" cy="165121"/>
          </a:xfrm>
          <a:prstGeom prst="straightConnector1">
            <a:avLst/>
          </a:prstGeom>
          <a:noFill/>
          <a:ln cap="flat" cmpd="sng" w="19050">
            <a:solidFill>
              <a:schemeClr val="dk1"/>
            </a:solidFill>
            <a:prstDash val="solid"/>
            <a:miter lim="800000"/>
            <a:headEnd len="sm" w="sm" type="none"/>
            <a:tailEnd len="sm" w="sm" type="none"/>
          </a:ln>
        </p:spPr>
      </p:cxnSp>
      <p:cxnSp>
        <p:nvCxnSpPr>
          <p:cNvPr id="598" name="Google Shape;598;p53"/>
          <p:cNvCxnSpPr/>
          <p:nvPr/>
        </p:nvCxnSpPr>
        <p:spPr>
          <a:xfrm flipH="1">
            <a:off x="4137659" y="5079802"/>
            <a:ext cx="175261" cy="154982"/>
          </a:xfrm>
          <a:prstGeom prst="straightConnector1">
            <a:avLst/>
          </a:prstGeom>
          <a:noFill/>
          <a:ln cap="flat" cmpd="sng" w="19050">
            <a:solidFill>
              <a:schemeClr val="dk1"/>
            </a:solidFill>
            <a:prstDash val="solid"/>
            <a:miter lim="800000"/>
            <a:headEnd len="sm" w="sm" type="none"/>
            <a:tailEnd len="sm" w="sm" type="none"/>
          </a:ln>
        </p:spPr>
      </p:cxnSp>
      <p:cxnSp>
        <p:nvCxnSpPr>
          <p:cNvPr id="599" name="Google Shape;599;p53"/>
          <p:cNvCxnSpPr/>
          <p:nvPr/>
        </p:nvCxnSpPr>
        <p:spPr>
          <a:xfrm>
            <a:off x="4396740" y="4896922"/>
            <a:ext cx="0" cy="345482"/>
          </a:xfrm>
          <a:prstGeom prst="straightConnector1">
            <a:avLst/>
          </a:prstGeom>
          <a:noFill/>
          <a:ln cap="flat" cmpd="sng" w="19050">
            <a:solidFill>
              <a:srgbClr val="C00000"/>
            </a:solidFill>
            <a:prstDash val="solid"/>
            <a:miter lim="800000"/>
            <a:headEnd len="sm" w="sm" type="none"/>
            <a:tailEnd len="sm" w="sm" type="none"/>
          </a:ln>
        </p:spPr>
      </p:cxnSp>
      <p:cxnSp>
        <p:nvCxnSpPr>
          <p:cNvPr id="600" name="Google Shape;600;p53"/>
          <p:cNvCxnSpPr/>
          <p:nvPr/>
        </p:nvCxnSpPr>
        <p:spPr>
          <a:xfrm rot="10800000">
            <a:off x="4486940" y="5242404"/>
            <a:ext cx="276446" cy="292079"/>
          </a:xfrm>
          <a:prstGeom prst="straightConnector1">
            <a:avLst/>
          </a:prstGeom>
          <a:noFill/>
          <a:ln cap="flat" cmpd="sng" w="9525">
            <a:solidFill>
              <a:srgbClr val="C00000"/>
            </a:solidFill>
            <a:prstDash val="solid"/>
            <a:miter lim="800000"/>
            <a:headEnd len="sm" w="sm" type="none"/>
            <a:tailEnd len="med" w="med" type="triangle"/>
          </a:ln>
        </p:spPr>
      </p:cxn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4" name="Shape 604"/>
        <p:cNvGrpSpPr/>
        <p:nvPr/>
      </p:nvGrpSpPr>
      <p:grpSpPr>
        <a:xfrm>
          <a:off x="0" y="0"/>
          <a:ext cx="0" cy="0"/>
          <a:chOff x="0" y="0"/>
          <a:chExt cx="0" cy="0"/>
        </a:xfrm>
      </p:grpSpPr>
      <p:sp>
        <p:nvSpPr>
          <p:cNvPr id="605" name="Google Shape;605;p5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Определение связей с несколькими объектами</a:t>
            </a:r>
            <a:endParaRPr/>
          </a:p>
        </p:txBody>
      </p:sp>
      <p:sp>
        <p:nvSpPr>
          <p:cNvPr id="606" name="Google Shape;606;p54"/>
          <p:cNvSpPr txBox="1"/>
          <p:nvPr>
            <p:ph idx="1" type="body"/>
          </p:nvPr>
        </p:nvSpPr>
        <p:spPr>
          <a:xfrm>
            <a:off x="1069848" y="2121408"/>
            <a:ext cx="10058400" cy="472936"/>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Первичный ключ для сущности можно определить через несколько связей</a:t>
            </a:r>
            <a:endParaRPr/>
          </a:p>
        </p:txBody>
      </p:sp>
      <p:sp>
        <p:nvSpPr>
          <p:cNvPr id="607" name="Google Shape;607;p54"/>
          <p:cNvSpPr/>
          <p:nvPr/>
        </p:nvSpPr>
        <p:spPr>
          <a:xfrm>
            <a:off x="2931439" y="4568947"/>
            <a:ext cx="2108393" cy="914400"/>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РАБОТНИК</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 работника</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ФИО</a:t>
            </a:r>
            <a:endParaRPr/>
          </a:p>
        </p:txBody>
      </p:sp>
      <p:sp>
        <p:nvSpPr>
          <p:cNvPr id="608" name="Google Shape;608;p54"/>
          <p:cNvSpPr/>
          <p:nvPr/>
        </p:nvSpPr>
        <p:spPr>
          <a:xfrm>
            <a:off x="6184124" y="4568947"/>
            <a:ext cx="1987421" cy="914400"/>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ПРОЕКТ</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 проекта</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Наименование</a:t>
            </a:r>
            <a:endParaRPr/>
          </a:p>
        </p:txBody>
      </p:sp>
      <p:cxnSp>
        <p:nvCxnSpPr>
          <p:cNvPr id="609" name="Google Shape;609;p54"/>
          <p:cNvCxnSpPr/>
          <p:nvPr/>
        </p:nvCxnSpPr>
        <p:spPr>
          <a:xfrm>
            <a:off x="6534148" y="3324938"/>
            <a:ext cx="632196" cy="0"/>
          </a:xfrm>
          <a:prstGeom prst="straightConnector1">
            <a:avLst/>
          </a:prstGeom>
          <a:noFill/>
          <a:ln cap="flat" cmpd="sng" w="28575">
            <a:solidFill>
              <a:schemeClr val="dk1"/>
            </a:solidFill>
            <a:prstDash val="solid"/>
            <a:miter lim="800000"/>
            <a:headEnd len="sm" w="sm" type="none"/>
            <a:tailEnd len="sm" w="sm" type="none"/>
          </a:ln>
        </p:spPr>
      </p:cxnSp>
      <p:sp>
        <p:nvSpPr>
          <p:cNvPr id="610" name="Google Shape;610;p54"/>
          <p:cNvSpPr/>
          <p:nvPr/>
        </p:nvSpPr>
        <p:spPr>
          <a:xfrm>
            <a:off x="4546727" y="2594342"/>
            <a:ext cx="1987421" cy="1501671"/>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ТРУДОУСТРОЙСТВО</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Дата приема</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Срок</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Должность</a:t>
            </a:r>
            <a:endParaRPr/>
          </a:p>
        </p:txBody>
      </p:sp>
      <p:cxnSp>
        <p:nvCxnSpPr>
          <p:cNvPr id="611" name="Google Shape;611;p54"/>
          <p:cNvCxnSpPr/>
          <p:nvPr/>
        </p:nvCxnSpPr>
        <p:spPr>
          <a:xfrm>
            <a:off x="3914531" y="3324938"/>
            <a:ext cx="632196" cy="0"/>
          </a:xfrm>
          <a:prstGeom prst="straightConnector1">
            <a:avLst/>
          </a:prstGeom>
          <a:noFill/>
          <a:ln cap="flat" cmpd="sng" w="28575">
            <a:solidFill>
              <a:schemeClr val="dk1"/>
            </a:solidFill>
            <a:prstDash val="solid"/>
            <a:miter lim="800000"/>
            <a:headEnd len="sm" w="sm" type="none"/>
            <a:tailEnd len="sm" w="sm" type="none"/>
          </a:ln>
        </p:spPr>
      </p:cxnSp>
      <p:cxnSp>
        <p:nvCxnSpPr>
          <p:cNvPr id="612" name="Google Shape;612;p54"/>
          <p:cNvCxnSpPr/>
          <p:nvPr/>
        </p:nvCxnSpPr>
        <p:spPr>
          <a:xfrm>
            <a:off x="3914531" y="3322419"/>
            <a:ext cx="0" cy="1238908"/>
          </a:xfrm>
          <a:prstGeom prst="straightConnector1">
            <a:avLst/>
          </a:prstGeom>
          <a:noFill/>
          <a:ln cap="flat" cmpd="sng" w="15875">
            <a:solidFill>
              <a:schemeClr val="dk1"/>
            </a:solidFill>
            <a:prstDash val="dash"/>
            <a:miter lim="800000"/>
            <a:headEnd len="sm" w="sm" type="none"/>
            <a:tailEnd len="sm" w="sm" type="none"/>
          </a:ln>
        </p:spPr>
      </p:cxnSp>
      <p:cxnSp>
        <p:nvCxnSpPr>
          <p:cNvPr id="613" name="Google Shape;613;p54"/>
          <p:cNvCxnSpPr/>
          <p:nvPr/>
        </p:nvCxnSpPr>
        <p:spPr>
          <a:xfrm>
            <a:off x="7171638" y="3330039"/>
            <a:ext cx="0" cy="1238908"/>
          </a:xfrm>
          <a:prstGeom prst="straightConnector1">
            <a:avLst/>
          </a:prstGeom>
          <a:noFill/>
          <a:ln cap="flat" cmpd="sng" w="15875">
            <a:solidFill>
              <a:schemeClr val="dk1"/>
            </a:solidFill>
            <a:prstDash val="dash"/>
            <a:miter lim="800000"/>
            <a:headEnd len="sm" w="sm" type="none"/>
            <a:tailEnd len="sm" w="sm" type="none"/>
          </a:ln>
        </p:spPr>
      </p:cxnSp>
      <p:cxnSp>
        <p:nvCxnSpPr>
          <p:cNvPr id="614" name="Google Shape;614;p54"/>
          <p:cNvCxnSpPr/>
          <p:nvPr/>
        </p:nvCxnSpPr>
        <p:spPr>
          <a:xfrm>
            <a:off x="6539442" y="3173236"/>
            <a:ext cx="175261" cy="165121"/>
          </a:xfrm>
          <a:prstGeom prst="straightConnector1">
            <a:avLst/>
          </a:prstGeom>
          <a:noFill/>
          <a:ln cap="flat" cmpd="sng" w="15875">
            <a:solidFill>
              <a:schemeClr val="dk1"/>
            </a:solidFill>
            <a:prstDash val="solid"/>
            <a:miter lim="800000"/>
            <a:headEnd len="sm" w="sm" type="none"/>
            <a:tailEnd len="sm" w="sm" type="none"/>
          </a:ln>
        </p:spPr>
      </p:cxnSp>
      <p:cxnSp>
        <p:nvCxnSpPr>
          <p:cNvPr id="615" name="Google Shape;615;p54"/>
          <p:cNvCxnSpPr/>
          <p:nvPr/>
        </p:nvCxnSpPr>
        <p:spPr>
          <a:xfrm flipH="1">
            <a:off x="6539442" y="3340876"/>
            <a:ext cx="175261" cy="154982"/>
          </a:xfrm>
          <a:prstGeom prst="straightConnector1">
            <a:avLst/>
          </a:prstGeom>
          <a:noFill/>
          <a:ln cap="flat" cmpd="sng" w="15875">
            <a:solidFill>
              <a:schemeClr val="dk1"/>
            </a:solidFill>
            <a:prstDash val="solid"/>
            <a:miter lim="800000"/>
            <a:headEnd len="sm" w="sm" type="none"/>
            <a:tailEnd len="sm" w="sm" type="none"/>
          </a:ln>
        </p:spPr>
      </p:cxnSp>
      <p:cxnSp>
        <p:nvCxnSpPr>
          <p:cNvPr id="616" name="Google Shape;616;p54"/>
          <p:cNvCxnSpPr/>
          <p:nvPr/>
        </p:nvCxnSpPr>
        <p:spPr>
          <a:xfrm flipH="1">
            <a:off x="4351090" y="3173236"/>
            <a:ext cx="200931" cy="154284"/>
          </a:xfrm>
          <a:prstGeom prst="straightConnector1">
            <a:avLst/>
          </a:prstGeom>
          <a:noFill/>
          <a:ln cap="flat" cmpd="sng" w="15875">
            <a:solidFill>
              <a:schemeClr val="dk1"/>
            </a:solidFill>
            <a:prstDash val="solid"/>
            <a:miter lim="800000"/>
            <a:headEnd len="sm" w="sm" type="none"/>
            <a:tailEnd len="sm" w="sm" type="none"/>
          </a:ln>
        </p:spPr>
      </p:cxnSp>
      <p:cxnSp>
        <p:nvCxnSpPr>
          <p:cNvPr id="617" name="Google Shape;617;p54"/>
          <p:cNvCxnSpPr/>
          <p:nvPr/>
        </p:nvCxnSpPr>
        <p:spPr>
          <a:xfrm>
            <a:off x="4351090" y="3330039"/>
            <a:ext cx="200931" cy="165819"/>
          </a:xfrm>
          <a:prstGeom prst="straightConnector1">
            <a:avLst/>
          </a:prstGeom>
          <a:noFill/>
          <a:ln cap="flat" cmpd="sng" w="15875">
            <a:solidFill>
              <a:schemeClr val="dk1"/>
            </a:solidFill>
            <a:prstDash val="solid"/>
            <a:miter lim="800000"/>
            <a:headEnd len="sm" w="sm" type="none"/>
            <a:tailEnd len="sm" w="sm" type="none"/>
          </a:ln>
        </p:spPr>
      </p:cxnSp>
      <p:cxnSp>
        <p:nvCxnSpPr>
          <p:cNvPr id="618" name="Google Shape;618;p54"/>
          <p:cNvCxnSpPr/>
          <p:nvPr/>
        </p:nvCxnSpPr>
        <p:spPr>
          <a:xfrm>
            <a:off x="4237252" y="3149678"/>
            <a:ext cx="0" cy="345482"/>
          </a:xfrm>
          <a:prstGeom prst="straightConnector1">
            <a:avLst/>
          </a:prstGeom>
          <a:noFill/>
          <a:ln cap="flat" cmpd="sng" w="19050">
            <a:solidFill>
              <a:srgbClr val="C00000"/>
            </a:solidFill>
            <a:prstDash val="solid"/>
            <a:miter lim="800000"/>
            <a:headEnd len="sm" w="sm" type="none"/>
            <a:tailEnd len="sm" w="sm" type="none"/>
          </a:ln>
        </p:spPr>
      </p:cxnSp>
      <p:cxnSp>
        <p:nvCxnSpPr>
          <p:cNvPr id="619" name="Google Shape;619;p54"/>
          <p:cNvCxnSpPr/>
          <p:nvPr/>
        </p:nvCxnSpPr>
        <p:spPr>
          <a:xfrm>
            <a:off x="6820963" y="3149678"/>
            <a:ext cx="0" cy="345482"/>
          </a:xfrm>
          <a:prstGeom prst="straightConnector1">
            <a:avLst/>
          </a:prstGeom>
          <a:noFill/>
          <a:ln cap="flat" cmpd="sng" w="19050">
            <a:solidFill>
              <a:srgbClr val="C00000"/>
            </a:solidFill>
            <a:prstDash val="solid"/>
            <a:miter lim="800000"/>
            <a:headEnd len="sm" w="sm" type="none"/>
            <a:tailEnd len="sm" w="sm" type="none"/>
          </a:ln>
        </p:spPr>
      </p:cxnSp>
      <p:sp>
        <p:nvSpPr>
          <p:cNvPr id="620" name="Google Shape;620;p54"/>
          <p:cNvSpPr txBox="1"/>
          <p:nvPr/>
        </p:nvSpPr>
        <p:spPr>
          <a:xfrm>
            <a:off x="1066800" y="5821540"/>
            <a:ext cx="10058400" cy="714390"/>
          </a:xfrm>
          <a:prstGeom prst="rect">
            <a:avLst/>
          </a:prstGeom>
          <a:noFill/>
          <a:ln>
            <a:noFill/>
          </a:ln>
        </p:spPr>
        <p:txBody>
          <a:bodyPr anchorCtr="0" anchor="t" bIns="45700" lIns="91425" spcFirstLastPara="1" rIns="91425" wrap="square" tIns="45700">
            <a:normAutofit/>
          </a:bodyPr>
          <a:lstStyle/>
          <a:p>
            <a:pPr indent="-182880" lvl="0" marL="182880" marR="0" rtl="0" algn="l">
              <a:lnSpc>
                <a:spcPct val="90000"/>
              </a:lnSpc>
              <a:spcBef>
                <a:spcPts val="0"/>
              </a:spcBef>
              <a:spcAft>
                <a:spcPts val="0"/>
              </a:spcAft>
              <a:buClr>
                <a:srgbClr val="2F5496"/>
              </a:buClr>
              <a:buSzPts val="1530"/>
              <a:buFont typeface="Noto Sans Symbols"/>
              <a:buChar char="▪"/>
            </a:pPr>
            <a:r>
              <a:rPr lang="en-US" sz="1800">
                <a:solidFill>
                  <a:schemeClr val="dk1"/>
                </a:solidFill>
                <a:latin typeface="Calibri"/>
                <a:ea typeface="Calibri"/>
                <a:cs typeface="Calibri"/>
                <a:sym typeface="Calibri"/>
              </a:rPr>
              <a:t>Первичный ключ для сущности ТРУДОУСТРОЙСТВО состоит из атрибутов Номер работника и Номер проекта. </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Связи типа N:M</a:t>
            </a:r>
            <a:endParaRPr sz="4000"/>
          </a:p>
        </p:txBody>
      </p:sp>
      <p:sp>
        <p:nvSpPr>
          <p:cNvPr id="626" name="Google Shape;626;p55"/>
          <p:cNvSpPr txBox="1"/>
          <p:nvPr>
            <p:ph idx="1" type="body"/>
          </p:nvPr>
        </p:nvSpPr>
        <p:spPr>
          <a:xfrm>
            <a:off x="1069848" y="2121408"/>
            <a:ext cx="10058400" cy="111089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Атрибуты должны описывать только сущности.</a:t>
            </a:r>
            <a:endParaRPr/>
          </a:p>
          <a:p>
            <a:pPr indent="-228600" lvl="0" marL="228600" rtl="0" algn="l">
              <a:lnSpc>
                <a:spcPct val="90000"/>
              </a:lnSpc>
              <a:spcBef>
                <a:spcPts val="1000"/>
              </a:spcBef>
              <a:spcAft>
                <a:spcPts val="0"/>
              </a:spcAft>
              <a:buClr>
                <a:schemeClr val="dk1"/>
              </a:buClr>
              <a:buSzPts val="1800"/>
              <a:buChar char="•"/>
            </a:pPr>
            <a:r>
              <a:rPr lang="en-US" sz="1800"/>
              <a:t>Если атрибут описывает связь, эту связь следует разрешить (решить, реализовать).</a:t>
            </a:r>
            <a:endParaRPr/>
          </a:p>
        </p:txBody>
      </p:sp>
      <p:sp>
        <p:nvSpPr>
          <p:cNvPr id="627" name="Google Shape;627;p55"/>
          <p:cNvSpPr/>
          <p:nvPr/>
        </p:nvSpPr>
        <p:spPr>
          <a:xfrm>
            <a:off x="2201806" y="3381151"/>
            <a:ext cx="1987421" cy="1514325"/>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ЗАКАЗ</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 заказа</a:t>
            </a:r>
            <a:endParaRPr/>
          </a:p>
          <a:p>
            <a:pPr indent="-182563" lvl="0" marL="182563"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Дата</a:t>
            </a:r>
            <a:endParaRPr/>
          </a:p>
          <a:p>
            <a:pPr indent="-182563" lvl="0" marL="182563"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Сумма</a:t>
            </a:r>
            <a:endParaRPr/>
          </a:p>
        </p:txBody>
      </p:sp>
      <p:sp>
        <p:nvSpPr>
          <p:cNvPr id="628" name="Google Shape;628;p55"/>
          <p:cNvSpPr/>
          <p:nvPr/>
        </p:nvSpPr>
        <p:spPr>
          <a:xfrm>
            <a:off x="6134971" y="3285456"/>
            <a:ext cx="2254117" cy="1669309"/>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ПРОДУКТ</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 продукта</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Наименование</a:t>
            </a:r>
            <a:endParaRPr/>
          </a:p>
          <a:p>
            <a:pPr indent="-174625" lvl="0" marL="174625"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Описание</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Цена</a:t>
            </a:r>
            <a:endParaRPr/>
          </a:p>
        </p:txBody>
      </p:sp>
      <p:cxnSp>
        <p:nvCxnSpPr>
          <p:cNvPr id="629" name="Google Shape;629;p55"/>
          <p:cNvCxnSpPr/>
          <p:nvPr/>
        </p:nvCxnSpPr>
        <p:spPr>
          <a:xfrm>
            <a:off x="4189227" y="4146696"/>
            <a:ext cx="961054" cy="0"/>
          </a:xfrm>
          <a:prstGeom prst="straightConnector1">
            <a:avLst/>
          </a:prstGeom>
          <a:noFill/>
          <a:ln cap="flat" cmpd="sng" w="28575">
            <a:solidFill>
              <a:schemeClr val="dk1"/>
            </a:solidFill>
            <a:prstDash val="solid"/>
            <a:miter lim="800000"/>
            <a:headEnd len="sm" w="sm" type="none"/>
            <a:tailEnd len="sm" w="sm" type="none"/>
          </a:ln>
        </p:spPr>
      </p:cxnSp>
      <p:cxnSp>
        <p:nvCxnSpPr>
          <p:cNvPr id="630" name="Google Shape;630;p55"/>
          <p:cNvCxnSpPr/>
          <p:nvPr/>
        </p:nvCxnSpPr>
        <p:spPr>
          <a:xfrm>
            <a:off x="5150281" y="4146696"/>
            <a:ext cx="961054" cy="0"/>
          </a:xfrm>
          <a:prstGeom prst="straightConnector1">
            <a:avLst/>
          </a:prstGeom>
          <a:noFill/>
          <a:ln cap="flat" cmpd="sng" w="28575">
            <a:solidFill>
              <a:schemeClr val="dk1"/>
            </a:solidFill>
            <a:prstDash val="dash"/>
            <a:miter lim="800000"/>
            <a:headEnd len="sm" w="sm" type="none"/>
            <a:tailEnd len="sm" w="sm" type="none"/>
          </a:ln>
        </p:spPr>
      </p:cxnSp>
      <p:cxnSp>
        <p:nvCxnSpPr>
          <p:cNvPr id="631" name="Google Shape;631;p55"/>
          <p:cNvCxnSpPr/>
          <p:nvPr/>
        </p:nvCxnSpPr>
        <p:spPr>
          <a:xfrm>
            <a:off x="4189227" y="3981575"/>
            <a:ext cx="175261" cy="165121"/>
          </a:xfrm>
          <a:prstGeom prst="straightConnector1">
            <a:avLst/>
          </a:prstGeom>
          <a:noFill/>
          <a:ln cap="flat" cmpd="sng" w="15875">
            <a:solidFill>
              <a:schemeClr val="dk1"/>
            </a:solidFill>
            <a:prstDash val="solid"/>
            <a:miter lim="800000"/>
            <a:headEnd len="sm" w="sm" type="none"/>
            <a:tailEnd len="sm" w="sm" type="none"/>
          </a:ln>
        </p:spPr>
      </p:cxnSp>
      <p:cxnSp>
        <p:nvCxnSpPr>
          <p:cNvPr id="632" name="Google Shape;632;p55"/>
          <p:cNvCxnSpPr/>
          <p:nvPr/>
        </p:nvCxnSpPr>
        <p:spPr>
          <a:xfrm flipH="1">
            <a:off x="4189227" y="4149215"/>
            <a:ext cx="175261" cy="154982"/>
          </a:xfrm>
          <a:prstGeom prst="straightConnector1">
            <a:avLst/>
          </a:prstGeom>
          <a:noFill/>
          <a:ln cap="flat" cmpd="sng" w="15875">
            <a:solidFill>
              <a:schemeClr val="dk1"/>
            </a:solidFill>
            <a:prstDash val="solid"/>
            <a:miter lim="800000"/>
            <a:headEnd len="sm" w="sm" type="none"/>
            <a:tailEnd len="sm" w="sm" type="none"/>
          </a:ln>
        </p:spPr>
      </p:cxnSp>
      <p:cxnSp>
        <p:nvCxnSpPr>
          <p:cNvPr id="633" name="Google Shape;633;p55"/>
          <p:cNvCxnSpPr/>
          <p:nvPr/>
        </p:nvCxnSpPr>
        <p:spPr>
          <a:xfrm flipH="1">
            <a:off x="5888050" y="3981575"/>
            <a:ext cx="223285" cy="165121"/>
          </a:xfrm>
          <a:prstGeom prst="straightConnector1">
            <a:avLst/>
          </a:prstGeom>
          <a:noFill/>
          <a:ln cap="flat" cmpd="sng" w="15875">
            <a:solidFill>
              <a:schemeClr val="dk1"/>
            </a:solidFill>
            <a:prstDash val="solid"/>
            <a:miter lim="800000"/>
            <a:headEnd len="sm" w="sm" type="none"/>
            <a:tailEnd len="sm" w="sm" type="none"/>
          </a:ln>
        </p:spPr>
      </p:cxnSp>
      <p:cxnSp>
        <p:nvCxnSpPr>
          <p:cNvPr id="634" name="Google Shape;634;p55"/>
          <p:cNvCxnSpPr/>
          <p:nvPr/>
        </p:nvCxnSpPr>
        <p:spPr>
          <a:xfrm>
            <a:off x="5888050" y="4149215"/>
            <a:ext cx="207950" cy="154982"/>
          </a:xfrm>
          <a:prstGeom prst="straightConnector1">
            <a:avLst/>
          </a:prstGeom>
          <a:noFill/>
          <a:ln cap="flat" cmpd="sng" w="15875">
            <a:solidFill>
              <a:schemeClr val="dk1"/>
            </a:solidFill>
            <a:prstDash val="solid"/>
            <a:miter lim="800000"/>
            <a:headEnd len="sm" w="sm" type="none"/>
            <a:tailEnd len="sm" w="sm" type="none"/>
          </a:ln>
        </p:spPr>
      </p:cxnSp>
      <p:sp>
        <p:nvSpPr>
          <p:cNvPr id="635" name="Google Shape;635;p55"/>
          <p:cNvSpPr txBox="1"/>
          <p:nvPr/>
        </p:nvSpPr>
        <p:spPr>
          <a:xfrm>
            <a:off x="2588647" y="5103618"/>
            <a:ext cx="416221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Куда добавить атрибут количество?</a:t>
            </a:r>
            <a:endParaRPr/>
          </a:p>
        </p:txBody>
      </p:sp>
      <p:sp>
        <p:nvSpPr>
          <p:cNvPr id="636" name="Google Shape;636;p55"/>
          <p:cNvSpPr/>
          <p:nvPr/>
        </p:nvSpPr>
        <p:spPr>
          <a:xfrm>
            <a:off x="4997302" y="4304197"/>
            <a:ext cx="207950" cy="641919"/>
          </a:xfrm>
          <a:prstGeom prst="downArrow">
            <a:avLst>
              <a:gd fmla="val 50000" name="adj1"/>
              <a:gd fmla="val 50000" name="adj2"/>
            </a:avLst>
          </a:prstGeom>
          <a:solidFill>
            <a:srgbClr val="C00000"/>
          </a:solidFill>
          <a:ln cap="flat" cmpd="sng" w="12700">
            <a:solidFill>
              <a:srgbClr val="1C3052"/>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637" name="Google Shape;637;p55"/>
          <p:cNvSpPr txBox="1"/>
          <p:nvPr/>
        </p:nvSpPr>
        <p:spPr>
          <a:xfrm>
            <a:off x="4189227" y="3682895"/>
            <a:ext cx="11883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включает</a:t>
            </a:r>
            <a:endParaRPr/>
          </a:p>
        </p:txBody>
      </p:sp>
      <p:sp>
        <p:nvSpPr>
          <p:cNvPr id="638" name="Google Shape;638;p55"/>
          <p:cNvSpPr txBox="1"/>
          <p:nvPr/>
        </p:nvSpPr>
        <p:spPr>
          <a:xfrm>
            <a:off x="5228888" y="4307810"/>
            <a:ext cx="1424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включается</a:t>
            </a:r>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5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Разрешение связей N:M. Пример 1</a:t>
            </a:r>
            <a:endParaRPr/>
          </a:p>
        </p:txBody>
      </p:sp>
      <p:sp>
        <p:nvSpPr>
          <p:cNvPr id="644" name="Google Shape;644;p56"/>
          <p:cNvSpPr txBox="1"/>
          <p:nvPr>
            <p:ph idx="1" type="body"/>
          </p:nvPr>
        </p:nvSpPr>
        <p:spPr>
          <a:xfrm>
            <a:off x="1069848" y="2121408"/>
            <a:ext cx="10058400" cy="703164"/>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Разрешение связи N:M с новой сущностью-связкой (сущностью-пересечением) и двумя ассоциативными связями 1:M</a:t>
            </a:r>
            <a:endParaRPr/>
          </a:p>
          <a:p>
            <a:pPr indent="0" lvl="0" marL="0" rtl="0" algn="l">
              <a:lnSpc>
                <a:spcPct val="90000"/>
              </a:lnSpc>
              <a:spcBef>
                <a:spcPts val="1000"/>
              </a:spcBef>
              <a:spcAft>
                <a:spcPts val="0"/>
              </a:spcAft>
              <a:buClr>
                <a:schemeClr val="dk1"/>
              </a:buClr>
              <a:buSzPct val="100000"/>
              <a:buNone/>
            </a:pPr>
            <a:r>
              <a:t/>
            </a:r>
            <a:endParaRPr/>
          </a:p>
        </p:txBody>
      </p:sp>
      <p:cxnSp>
        <p:nvCxnSpPr>
          <p:cNvPr id="645" name="Google Shape;645;p56"/>
          <p:cNvCxnSpPr>
            <a:endCxn id="646" idx="1"/>
          </p:cNvCxnSpPr>
          <p:nvPr/>
        </p:nvCxnSpPr>
        <p:spPr>
          <a:xfrm flipH="1" rot="10800000">
            <a:off x="7594476" y="3579795"/>
            <a:ext cx="829500" cy="9000"/>
          </a:xfrm>
          <a:prstGeom prst="straightConnector1">
            <a:avLst/>
          </a:prstGeom>
          <a:noFill/>
          <a:ln cap="flat" cmpd="sng" w="28575">
            <a:solidFill>
              <a:schemeClr val="dk1"/>
            </a:solidFill>
            <a:prstDash val="dash"/>
            <a:miter lim="800000"/>
            <a:headEnd len="sm" w="sm" type="none"/>
            <a:tailEnd len="sm" w="sm" type="none"/>
          </a:ln>
        </p:spPr>
      </p:cxnSp>
      <p:sp>
        <p:nvSpPr>
          <p:cNvPr id="647" name="Google Shape;647;p56"/>
          <p:cNvSpPr/>
          <p:nvPr/>
        </p:nvSpPr>
        <p:spPr>
          <a:xfrm>
            <a:off x="4546727" y="2833834"/>
            <a:ext cx="1987421" cy="1501671"/>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СТРОКА ЗАКАЗА</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Количество</a:t>
            </a:r>
            <a:endParaRPr/>
          </a:p>
        </p:txBody>
      </p:sp>
      <p:cxnSp>
        <p:nvCxnSpPr>
          <p:cNvPr id="648" name="Google Shape;648;p56"/>
          <p:cNvCxnSpPr/>
          <p:nvPr/>
        </p:nvCxnSpPr>
        <p:spPr>
          <a:xfrm>
            <a:off x="5556347" y="4347865"/>
            <a:ext cx="0" cy="659334"/>
          </a:xfrm>
          <a:prstGeom prst="straightConnector1">
            <a:avLst/>
          </a:prstGeom>
          <a:noFill/>
          <a:ln cap="flat" cmpd="sng" w="15875">
            <a:solidFill>
              <a:schemeClr val="dk1"/>
            </a:solidFill>
            <a:prstDash val="solid"/>
            <a:miter lim="800000"/>
            <a:headEnd len="sm" w="sm" type="none"/>
            <a:tailEnd len="sm" w="sm" type="none"/>
          </a:ln>
        </p:spPr>
      </p:cxnSp>
      <p:cxnSp>
        <p:nvCxnSpPr>
          <p:cNvPr id="649" name="Google Shape;649;p56"/>
          <p:cNvCxnSpPr/>
          <p:nvPr/>
        </p:nvCxnSpPr>
        <p:spPr>
          <a:xfrm>
            <a:off x="6539442" y="3423614"/>
            <a:ext cx="175261" cy="165121"/>
          </a:xfrm>
          <a:prstGeom prst="straightConnector1">
            <a:avLst/>
          </a:prstGeom>
          <a:noFill/>
          <a:ln cap="flat" cmpd="sng" w="15875">
            <a:solidFill>
              <a:schemeClr val="dk1"/>
            </a:solidFill>
            <a:prstDash val="solid"/>
            <a:miter lim="800000"/>
            <a:headEnd len="sm" w="sm" type="none"/>
            <a:tailEnd len="sm" w="sm" type="none"/>
          </a:ln>
        </p:spPr>
      </p:cxnSp>
      <p:cxnSp>
        <p:nvCxnSpPr>
          <p:cNvPr id="650" name="Google Shape;650;p56"/>
          <p:cNvCxnSpPr/>
          <p:nvPr/>
        </p:nvCxnSpPr>
        <p:spPr>
          <a:xfrm flipH="1">
            <a:off x="6539442" y="3591254"/>
            <a:ext cx="175261" cy="154982"/>
          </a:xfrm>
          <a:prstGeom prst="straightConnector1">
            <a:avLst/>
          </a:prstGeom>
          <a:noFill/>
          <a:ln cap="flat" cmpd="sng" w="15875">
            <a:solidFill>
              <a:schemeClr val="dk1"/>
            </a:solidFill>
            <a:prstDash val="solid"/>
            <a:miter lim="800000"/>
            <a:headEnd len="sm" w="sm" type="none"/>
            <a:tailEnd len="sm" w="sm" type="none"/>
          </a:ln>
        </p:spPr>
      </p:cxnSp>
      <p:cxnSp>
        <p:nvCxnSpPr>
          <p:cNvPr id="651" name="Google Shape;651;p56"/>
          <p:cNvCxnSpPr/>
          <p:nvPr/>
        </p:nvCxnSpPr>
        <p:spPr>
          <a:xfrm flipH="1">
            <a:off x="5574992" y="4347865"/>
            <a:ext cx="118237" cy="173986"/>
          </a:xfrm>
          <a:prstGeom prst="straightConnector1">
            <a:avLst/>
          </a:prstGeom>
          <a:noFill/>
          <a:ln cap="flat" cmpd="sng" w="15875">
            <a:solidFill>
              <a:schemeClr val="dk1"/>
            </a:solidFill>
            <a:prstDash val="solid"/>
            <a:miter lim="800000"/>
            <a:headEnd len="sm" w="sm" type="none"/>
            <a:tailEnd len="sm" w="sm" type="none"/>
          </a:ln>
        </p:spPr>
      </p:cxnSp>
      <p:cxnSp>
        <p:nvCxnSpPr>
          <p:cNvPr id="652" name="Google Shape;652;p56"/>
          <p:cNvCxnSpPr/>
          <p:nvPr/>
        </p:nvCxnSpPr>
        <p:spPr>
          <a:xfrm>
            <a:off x="5390447" y="4347865"/>
            <a:ext cx="143010" cy="169902"/>
          </a:xfrm>
          <a:prstGeom prst="straightConnector1">
            <a:avLst/>
          </a:prstGeom>
          <a:noFill/>
          <a:ln cap="flat" cmpd="sng" w="15875">
            <a:solidFill>
              <a:schemeClr val="dk1"/>
            </a:solidFill>
            <a:prstDash val="solid"/>
            <a:miter lim="800000"/>
            <a:headEnd len="sm" w="sm" type="none"/>
            <a:tailEnd len="sm" w="sm" type="none"/>
          </a:ln>
        </p:spPr>
      </p:cxnSp>
      <p:cxnSp>
        <p:nvCxnSpPr>
          <p:cNvPr id="653" name="Google Shape;653;p56"/>
          <p:cNvCxnSpPr/>
          <p:nvPr/>
        </p:nvCxnSpPr>
        <p:spPr>
          <a:xfrm rot="10800000">
            <a:off x="5369173" y="4600793"/>
            <a:ext cx="345828" cy="0"/>
          </a:xfrm>
          <a:prstGeom prst="straightConnector1">
            <a:avLst/>
          </a:prstGeom>
          <a:noFill/>
          <a:ln cap="flat" cmpd="sng" w="19050">
            <a:solidFill>
              <a:schemeClr val="dk1"/>
            </a:solidFill>
            <a:prstDash val="solid"/>
            <a:miter lim="800000"/>
            <a:headEnd len="sm" w="sm" type="none"/>
            <a:tailEnd len="sm" w="sm" type="none"/>
          </a:ln>
        </p:spPr>
      </p:cxnSp>
      <p:cxnSp>
        <p:nvCxnSpPr>
          <p:cNvPr id="654" name="Google Shape;654;p56"/>
          <p:cNvCxnSpPr/>
          <p:nvPr/>
        </p:nvCxnSpPr>
        <p:spPr>
          <a:xfrm>
            <a:off x="6820963" y="3389170"/>
            <a:ext cx="0" cy="345482"/>
          </a:xfrm>
          <a:prstGeom prst="straightConnector1">
            <a:avLst/>
          </a:prstGeom>
          <a:noFill/>
          <a:ln cap="flat" cmpd="sng" w="19050">
            <a:solidFill>
              <a:schemeClr val="dk1"/>
            </a:solidFill>
            <a:prstDash val="solid"/>
            <a:miter lim="800000"/>
            <a:headEnd len="sm" w="sm" type="none"/>
            <a:tailEnd len="sm" w="sm" type="none"/>
          </a:ln>
        </p:spPr>
      </p:cxnSp>
      <p:sp>
        <p:nvSpPr>
          <p:cNvPr id="646" name="Google Shape;646;p56"/>
          <p:cNvSpPr/>
          <p:nvPr/>
        </p:nvSpPr>
        <p:spPr>
          <a:xfrm>
            <a:off x="8423976" y="2745140"/>
            <a:ext cx="2254117" cy="1669309"/>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ПРОДУКТ</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 продукта</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Наименование</a:t>
            </a:r>
            <a:endParaRPr/>
          </a:p>
          <a:p>
            <a:pPr indent="-174625" lvl="0" marL="174625"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Описание</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Цена</a:t>
            </a:r>
            <a:endParaRPr/>
          </a:p>
        </p:txBody>
      </p:sp>
      <p:sp>
        <p:nvSpPr>
          <p:cNvPr id="655" name="Google Shape;655;p56"/>
          <p:cNvSpPr/>
          <p:nvPr/>
        </p:nvSpPr>
        <p:spPr>
          <a:xfrm>
            <a:off x="4546727" y="5001973"/>
            <a:ext cx="1987421" cy="1514325"/>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ЗАКАЗ</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 заказа</a:t>
            </a:r>
            <a:endParaRPr/>
          </a:p>
          <a:p>
            <a:pPr indent="-182563" lvl="0" marL="182563"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Дата</a:t>
            </a:r>
            <a:endParaRPr/>
          </a:p>
          <a:p>
            <a:pPr indent="-182563" lvl="0" marL="182563"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Сумма</a:t>
            </a:r>
            <a:endParaRPr/>
          </a:p>
        </p:txBody>
      </p:sp>
      <p:sp>
        <p:nvSpPr>
          <p:cNvPr id="656" name="Google Shape;656;p56"/>
          <p:cNvSpPr txBox="1"/>
          <p:nvPr/>
        </p:nvSpPr>
        <p:spPr>
          <a:xfrm>
            <a:off x="5533457" y="4699833"/>
            <a:ext cx="1424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включает</a:t>
            </a:r>
            <a:endParaRPr/>
          </a:p>
        </p:txBody>
      </p:sp>
      <p:sp>
        <p:nvSpPr>
          <p:cNvPr id="657" name="Google Shape;657;p56"/>
          <p:cNvSpPr txBox="1"/>
          <p:nvPr/>
        </p:nvSpPr>
        <p:spPr>
          <a:xfrm>
            <a:off x="6496350" y="3696296"/>
            <a:ext cx="1424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содержит</a:t>
            </a:r>
            <a:endParaRPr/>
          </a:p>
        </p:txBody>
      </p:sp>
      <p:sp>
        <p:nvSpPr>
          <p:cNvPr id="658" name="Google Shape;658;p56"/>
          <p:cNvSpPr txBox="1"/>
          <p:nvPr/>
        </p:nvSpPr>
        <p:spPr>
          <a:xfrm>
            <a:off x="4980884" y="4295835"/>
            <a:ext cx="1424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для</a:t>
            </a:r>
            <a:endParaRPr/>
          </a:p>
        </p:txBody>
      </p:sp>
      <p:sp>
        <p:nvSpPr>
          <p:cNvPr id="659" name="Google Shape;659;p56"/>
          <p:cNvSpPr txBox="1"/>
          <p:nvPr/>
        </p:nvSpPr>
        <p:spPr>
          <a:xfrm>
            <a:off x="7210999" y="3220906"/>
            <a:ext cx="1424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содержится в</a:t>
            </a:r>
            <a:endParaRPr/>
          </a:p>
        </p:txBody>
      </p:sp>
      <p:cxnSp>
        <p:nvCxnSpPr>
          <p:cNvPr id="660" name="Google Shape;660;p56"/>
          <p:cNvCxnSpPr/>
          <p:nvPr/>
        </p:nvCxnSpPr>
        <p:spPr>
          <a:xfrm flipH="1" rot="10800000">
            <a:off x="3526971" y="3555783"/>
            <a:ext cx="870858" cy="580795"/>
          </a:xfrm>
          <a:prstGeom prst="straightConnector1">
            <a:avLst/>
          </a:prstGeom>
          <a:noFill/>
          <a:ln cap="flat" cmpd="sng" w="9525">
            <a:solidFill>
              <a:srgbClr val="C00000"/>
            </a:solidFill>
            <a:prstDash val="solid"/>
            <a:miter lim="800000"/>
            <a:headEnd len="sm" w="sm" type="none"/>
            <a:tailEnd len="med" w="med" type="triangle"/>
          </a:ln>
        </p:spPr>
      </p:cxnSp>
      <p:sp>
        <p:nvSpPr>
          <p:cNvPr id="661" name="Google Shape;661;p56"/>
          <p:cNvSpPr txBox="1"/>
          <p:nvPr/>
        </p:nvSpPr>
        <p:spPr>
          <a:xfrm>
            <a:off x="2321173" y="4083953"/>
            <a:ext cx="2066901"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сущность-пересечение</a:t>
            </a:r>
            <a:endParaRPr/>
          </a:p>
        </p:txBody>
      </p:sp>
      <p:sp>
        <p:nvSpPr>
          <p:cNvPr id="662" name="Google Shape;662;p56"/>
          <p:cNvSpPr txBox="1"/>
          <p:nvPr/>
        </p:nvSpPr>
        <p:spPr>
          <a:xfrm>
            <a:off x="6958147" y="5319470"/>
            <a:ext cx="4526796"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Первичный ключ для сущности СТРОКА ЗАКАЗА состоит из атрибутов Номер заказа и Номер продукта. </a:t>
            </a:r>
            <a:endParaRPr/>
          </a:p>
        </p:txBody>
      </p:sp>
      <p:cxnSp>
        <p:nvCxnSpPr>
          <p:cNvPr id="663" name="Google Shape;663;p56"/>
          <p:cNvCxnSpPr/>
          <p:nvPr/>
        </p:nvCxnSpPr>
        <p:spPr>
          <a:xfrm>
            <a:off x="6534148" y="3597675"/>
            <a:ext cx="1060185" cy="322"/>
          </a:xfrm>
          <a:prstGeom prst="straightConnector1">
            <a:avLst/>
          </a:prstGeom>
          <a:noFill/>
          <a:ln cap="flat" cmpd="sng" w="28575">
            <a:solidFill>
              <a:schemeClr val="dk1"/>
            </a:solidFill>
            <a:prstDash val="solid"/>
            <a:miter lim="800000"/>
            <a:headEnd len="sm" w="sm" type="none"/>
            <a:tailEnd len="sm" w="sm" type="none"/>
          </a:ln>
        </p:spPr>
      </p:cxn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Характеристики сущности-пересечения</a:t>
            </a:r>
            <a:endParaRPr/>
          </a:p>
        </p:txBody>
      </p:sp>
      <p:sp>
        <p:nvSpPr>
          <p:cNvPr id="669" name="Google Shape;669;p57"/>
          <p:cNvSpPr txBox="1"/>
          <p:nvPr>
            <p:ph idx="1" type="body"/>
          </p:nvPr>
        </p:nvSpPr>
        <p:spPr>
          <a:xfrm>
            <a:off x="1069848" y="2121408"/>
            <a:ext cx="8781723" cy="319082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lang="en-US" sz="1800"/>
              <a:t>Связи от сущности-пересечения к другим сущностям всегда обязательные.</a:t>
            </a:r>
            <a:endParaRPr/>
          </a:p>
          <a:p>
            <a:pPr indent="-228600" lvl="0" marL="228600" rtl="0" algn="l">
              <a:lnSpc>
                <a:spcPct val="90000"/>
              </a:lnSpc>
              <a:spcBef>
                <a:spcPts val="1000"/>
              </a:spcBef>
              <a:spcAft>
                <a:spcPts val="0"/>
              </a:spcAft>
              <a:buClr>
                <a:schemeClr val="dk1"/>
              </a:buClr>
              <a:buSzPts val="1800"/>
              <a:buChar char="•"/>
            </a:pPr>
            <a:r>
              <a:rPr lang="en-US" sz="1800"/>
              <a:t>Сущности-пересечения обычно содержат расходные материалы, например использованное количество и даты. Обычно это временные объекты большого объема.</a:t>
            </a:r>
            <a:endParaRPr/>
          </a:p>
          <a:p>
            <a:pPr indent="-228600" lvl="0" marL="228600" rtl="0" algn="l">
              <a:lnSpc>
                <a:spcPct val="90000"/>
              </a:lnSpc>
              <a:spcBef>
                <a:spcPts val="1000"/>
              </a:spcBef>
              <a:spcAft>
                <a:spcPts val="0"/>
              </a:spcAft>
              <a:buClr>
                <a:schemeClr val="dk1"/>
              </a:buClr>
              <a:buSzPts val="1800"/>
              <a:buChar char="•"/>
            </a:pPr>
            <a:r>
              <a:rPr lang="en-US" sz="1800"/>
              <a:t>Сущность-пересечение определяется по своим двум исходным связям (определяющим связям).</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3" name="Shape 673"/>
        <p:cNvGrpSpPr/>
        <p:nvPr/>
      </p:nvGrpSpPr>
      <p:grpSpPr>
        <a:xfrm>
          <a:off x="0" y="0"/>
          <a:ext cx="0" cy="0"/>
          <a:chOff x="0" y="0"/>
          <a:chExt cx="0" cy="0"/>
        </a:xfrm>
      </p:grpSpPr>
      <p:sp>
        <p:nvSpPr>
          <p:cNvPr id="674" name="Google Shape;674;p5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Разрешение связей  N:M. Пример 2</a:t>
            </a:r>
            <a:endParaRPr/>
          </a:p>
        </p:txBody>
      </p:sp>
      <p:sp>
        <p:nvSpPr>
          <p:cNvPr id="675" name="Google Shape;675;p5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В сущностях СОТРУДНИК и РАБОТА не хранится история работ сотрудника.</a:t>
            </a:r>
            <a:endParaRPr/>
          </a:p>
        </p:txBody>
      </p:sp>
      <p:sp>
        <p:nvSpPr>
          <p:cNvPr id="676" name="Google Shape;676;p58"/>
          <p:cNvSpPr/>
          <p:nvPr/>
        </p:nvSpPr>
        <p:spPr>
          <a:xfrm>
            <a:off x="2567462" y="3028161"/>
            <a:ext cx="2450853" cy="2545323"/>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СОТРУДНИК</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 сотрудника</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ФИО</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Адрес</a:t>
            </a:r>
            <a:endParaRPr/>
          </a:p>
          <a:p>
            <a:pPr indent="-174625" lvl="0" marL="174625"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Страна</a:t>
            </a:r>
            <a:endParaRPr sz="1600">
              <a:solidFill>
                <a:schemeClr val="dk1"/>
              </a:solidFill>
              <a:latin typeface="Calibri"/>
              <a:ea typeface="Calibri"/>
              <a:cs typeface="Calibri"/>
              <a:sym typeface="Calibri"/>
            </a:endParaRPr>
          </a:p>
          <a:p>
            <a:pPr indent="-174625" lvl="0" marL="174625"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Email</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Дата поступления</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Зарплата</a:t>
            </a:r>
            <a:endParaRPr sz="1600">
              <a:solidFill>
                <a:schemeClr val="dk1"/>
              </a:solidFill>
              <a:latin typeface="Calibri"/>
              <a:ea typeface="Calibri"/>
              <a:cs typeface="Calibri"/>
              <a:sym typeface="Calibri"/>
            </a:endParaRPr>
          </a:p>
        </p:txBody>
      </p:sp>
      <p:sp>
        <p:nvSpPr>
          <p:cNvPr id="677" name="Google Shape;677;p58"/>
          <p:cNvSpPr/>
          <p:nvPr/>
        </p:nvSpPr>
        <p:spPr>
          <a:xfrm>
            <a:off x="6965291" y="3028162"/>
            <a:ext cx="2940709" cy="1783324"/>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РАБОТА</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Идентификатор</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Название должности</a:t>
            </a:r>
            <a:endParaRPr/>
          </a:p>
          <a:p>
            <a:pPr indent="-174625" lvl="0" marL="174625"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Минимальная зарплата</a:t>
            </a:r>
            <a:endParaRPr/>
          </a:p>
          <a:p>
            <a:pPr indent="-174625" lvl="0" marL="174625"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Максимальная зарплата</a:t>
            </a:r>
            <a:endParaRPr/>
          </a:p>
        </p:txBody>
      </p:sp>
      <p:cxnSp>
        <p:nvCxnSpPr>
          <p:cNvPr id="678" name="Google Shape;678;p58"/>
          <p:cNvCxnSpPr/>
          <p:nvPr/>
        </p:nvCxnSpPr>
        <p:spPr>
          <a:xfrm>
            <a:off x="5029201" y="3892801"/>
            <a:ext cx="961054" cy="0"/>
          </a:xfrm>
          <a:prstGeom prst="straightConnector1">
            <a:avLst/>
          </a:prstGeom>
          <a:noFill/>
          <a:ln cap="flat" cmpd="sng" w="28575">
            <a:solidFill>
              <a:schemeClr val="dk1"/>
            </a:solidFill>
            <a:prstDash val="dash"/>
            <a:miter lim="800000"/>
            <a:headEnd len="sm" w="sm" type="none"/>
            <a:tailEnd len="sm" w="sm" type="none"/>
          </a:ln>
        </p:spPr>
      </p:cxnSp>
      <p:cxnSp>
        <p:nvCxnSpPr>
          <p:cNvPr id="679" name="Google Shape;679;p58"/>
          <p:cNvCxnSpPr/>
          <p:nvPr/>
        </p:nvCxnSpPr>
        <p:spPr>
          <a:xfrm>
            <a:off x="5990255" y="3892801"/>
            <a:ext cx="961054" cy="0"/>
          </a:xfrm>
          <a:prstGeom prst="straightConnector1">
            <a:avLst/>
          </a:prstGeom>
          <a:noFill/>
          <a:ln cap="flat" cmpd="sng" w="28575">
            <a:solidFill>
              <a:schemeClr val="dk1"/>
            </a:solidFill>
            <a:prstDash val="solid"/>
            <a:miter lim="800000"/>
            <a:headEnd len="sm" w="sm" type="none"/>
            <a:tailEnd len="sm" w="sm" type="none"/>
          </a:ln>
        </p:spPr>
      </p:cxnSp>
      <p:cxnSp>
        <p:nvCxnSpPr>
          <p:cNvPr id="680" name="Google Shape;680;p58"/>
          <p:cNvCxnSpPr/>
          <p:nvPr/>
        </p:nvCxnSpPr>
        <p:spPr>
          <a:xfrm>
            <a:off x="5029201" y="3727680"/>
            <a:ext cx="175261" cy="165121"/>
          </a:xfrm>
          <a:prstGeom prst="straightConnector1">
            <a:avLst/>
          </a:prstGeom>
          <a:noFill/>
          <a:ln cap="flat" cmpd="sng" w="15875">
            <a:solidFill>
              <a:schemeClr val="dk1"/>
            </a:solidFill>
            <a:prstDash val="solid"/>
            <a:miter lim="800000"/>
            <a:headEnd len="sm" w="sm" type="none"/>
            <a:tailEnd len="sm" w="sm" type="none"/>
          </a:ln>
        </p:spPr>
      </p:cxnSp>
      <p:cxnSp>
        <p:nvCxnSpPr>
          <p:cNvPr id="681" name="Google Shape;681;p58"/>
          <p:cNvCxnSpPr/>
          <p:nvPr/>
        </p:nvCxnSpPr>
        <p:spPr>
          <a:xfrm flipH="1">
            <a:off x="5029201" y="3895320"/>
            <a:ext cx="175261" cy="154982"/>
          </a:xfrm>
          <a:prstGeom prst="straightConnector1">
            <a:avLst/>
          </a:prstGeom>
          <a:noFill/>
          <a:ln cap="flat" cmpd="sng" w="15875">
            <a:solidFill>
              <a:schemeClr val="dk1"/>
            </a:solidFill>
            <a:prstDash val="solid"/>
            <a:miter lim="800000"/>
            <a:headEnd len="sm" w="sm" type="none"/>
            <a:tailEnd len="sm" w="sm" type="none"/>
          </a:ln>
        </p:spPr>
      </p:cxnSp>
      <p:cxnSp>
        <p:nvCxnSpPr>
          <p:cNvPr id="682" name="Google Shape;682;p58"/>
          <p:cNvCxnSpPr/>
          <p:nvPr/>
        </p:nvCxnSpPr>
        <p:spPr>
          <a:xfrm flipH="1">
            <a:off x="6728024" y="3727680"/>
            <a:ext cx="223285" cy="165121"/>
          </a:xfrm>
          <a:prstGeom prst="straightConnector1">
            <a:avLst/>
          </a:prstGeom>
          <a:noFill/>
          <a:ln cap="flat" cmpd="sng" w="15875">
            <a:solidFill>
              <a:schemeClr val="dk1"/>
            </a:solidFill>
            <a:prstDash val="solid"/>
            <a:miter lim="800000"/>
            <a:headEnd len="sm" w="sm" type="none"/>
            <a:tailEnd len="sm" w="sm" type="none"/>
          </a:ln>
        </p:spPr>
      </p:cxnSp>
      <p:cxnSp>
        <p:nvCxnSpPr>
          <p:cNvPr id="683" name="Google Shape;683;p58"/>
          <p:cNvCxnSpPr/>
          <p:nvPr/>
        </p:nvCxnSpPr>
        <p:spPr>
          <a:xfrm>
            <a:off x="6728024" y="3895320"/>
            <a:ext cx="207950" cy="154982"/>
          </a:xfrm>
          <a:prstGeom prst="straightConnector1">
            <a:avLst/>
          </a:prstGeom>
          <a:noFill/>
          <a:ln cap="flat" cmpd="sng" w="15875">
            <a:solidFill>
              <a:schemeClr val="dk1"/>
            </a:solidFill>
            <a:prstDash val="solid"/>
            <a:miter lim="800000"/>
            <a:headEnd len="sm" w="sm" type="none"/>
            <a:tailEnd len="sm" w="sm" type="none"/>
          </a:ln>
        </p:spPr>
      </p:cxnSp>
      <p:sp>
        <p:nvSpPr>
          <p:cNvPr id="684" name="Google Shape;684;p58"/>
          <p:cNvSpPr txBox="1"/>
          <p:nvPr/>
        </p:nvSpPr>
        <p:spPr>
          <a:xfrm>
            <a:off x="5029201" y="3429000"/>
            <a:ext cx="1188316"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имеет</a:t>
            </a:r>
            <a:endParaRPr/>
          </a:p>
        </p:txBody>
      </p:sp>
      <p:sp>
        <p:nvSpPr>
          <p:cNvPr id="685" name="Google Shape;685;p58"/>
          <p:cNvSpPr txBox="1"/>
          <p:nvPr/>
        </p:nvSpPr>
        <p:spPr>
          <a:xfrm>
            <a:off x="6068862" y="4053915"/>
            <a:ext cx="1424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есть у</a:t>
            </a:r>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9" name="Shape 689"/>
        <p:cNvGrpSpPr/>
        <p:nvPr/>
      </p:nvGrpSpPr>
      <p:grpSpPr>
        <a:xfrm>
          <a:off x="0" y="0"/>
          <a:ext cx="0" cy="0"/>
          <a:chOff x="0" y="0"/>
          <a:chExt cx="0" cy="0"/>
        </a:xfrm>
      </p:grpSpPr>
      <p:sp>
        <p:nvSpPr>
          <p:cNvPr id="690" name="Google Shape;690;p5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lang="en-US" sz="4000"/>
              <a:t>Разрешение связей N:M. Пример 1</a:t>
            </a:r>
            <a:endParaRPr/>
          </a:p>
        </p:txBody>
      </p:sp>
      <p:sp>
        <p:nvSpPr>
          <p:cNvPr id="691" name="Google Shape;691;p59"/>
          <p:cNvSpPr txBox="1"/>
          <p:nvPr>
            <p:ph idx="1" type="body"/>
          </p:nvPr>
        </p:nvSpPr>
        <p:spPr>
          <a:xfrm>
            <a:off x="1069848" y="2121408"/>
            <a:ext cx="10058400" cy="703164"/>
          </a:xfrm>
          <a:prstGeom prst="rect">
            <a:avLst/>
          </a:prstGeom>
          <a:noFill/>
          <a:ln>
            <a:noFill/>
          </a:ln>
        </p:spPr>
        <p:txBody>
          <a:bodyPr anchorCtr="0" anchor="t" bIns="45700" lIns="91425" spcFirstLastPara="1" rIns="91425" wrap="square" tIns="45700">
            <a:normAutofit fontScale="92500" lnSpcReduction="20000"/>
          </a:bodyPr>
          <a:lstStyle/>
          <a:p>
            <a:pPr indent="-228600" lvl="0" marL="228600" rtl="0" algn="l">
              <a:lnSpc>
                <a:spcPct val="90000"/>
              </a:lnSpc>
              <a:spcBef>
                <a:spcPts val="0"/>
              </a:spcBef>
              <a:spcAft>
                <a:spcPts val="0"/>
              </a:spcAft>
              <a:buClr>
                <a:schemeClr val="dk1"/>
              </a:buClr>
              <a:buSzPct val="100000"/>
              <a:buChar char="•"/>
            </a:pPr>
            <a:r>
              <a:rPr lang="en-US"/>
              <a:t>Разрешение связи N:M с новой сущностью-связкой и двумя ассоциативными связями 1:M</a:t>
            </a:r>
            <a:endParaRPr/>
          </a:p>
          <a:p>
            <a:pPr indent="0" lvl="0" marL="0" rtl="0" algn="l">
              <a:lnSpc>
                <a:spcPct val="90000"/>
              </a:lnSpc>
              <a:spcBef>
                <a:spcPts val="1000"/>
              </a:spcBef>
              <a:spcAft>
                <a:spcPts val="0"/>
              </a:spcAft>
              <a:buClr>
                <a:schemeClr val="dk1"/>
              </a:buClr>
              <a:buSzPct val="100000"/>
              <a:buNone/>
            </a:pPr>
            <a:r>
              <a:t/>
            </a:r>
            <a:endParaRPr/>
          </a:p>
        </p:txBody>
      </p:sp>
      <p:cxnSp>
        <p:nvCxnSpPr>
          <p:cNvPr id="692" name="Google Shape;692;p59"/>
          <p:cNvCxnSpPr/>
          <p:nvPr/>
        </p:nvCxnSpPr>
        <p:spPr>
          <a:xfrm flipH="1" rot="10800000">
            <a:off x="7489371" y="3340303"/>
            <a:ext cx="934605" cy="11459"/>
          </a:xfrm>
          <a:prstGeom prst="straightConnector1">
            <a:avLst/>
          </a:prstGeom>
          <a:noFill/>
          <a:ln cap="flat" cmpd="sng" w="28575">
            <a:solidFill>
              <a:schemeClr val="dk1"/>
            </a:solidFill>
            <a:prstDash val="dash"/>
            <a:miter lim="800000"/>
            <a:headEnd len="sm" w="sm" type="none"/>
            <a:tailEnd len="sm" w="sm" type="none"/>
          </a:ln>
        </p:spPr>
      </p:cxnSp>
      <p:sp>
        <p:nvSpPr>
          <p:cNvPr id="693" name="Google Shape;693;p59"/>
          <p:cNvSpPr/>
          <p:nvPr/>
        </p:nvSpPr>
        <p:spPr>
          <a:xfrm>
            <a:off x="4067519" y="2594342"/>
            <a:ext cx="2466629" cy="1501671"/>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ИСТОРИЯ РАБОТЫ</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Дата поступления</a:t>
            </a:r>
            <a:endParaRPr/>
          </a:p>
          <a:p>
            <a:pPr indent="-285750" lvl="0" marL="285750"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Дата увольнения</a:t>
            </a:r>
            <a:endParaRPr/>
          </a:p>
        </p:txBody>
      </p:sp>
      <p:cxnSp>
        <p:nvCxnSpPr>
          <p:cNvPr id="694" name="Google Shape;694;p59"/>
          <p:cNvCxnSpPr/>
          <p:nvPr/>
        </p:nvCxnSpPr>
        <p:spPr>
          <a:xfrm>
            <a:off x="5273319" y="4108373"/>
            <a:ext cx="0" cy="1139253"/>
          </a:xfrm>
          <a:prstGeom prst="straightConnector1">
            <a:avLst/>
          </a:prstGeom>
          <a:noFill/>
          <a:ln cap="flat" cmpd="sng" w="15875">
            <a:solidFill>
              <a:schemeClr val="dk1"/>
            </a:solidFill>
            <a:prstDash val="solid"/>
            <a:miter lim="800000"/>
            <a:headEnd len="sm" w="sm" type="none"/>
            <a:tailEnd len="sm" w="sm" type="none"/>
          </a:ln>
        </p:spPr>
      </p:cxnSp>
      <p:cxnSp>
        <p:nvCxnSpPr>
          <p:cNvPr id="695" name="Google Shape;695;p59"/>
          <p:cNvCxnSpPr/>
          <p:nvPr/>
        </p:nvCxnSpPr>
        <p:spPr>
          <a:xfrm>
            <a:off x="6539442" y="3184122"/>
            <a:ext cx="175261" cy="165121"/>
          </a:xfrm>
          <a:prstGeom prst="straightConnector1">
            <a:avLst/>
          </a:prstGeom>
          <a:noFill/>
          <a:ln cap="flat" cmpd="sng" w="15875">
            <a:solidFill>
              <a:schemeClr val="dk1"/>
            </a:solidFill>
            <a:prstDash val="solid"/>
            <a:miter lim="800000"/>
            <a:headEnd len="sm" w="sm" type="none"/>
            <a:tailEnd len="sm" w="sm" type="none"/>
          </a:ln>
        </p:spPr>
      </p:cxnSp>
      <p:cxnSp>
        <p:nvCxnSpPr>
          <p:cNvPr id="696" name="Google Shape;696;p59"/>
          <p:cNvCxnSpPr/>
          <p:nvPr/>
        </p:nvCxnSpPr>
        <p:spPr>
          <a:xfrm flipH="1">
            <a:off x="6539442" y="3351762"/>
            <a:ext cx="175261" cy="154982"/>
          </a:xfrm>
          <a:prstGeom prst="straightConnector1">
            <a:avLst/>
          </a:prstGeom>
          <a:noFill/>
          <a:ln cap="flat" cmpd="sng" w="15875">
            <a:solidFill>
              <a:schemeClr val="dk1"/>
            </a:solidFill>
            <a:prstDash val="solid"/>
            <a:miter lim="800000"/>
            <a:headEnd len="sm" w="sm" type="none"/>
            <a:tailEnd len="sm" w="sm" type="none"/>
          </a:ln>
        </p:spPr>
      </p:cxnSp>
      <p:cxnSp>
        <p:nvCxnSpPr>
          <p:cNvPr id="697" name="Google Shape;697;p59"/>
          <p:cNvCxnSpPr/>
          <p:nvPr/>
        </p:nvCxnSpPr>
        <p:spPr>
          <a:xfrm flipH="1">
            <a:off x="5291964" y="4108373"/>
            <a:ext cx="118237" cy="173986"/>
          </a:xfrm>
          <a:prstGeom prst="straightConnector1">
            <a:avLst/>
          </a:prstGeom>
          <a:noFill/>
          <a:ln cap="flat" cmpd="sng" w="15875">
            <a:solidFill>
              <a:schemeClr val="dk1"/>
            </a:solidFill>
            <a:prstDash val="solid"/>
            <a:miter lim="800000"/>
            <a:headEnd len="sm" w="sm" type="none"/>
            <a:tailEnd len="sm" w="sm" type="none"/>
          </a:ln>
        </p:spPr>
      </p:cxnSp>
      <p:cxnSp>
        <p:nvCxnSpPr>
          <p:cNvPr id="698" name="Google Shape;698;p59"/>
          <p:cNvCxnSpPr/>
          <p:nvPr/>
        </p:nvCxnSpPr>
        <p:spPr>
          <a:xfrm>
            <a:off x="5107419" y="4108373"/>
            <a:ext cx="143010" cy="169902"/>
          </a:xfrm>
          <a:prstGeom prst="straightConnector1">
            <a:avLst/>
          </a:prstGeom>
          <a:noFill/>
          <a:ln cap="flat" cmpd="sng" w="15875">
            <a:solidFill>
              <a:schemeClr val="dk1"/>
            </a:solidFill>
            <a:prstDash val="solid"/>
            <a:miter lim="800000"/>
            <a:headEnd len="sm" w="sm" type="none"/>
            <a:tailEnd len="sm" w="sm" type="none"/>
          </a:ln>
        </p:spPr>
      </p:cxnSp>
      <p:cxnSp>
        <p:nvCxnSpPr>
          <p:cNvPr id="699" name="Google Shape;699;p59"/>
          <p:cNvCxnSpPr/>
          <p:nvPr/>
        </p:nvCxnSpPr>
        <p:spPr>
          <a:xfrm rot="10800000">
            <a:off x="5086145" y="4361301"/>
            <a:ext cx="345828" cy="0"/>
          </a:xfrm>
          <a:prstGeom prst="straightConnector1">
            <a:avLst/>
          </a:prstGeom>
          <a:noFill/>
          <a:ln cap="flat" cmpd="sng" w="15875">
            <a:solidFill>
              <a:schemeClr val="dk1"/>
            </a:solidFill>
            <a:prstDash val="solid"/>
            <a:miter lim="800000"/>
            <a:headEnd len="sm" w="sm" type="none"/>
            <a:tailEnd len="sm" w="sm" type="none"/>
          </a:ln>
        </p:spPr>
      </p:cxnSp>
      <p:cxnSp>
        <p:nvCxnSpPr>
          <p:cNvPr id="700" name="Google Shape;700;p59"/>
          <p:cNvCxnSpPr/>
          <p:nvPr/>
        </p:nvCxnSpPr>
        <p:spPr>
          <a:xfrm>
            <a:off x="6820963" y="3149678"/>
            <a:ext cx="0" cy="345482"/>
          </a:xfrm>
          <a:prstGeom prst="straightConnector1">
            <a:avLst/>
          </a:prstGeom>
          <a:noFill/>
          <a:ln cap="flat" cmpd="sng" w="15875">
            <a:solidFill>
              <a:schemeClr val="dk1"/>
            </a:solidFill>
            <a:prstDash val="solid"/>
            <a:miter lim="800000"/>
            <a:headEnd len="sm" w="sm" type="none"/>
            <a:tailEnd len="sm" w="sm" type="none"/>
          </a:ln>
        </p:spPr>
      </p:cxnSp>
      <p:sp>
        <p:nvSpPr>
          <p:cNvPr id="701" name="Google Shape;701;p59"/>
          <p:cNvSpPr txBox="1"/>
          <p:nvPr/>
        </p:nvSpPr>
        <p:spPr>
          <a:xfrm>
            <a:off x="3661455" y="5247626"/>
            <a:ext cx="1424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имеет</a:t>
            </a:r>
            <a:endParaRPr/>
          </a:p>
        </p:txBody>
      </p:sp>
      <p:sp>
        <p:nvSpPr>
          <p:cNvPr id="702" name="Google Shape;702;p59"/>
          <p:cNvSpPr txBox="1"/>
          <p:nvPr/>
        </p:nvSpPr>
        <p:spPr>
          <a:xfrm>
            <a:off x="6563176" y="3479383"/>
            <a:ext cx="1424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имеется для</a:t>
            </a:r>
            <a:endParaRPr/>
          </a:p>
        </p:txBody>
      </p:sp>
      <p:sp>
        <p:nvSpPr>
          <p:cNvPr id="703" name="Google Shape;703;p59"/>
          <p:cNvSpPr txBox="1"/>
          <p:nvPr/>
        </p:nvSpPr>
        <p:spPr>
          <a:xfrm>
            <a:off x="5367216" y="4078281"/>
            <a:ext cx="1424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имеется для</a:t>
            </a:r>
            <a:endParaRPr/>
          </a:p>
        </p:txBody>
      </p:sp>
      <p:sp>
        <p:nvSpPr>
          <p:cNvPr id="704" name="Google Shape;704;p59"/>
          <p:cNvSpPr txBox="1"/>
          <p:nvPr/>
        </p:nvSpPr>
        <p:spPr>
          <a:xfrm>
            <a:off x="7210999" y="2981414"/>
            <a:ext cx="1424690"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chemeClr val="dk1"/>
                </a:solidFill>
                <a:latin typeface="Calibri"/>
                <a:ea typeface="Calibri"/>
                <a:cs typeface="Calibri"/>
                <a:sym typeface="Calibri"/>
              </a:rPr>
              <a:t>содержится в</a:t>
            </a:r>
            <a:endParaRPr/>
          </a:p>
        </p:txBody>
      </p:sp>
      <p:cxnSp>
        <p:nvCxnSpPr>
          <p:cNvPr id="705" name="Google Shape;705;p59"/>
          <p:cNvCxnSpPr/>
          <p:nvPr/>
        </p:nvCxnSpPr>
        <p:spPr>
          <a:xfrm flipH="1" rot="10800000">
            <a:off x="3168537" y="3309298"/>
            <a:ext cx="720345" cy="6128"/>
          </a:xfrm>
          <a:prstGeom prst="straightConnector1">
            <a:avLst/>
          </a:prstGeom>
          <a:noFill/>
          <a:ln cap="flat" cmpd="sng" w="9525">
            <a:solidFill>
              <a:srgbClr val="C00000"/>
            </a:solidFill>
            <a:prstDash val="solid"/>
            <a:miter lim="800000"/>
            <a:headEnd len="sm" w="sm" type="none"/>
            <a:tailEnd len="med" w="med" type="triangle"/>
          </a:ln>
        </p:spPr>
      </p:cxnSp>
      <p:sp>
        <p:nvSpPr>
          <p:cNvPr id="706" name="Google Shape;706;p59"/>
          <p:cNvSpPr txBox="1"/>
          <p:nvPr/>
        </p:nvSpPr>
        <p:spPr>
          <a:xfrm>
            <a:off x="1259245" y="2854626"/>
            <a:ext cx="2066901"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сущность-связка (объект пересечения)</a:t>
            </a:r>
            <a:endParaRPr/>
          </a:p>
        </p:txBody>
      </p:sp>
      <p:sp>
        <p:nvSpPr>
          <p:cNvPr id="707" name="Google Shape;707;p59"/>
          <p:cNvSpPr/>
          <p:nvPr/>
        </p:nvSpPr>
        <p:spPr>
          <a:xfrm>
            <a:off x="1226631" y="4018673"/>
            <a:ext cx="2450853" cy="2545323"/>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СОТРУДНИК</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Номер сотрудника</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ФИО</a:t>
            </a:r>
            <a:endParaRPr sz="16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Адрес</a:t>
            </a:r>
            <a:endParaRPr/>
          </a:p>
          <a:p>
            <a:pPr indent="-174625" lvl="0" marL="174625"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Страна</a:t>
            </a:r>
            <a:endParaRPr sz="1600">
              <a:solidFill>
                <a:schemeClr val="dk1"/>
              </a:solidFill>
              <a:latin typeface="Calibri"/>
              <a:ea typeface="Calibri"/>
              <a:cs typeface="Calibri"/>
              <a:sym typeface="Calibri"/>
            </a:endParaRPr>
          </a:p>
          <a:p>
            <a:pPr indent="-174625" lvl="0" marL="174625"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Email</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Дата поступления</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Зарплата</a:t>
            </a:r>
            <a:endParaRPr sz="1600">
              <a:solidFill>
                <a:schemeClr val="dk1"/>
              </a:solidFill>
              <a:latin typeface="Calibri"/>
              <a:ea typeface="Calibri"/>
              <a:cs typeface="Calibri"/>
              <a:sym typeface="Calibri"/>
            </a:endParaRPr>
          </a:p>
        </p:txBody>
      </p:sp>
      <p:sp>
        <p:nvSpPr>
          <p:cNvPr id="708" name="Google Shape;708;p59"/>
          <p:cNvSpPr/>
          <p:nvPr/>
        </p:nvSpPr>
        <p:spPr>
          <a:xfrm>
            <a:off x="8474354" y="2494951"/>
            <a:ext cx="2940709" cy="1783324"/>
          </a:xfrm>
          <a:prstGeom prst="roundRect">
            <a:avLst>
              <a:gd fmla="val 16667" name="adj"/>
            </a:avLst>
          </a:prstGeom>
          <a:noFill/>
          <a:ln cap="flat" cmpd="sng" w="12700">
            <a:solidFill>
              <a:srgbClr val="1C305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РАБОТА</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Идентификатор</a:t>
            </a:r>
            <a:endParaRPr/>
          </a:p>
          <a:p>
            <a:pPr indent="0" lvl="0" marL="0" marR="0" rtl="0" algn="l">
              <a:spcBef>
                <a:spcPts val="0"/>
              </a:spcBef>
              <a:spcAft>
                <a:spcPts val="0"/>
              </a:spcAft>
              <a:buNone/>
            </a:pPr>
            <a:r>
              <a:rPr lang="en-US" sz="1600">
                <a:solidFill>
                  <a:schemeClr val="dk1"/>
                </a:solidFill>
                <a:latin typeface="Calibri"/>
                <a:ea typeface="Calibri"/>
                <a:cs typeface="Calibri"/>
                <a:sym typeface="Calibri"/>
              </a:rPr>
              <a:t>*  Название должности</a:t>
            </a:r>
            <a:endParaRPr/>
          </a:p>
          <a:p>
            <a:pPr indent="-174625" lvl="0" marL="174625"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Минимальная зарплата</a:t>
            </a:r>
            <a:endParaRPr/>
          </a:p>
          <a:p>
            <a:pPr indent="-174625" lvl="0" marL="174625" marR="0" rtl="0" algn="l">
              <a:spcBef>
                <a:spcPts val="0"/>
              </a:spcBef>
              <a:spcAft>
                <a:spcPts val="0"/>
              </a:spcAft>
              <a:buClr>
                <a:schemeClr val="dk1"/>
              </a:buClr>
              <a:buSzPts val="1600"/>
              <a:buFont typeface="Courier New"/>
              <a:buChar char="o"/>
            </a:pPr>
            <a:r>
              <a:rPr lang="en-US" sz="1600">
                <a:solidFill>
                  <a:schemeClr val="dk1"/>
                </a:solidFill>
                <a:latin typeface="Calibri"/>
                <a:ea typeface="Calibri"/>
                <a:cs typeface="Calibri"/>
                <a:sym typeface="Calibri"/>
              </a:rPr>
              <a:t>Максимальная зарплата</a:t>
            </a:r>
            <a:endParaRPr/>
          </a:p>
        </p:txBody>
      </p:sp>
      <p:cxnSp>
        <p:nvCxnSpPr>
          <p:cNvPr id="709" name="Google Shape;709;p59"/>
          <p:cNvCxnSpPr/>
          <p:nvPr/>
        </p:nvCxnSpPr>
        <p:spPr>
          <a:xfrm>
            <a:off x="3677484" y="5231682"/>
            <a:ext cx="1623349" cy="0"/>
          </a:xfrm>
          <a:prstGeom prst="straightConnector1">
            <a:avLst/>
          </a:prstGeom>
          <a:noFill/>
          <a:ln cap="flat" cmpd="sng" w="28575">
            <a:solidFill>
              <a:schemeClr val="dk1"/>
            </a:solidFill>
            <a:prstDash val="dash"/>
            <a:miter lim="800000"/>
            <a:headEnd len="sm" w="sm" type="none"/>
            <a:tailEnd len="sm" w="sm" type="none"/>
          </a:ln>
        </p:spPr>
      </p:cxnSp>
      <p:cxnSp>
        <p:nvCxnSpPr>
          <p:cNvPr id="710" name="Google Shape;710;p59"/>
          <p:cNvCxnSpPr>
            <a:stCxn id="693" idx="3"/>
          </p:cNvCxnSpPr>
          <p:nvPr/>
        </p:nvCxnSpPr>
        <p:spPr>
          <a:xfrm flipH="1" rot="10800000">
            <a:off x="6534148" y="3340378"/>
            <a:ext cx="914700" cy="4800"/>
          </a:xfrm>
          <a:prstGeom prst="straightConnector1">
            <a:avLst/>
          </a:prstGeom>
          <a:noFill/>
          <a:ln cap="flat" cmpd="sng" w="28575">
            <a:solidFill>
              <a:schemeClr val="dk1"/>
            </a:solidFill>
            <a:prstDash val="solid"/>
            <a:miter lim="800000"/>
            <a:headEnd len="sm" w="sm" type="none"/>
            <a:tailEnd len="sm" w="sm" type="none"/>
          </a:ln>
        </p:spPr>
      </p:cxn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4" name="Shape 714"/>
        <p:cNvGrpSpPr/>
        <p:nvPr/>
      </p:nvGrpSpPr>
      <p:grpSpPr>
        <a:xfrm>
          <a:off x="0" y="0"/>
          <a:ext cx="0" cy="0"/>
          <a:chOff x="0" y="0"/>
          <a:chExt cx="0" cy="0"/>
        </a:xfrm>
      </p:grpSpPr>
      <p:sp>
        <p:nvSpPr>
          <p:cNvPr id="715" name="Google Shape;715;p6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omic Sans MS"/>
              <a:buNone/>
            </a:pPr>
            <a:r>
              <a:rPr b="1" lang="en-US" sz="4200">
                <a:latin typeface="Comic Sans MS"/>
                <a:ea typeface="Comic Sans MS"/>
                <a:cs typeface="Comic Sans MS"/>
                <a:sym typeface="Comic Sans MS"/>
              </a:rPr>
              <a:t>Пример разработки ER-модели</a:t>
            </a:r>
            <a:br>
              <a:rPr b="1" lang="en-US" sz="4200">
                <a:latin typeface="Comic Sans MS"/>
                <a:ea typeface="Comic Sans MS"/>
                <a:cs typeface="Comic Sans MS"/>
                <a:sym typeface="Comic Sans MS"/>
              </a:rPr>
            </a:br>
            <a:endParaRPr b="1" sz="4200">
              <a:latin typeface="Comic Sans MS"/>
              <a:ea typeface="Comic Sans MS"/>
              <a:cs typeface="Comic Sans MS"/>
              <a:sym typeface="Comic Sans MS"/>
            </a:endParaRPr>
          </a:p>
        </p:txBody>
      </p:sp>
      <p:sp>
        <p:nvSpPr>
          <p:cNvPr id="716" name="Google Shape;716;p60"/>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latin typeface="Comic Sans MS"/>
                <a:ea typeface="Comic Sans MS"/>
                <a:cs typeface="Comic Sans MS"/>
                <a:sym typeface="Comic Sans MS"/>
              </a:rPr>
              <a:t>При разработке ER-моделей проектировщик БД должен получить следующую информацию о предметной области: </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a:p>
            <a:pPr indent="-228600" lvl="0" marL="228600" rtl="0" algn="l">
              <a:lnSpc>
                <a:spcPct val="90000"/>
              </a:lnSpc>
              <a:spcBef>
                <a:spcPts val="1000"/>
              </a:spcBef>
              <a:spcAft>
                <a:spcPts val="0"/>
              </a:spcAft>
              <a:buClr>
                <a:srgbClr val="C00000"/>
              </a:buClr>
              <a:buSzPts val="2040"/>
              <a:buFont typeface="Noto Sans Symbols"/>
              <a:buChar char="✔"/>
            </a:pPr>
            <a:r>
              <a:rPr lang="en-US" sz="2000">
                <a:latin typeface="Comic Sans MS"/>
                <a:ea typeface="Comic Sans MS"/>
                <a:cs typeface="Comic Sans MS"/>
                <a:sym typeface="Comic Sans MS"/>
              </a:rPr>
              <a:t>Список сущностей предметной области. </a:t>
            </a:r>
            <a:endParaRPr/>
          </a:p>
          <a:p>
            <a:pPr indent="-228600" lvl="0" marL="228600" rtl="0" algn="l">
              <a:lnSpc>
                <a:spcPct val="90000"/>
              </a:lnSpc>
              <a:spcBef>
                <a:spcPts val="1000"/>
              </a:spcBef>
              <a:spcAft>
                <a:spcPts val="0"/>
              </a:spcAft>
              <a:buClr>
                <a:srgbClr val="C00000"/>
              </a:buClr>
              <a:buSzPts val="2040"/>
              <a:buFont typeface="Noto Sans Symbols"/>
              <a:buChar char="✔"/>
            </a:pPr>
            <a:r>
              <a:rPr lang="en-US" sz="2000">
                <a:latin typeface="Comic Sans MS"/>
                <a:ea typeface="Comic Sans MS"/>
                <a:cs typeface="Comic Sans MS"/>
                <a:sym typeface="Comic Sans MS"/>
              </a:rPr>
              <a:t>Список атрибутов сущностей. </a:t>
            </a:r>
            <a:endParaRPr/>
          </a:p>
          <a:p>
            <a:pPr indent="-228600" lvl="0" marL="228600" rtl="0" algn="l">
              <a:lnSpc>
                <a:spcPct val="90000"/>
              </a:lnSpc>
              <a:spcBef>
                <a:spcPts val="1000"/>
              </a:spcBef>
              <a:spcAft>
                <a:spcPts val="0"/>
              </a:spcAft>
              <a:buClr>
                <a:srgbClr val="C00000"/>
              </a:buClr>
              <a:buSzPts val="2040"/>
              <a:buFont typeface="Noto Sans Symbols"/>
              <a:buChar char="✔"/>
            </a:pPr>
            <a:r>
              <a:rPr lang="en-US" sz="2000">
                <a:latin typeface="Comic Sans MS"/>
                <a:ea typeface="Comic Sans MS"/>
                <a:cs typeface="Comic Sans MS"/>
                <a:sym typeface="Comic Sans MS"/>
              </a:rPr>
              <a:t>Описание взаимосвязей между сущностями. </a:t>
            </a:r>
            <a:endParaRPr sz="2000">
              <a:latin typeface="Comic Sans MS"/>
              <a:ea typeface="Comic Sans MS"/>
              <a:cs typeface="Comic Sans MS"/>
              <a:sym typeface="Comic Sans MS"/>
            </a:endParaRPr>
          </a:p>
          <a:p>
            <a:pPr indent="-99060" lvl="0" marL="228600" rtl="0" algn="l">
              <a:lnSpc>
                <a:spcPct val="90000"/>
              </a:lnSpc>
              <a:spcBef>
                <a:spcPts val="1000"/>
              </a:spcBef>
              <a:spcAft>
                <a:spcPts val="0"/>
              </a:spcAft>
              <a:buClr>
                <a:srgbClr val="C00000"/>
              </a:buClr>
              <a:buSzPts val="2040"/>
              <a:buFont typeface="Noto Sans Symbols"/>
              <a:buNone/>
            </a:pPr>
            <a:r>
              <a:t/>
            </a:r>
            <a:endParaRPr sz="2000">
              <a:latin typeface="Comic Sans MS"/>
              <a:ea typeface="Comic Sans MS"/>
              <a:cs typeface="Comic Sans MS"/>
              <a:sym typeface="Comic Sans MS"/>
            </a:endParaRPr>
          </a:p>
          <a:p>
            <a:pPr indent="-228600" lvl="0" marL="228600" rtl="0" algn="l">
              <a:lnSpc>
                <a:spcPct val="90000"/>
              </a:lnSpc>
              <a:spcBef>
                <a:spcPts val="1000"/>
              </a:spcBef>
              <a:spcAft>
                <a:spcPts val="0"/>
              </a:spcAft>
              <a:buClr>
                <a:srgbClr val="C00000"/>
              </a:buClr>
              <a:buSzPts val="2040"/>
              <a:buFont typeface="Noto Sans Symbols"/>
              <a:buChar char="🖌"/>
            </a:pPr>
            <a:r>
              <a:rPr lang="en-US" sz="2000">
                <a:latin typeface="Comic Sans MS"/>
                <a:ea typeface="Comic Sans MS"/>
                <a:cs typeface="Comic Sans MS"/>
                <a:sym typeface="Comic Sans MS"/>
              </a:rPr>
              <a:t>ER-диаграммы удобны тем, что процесс выделения сущностей, атрибутов и связей является итерационным. Разработав первый приближенный вариант диаграмм, мы уточняем их, опрашивая экспертов предметной области. При этом документацией, в которой фиксируются результаты бесед, являются сами ER-диаграммы.</a:t>
            </a:r>
            <a:endParaRPr/>
          </a:p>
        </p:txBody>
      </p:sp>
      <p:sp>
        <p:nvSpPr>
          <p:cNvPr id="717" name="Google Shape;717;p60"/>
          <p:cNvSpPr txBox="1"/>
          <p:nvPr>
            <p:ph idx="4294967295"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chemeClr val="dk1"/>
                </a:solidFill>
                <a:latin typeface="Constantia"/>
                <a:ea typeface="Constantia"/>
                <a:cs typeface="Constantia"/>
                <a:sym typeface="Constantia"/>
              </a:rPr>
              <a:t>‹#›</a:t>
            </a:fld>
            <a:endParaRPr sz="1200">
              <a:solidFill>
                <a:schemeClr val="dk1"/>
              </a:solidFill>
              <a:latin typeface="Constantia"/>
              <a:ea typeface="Constantia"/>
              <a:cs typeface="Constantia"/>
              <a:sym typeface="Constantia"/>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1" name="Shape 721"/>
        <p:cNvGrpSpPr/>
        <p:nvPr/>
      </p:nvGrpSpPr>
      <p:grpSpPr>
        <a:xfrm>
          <a:off x="0" y="0"/>
          <a:ext cx="0" cy="0"/>
          <a:chOff x="0" y="0"/>
          <a:chExt cx="0" cy="0"/>
        </a:xfrm>
      </p:grpSpPr>
      <p:sp>
        <p:nvSpPr>
          <p:cNvPr id="722" name="Google Shape;722;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omic Sans MS"/>
              <a:buNone/>
            </a:pPr>
            <a:r>
              <a:rPr b="1" lang="en-US" sz="4200">
                <a:latin typeface="Comic Sans MS"/>
                <a:ea typeface="Comic Sans MS"/>
                <a:cs typeface="Comic Sans MS"/>
                <a:sym typeface="Comic Sans MS"/>
              </a:rPr>
              <a:t>Пример разработки ER-модели</a:t>
            </a:r>
            <a:br>
              <a:rPr b="1" lang="en-US" sz="4200">
                <a:latin typeface="Comic Sans MS"/>
                <a:ea typeface="Comic Sans MS"/>
                <a:cs typeface="Comic Sans MS"/>
                <a:sym typeface="Comic Sans MS"/>
              </a:rPr>
            </a:br>
            <a:endParaRPr b="1" sz="4200">
              <a:latin typeface="Comic Sans MS"/>
              <a:ea typeface="Comic Sans MS"/>
              <a:cs typeface="Comic Sans MS"/>
              <a:sym typeface="Comic Sans MS"/>
            </a:endParaRPr>
          </a:p>
        </p:txBody>
      </p:sp>
      <p:sp>
        <p:nvSpPr>
          <p:cNvPr id="723" name="Google Shape;723;p61"/>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latin typeface="Comic Sans MS"/>
                <a:ea typeface="Comic Sans MS"/>
                <a:cs typeface="Comic Sans MS"/>
                <a:sym typeface="Comic Sans MS"/>
              </a:rPr>
              <a:t>Предположим, что перед нами стоит задача разработать базу данных управления заказами для оптовой торговой фирмы. В первую очередь мы должны изучить предметную область и процессы, происходящие в ней. Для этого мы опрашиваем сотрудников фирмы, читаем документацию, изучаем формы заказов, накладных и т.п. </a:t>
            </a:r>
            <a:endParaRPr/>
          </a:p>
          <a:p>
            <a:pPr indent="0" lvl="0" marL="0" rtl="0" algn="l">
              <a:lnSpc>
                <a:spcPct val="9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a:p>
            <a:pPr indent="0" lvl="0" marL="0" rtl="0" algn="l">
              <a:lnSpc>
                <a:spcPct val="90000"/>
              </a:lnSpc>
              <a:spcBef>
                <a:spcPts val="1000"/>
              </a:spcBef>
              <a:spcAft>
                <a:spcPts val="0"/>
              </a:spcAft>
              <a:buClr>
                <a:schemeClr val="dk1"/>
              </a:buClr>
              <a:buSzPts val="2000"/>
              <a:buNone/>
            </a:pPr>
            <a:r>
              <a:rPr lang="en-US" sz="2000">
                <a:latin typeface="Comic Sans MS"/>
                <a:ea typeface="Comic Sans MS"/>
                <a:cs typeface="Comic Sans MS"/>
                <a:sym typeface="Comic Sans MS"/>
              </a:rPr>
              <a:t>Менеджер по продажам считает, что проектируемая система должна выполнять следующие действия: </a:t>
            </a:r>
            <a:endParaRPr/>
          </a:p>
          <a:p>
            <a:pPr indent="0" lvl="0" marL="0" rtl="0" algn="l">
              <a:lnSpc>
                <a:spcPct val="90000"/>
              </a:lnSpc>
              <a:spcBef>
                <a:spcPts val="1000"/>
              </a:spcBef>
              <a:spcAft>
                <a:spcPts val="0"/>
              </a:spcAft>
              <a:buClr>
                <a:schemeClr val="dk1"/>
              </a:buClr>
              <a:buSzPts val="2000"/>
              <a:buNone/>
            </a:pPr>
            <a:r>
              <a:t/>
            </a:r>
            <a:endParaRPr sz="2000">
              <a:latin typeface="Comic Sans MS"/>
              <a:ea typeface="Comic Sans MS"/>
              <a:cs typeface="Comic Sans MS"/>
              <a:sym typeface="Comic Sans MS"/>
            </a:endParaRPr>
          </a:p>
          <a:p>
            <a:pPr indent="-228600" lvl="0" marL="228600" rtl="0" algn="l">
              <a:lnSpc>
                <a:spcPct val="90000"/>
              </a:lnSpc>
              <a:spcBef>
                <a:spcPts val="1000"/>
              </a:spcBef>
              <a:spcAft>
                <a:spcPts val="0"/>
              </a:spcAft>
              <a:buClr>
                <a:srgbClr val="FEFEFE"/>
              </a:buClr>
              <a:buSzPts val="2540"/>
              <a:buFont typeface="Noto Sans Symbols"/>
              <a:buChar char="✔"/>
            </a:pPr>
            <a:r>
              <a:rPr lang="en-US" sz="2000">
                <a:latin typeface="Comic Sans MS"/>
                <a:ea typeface="Comic Sans MS"/>
                <a:cs typeface="Comic Sans MS"/>
                <a:sym typeface="Comic Sans MS"/>
              </a:rPr>
              <a:t>Хранить информацию о покупателях. </a:t>
            </a:r>
            <a:endParaRPr/>
          </a:p>
          <a:p>
            <a:pPr indent="-228600" lvl="0" marL="228600" rtl="0" algn="l">
              <a:lnSpc>
                <a:spcPct val="90000"/>
              </a:lnSpc>
              <a:spcBef>
                <a:spcPts val="1000"/>
              </a:spcBef>
              <a:spcAft>
                <a:spcPts val="0"/>
              </a:spcAft>
              <a:buClr>
                <a:srgbClr val="FEFEFE"/>
              </a:buClr>
              <a:buSzPts val="2540"/>
              <a:buFont typeface="Noto Sans Symbols"/>
              <a:buChar char="✔"/>
            </a:pPr>
            <a:r>
              <a:rPr lang="en-US" sz="2000">
                <a:latin typeface="Comic Sans MS"/>
                <a:ea typeface="Comic Sans MS"/>
                <a:cs typeface="Comic Sans MS"/>
                <a:sym typeface="Comic Sans MS"/>
              </a:rPr>
              <a:t>Печатать накладные на отпущенные товары. </a:t>
            </a:r>
            <a:endParaRPr/>
          </a:p>
          <a:p>
            <a:pPr indent="-228600" lvl="0" marL="228600" rtl="0" algn="l">
              <a:lnSpc>
                <a:spcPct val="90000"/>
              </a:lnSpc>
              <a:spcBef>
                <a:spcPts val="1000"/>
              </a:spcBef>
              <a:spcAft>
                <a:spcPts val="0"/>
              </a:spcAft>
              <a:buClr>
                <a:srgbClr val="FEFEFE"/>
              </a:buClr>
              <a:buSzPts val="2540"/>
              <a:buFont typeface="Noto Sans Symbols"/>
              <a:buChar char="✔"/>
            </a:pPr>
            <a:r>
              <a:rPr lang="en-US" sz="2000">
                <a:latin typeface="Comic Sans MS"/>
                <a:ea typeface="Comic Sans MS"/>
                <a:cs typeface="Comic Sans MS"/>
                <a:sym typeface="Comic Sans MS"/>
              </a:rPr>
              <a:t>Следить за наличием товаров на складе.</a:t>
            </a:r>
            <a:endParaRPr/>
          </a:p>
          <a:p>
            <a:pPr indent="0" lvl="0" marL="0" rtl="0" algn="l">
              <a:lnSpc>
                <a:spcPct val="90000"/>
              </a:lnSpc>
              <a:spcBef>
                <a:spcPts val="1000"/>
              </a:spcBef>
              <a:spcAft>
                <a:spcPts val="0"/>
              </a:spcAft>
              <a:buClr>
                <a:srgbClr val="C00000"/>
              </a:buClr>
              <a:buSzPts val="2040"/>
              <a:buNone/>
            </a:pPr>
            <a:r>
              <a:t/>
            </a:r>
            <a:endParaRPr b="1" sz="2000">
              <a:latin typeface="Comic Sans MS"/>
              <a:ea typeface="Comic Sans MS"/>
              <a:cs typeface="Comic Sans MS"/>
              <a:sym typeface="Comic Sans MS"/>
            </a:endParaRPr>
          </a:p>
        </p:txBody>
      </p:sp>
      <p:sp>
        <p:nvSpPr>
          <p:cNvPr id="724" name="Google Shape;724;p61"/>
          <p:cNvSpPr txBox="1"/>
          <p:nvPr>
            <p:ph idx="4294967295"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chemeClr val="dk1"/>
                </a:solidFill>
                <a:latin typeface="Constantia"/>
                <a:ea typeface="Constantia"/>
                <a:cs typeface="Constantia"/>
                <a:sym typeface="Constantia"/>
              </a:rPr>
              <a:t>‹#›</a:t>
            </a:fld>
            <a:endParaRPr sz="1200">
              <a:solidFill>
                <a:schemeClr val="dk1"/>
              </a:solidFill>
              <a:latin typeface="Constantia"/>
              <a:ea typeface="Constantia"/>
              <a:cs typeface="Constantia"/>
              <a:sym typeface="Constantia"/>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8" name="Shape 728"/>
        <p:cNvGrpSpPr/>
        <p:nvPr/>
      </p:nvGrpSpPr>
      <p:grpSpPr>
        <a:xfrm>
          <a:off x="0" y="0"/>
          <a:ext cx="0" cy="0"/>
          <a:chOff x="0" y="0"/>
          <a:chExt cx="0" cy="0"/>
        </a:xfrm>
      </p:grpSpPr>
      <p:sp>
        <p:nvSpPr>
          <p:cNvPr id="729" name="Google Shape;729;p6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omic Sans MS"/>
              <a:buNone/>
            </a:pPr>
            <a:r>
              <a:rPr b="1" lang="en-US" sz="4200">
                <a:latin typeface="Comic Sans MS"/>
                <a:ea typeface="Comic Sans MS"/>
                <a:cs typeface="Comic Sans MS"/>
                <a:sym typeface="Comic Sans MS"/>
              </a:rPr>
              <a:t>Пример разработки ER-модели</a:t>
            </a:r>
            <a:br>
              <a:rPr b="1" lang="en-US" sz="4200">
                <a:latin typeface="Comic Sans MS"/>
                <a:ea typeface="Comic Sans MS"/>
                <a:cs typeface="Comic Sans MS"/>
                <a:sym typeface="Comic Sans MS"/>
              </a:rPr>
            </a:br>
            <a:endParaRPr b="1" sz="4200">
              <a:latin typeface="Comic Sans MS"/>
              <a:ea typeface="Comic Sans MS"/>
              <a:cs typeface="Comic Sans MS"/>
              <a:sym typeface="Comic Sans MS"/>
            </a:endParaRPr>
          </a:p>
        </p:txBody>
      </p:sp>
      <p:sp>
        <p:nvSpPr>
          <p:cNvPr id="730" name="Google Shape;730;p62"/>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200"/>
              <a:buNone/>
            </a:pPr>
            <a:r>
              <a:rPr lang="en-US" sz="2200">
                <a:latin typeface="Comic Sans MS"/>
                <a:ea typeface="Comic Sans MS"/>
                <a:cs typeface="Comic Sans MS"/>
                <a:sym typeface="Comic Sans MS"/>
              </a:rPr>
              <a:t>Выделим все существительные в этих предложениях - это будут потенциальные кандидаты на сущности и атрибуты, и проанализируем их (непонятные термины будем выделять знаком вопроса):</a:t>
            </a:r>
            <a:endParaRPr/>
          </a:p>
          <a:p>
            <a:pPr indent="0" lvl="0" marL="0" rtl="0" algn="l">
              <a:lnSpc>
                <a:spcPct val="90000"/>
              </a:lnSpc>
              <a:spcBef>
                <a:spcPts val="1000"/>
              </a:spcBef>
              <a:spcAft>
                <a:spcPts val="0"/>
              </a:spcAft>
              <a:buClr>
                <a:schemeClr val="dk1"/>
              </a:buClr>
              <a:buSzPts val="2200"/>
              <a:buNone/>
            </a:pPr>
            <a:r>
              <a:rPr lang="en-US" sz="2200">
                <a:latin typeface="Comic Sans MS"/>
                <a:ea typeface="Comic Sans MS"/>
                <a:cs typeface="Comic Sans MS"/>
                <a:sym typeface="Comic Sans MS"/>
              </a:rPr>
              <a:t> </a:t>
            </a:r>
            <a:endParaRPr/>
          </a:p>
          <a:p>
            <a:pPr indent="0" lvl="0" marL="0" rtl="0" algn="l">
              <a:lnSpc>
                <a:spcPct val="90000"/>
              </a:lnSpc>
              <a:spcBef>
                <a:spcPts val="1000"/>
              </a:spcBef>
              <a:spcAft>
                <a:spcPts val="0"/>
              </a:spcAft>
              <a:buClr>
                <a:srgbClr val="FEFEFE"/>
              </a:buClr>
              <a:buSzPts val="2794"/>
              <a:buNone/>
            </a:pPr>
            <a:r>
              <a:rPr lang="en-US" sz="2200">
                <a:latin typeface="Comic Sans MS"/>
                <a:ea typeface="Comic Sans MS"/>
                <a:cs typeface="Comic Sans MS"/>
                <a:sym typeface="Comic Sans MS"/>
              </a:rPr>
              <a:t>Покупатель - явный кандидат на сущность </a:t>
            </a:r>
            <a:endParaRPr/>
          </a:p>
          <a:p>
            <a:pPr indent="0" lvl="0" marL="0" rtl="0" algn="l">
              <a:lnSpc>
                <a:spcPct val="90000"/>
              </a:lnSpc>
              <a:spcBef>
                <a:spcPts val="1000"/>
              </a:spcBef>
              <a:spcAft>
                <a:spcPts val="0"/>
              </a:spcAft>
              <a:buClr>
                <a:srgbClr val="FEFEFE"/>
              </a:buClr>
              <a:buSzPts val="2794"/>
              <a:buNone/>
            </a:pPr>
            <a:r>
              <a:rPr lang="en-US" sz="2200">
                <a:latin typeface="Comic Sans MS"/>
                <a:ea typeface="Comic Sans MS"/>
                <a:cs typeface="Comic Sans MS"/>
                <a:sym typeface="Comic Sans MS"/>
              </a:rPr>
              <a:t>Накладная - явный кандидат на сущность </a:t>
            </a:r>
            <a:endParaRPr/>
          </a:p>
          <a:p>
            <a:pPr indent="0" lvl="0" marL="0" rtl="0" algn="l">
              <a:lnSpc>
                <a:spcPct val="90000"/>
              </a:lnSpc>
              <a:spcBef>
                <a:spcPts val="1000"/>
              </a:spcBef>
              <a:spcAft>
                <a:spcPts val="0"/>
              </a:spcAft>
              <a:buClr>
                <a:srgbClr val="FEFEFE"/>
              </a:buClr>
              <a:buSzPts val="2794"/>
              <a:buNone/>
            </a:pPr>
            <a:r>
              <a:rPr lang="en-US" sz="2200">
                <a:latin typeface="Comic Sans MS"/>
                <a:ea typeface="Comic Sans MS"/>
                <a:cs typeface="Comic Sans MS"/>
                <a:sym typeface="Comic Sans MS"/>
              </a:rPr>
              <a:t>Товар - явный кандидат на сущность </a:t>
            </a:r>
            <a:endParaRPr/>
          </a:p>
          <a:p>
            <a:pPr indent="0" lvl="0" marL="0" rtl="0" algn="l">
              <a:lnSpc>
                <a:spcPct val="90000"/>
              </a:lnSpc>
              <a:spcBef>
                <a:spcPts val="1000"/>
              </a:spcBef>
              <a:spcAft>
                <a:spcPts val="0"/>
              </a:spcAft>
              <a:buClr>
                <a:srgbClr val="FEFEFE"/>
              </a:buClr>
              <a:buSzPts val="2794"/>
              <a:buNone/>
            </a:pPr>
            <a:r>
              <a:rPr lang="en-US" sz="2200">
                <a:latin typeface="Comic Sans MS"/>
                <a:ea typeface="Comic Sans MS"/>
                <a:cs typeface="Comic Sans MS"/>
                <a:sym typeface="Comic Sans MS"/>
              </a:rPr>
              <a:t>(?)Склад - а вообще, сколько складов имеет фирма? Если несколько, то это будет кандидатом на новую сущность. </a:t>
            </a:r>
            <a:endParaRPr/>
          </a:p>
          <a:p>
            <a:pPr indent="0" lvl="0" marL="0" rtl="0" algn="l">
              <a:lnSpc>
                <a:spcPct val="90000"/>
              </a:lnSpc>
              <a:spcBef>
                <a:spcPts val="1000"/>
              </a:spcBef>
              <a:spcAft>
                <a:spcPts val="0"/>
              </a:spcAft>
              <a:buClr>
                <a:srgbClr val="FEFEFE"/>
              </a:buClr>
              <a:buSzPts val="2794"/>
              <a:buNone/>
            </a:pPr>
            <a:r>
              <a:rPr lang="en-US" sz="2200">
                <a:latin typeface="Comic Sans MS"/>
                <a:ea typeface="Comic Sans MS"/>
                <a:cs typeface="Comic Sans MS"/>
                <a:sym typeface="Comic Sans MS"/>
              </a:rPr>
              <a:t>(?)Наличие товара – это, скорее всего, атрибут, но атрибут какой сущности? </a:t>
            </a:r>
            <a:endParaRPr/>
          </a:p>
        </p:txBody>
      </p:sp>
      <p:sp>
        <p:nvSpPr>
          <p:cNvPr id="731" name="Google Shape;731;p62"/>
          <p:cNvSpPr txBox="1"/>
          <p:nvPr>
            <p:ph idx="4294967295"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chemeClr val="dk1"/>
                </a:solidFill>
                <a:latin typeface="Constantia"/>
                <a:ea typeface="Constantia"/>
                <a:cs typeface="Constantia"/>
                <a:sym typeface="Constantia"/>
              </a:rPr>
              <a:t>‹#›</a:t>
            </a:fld>
            <a:endParaRPr sz="1200">
              <a:solidFill>
                <a:schemeClr val="dk1"/>
              </a:solidFill>
              <a:latin typeface="Constantia"/>
              <a:ea typeface="Constantia"/>
              <a:cs typeface="Constantia"/>
              <a:sym typeface="Constantia"/>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5" name="Shape 735"/>
        <p:cNvGrpSpPr/>
        <p:nvPr/>
      </p:nvGrpSpPr>
      <p:grpSpPr>
        <a:xfrm>
          <a:off x="0" y="0"/>
          <a:ext cx="0" cy="0"/>
          <a:chOff x="0" y="0"/>
          <a:chExt cx="0" cy="0"/>
        </a:xfrm>
      </p:grpSpPr>
      <p:sp>
        <p:nvSpPr>
          <p:cNvPr id="736" name="Google Shape;736;p63"/>
          <p:cNvSpPr txBox="1"/>
          <p:nvPr/>
        </p:nvSpPr>
        <p:spPr>
          <a:xfrm>
            <a:off x="1143001" y="1676400"/>
            <a:ext cx="3581399" cy="1216153"/>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None/>
            </a:pPr>
            <a:r>
              <a:rPr b="1" lang="en-US" sz="2500">
                <a:solidFill>
                  <a:schemeClr val="dk1"/>
                </a:solidFill>
                <a:latin typeface="Calibri"/>
                <a:ea typeface="Calibri"/>
                <a:cs typeface="Calibri"/>
                <a:sym typeface="Calibri"/>
              </a:rPr>
              <a:t>Пример разработки ER-модели</a:t>
            </a:r>
            <a:br>
              <a:rPr b="1" lang="en-US" sz="2500">
                <a:solidFill>
                  <a:schemeClr val="dk1"/>
                </a:solidFill>
                <a:latin typeface="Calibri"/>
                <a:ea typeface="Calibri"/>
                <a:cs typeface="Calibri"/>
                <a:sym typeface="Calibri"/>
              </a:rPr>
            </a:br>
            <a:endParaRPr b="1" sz="2500">
              <a:solidFill>
                <a:schemeClr val="dk1"/>
              </a:solidFill>
              <a:latin typeface="Calibri"/>
              <a:ea typeface="Calibri"/>
              <a:cs typeface="Calibri"/>
              <a:sym typeface="Calibri"/>
            </a:endParaRPr>
          </a:p>
        </p:txBody>
      </p:sp>
      <p:sp>
        <p:nvSpPr>
          <p:cNvPr id="737" name="Google Shape;737;p63"/>
          <p:cNvSpPr txBox="1"/>
          <p:nvPr>
            <p:ph idx="1" type="body"/>
          </p:nvPr>
        </p:nvSpPr>
        <p:spPr>
          <a:xfrm>
            <a:off x="1143001" y="3429000"/>
            <a:ext cx="3581399" cy="1752599"/>
          </a:xfrm>
          <a:prstGeom prst="rect">
            <a:avLst/>
          </a:prstGeom>
          <a:noFill/>
          <a:ln>
            <a:noFill/>
          </a:ln>
        </p:spPr>
        <p:txBody>
          <a:bodyPr anchorCtr="0" anchor="t" bIns="45700" lIns="91425" spcFirstLastPara="1" rIns="91425" wrap="square" tIns="45700">
            <a:normAutofit/>
          </a:bodyPr>
          <a:lstStyle/>
          <a:p>
            <a:pPr indent="-228600" lvl="0" marL="355600" rtl="0" algn="l">
              <a:lnSpc>
                <a:spcPct val="90000"/>
              </a:lnSpc>
              <a:spcBef>
                <a:spcPts val="0"/>
              </a:spcBef>
              <a:spcAft>
                <a:spcPts val="0"/>
              </a:spcAft>
              <a:buClr>
                <a:srgbClr val="C00000"/>
              </a:buClr>
              <a:buSzPts val="1734"/>
              <a:buChar char="•"/>
            </a:pPr>
            <a:r>
              <a:rPr b="1" lang="en-US" sz="1700">
                <a:solidFill>
                  <a:schemeClr val="dk1"/>
                </a:solidFill>
              </a:rPr>
              <a:t>Сразу возникает очевидная связь между сущностями - "покупатели могут покупать много товаров" и "товары могут продаваться многим покупателям". Первый вариант диаграммы выглядит так: </a:t>
            </a:r>
            <a:endParaRPr/>
          </a:p>
        </p:txBody>
      </p:sp>
      <p:pic>
        <p:nvPicPr>
          <p:cNvPr id="738" name="Google Shape;738;p63"/>
          <p:cNvPicPr preferRelativeResize="0"/>
          <p:nvPr/>
        </p:nvPicPr>
        <p:blipFill rotWithShape="1">
          <a:blip r:embed="rId3">
            <a:alphaModFix/>
          </a:blip>
          <a:srcRect b="0" l="0" r="0" t="0"/>
          <a:stretch/>
        </p:blipFill>
        <p:spPr>
          <a:xfrm>
            <a:off x="5410202" y="2364677"/>
            <a:ext cx="5638798" cy="2128646"/>
          </a:xfrm>
          <a:prstGeom prst="rect">
            <a:avLst/>
          </a:prstGeom>
          <a:noFill/>
          <a:ln>
            <a:noFill/>
          </a:ln>
        </p:spPr>
      </p:pic>
      <p:sp>
        <p:nvSpPr>
          <p:cNvPr id="739" name="Google Shape;739;p63"/>
          <p:cNvSpPr txBox="1"/>
          <p:nvPr>
            <p:ph idx="4294967295" type="sldNum"/>
          </p:nvPr>
        </p:nvSpPr>
        <p:spPr>
          <a:xfrm>
            <a:off x="11049000" y="6400800"/>
            <a:ext cx="685800" cy="457200"/>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000">
                <a:solidFill>
                  <a:srgbClr val="000000"/>
                </a:solidFill>
                <a:latin typeface="Calibri"/>
                <a:ea typeface="Calibri"/>
                <a:cs typeface="Calibri"/>
                <a:sym typeface="Calibri"/>
              </a:rPr>
              <a:t>‹#›</a:t>
            </a:fld>
            <a:endParaRPr sz="1000">
              <a:solidFill>
                <a:srgbClr val="000000"/>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3" name="Shape 743"/>
        <p:cNvGrpSpPr/>
        <p:nvPr/>
      </p:nvGrpSpPr>
      <p:grpSpPr>
        <a:xfrm>
          <a:off x="0" y="0"/>
          <a:ext cx="0" cy="0"/>
          <a:chOff x="0" y="0"/>
          <a:chExt cx="0" cy="0"/>
        </a:xfrm>
      </p:grpSpPr>
      <p:sp>
        <p:nvSpPr>
          <p:cNvPr id="744" name="Google Shape;744;p64"/>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4200">
                <a:solidFill>
                  <a:schemeClr val="dk1"/>
                </a:solidFill>
                <a:latin typeface="Calibri"/>
                <a:ea typeface="Calibri"/>
                <a:cs typeface="Calibri"/>
                <a:sym typeface="Calibri"/>
              </a:rPr>
              <a:t>Пример разработки ER-модели</a:t>
            </a:r>
            <a:br>
              <a:rPr b="1" lang="en-US" sz="4200">
                <a:solidFill>
                  <a:schemeClr val="dk1"/>
                </a:solidFill>
                <a:latin typeface="Calibri"/>
                <a:ea typeface="Calibri"/>
                <a:cs typeface="Calibri"/>
                <a:sym typeface="Calibri"/>
              </a:rPr>
            </a:br>
            <a:endParaRPr b="1" sz="4200">
              <a:solidFill>
                <a:schemeClr val="dk1"/>
              </a:solidFill>
              <a:latin typeface="Calibri"/>
              <a:ea typeface="Calibri"/>
              <a:cs typeface="Calibri"/>
              <a:sym typeface="Calibri"/>
            </a:endParaRPr>
          </a:p>
        </p:txBody>
      </p:sp>
      <p:sp>
        <p:nvSpPr>
          <p:cNvPr id="745" name="Google Shape;745;p64"/>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00000"/>
              </a:buClr>
              <a:buSzPts val="2244"/>
              <a:buChar char="•"/>
            </a:pPr>
            <a:r>
              <a:rPr lang="en-US" sz="2200"/>
              <a:t>После уточнения информации стало известно, что:</a:t>
            </a:r>
            <a:endParaRPr/>
          </a:p>
          <a:p>
            <a:pPr indent="-228600" lvl="0" marL="355600" rtl="0" algn="l">
              <a:lnSpc>
                <a:spcPct val="90000"/>
              </a:lnSpc>
              <a:spcBef>
                <a:spcPts val="1000"/>
              </a:spcBef>
              <a:spcAft>
                <a:spcPts val="0"/>
              </a:spcAft>
              <a:buClr>
                <a:srgbClr val="C00000"/>
              </a:buClr>
              <a:buSzPts val="2244"/>
              <a:buChar char="•"/>
            </a:pPr>
            <a:r>
              <a:rPr lang="en-US" sz="2200"/>
              <a:t>Фирма имеет несколько складов. Причем, каждый товар может храниться на нескольких складах и быть проданным с любого склада.</a:t>
            </a:r>
            <a:endParaRPr/>
          </a:p>
          <a:p>
            <a:pPr indent="-228600" lvl="0" marL="355600" rtl="0" algn="l">
              <a:lnSpc>
                <a:spcPct val="90000"/>
              </a:lnSpc>
              <a:spcBef>
                <a:spcPts val="1000"/>
              </a:spcBef>
              <a:spcAft>
                <a:spcPts val="0"/>
              </a:spcAft>
              <a:buClr>
                <a:srgbClr val="C00000"/>
              </a:buClr>
              <a:buSzPts val="2244"/>
              <a:buChar char="•"/>
            </a:pPr>
            <a:r>
              <a:rPr lang="en-US" sz="2200"/>
              <a:t>Покупатели покупают товары, получая при этом накладные, в которые внесены данные о количестве и цене купленного товара. Каждый покупатель может получить несколько накладных. Каждая накладная обязана выписываться на одного покупателя. </a:t>
            </a:r>
            <a:endParaRPr/>
          </a:p>
        </p:txBody>
      </p:sp>
      <p:sp>
        <p:nvSpPr>
          <p:cNvPr id="746" name="Google Shape;746;p64"/>
          <p:cNvSpPr txBox="1"/>
          <p:nvPr>
            <p:ph idx="4294967295"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0" name="Shape 750"/>
        <p:cNvGrpSpPr/>
        <p:nvPr/>
      </p:nvGrpSpPr>
      <p:grpSpPr>
        <a:xfrm>
          <a:off x="0" y="0"/>
          <a:ext cx="0" cy="0"/>
          <a:chOff x="0" y="0"/>
          <a:chExt cx="0" cy="0"/>
        </a:xfrm>
      </p:grpSpPr>
      <p:sp>
        <p:nvSpPr>
          <p:cNvPr id="751" name="Google Shape;751;p65"/>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4200">
                <a:solidFill>
                  <a:schemeClr val="dk1"/>
                </a:solidFill>
                <a:latin typeface="Calibri"/>
                <a:ea typeface="Calibri"/>
                <a:cs typeface="Calibri"/>
                <a:sym typeface="Calibri"/>
              </a:rPr>
              <a:t>Пример разработки ER-модели</a:t>
            </a:r>
            <a:br>
              <a:rPr b="1" lang="en-US" sz="4200">
                <a:solidFill>
                  <a:schemeClr val="dk1"/>
                </a:solidFill>
                <a:latin typeface="Calibri"/>
                <a:ea typeface="Calibri"/>
                <a:cs typeface="Calibri"/>
                <a:sym typeface="Calibri"/>
              </a:rPr>
            </a:br>
            <a:endParaRPr b="1" sz="4200">
              <a:solidFill>
                <a:schemeClr val="dk1"/>
              </a:solidFill>
              <a:latin typeface="Calibri"/>
              <a:ea typeface="Calibri"/>
              <a:cs typeface="Calibri"/>
              <a:sym typeface="Calibri"/>
            </a:endParaRPr>
          </a:p>
        </p:txBody>
      </p:sp>
      <p:sp>
        <p:nvSpPr>
          <p:cNvPr id="752" name="Google Shape;752;p65"/>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228600" lvl="0" marL="355600" rtl="0" algn="l">
              <a:lnSpc>
                <a:spcPct val="90000"/>
              </a:lnSpc>
              <a:spcBef>
                <a:spcPts val="0"/>
              </a:spcBef>
              <a:spcAft>
                <a:spcPts val="0"/>
              </a:spcAft>
              <a:buClr>
                <a:srgbClr val="C00000"/>
              </a:buClr>
              <a:buSzPts val="2244"/>
              <a:buChar char="•"/>
            </a:pPr>
            <a:r>
              <a:rPr lang="en-US" sz="2200"/>
              <a:t>Каждая накладная обязана содержать несколько товаров (не бывает пустых накладных). </a:t>
            </a:r>
            <a:endParaRPr/>
          </a:p>
          <a:p>
            <a:pPr indent="-228600" lvl="0" marL="355600" rtl="0" algn="l">
              <a:lnSpc>
                <a:spcPct val="90000"/>
              </a:lnSpc>
              <a:spcBef>
                <a:spcPts val="1000"/>
              </a:spcBef>
              <a:spcAft>
                <a:spcPts val="0"/>
              </a:spcAft>
              <a:buClr>
                <a:srgbClr val="C00000"/>
              </a:buClr>
              <a:buSzPts val="2244"/>
              <a:buChar char="•"/>
            </a:pPr>
            <a:r>
              <a:rPr lang="en-US" sz="2200"/>
              <a:t>Каждый товар, в свою очередь, может быть продан нескольким покупателям через несколько накладных. </a:t>
            </a:r>
            <a:endParaRPr/>
          </a:p>
          <a:p>
            <a:pPr indent="-228600" lvl="0" marL="355600" rtl="0" algn="l">
              <a:lnSpc>
                <a:spcPct val="90000"/>
              </a:lnSpc>
              <a:spcBef>
                <a:spcPts val="1000"/>
              </a:spcBef>
              <a:spcAft>
                <a:spcPts val="0"/>
              </a:spcAft>
              <a:buClr>
                <a:srgbClr val="C00000"/>
              </a:buClr>
              <a:buSzPts val="2244"/>
              <a:buChar char="•"/>
            </a:pPr>
            <a:r>
              <a:rPr lang="en-US" sz="2200"/>
              <a:t>Каждая накладная должна быть выписана с определенного склада, и с любого склада может быть выписано много накладных. </a:t>
            </a:r>
            <a:endParaRPr/>
          </a:p>
        </p:txBody>
      </p:sp>
      <p:sp>
        <p:nvSpPr>
          <p:cNvPr id="753" name="Google Shape;753;p65"/>
          <p:cNvSpPr txBox="1"/>
          <p:nvPr>
            <p:ph idx="4294967295"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rgbClr val="888888"/>
                </a:solidFill>
                <a:latin typeface="Calibri"/>
                <a:ea typeface="Calibri"/>
                <a:cs typeface="Calibri"/>
                <a:sym typeface="Calibri"/>
              </a:rPr>
              <a:t>‹#›</a:t>
            </a:fld>
            <a:endParaRPr sz="1200">
              <a:solidFill>
                <a:srgbClr val="888888"/>
              </a:solidFill>
              <a:latin typeface="Calibri"/>
              <a:ea typeface="Calibri"/>
              <a:cs typeface="Calibri"/>
              <a:sym typeface="Calibri"/>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sp>
        <p:nvSpPr>
          <p:cNvPr id="758" name="Google Shape;758;p66"/>
          <p:cNvSpPr txBox="1"/>
          <p:nvPr>
            <p:ph idx="1" type="body"/>
          </p:nvPr>
        </p:nvSpPr>
        <p:spPr>
          <a:xfrm>
            <a:off x="1991544" y="571501"/>
            <a:ext cx="7986464" cy="141734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C00000"/>
              </a:buClr>
              <a:buSzPts val="2856"/>
              <a:buNone/>
            </a:pPr>
            <a:r>
              <a:rPr b="1" lang="en-US">
                <a:solidFill>
                  <a:srgbClr val="269999"/>
                </a:solidFill>
                <a:latin typeface="Comic Sans MS"/>
                <a:ea typeface="Comic Sans MS"/>
                <a:cs typeface="Comic Sans MS"/>
                <a:sym typeface="Comic Sans MS"/>
              </a:rPr>
              <a:t>Таким образом, после уточнения, диаграмма будет выглядеть следующим образом:</a:t>
            </a:r>
            <a:endParaRPr/>
          </a:p>
        </p:txBody>
      </p:sp>
      <p:sp>
        <p:nvSpPr>
          <p:cNvPr id="759" name="Google Shape;759;p66"/>
          <p:cNvSpPr txBox="1"/>
          <p:nvPr>
            <p:ph idx="4294967295" type="sldNum"/>
          </p:nvPr>
        </p:nvSpPr>
        <p:spPr>
          <a:xfrm>
            <a:off x="9906000" y="6356351"/>
            <a:ext cx="7620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sz="1200">
                <a:solidFill>
                  <a:srgbClr val="045C75"/>
                </a:solidFill>
                <a:latin typeface="Constantia"/>
                <a:ea typeface="Constantia"/>
                <a:cs typeface="Constantia"/>
                <a:sym typeface="Constantia"/>
              </a:rPr>
              <a:t>‹#›</a:t>
            </a:fld>
            <a:endParaRPr sz="1200">
              <a:solidFill>
                <a:srgbClr val="045C75"/>
              </a:solidFill>
              <a:latin typeface="Constantia"/>
              <a:ea typeface="Constantia"/>
              <a:cs typeface="Constantia"/>
              <a:sym typeface="Constantia"/>
            </a:endParaRPr>
          </a:p>
        </p:txBody>
      </p:sp>
      <p:sp>
        <p:nvSpPr>
          <p:cNvPr id="760" name="Google Shape;760;p66"/>
          <p:cNvSpPr txBox="1"/>
          <p:nvPr/>
        </p:nvSpPr>
        <p:spPr>
          <a:xfrm>
            <a:off x="1654696" y="7938"/>
            <a:ext cx="8229600" cy="563562"/>
          </a:xfrm>
          <a:prstGeom prst="rect">
            <a:avLst/>
          </a:prstGeom>
          <a:noFill/>
          <a:ln>
            <a:noFill/>
          </a:ln>
        </p:spPr>
        <p:txBody>
          <a:bodyPr anchorCtr="0" anchor="t" bIns="45700" lIns="91425" spcFirstLastPara="1" rIns="91425" wrap="square" tIns="45700">
            <a:noAutofit/>
          </a:bodyPr>
          <a:lstStyle/>
          <a:p>
            <a:pPr indent="0" lvl="0" marL="0" marR="0" rtl="0" algn="ctr">
              <a:lnSpc>
                <a:spcPct val="80000"/>
              </a:lnSpc>
              <a:spcBef>
                <a:spcPts val="0"/>
              </a:spcBef>
              <a:spcAft>
                <a:spcPts val="0"/>
              </a:spcAft>
              <a:buNone/>
            </a:pPr>
            <a:r>
              <a:rPr b="1" lang="en-US" sz="3200">
                <a:solidFill>
                  <a:srgbClr val="FF0000"/>
                </a:solidFill>
                <a:latin typeface="Comic Sans MS"/>
                <a:ea typeface="Comic Sans MS"/>
                <a:cs typeface="Comic Sans MS"/>
                <a:sym typeface="Comic Sans MS"/>
              </a:rPr>
              <a:t>Пример разработки ER-модели</a:t>
            </a:r>
            <a:br>
              <a:rPr b="1" lang="en-US" sz="3200">
                <a:solidFill>
                  <a:srgbClr val="FF0000"/>
                </a:solidFill>
                <a:latin typeface="Comic Sans MS"/>
                <a:ea typeface="Comic Sans MS"/>
                <a:cs typeface="Comic Sans MS"/>
                <a:sym typeface="Comic Sans MS"/>
              </a:rPr>
            </a:br>
            <a:endParaRPr b="1" sz="3200">
              <a:solidFill>
                <a:srgbClr val="FF0000"/>
              </a:solidFill>
              <a:latin typeface="Comic Sans MS"/>
              <a:ea typeface="Comic Sans MS"/>
              <a:cs typeface="Comic Sans MS"/>
              <a:sym typeface="Comic Sans MS"/>
            </a:endParaRPr>
          </a:p>
        </p:txBody>
      </p:sp>
      <p:pic>
        <p:nvPicPr>
          <p:cNvPr id="761" name="Google Shape;761;p66"/>
          <p:cNvPicPr preferRelativeResize="0"/>
          <p:nvPr/>
        </p:nvPicPr>
        <p:blipFill rotWithShape="1">
          <a:blip r:embed="rId3">
            <a:alphaModFix/>
          </a:blip>
          <a:srcRect b="0" l="0" r="0" t="0"/>
          <a:stretch/>
        </p:blipFill>
        <p:spPr>
          <a:xfrm>
            <a:off x="3584476" y="2222386"/>
            <a:ext cx="4800600" cy="389572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5" name="Shape 765"/>
        <p:cNvGrpSpPr/>
        <p:nvPr/>
      </p:nvGrpSpPr>
      <p:grpSpPr>
        <a:xfrm>
          <a:off x="0" y="0"/>
          <a:ext cx="0" cy="0"/>
          <a:chOff x="0" y="0"/>
          <a:chExt cx="0" cy="0"/>
        </a:xfrm>
      </p:grpSpPr>
      <p:sp>
        <p:nvSpPr>
          <p:cNvPr id="766" name="Google Shape;766;p6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omic Sans MS"/>
              <a:buNone/>
            </a:pPr>
            <a:r>
              <a:rPr b="1" lang="en-US" sz="4200">
                <a:latin typeface="Comic Sans MS"/>
                <a:ea typeface="Comic Sans MS"/>
                <a:cs typeface="Comic Sans MS"/>
                <a:sym typeface="Comic Sans MS"/>
              </a:rPr>
              <a:t>Пример разработки ER-модели</a:t>
            </a:r>
            <a:br>
              <a:rPr b="1" lang="en-US" sz="4200">
                <a:latin typeface="Comic Sans MS"/>
                <a:ea typeface="Comic Sans MS"/>
                <a:cs typeface="Comic Sans MS"/>
                <a:sym typeface="Comic Sans MS"/>
              </a:rPr>
            </a:br>
            <a:endParaRPr b="1" sz="4200">
              <a:latin typeface="Comic Sans MS"/>
              <a:ea typeface="Comic Sans MS"/>
              <a:cs typeface="Comic Sans MS"/>
              <a:sym typeface="Comic Sans MS"/>
            </a:endParaRPr>
          </a:p>
        </p:txBody>
      </p:sp>
      <p:sp>
        <p:nvSpPr>
          <p:cNvPr id="767" name="Google Shape;767;p67"/>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EFEFE"/>
              </a:buClr>
              <a:buSzPts val="2540"/>
              <a:buNone/>
            </a:pPr>
            <a:r>
              <a:rPr lang="en-US" sz="2000">
                <a:latin typeface="Comic Sans MS"/>
                <a:ea typeface="Comic Sans MS"/>
                <a:cs typeface="Comic Sans MS"/>
                <a:sym typeface="Comic Sans MS"/>
              </a:rPr>
              <a:t>Перейдем к атрибутам сущностей. Беседуя с сотрудниками фирмы, мы выяснили следующее: </a:t>
            </a:r>
            <a:endParaRPr/>
          </a:p>
          <a:p>
            <a:pPr indent="0" lvl="0" marL="0" rtl="0" algn="l">
              <a:lnSpc>
                <a:spcPct val="90000"/>
              </a:lnSpc>
              <a:spcBef>
                <a:spcPts val="1000"/>
              </a:spcBef>
              <a:spcAft>
                <a:spcPts val="0"/>
              </a:spcAft>
              <a:buClr>
                <a:srgbClr val="FEFEFE"/>
              </a:buClr>
              <a:buSzPts val="2540"/>
              <a:buNone/>
            </a:pPr>
            <a:r>
              <a:rPr lang="en-US" sz="2000">
                <a:latin typeface="Comic Sans MS"/>
                <a:ea typeface="Comic Sans MS"/>
                <a:cs typeface="Comic Sans MS"/>
                <a:sym typeface="Comic Sans MS"/>
              </a:rPr>
              <a:t>Каждый покупатель является юридическим лицом и имеет наименование, адрес, банковские реквизиты. </a:t>
            </a:r>
            <a:endParaRPr/>
          </a:p>
          <a:p>
            <a:pPr indent="0" lvl="0" marL="0" rtl="0" algn="l">
              <a:lnSpc>
                <a:spcPct val="90000"/>
              </a:lnSpc>
              <a:spcBef>
                <a:spcPts val="1000"/>
              </a:spcBef>
              <a:spcAft>
                <a:spcPts val="0"/>
              </a:spcAft>
              <a:buClr>
                <a:srgbClr val="FEFEFE"/>
              </a:buClr>
              <a:buSzPts val="2540"/>
              <a:buNone/>
            </a:pPr>
            <a:r>
              <a:rPr lang="en-US" sz="2000">
                <a:latin typeface="Comic Sans MS"/>
                <a:ea typeface="Comic Sans MS"/>
                <a:cs typeface="Comic Sans MS"/>
                <a:sym typeface="Comic Sans MS"/>
              </a:rPr>
              <a:t>Каждый товар имеет наименование, цену, а также характеризуется единицами измерения. </a:t>
            </a:r>
            <a:endParaRPr/>
          </a:p>
          <a:p>
            <a:pPr indent="0" lvl="0" marL="0" rtl="0" algn="l">
              <a:lnSpc>
                <a:spcPct val="90000"/>
              </a:lnSpc>
              <a:spcBef>
                <a:spcPts val="1000"/>
              </a:spcBef>
              <a:spcAft>
                <a:spcPts val="0"/>
              </a:spcAft>
              <a:buClr>
                <a:srgbClr val="FEFEFE"/>
              </a:buClr>
              <a:buSzPts val="2540"/>
              <a:buNone/>
            </a:pPr>
            <a:r>
              <a:rPr lang="en-US" sz="2000">
                <a:latin typeface="Comic Sans MS"/>
                <a:ea typeface="Comic Sans MS"/>
                <a:cs typeface="Comic Sans MS"/>
                <a:sym typeface="Comic Sans MS"/>
              </a:rPr>
              <a:t>Каждая накладная имеет уникальный номер, дату выписки, список товаров с количествами и ценами, а также общую сумму накладной. Накладная выписывается с определенного склада и на определенного покупателя.</a:t>
            </a:r>
            <a:endParaRPr/>
          </a:p>
          <a:p>
            <a:pPr indent="0" lvl="0" marL="0" rtl="0" algn="l">
              <a:lnSpc>
                <a:spcPct val="90000"/>
              </a:lnSpc>
              <a:spcBef>
                <a:spcPts val="1000"/>
              </a:spcBef>
              <a:spcAft>
                <a:spcPts val="0"/>
              </a:spcAft>
              <a:buClr>
                <a:srgbClr val="FEFEFE"/>
              </a:buClr>
              <a:buSzPts val="2540"/>
              <a:buNone/>
            </a:pPr>
            <a:r>
              <a:rPr lang="en-US" sz="2000">
                <a:latin typeface="Comic Sans MS"/>
                <a:ea typeface="Comic Sans MS"/>
                <a:cs typeface="Comic Sans MS"/>
                <a:sym typeface="Comic Sans MS"/>
              </a:rPr>
              <a:t>Каждый склад имеет свое наименование. </a:t>
            </a:r>
            <a:endParaRPr/>
          </a:p>
          <a:p>
            <a:pPr indent="0" lvl="0" marL="0" rtl="0" algn="l">
              <a:lnSpc>
                <a:spcPct val="90000"/>
              </a:lnSpc>
              <a:spcBef>
                <a:spcPts val="1000"/>
              </a:spcBef>
              <a:spcAft>
                <a:spcPts val="0"/>
              </a:spcAft>
              <a:buClr>
                <a:srgbClr val="FEFEFE"/>
              </a:buClr>
              <a:buSzPts val="2540"/>
              <a:buNone/>
            </a:pPr>
            <a:r>
              <a:rPr lang="en-US" sz="2000">
                <a:latin typeface="Comic Sans MS"/>
                <a:ea typeface="Comic Sans MS"/>
                <a:cs typeface="Comic Sans MS"/>
                <a:sym typeface="Comic Sans MS"/>
              </a:rPr>
              <a:t> </a:t>
            </a:r>
            <a:endParaRPr/>
          </a:p>
        </p:txBody>
      </p:sp>
      <p:sp>
        <p:nvSpPr>
          <p:cNvPr id="768" name="Google Shape;768;p67"/>
          <p:cNvSpPr txBox="1"/>
          <p:nvPr>
            <p:ph idx="4294967295"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chemeClr val="dk1"/>
                </a:solidFill>
                <a:latin typeface="Constantia"/>
                <a:ea typeface="Constantia"/>
                <a:cs typeface="Constantia"/>
                <a:sym typeface="Constantia"/>
              </a:rPr>
              <a:t>‹#›</a:t>
            </a:fld>
            <a:endParaRPr sz="1200">
              <a:solidFill>
                <a:schemeClr val="dk1"/>
              </a:solidFill>
              <a:latin typeface="Constantia"/>
              <a:ea typeface="Constantia"/>
              <a:cs typeface="Constantia"/>
              <a:sym typeface="Constantia"/>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6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omic Sans MS"/>
              <a:buNone/>
            </a:pPr>
            <a:r>
              <a:rPr b="1" lang="en-US" sz="4200">
                <a:latin typeface="Comic Sans MS"/>
                <a:ea typeface="Comic Sans MS"/>
                <a:cs typeface="Comic Sans MS"/>
                <a:sym typeface="Comic Sans MS"/>
              </a:rPr>
              <a:t>Пример разработки ER-модели</a:t>
            </a:r>
            <a:br>
              <a:rPr b="1" lang="en-US" sz="4200">
                <a:latin typeface="Comic Sans MS"/>
                <a:ea typeface="Comic Sans MS"/>
                <a:cs typeface="Comic Sans MS"/>
                <a:sym typeface="Comic Sans MS"/>
              </a:rPr>
            </a:br>
            <a:endParaRPr b="1" sz="4200">
              <a:latin typeface="Comic Sans MS"/>
              <a:ea typeface="Comic Sans MS"/>
              <a:cs typeface="Comic Sans MS"/>
              <a:sym typeface="Comic Sans MS"/>
            </a:endParaRPr>
          </a:p>
        </p:txBody>
      </p:sp>
      <p:sp>
        <p:nvSpPr>
          <p:cNvPr id="774" name="Google Shape;774;p68"/>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FEFEFE"/>
              </a:buClr>
              <a:buSzPts val="2794"/>
              <a:buNone/>
            </a:pPr>
            <a:r>
              <a:rPr lang="en-US" sz="2200">
                <a:latin typeface="Comic Sans MS"/>
                <a:ea typeface="Comic Sans MS"/>
                <a:cs typeface="Comic Sans MS"/>
                <a:sym typeface="Comic Sans MS"/>
              </a:rPr>
              <a:t>Снова выпишем все существительные, которые будут потенциальными атрибутами, и проанализируем их: </a:t>
            </a:r>
            <a:endParaRPr/>
          </a:p>
          <a:p>
            <a:pPr indent="0" lvl="0" marL="0" rtl="0" algn="l">
              <a:lnSpc>
                <a:spcPct val="90000"/>
              </a:lnSpc>
              <a:spcBef>
                <a:spcPts val="1000"/>
              </a:spcBef>
              <a:spcAft>
                <a:spcPts val="0"/>
              </a:spcAft>
              <a:buClr>
                <a:srgbClr val="FEFEFE"/>
              </a:buClr>
              <a:buSzPts val="2794"/>
              <a:buNone/>
            </a:pPr>
            <a:r>
              <a:rPr lang="en-US" sz="2200">
                <a:latin typeface="Comic Sans MS"/>
                <a:ea typeface="Comic Sans MS"/>
                <a:cs typeface="Comic Sans MS"/>
                <a:sym typeface="Comic Sans MS"/>
              </a:rPr>
              <a:t>	Юридическое лицо - термин риторический, фирма не работает с физическими лицами. Не обращаем внимания.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Наименование покупателя - явная характеристика покупателя.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Адрес - явная характеристика покупателя.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Банковские реквизиты - явная характеристика покупателя.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Наименование товара - явная характеристика товара. </a:t>
            </a:r>
            <a:endParaRPr/>
          </a:p>
        </p:txBody>
      </p:sp>
      <p:sp>
        <p:nvSpPr>
          <p:cNvPr id="775" name="Google Shape;775;p68"/>
          <p:cNvSpPr txBox="1"/>
          <p:nvPr>
            <p:ph idx="4294967295"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chemeClr val="dk1"/>
                </a:solidFill>
                <a:latin typeface="Constantia"/>
                <a:ea typeface="Constantia"/>
                <a:cs typeface="Constantia"/>
                <a:sym typeface="Constantia"/>
              </a:rPr>
              <a:t>‹#›</a:t>
            </a:fld>
            <a:endParaRPr sz="1200">
              <a:solidFill>
                <a:schemeClr val="dk1"/>
              </a:solidFill>
              <a:latin typeface="Constantia"/>
              <a:ea typeface="Constantia"/>
              <a:cs typeface="Constantia"/>
              <a:sym typeface="Constantia"/>
            </a:endParaRPr>
          </a:p>
        </p:txBody>
      </p:sp>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p6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omic Sans MS"/>
              <a:buNone/>
            </a:pPr>
            <a:r>
              <a:rPr b="1" lang="en-US" sz="4200">
                <a:latin typeface="Comic Sans MS"/>
                <a:ea typeface="Comic Sans MS"/>
                <a:cs typeface="Comic Sans MS"/>
                <a:sym typeface="Comic Sans MS"/>
              </a:rPr>
              <a:t>Пример разработки ER-модели</a:t>
            </a:r>
            <a:br>
              <a:rPr b="1" lang="en-US" sz="4200">
                <a:latin typeface="Comic Sans MS"/>
                <a:ea typeface="Comic Sans MS"/>
                <a:cs typeface="Comic Sans MS"/>
                <a:sym typeface="Comic Sans MS"/>
              </a:rPr>
            </a:br>
            <a:endParaRPr b="1" sz="4200">
              <a:latin typeface="Comic Sans MS"/>
              <a:ea typeface="Comic Sans MS"/>
              <a:cs typeface="Comic Sans MS"/>
              <a:sym typeface="Comic Sans MS"/>
            </a:endParaRPr>
          </a:p>
        </p:txBody>
      </p:sp>
      <p:sp>
        <p:nvSpPr>
          <p:cNvPr id="781" name="Google Shape;781;p69"/>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(?)Цена товара - похоже, что это характеристика товара. Отличается ли эта характеристика от цены в накладной?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Единица измерения - явная характеристика товара.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Номер накладной - явная уникальная характеристика накладной.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Дата накладной - явная характеристика накладной.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(?)Список товаров в накладной - список не может быть атрибутом. Вероятно, нужно выделить этот список в отдельную сущность. </a:t>
            </a:r>
            <a:endParaRPr/>
          </a:p>
        </p:txBody>
      </p:sp>
      <p:sp>
        <p:nvSpPr>
          <p:cNvPr id="782" name="Google Shape;782;p69"/>
          <p:cNvSpPr txBox="1"/>
          <p:nvPr>
            <p:ph idx="4294967295"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chemeClr val="dk1"/>
                </a:solidFill>
                <a:latin typeface="Constantia"/>
                <a:ea typeface="Constantia"/>
                <a:cs typeface="Constantia"/>
                <a:sym typeface="Constantia"/>
              </a:rPr>
              <a:t>‹#›</a:t>
            </a:fld>
            <a:endParaRPr sz="1200">
              <a:solidFill>
                <a:schemeClr val="dk1"/>
              </a:solidFill>
              <a:latin typeface="Constantia"/>
              <a:ea typeface="Constantia"/>
              <a:cs typeface="Constantia"/>
              <a:sym typeface="Constantia"/>
            </a:endParaRPr>
          </a:p>
        </p:txBody>
      </p:sp>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6" name="Shape 786"/>
        <p:cNvGrpSpPr/>
        <p:nvPr/>
      </p:nvGrpSpPr>
      <p:grpSpPr>
        <a:xfrm>
          <a:off x="0" y="0"/>
          <a:ext cx="0" cy="0"/>
          <a:chOff x="0" y="0"/>
          <a:chExt cx="0" cy="0"/>
        </a:xfrm>
      </p:grpSpPr>
      <p:sp>
        <p:nvSpPr>
          <p:cNvPr id="787" name="Google Shape;787;p7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200"/>
              <a:buFont typeface="Comic Sans MS"/>
              <a:buNone/>
            </a:pPr>
            <a:r>
              <a:rPr b="1" lang="en-US" sz="4200">
                <a:latin typeface="Comic Sans MS"/>
                <a:ea typeface="Comic Sans MS"/>
                <a:cs typeface="Comic Sans MS"/>
                <a:sym typeface="Comic Sans MS"/>
              </a:rPr>
              <a:t>Пример разработки ER-модели</a:t>
            </a:r>
            <a:br>
              <a:rPr b="1" lang="en-US" sz="4200">
                <a:latin typeface="Comic Sans MS"/>
                <a:ea typeface="Comic Sans MS"/>
                <a:cs typeface="Comic Sans MS"/>
                <a:sym typeface="Comic Sans MS"/>
              </a:rPr>
            </a:br>
            <a:endParaRPr b="1" sz="4200">
              <a:latin typeface="Comic Sans MS"/>
              <a:ea typeface="Comic Sans MS"/>
              <a:cs typeface="Comic Sans MS"/>
              <a:sym typeface="Comic Sans MS"/>
            </a:endParaRPr>
          </a:p>
        </p:txBody>
      </p:sp>
      <p:sp>
        <p:nvSpPr>
          <p:cNvPr id="788" name="Google Shape;788;p70"/>
          <p:cNvSpPr txBox="1"/>
          <p:nvPr>
            <p:ph idx="1" type="body"/>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(?)Количество товара в накладной - это явная характеристика, но характеристика чего? Это характеристика не просто "товара", а "товара в накладной".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(?)Цена товара в накладной - опять же это должна быть не просто характеристика товара, а характеристика товара в накладной. Но цена товара уже встречалась выше - это одно и то же?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Сумма накладной - явная характеристика накладной. Эта характеристика не является независимой. Сумма накладной равна сумме стоимостей всех товаров, входящих в накладную. </a:t>
            </a:r>
            <a:endParaRPr/>
          </a:p>
          <a:p>
            <a:pPr indent="-228600" lvl="0" marL="228600" rtl="0" algn="l">
              <a:lnSpc>
                <a:spcPct val="90000"/>
              </a:lnSpc>
              <a:spcBef>
                <a:spcPts val="1000"/>
              </a:spcBef>
              <a:spcAft>
                <a:spcPts val="0"/>
              </a:spcAft>
              <a:buClr>
                <a:srgbClr val="FEFEFE"/>
              </a:buClr>
              <a:buSzPts val="2794"/>
              <a:buFont typeface="Noto Sans Symbols"/>
              <a:buChar char="✔"/>
            </a:pPr>
            <a:r>
              <a:rPr lang="en-US" sz="2200">
                <a:latin typeface="Comic Sans MS"/>
                <a:ea typeface="Comic Sans MS"/>
                <a:cs typeface="Comic Sans MS"/>
                <a:sym typeface="Comic Sans MS"/>
              </a:rPr>
              <a:t>Наименование склада - явная характеристика склада.</a:t>
            </a:r>
            <a:endParaRPr/>
          </a:p>
        </p:txBody>
      </p:sp>
      <p:sp>
        <p:nvSpPr>
          <p:cNvPr id="789" name="Google Shape;789;p70"/>
          <p:cNvSpPr txBox="1"/>
          <p:nvPr>
            <p:ph idx="4294967295" type="sldNum"/>
          </p:nvPr>
        </p:nvSpPr>
        <p:spPr>
          <a:xfrm>
            <a:off x="8610600" y="6356350"/>
            <a:ext cx="2743200" cy="365125"/>
          </a:xfrm>
          <a:prstGeom prst="rect">
            <a:avLst/>
          </a:prstGeom>
          <a:noFill/>
          <a:ln>
            <a:noFill/>
          </a:ln>
        </p:spPr>
        <p:txBody>
          <a:bodyPr anchorCtr="0" anchor="ctr" bIns="45700" lIns="91425" spcFirstLastPara="1" rIns="91425" wrap="square" tIns="45700">
            <a:normAutofit/>
          </a:bodyPr>
          <a:lstStyle/>
          <a:p>
            <a:pPr indent="0" lvl="0" marL="0" marR="0" rtl="0" algn="r">
              <a:spcBef>
                <a:spcPts val="0"/>
              </a:spcBef>
              <a:spcAft>
                <a:spcPts val="0"/>
              </a:spcAft>
              <a:buNone/>
            </a:pPr>
            <a:fld id="{00000000-1234-1234-1234-123412341234}" type="slidenum">
              <a:rPr lang="en-US" sz="1200">
                <a:solidFill>
                  <a:schemeClr val="dk1"/>
                </a:solidFill>
                <a:latin typeface="Constantia"/>
                <a:ea typeface="Constantia"/>
                <a:cs typeface="Constantia"/>
                <a:sym typeface="Constantia"/>
              </a:rPr>
              <a:t>‹#›</a:t>
            </a:fld>
            <a:endParaRPr sz="1200">
              <a:solidFill>
                <a:schemeClr val="dk1"/>
              </a:solidFill>
              <a:latin typeface="Constantia"/>
              <a:ea typeface="Constantia"/>
              <a:cs typeface="Constantia"/>
              <a:sym typeface="Constantia"/>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71"/>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4200">
                <a:solidFill>
                  <a:schemeClr val="dk1"/>
                </a:solidFill>
                <a:latin typeface="Calibri"/>
                <a:ea typeface="Calibri"/>
                <a:cs typeface="Calibri"/>
                <a:sym typeface="Calibri"/>
              </a:rPr>
              <a:t>Пример разработки ER-модели</a:t>
            </a:r>
            <a:br>
              <a:rPr b="1" lang="en-US" sz="4200">
                <a:solidFill>
                  <a:schemeClr val="dk1"/>
                </a:solidFill>
                <a:latin typeface="Calibri"/>
                <a:ea typeface="Calibri"/>
                <a:cs typeface="Calibri"/>
                <a:sym typeface="Calibri"/>
              </a:rPr>
            </a:br>
            <a:endParaRPr b="1" sz="4200">
              <a:solidFill>
                <a:schemeClr val="dk1"/>
              </a:solidFill>
              <a:latin typeface="Calibri"/>
              <a:ea typeface="Calibri"/>
              <a:cs typeface="Calibri"/>
              <a:sym typeface="Calibri"/>
            </a:endParaRPr>
          </a:p>
        </p:txBody>
      </p:sp>
      <p:sp>
        <p:nvSpPr>
          <p:cNvPr id="795" name="Google Shape;795;p71"/>
          <p:cNvSpPr/>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228600" lvl="0" marL="457200" marR="0" rtl="0" algn="l">
              <a:lnSpc>
                <a:spcPct val="90000"/>
              </a:lnSpc>
              <a:spcBef>
                <a:spcPts val="0"/>
              </a:spcBef>
              <a:spcAft>
                <a:spcPts val="0"/>
              </a:spcAft>
              <a:buClr>
                <a:srgbClr val="C00000"/>
              </a:buClr>
              <a:buSzPts val="2200"/>
              <a:buFont typeface="Arial"/>
              <a:buChar char="•"/>
            </a:pPr>
            <a:r>
              <a:rPr lang="en-US" sz="2200">
                <a:solidFill>
                  <a:schemeClr val="dk1"/>
                </a:solidFill>
                <a:latin typeface="Calibri"/>
                <a:ea typeface="Calibri"/>
                <a:cs typeface="Calibri"/>
                <a:sym typeface="Calibri"/>
              </a:rPr>
              <a:t>В ходе дополнительной беседы с менеджером удалось прояснить различные понятия цен. Оказалось, что каждый товар имеет некоторую текущую цену. Эта цена, по которой товар продается в данный момент. Естественно, что эта цена может меняться со временем. Цена одного и того же товара в разных накладных, выписанных в разное время, может быть различной. Таким образом, имеется две цены - цена товара в накладной и текущая цена товара. </a:t>
            </a:r>
            <a:endParaRPr sz="2200">
              <a:solidFill>
                <a:schemeClr val="dk1"/>
              </a:solidFill>
              <a:latin typeface="Calibri"/>
              <a:ea typeface="Calibri"/>
              <a:cs typeface="Calibri"/>
              <a:sym typeface="Calibri"/>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9" name="Shape 799"/>
        <p:cNvGrpSpPr/>
        <p:nvPr/>
      </p:nvGrpSpPr>
      <p:grpSpPr>
        <a:xfrm>
          <a:off x="0" y="0"/>
          <a:ext cx="0" cy="0"/>
          <a:chOff x="0" y="0"/>
          <a:chExt cx="0" cy="0"/>
        </a:xfrm>
      </p:grpSpPr>
      <p:sp>
        <p:nvSpPr>
          <p:cNvPr id="800" name="Google Shape;800;p72"/>
          <p:cNvSpPr txBox="1"/>
          <p:nvPr/>
        </p:nvSpPr>
        <p:spPr>
          <a:xfrm>
            <a:off x="630936" y="640080"/>
            <a:ext cx="4818888" cy="1481328"/>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None/>
            </a:pPr>
            <a:r>
              <a:rPr b="1" lang="en-US" sz="3000">
                <a:solidFill>
                  <a:schemeClr val="dk1"/>
                </a:solidFill>
                <a:latin typeface="Calibri"/>
                <a:ea typeface="Calibri"/>
                <a:cs typeface="Calibri"/>
                <a:sym typeface="Calibri"/>
              </a:rPr>
              <a:t>Пример разработки ER-модели</a:t>
            </a:r>
            <a:br>
              <a:rPr b="1" lang="en-US" sz="3000">
                <a:solidFill>
                  <a:schemeClr val="dk1"/>
                </a:solidFill>
                <a:latin typeface="Calibri"/>
                <a:ea typeface="Calibri"/>
                <a:cs typeface="Calibri"/>
                <a:sym typeface="Calibri"/>
              </a:rPr>
            </a:br>
            <a:endParaRPr b="1" sz="3000">
              <a:solidFill>
                <a:schemeClr val="dk1"/>
              </a:solidFill>
              <a:latin typeface="Calibri"/>
              <a:ea typeface="Calibri"/>
              <a:cs typeface="Calibri"/>
              <a:sym typeface="Calibri"/>
            </a:endParaRPr>
          </a:p>
        </p:txBody>
      </p:sp>
      <p:sp>
        <p:nvSpPr>
          <p:cNvPr id="801" name="Google Shape;801;p72"/>
          <p:cNvSpPr/>
          <p:nvPr/>
        </p:nvSpPr>
        <p:spPr>
          <a:xfrm>
            <a:off x="630936" y="2660904"/>
            <a:ext cx="4818888" cy="3547872"/>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C00000"/>
              </a:buClr>
              <a:buSzPts val="2200"/>
              <a:buFont typeface="Arial"/>
              <a:buChar char="•"/>
            </a:pPr>
            <a:r>
              <a:rPr lang="en-US" sz="2200">
                <a:solidFill>
                  <a:schemeClr val="dk1"/>
                </a:solidFill>
                <a:latin typeface="Calibri"/>
                <a:ea typeface="Calibri"/>
                <a:cs typeface="Calibri"/>
                <a:sym typeface="Calibri"/>
              </a:rPr>
              <a:t>Результаты анализа предметной области отразим на концептуальной модели: </a:t>
            </a:r>
            <a:endParaRPr/>
          </a:p>
        </p:txBody>
      </p:sp>
      <p:pic>
        <p:nvPicPr>
          <p:cNvPr id="802" name="Google Shape;802;p72"/>
          <p:cNvPicPr preferRelativeResize="0"/>
          <p:nvPr/>
        </p:nvPicPr>
        <p:blipFill rotWithShape="1">
          <a:blip r:embed="rId3">
            <a:alphaModFix/>
          </a:blip>
          <a:srcRect b="0" l="0" r="0" t="0"/>
          <a:stretch/>
        </p:blipFill>
        <p:spPr>
          <a:xfrm>
            <a:off x="6099048" y="1040702"/>
            <a:ext cx="5458968" cy="4776596"/>
          </a:xfrm>
          <a:prstGeom prst="rect">
            <a:avLst/>
          </a:prstGeom>
          <a:noFill/>
          <a:ln>
            <a:noFill/>
          </a:ln>
        </p:spPr>
      </p:pic>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6" name="Shape 806"/>
        <p:cNvGrpSpPr/>
        <p:nvPr/>
      </p:nvGrpSpPr>
      <p:grpSpPr>
        <a:xfrm>
          <a:off x="0" y="0"/>
          <a:ext cx="0" cy="0"/>
          <a:chOff x="0" y="0"/>
          <a:chExt cx="0" cy="0"/>
        </a:xfrm>
      </p:grpSpPr>
      <p:sp>
        <p:nvSpPr>
          <p:cNvPr id="807" name="Google Shape;807;p73"/>
          <p:cNvSpPr txBox="1"/>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None/>
            </a:pPr>
            <a:r>
              <a:rPr b="1" lang="en-US" sz="4200">
                <a:solidFill>
                  <a:schemeClr val="dk1"/>
                </a:solidFill>
                <a:latin typeface="Calibri"/>
                <a:ea typeface="Calibri"/>
                <a:cs typeface="Calibri"/>
                <a:sym typeface="Calibri"/>
              </a:rPr>
              <a:t>Пример разработки ER-модели</a:t>
            </a:r>
            <a:br>
              <a:rPr b="1" lang="en-US" sz="4200">
                <a:solidFill>
                  <a:schemeClr val="dk1"/>
                </a:solidFill>
                <a:latin typeface="Calibri"/>
                <a:ea typeface="Calibri"/>
                <a:cs typeface="Calibri"/>
                <a:sym typeface="Calibri"/>
              </a:rPr>
            </a:br>
            <a:endParaRPr b="1" sz="4200">
              <a:solidFill>
                <a:schemeClr val="dk1"/>
              </a:solidFill>
              <a:latin typeface="Calibri"/>
              <a:ea typeface="Calibri"/>
              <a:cs typeface="Calibri"/>
              <a:sym typeface="Calibri"/>
            </a:endParaRPr>
          </a:p>
        </p:txBody>
      </p:sp>
      <p:sp>
        <p:nvSpPr>
          <p:cNvPr id="808" name="Google Shape;808;p73"/>
          <p:cNvSpPr/>
          <p:nvPr/>
        </p:nvSpPr>
        <p:spPr>
          <a:xfrm>
            <a:off x="838200" y="1929384"/>
            <a:ext cx="10515600" cy="425196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C00000"/>
              </a:buClr>
              <a:buSzPts val="2200"/>
              <a:buFont typeface="Arial"/>
              <a:buChar char="•"/>
            </a:pPr>
            <a:r>
              <a:rPr lang="en-US" sz="2200">
                <a:solidFill>
                  <a:schemeClr val="dk1"/>
                </a:solidFill>
                <a:latin typeface="Calibri"/>
                <a:ea typeface="Calibri"/>
                <a:cs typeface="Calibri"/>
                <a:sym typeface="Calibri"/>
              </a:rPr>
              <a:t>Концептуальная модель не учитывает особенности конкретной СУБД. На ее основе строятся логическая и физическая модели данных. В физической модели должны учитываться такие особенности СУБД, как допустимые типы и наименования полей и таблиц, ограничения целостности и т.п. </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2" name="Shape 812"/>
        <p:cNvGrpSpPr/>
        <p:nvPr/>
      </p:nvGrpSpPr>
      <p:grpSpPr>
        <a:xfrm>
          <a:off x="0" y="0"/>
          <a:ext cx="0" cy="0"/>
          <a:chOff x="0" y="0"/>
          <a:chExt cx="0" cy="0"/>
        </a:xfrm>
      </p:grpSpPr>
      <p:sp>
        <p:nvSpPr>
          <p:cNvPr id="813" name="Google Shape;813;p7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ВНИМАНИЕ!</a:t>
            </a:r>
            <a:endParaRPr/>
          </a:p>
        </p:txBody>
      </p:sp>
      <p:sp>
        <p:nvSpPr>
          <p:cNvPr id="814" name="Google Shape;814;p7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212121"/>
              </a:buClr>
              <a:buSzPts val="2000"/>
              <a:buNone/>
            </a:pPr>
            <a:r>
              <a:rPr b="0" i="0" lang="en-US" sz="2000">
                <a:solidFill>
                  <a:srgbClr val="212121"/>
                </a:solidFill>
                <a:latin typeface="Lato"/>
                <a:ea typeface="Lato"/>
                <a:cs typeface="Lato"/>
                <a:sym typeface="Lato"/>
              </a:rPr>
              <a:t>При определении используемых в некотором представлении сущностей, связей и атрибутов очень часто оказывается, что на предыдущих этапах одна или несколько сущностей, связей и атрибутов были пропущены. В этом случае следует вернуться к уже выполненным этапам и документально оформить вновь обнаруженные сущности, связи и атрибуты, после чего еще раз проанализировать связи, в которых они принимают участие.</a:t>
            </a:r>
            <a:endParaRPr sz="2000"/>
          </a:p>
        </p:txBody>
      </p:sp>
    </p:spTree>
  </p:cSld>
  <p:clrMapOvr>
    <a:masterClrMapping/>
  </p:clrMapOvr>
</p:sld>
</file>

<file path=ppt/slides/slide7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9" name="Shape 819"/>
        <p:cNvGrpSpPr/>
        <p:nvPr/>
      </p:nvGrpSpPr>
      <p:grpSpPr>
        <a:xfrm>
          <a:off x="0" y="0"/>
          <a:ext cx="0" cy="0"/>
          <a:chOff x="0" y="0"/>
          <a:chExt cx="0" cy="0"/>
        </a:xfrm>
      </p:grpSpPr>
      <p:sp>
        <p:nvSpPr>
          <p:cNvPr id="820" name="Google Shape;820;p75"/>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1" name="Google Shape;821;p75"/>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2" name="Google Shape;822;p75"/>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3" name="Google Shape;823;p75"/>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4" name="Google Shape;824;p75"/>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25" name="Google Shape;825;p75"/>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Calibri"/>
              <a:buNone/>
            </a:pPr>
            <a:r>
              <a:rPr lang="en-US" sz="3700">
                <a:solidFill>
                  <a:srgbClr val="FFFFFF"/>
                </a:solidFill>
              </a:rPr>
              <a:t>Упражнение 1</a:t>
            </a:r>
            <a:endParaRPr/>
          </a:p>
        </p:txBody>
      </p:sp>
      <p:sp>
        <p:nvSpPr>
          <p:cNvPr id="826" name="Google Shape;826;p75"/>
          <p:cNvSpPr txBox="1"/>
          <p:nvPr>
            <p:ph idx="1" type="body"/>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Проанализируйте практический сценарий и определите бизнес-правила и ограничения. Вариант задания у студентов с нечетными номерами в журнале – 1, у студентов с четными номерами – 2.</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31" name="Shape 831"/>
        <p:cNvGrpSpPr/>
        <p:nvPr/>
      </p:nvGrpSpPr>
      <p:grpSpPr>
        <a:xfrm>
          <a:off x="0" y="0"/>
          <a:ext cx="0" cy="0"/>
          <a:chOff x="0" y="0"/>
          <a:chExt cx="0" cy="0"/>
        </a:xfrm>
      </p:grpSpPr>
      <p:sp>
        <p:nvSpPr>
          <p:cNvPr id="832" name="Google Shape;832;p76"/>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3" name="Google Shape;833;p76"/>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4" name="Google Shape;834;p76"/>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5" name="Google Shape;835;p76"/>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6" name="Google Shape;836;p76"/>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37" name="Google Shape;837;p76"/>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400"/>
              <a:buFont typeface="Calibri"/>
              <a:buNone/>
            </a:pPr>
            <a:r>
              <a:rPr lang="en-US" sz="3400">
                <a:solidFill>
                  <a:srgbClr val="FFFFFF"/>
                </a:solidFill>
              </a:rPr>
              <a:t>Вариант 1</a:t>
            </a:r>
            <a:endParaRPr/>
          </a:p>
        </p:txBody>
      </p:sp>
      <p:sp>
        <p:nvSpPr>
          <p:cNvPr id="838" name="Google Shape;838;p76"/>
          <p:cNvSpPr txBox="1"/>
          <p:nvPr>
            <p:ph idx="1" type="body"/>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LibBook — успешная цифровая библиотека, предоставляющая услугу проката CD-дисков и доступ к хранилищу статей и журналов через Интернет. В связи с расширением бизнеса библиотеке LibBook потребовалось улучшить имеющуюся информационную систему и обеспечить поддержку организационных изменений. LibBook пользуется популярностью, и число клиентов быстро растет. Однако клиентская база нестабильна, и это вызывает затруднения. Основная идея — ввести концепцию подписки в системе LibBook. Подписчики платят вступительный взнос. На первоначальном этапе планируется ввести три типа подписки (корпоративную, учебную и индивидуальную), но в будущем могут появиться и другие типы. Подписка для учащихся бесплатна. Представители организаций и преподаватели образовательных учреждений платят за подписку, но получают определенные привилегии. Изменить тип подписки можно только при наличии достаточных оснований</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42" name="Shape 842"/>
        <p:cNvGrpSpPr/>
        <p:nvPr/>
      </p:nvGrpSpPr>
      <p:grpSpPr>
        <a:xfrm>
          <a:off x="0" y="0"/>
          <a:ext cx="0" cy="0"/>
          <a:chOff x="0" y="0"/>
          <a:chExt cx="0" cy="0"/>
        </a:xfrm>
      </p:grpSpPr>
      <p:sp>
        <p:nvSpPr>
          <p:cNvPr id="843" name="Google Shape;843;p77"/>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4" name="Google Shape;844;p77"/>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5" name="Google Shape;845;p77"/>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6" name="Google Shape;846;p77"/>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7" name="Google Shape;847;p77"/>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48" name="Google Shape;848;p77"/>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400"/>
              <a:buFont typeface="Calibri"/>
              <a:buNone/>
            </a:pPr>
            <a:r>
              <a:rPr lang="en-US" sz="3400">
                <a:solidFill>
                  <a:srgbClr val="FFFFFF"/>
                </a:solidFill>
              </a:rPr>
              <a:t>Вариант 2</a:t>
            </a:r>
            <a:endParaRPr/>
          </a:p>
        </p:txBody>
      </p:sp>
      <p:sp>
        <p:nvSpPr>
          <p:cNvPr id="849" name="Google Shape;849;p77"/>
          <p:cNvSpPr txBox="1"/>
          <p:nvPr>
            <p:ph idx="1" type="body"/>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lang="en-US" sz="2000"/>
              <a:t>Больница Star Care — многопрофильное медицинское учреждение, обслуживающее различные категории пациентов. Каждому врачу, зарегистрированному в этой больнице, присваивается уникальный идентификатор, начинающийся с DC. Согласно требованиям больницы, все работающие в ней врачи должны иметь опыт не менее семи лет. Каждый пациент обязан пройти регистрацию при первом посещении больницы. Когда пациент поступает в больницу, ему присваивается уникальный номер, начинающийся с PT</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54" name="Shape 854"/>
        <p:cNvGrpSpPr/>
        <p:nvPr/>
      </p:nvGrpSpPr>
      <p:grpSpPr>
        <a:xfrm>
          <a:off x="0" y="0"/>
          <a:ext cx="0" cy="0"/>
          <a:chOff x="0" y="0"/>
          <a:chExt cx="0" cy="0"/>
        </a:xfrm>
      </p:grpSpPr>
      <p:sp>
        <p:nvSpPr>
          <p:cNvPr id="855" name="Google Shape;855;p78"/>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6" name="Google Shape;856;p78"/>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7" name="Google Shape;857;p78"/>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8" name="Google Shape;858;p78"/>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59" name="Google Shape;859;p78"/>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60" name="Google Shape;860;p78"/>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Calibri"/>
              <a:buNone/>
            </a:pPr>
            <a:r>
              <a:rPr lang="en-US" sz="3700">
                <a:solidFill>
                  <a:srgbClr val="FFFFFF"/>
                </a:solidFill>
              </a:rPr>
              <a:t>Упражнение 2</a:t>
            </a:r>
            <a:endParaRPr/>
          </a:p>
        </p:txBody>
      </p:sp>
      <p:sp>
        <p:nvSpPr>
          <p:cNvPr id="861" name="Google Shape;861;p78"/>
          <p:cNvSpPr txBox="1"/>
          <p:nvPr>
            <p:ph idx="1" type="body"/>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Выделите сущности и атрибуты. Определите связи между сущностями. Вариант задания у студентов с нечетными номерами в журнале – 1, у студентов с четными номерами – 2.</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5" name="Shape 865"/>
        <p:cNvGrpSpPr/>
        <p:nvPr/>
      </p:nvGrpSpPr>
      <p:grpSpPr>
        <a:xfrm>
          <a:off x="0" y="0"/>
          <a:ext cx="0" cy="0"/>
          <a:chOff x="0" y="0"/>
          <a:chExt cx="0" cy="0"/>
        </a:xfrm>
      </p:grpSpPr>
      <p:sp>
        <p:nvSpPr>
          <p:cNvPr id="866" name="Google Shape;866;p7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1 вариант</a:t>
            </a:r>
            <a:endParaRPr/>
          </a:p>
        </p:txBody>
      </p:sp>
      <p:sp>
        <p:nvSpPr>
          <p:cNvPr id="867" name="Google Shape;867;p7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107000"/>
              </a:lnSpc>
              <a:spcBef>
                <a:spcPts val="0"/>
              </a:spcBef>
              <a:spcAft>
                <a:spcPts val="0"/>
              </a:spcAft>
              <a:buClr>
                <a:schemeClr val="dk1"/>
              </a:buClr>
              <a:buSzPts val="2800"/>
              <a:buNone/>
            </a:pPr>
            <a:r>
              <a:rPr lang="en-US" sz="2800">
                <a:latin typeface="Times New Roman"/>
                <a:ea typeface="Times New Roman"/>
                <a:cs typeface="Times New Roman"/>
                <a:sym typeface="Times New Roman"/>
              </a:rPr>
              <a:t>Фирма занимается оформлением сделок с объектами жилой недвижимости. При оформлении сделки фиксируется информация о продаваемой квартире, о риэлторе, оформляющем сделку купли-продажи, о дате оформления сделки. Риэлтор, оформивший сделку купли-продажи, получает комиссионное вознаграждение, которое вычисляется как Цена квартиры · Процент вознаграждения. Процент вознаграждения является индивидуальным и фиксированным для каждого конкретного риэлтора.</a:t>
            </a:r>
            <a:endParaRPr/>
          </a:p>
          <a:p>
            <a:pPr indent="0" lvl="0" marL="228600" rtl="0" algn="l">
              <a:lnSpc>
                <a:spcPct val="107000"/>
              </a:lnSpc>
              <a:spcBef>
                <a:spcPts val="1000"/>
              </a:spcBef>
              <a:spcAft>
                <a:spcPts val="0"/>
              </a:spcAft>
              <a:buClr>
                <a:schemeClr val="dk1"/>
              </a:buClr>
              <a:buSzPts val="2800"/>
              <a:buNone/>
            </a:pPr>
            <a:r>
              <a:rPr lang="en-US" sz="2800">
                <a:latin typeface="Times New Roman"/>
                <a:ea typeface="Times New Roman"/>
                <a:cs typeface="Times New Roman"/>
                <a:sym typeface="Times New Roman"/>
              </a:rPr>
              <a:t>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1" name="Shape 871"/>
        <p:cNvGrpSpPr/>
        <p:nvPr/>
      </p:nvGrpSpPr>
      <p:grpSpPr>
        <a:xfrm>
          <a:off x="0" y="0"/>
          <a:ext cx="0" cy="0"/>
          <a:chOff x="0" y="0"/>
          <a:chExt cx="0" cy="0"/>
        </a:xfrm>
      </p:grpSpPr>
      <p:sp>
        <p:nvSpPr>
          <p:cNvPr id="872" name="Google Shape;872;p8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07000"/>
              </a:lnSpc>
              <a:spcBef>
                <a:spcPts val="0"/>
              </a:spcBef>
              <a:spcAft>
                <a:spcPts val="0"/>
              </a:spcAft>
              <a:buClr>
                <a:schemeClr val="dk1"/>
              </a:buClr>
              <a:buSzPct val="100000"/>
              <a:buNone/>
            </a:pPr>
            <a:r>
              <a:rPr lang="en-US">
                <a:latin typeface="Times New Roman"/>
                <a:ea typeface="Times New Roman"/>
                <a:cs typeface="Times New Roman"/>
                <a:sym typeface="Times New Roman"/>
              </a:rPr>
              <a:t>2 вариант</a:t>
            </a:r>
            <a:endParaRPr/>
          </a:p>
          <a:p>
            <a:pPr indent="0" lvl="0" marL="0" rtl="0" algn="l">
              <a:lnSpc>
                <a:spcPct val="107000"/>
              </a:lnSpc>
              <a:spcBef>
                <a:spcPts val="1000"/>
              </a:spcBef>
              <a:spcAft>
                <a:spcPts val="0"/>
              </a:spcAft>
              <a:buClr>
                <a:schemeClr val="dk1"/>
              </a:buClr>
              <a:buSzPct val="100000"/>
              <a:buNone/>
            </a:pPr>
            <a:r>
              <a:rPr lang="en-US" sz="2800">
                <a:latin typeface="Times New Roman"/>
                <a:ea typeface="Times New Roman"/>
                <a:cs typeface="Times New Roman"/>
                <a:sym typeface="Times New Roman"/>
              </a:rPr>
              <a:t>Оптовый магазин закупает товар по цене закупки и продает товар по цене продажи. Разница между ценой продажи и ценой закупки составляет доход магазина от реализации каждой единицы товара. В магазине работает несколько продавцов. Каждый продавец получает комиссионное вознаграждение за проданный товар. Процент комиссионных назначается индивидуально каждому продавцу. Размер комиссионного вознаграждения за проданный товар определяется по формуле: Комиссионное вознаграждение = Цена продажи единицы товара · Кол-во проданных единиц товара · Процент комиссионных. Прибыль от продажи нескольких единиц товара вычисляется как (Цена продажи - Цена закупки) · Количество проданных единиц товара.</a:t>
            </a:r>
            <a:endParaRPr/>
          </a:p>
          <a:p>
            <a:pPr indent="-7747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77" name="Shape 877"/>
        <p:cNvGrpSpPr/>
        <p:nvPr/>
      </p:nvGrpSpPr>
      <p:grpSpPr>
        <a:xfrm>
          <a:off x="0" y="0"/>
          <a:ext cx="0" cy="0"/>
          <a:chOff x="0" y="0"/>
          <a:chExt cx="0" cy="0"/>
        </a:xfrm>
      </p:grpSpPr>
      <p:sp>
        <p:nvSpPr>
          <p:cNvPr id="878" name="Google Shape;878;p81"/>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79" name="Google Shape;879;p81"/>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0" name="Google Shape;880;p81"/>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1" name="Google Shape;881;p81"/>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2" name="Google Shape;882;p81"/>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883" name="Google Shape;883;p81"/>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Calibri"/>
              <a:buNone/>
            </a:pPr>
            <a:r>
              <a:rPr lang="en-US" sz="3700">
                <a:solidFill>
                  <a:srgbClr val="FFFFFF"/>
                </a:solidFill>
              </a:rPr>
              <a:t>Упражнение 3</a:t>
            </a:r>
            <a:endParaRPr/>
          </a:p>
        </p:txBody>
      </p:sp>
      <p:sp>
        <p:nvSpPr>
          <p:cNvPr id="884" name="Google Shape;884;p81"/>
          <p:cNvSpPr txBox="1"/>
          <p:nvPr>
            <p:ph idx="1" type="body"/>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457200" lvl="0" marL="457200" rtl="0" algn="l">
              <a:lnSpc>
                <a:spcPct val="90000"/>
              </a:lnSpc>
              <a:spcBef>
                <a:spcPts val="0"/>
              </a:spcBef>
              <a:spcAft>
                <a:spcPts val="0"/>
              </a:spcAft>
              <a:buClr>
                <a:schemeClr val="dk1"/>
              </a:buClr>
              <a:buSzPts val="2000"/>
              <a:buAutoNum type="arabicPeriod"/>
            </a:pPr>
            <a:r>
              <a:rPr lang="en-US" sz="2000"/>
              <a:t>Дано неполное семантическое описание предметной области. Дополните описание – выделите пользователей и их действия.</a:t>
            </a:r>
            <a:endParaRPr/>
          </a:p>
          <a:p>
            <a:pPr indent="-457200" lvl="0" marL="457200" rtl="0" algn="l">
              <a:lnSpc>
                <a:spcPct val="90000"/>
              </a:lnSpc>
              <a:spcBef>
                <a:spcPts val="1000"/>
              </a:spcBef>
              <a:spcAft>
                <a:spcPts val="0"/>
              </a:spcAft>
              <a:buClr>
                <a:schemeClr val="dk1"/>
              </a:buClr>
              <a:buSzPts val="2000"/>
              <a:buAutoNum type="arabicPeriod"/>
            </a:pPr>
            <a:r>
              <a:rPr lang="en-US" sz="2000"/>
              <a:t>Выделите сущности и атрибуты (учитывайте пользователей с их действиями). Определите связи.</a:t>
            </a:r>
            <a:endParaRPr/>
          </a:p>
          <a:p>
            <a:pPr indent="-457200" lvl="0" marL="457200" rtl="0" algn="l">
              <a:lnSpc>
                <a:spcPct val="90000"/>
              </a:lnSpc>
              <a:spcBef>
                <a:spcPts val="1000"/>
              </a:spcBef>
              <a:spcAft>
                <a:spcPts val="0"/>
              </a:spcAft>
              <a:buClr>
                <a:schemeClr val="dk1"/>
              </a:buClr>
              <a:buSzPts val="2000"/>
              <a:buAutoNum type="arabicPeriod"/>
            </a:pPr>
            <a:r>
              <a:rPr lang="en-US" sz="2000"/>
              <a:t>Спроектируйте ER-диаграмму </a:t>
            </a:r>
            <a:r>
              <a:rPr b="1" lang="en-US" sz="2000"/>
              <a:t>строго</a:t>
            </a:r>
            <a:r>
              <a:rPr lang="en-US" sz="2000"/>
              <a:t> </a:t>
            </a:r>
            <a:r>
              <a:rPr lang="en-US" sz="2000">
                <a:solidFill>
                  <a:srgbClr val="0070C0"/>
                </a:solidFill>
              </a:rPr>
              <a:t>либо в нотации Мартина, либо в нотации Баркера</a:t>
            </a:r>
            <a:r>
              <a:rPr lang="en-US" sz="2000"/>
              <a:t>. </a:t>
            </a:r>
            <a:endParaRPr/>
          </a:p>
          <a:p>
            <a:pPr indent="-457200" lvl="0" marL="457200" rtl="0" algn="l">
              <a:lnSpc>
                <a:spcPct val="90000"/>
              </a:lnSpc>
              <a:spcBef>
                <a:spcPts val="1000"/>
              </a:spcBef>
              <a:spcAft>
                <a:spcPts val="0"/>
              </a:spcAft>
              <a:buClr>
                <a:schemeClr val="dk1"/>
              </a:buClr>
              <a:buSzPts val="2000"/>
              <a:buAutoNum type="arabicPeriod"/>
            </a:pPr>
            <a:r>
              <a:rPr lang="en-US" sz="2000"/>
              <a:t>Выполните разрешение связей. Включите в отчет обновленную ER-диаграмму.</a:t>
            </a:r>
            <a:endParaRPr/>
          </a:p>
          <a:p>
            <a:pPr indent="0" lvl="0" marL="0" rtl="0" algn="l">
              <a:lnSpc>
                <a:spcPct val="90000"/>
              </a:lnSpc>
              <a:spcBef>
                <a:spcPts val="1000"/>
              </a:spcBef>
              <a:spcAft>
                <a:spcPts val="0"/>
              </a:spcAft>
              <a:buClr>
                <a:schemeClr val="dk1"/>
              </a:buClr>
              <a:buSzPts val="2000"/>
              <a:buNone/>
            </a:pPr>
            <a:r>
              <a:rPr lang="en-US" sz="2000"/>
              <a:t>Вариант задания у студентов с нечетными номерами в журнале – 1, у студентов с четными номерами – 2.</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8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1 вариант. Предметная область: интернет-магазин книг</a:t>
            </a:r>
            <a:endParaRPr/>
          </a:p>
        </p:txBody>
      </p:sp>
      <p:sp>
        <p:nvSpPr>
          <p:cNvPr id="890" name="Google Shape;890;p8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rPr lang="en-US"/>
              <a:t>Book.ru — интернет-магазин, где покупатели могут посмотреть каталог и выбрать интересующие их товары. </a:t>
            </a:r>
            <a:endParaRPr/>
          </a:p>
          <a:p>
            <a:pPr indent="-514350" lvl="0" marL="514350" rtl="0" algn="l">
              <a:lnSpc>
                <a:spcPct val="90000"/>
              </a:lnSpc>
              <a:spcBef>
                <a:spcPts val="1000"/>
              </a:spcBef>
              <a:spcAft>
                <a:spcPts val="0"/>
              </a:spcAft>
              <a:buClr>
                <a:schemeClr val="dk1"/>
              </a:buClr>
              <a:buSzPct val="100000"/>
              <a:buAutoNum type="alphaLcPeriod"/>
            </a:pPr>
            <a:r>
              <a:rPr lang="en-US"/>
              <a:t>У каждой книги есть название, номер ISBN, год издания и цена. В базе также хранятся сведения об авторах и издателях книг. </a:t>
            </a:r>
            <a:endParaRPr/>
          </a:p>
          <a:p>
            <a:pPr indent="-514350" lvl="0" marL="514350" rtl="0" algn="l">
              <a:lnSpc>
                <a:spcPct val="90000"/>
              </a:lnSpc>
              <a:spcBef>
                <a:spcPts val="1000"/>
              </a:spcBef>
              <a:spcAft>
                <a:spcPts val="0"/>
              </a:spcAft>
              <a:buClr>
                <a:schemeClr val="dk1"/>
              </a:buClr>
              <a:buSzPct val="100000"/>
              <a:buAutoNum type="alphaLcPeriod"/>
            </a:pPr>
            <a:r>
              <a:rPr lang="en-US"/>
              <a:t>Сведения об авторах включают в себя имя, адрес и ссылку на главную страницу сайта. </a:t>
            </a:r>
            <a:endParaRPr/>
          </a:p>
          <a:p>
            <a:pPr indent="-514350" lvl="0" marL="514350" rtl="0" algn="l">
              <a:lnSpc>
                <a:spcPct val="90000"/>
              </a:lnSpc>
              <a:spcBef>
                <a:spcPts val="1000"/>
              </a:spcBef>
              <a:spcAft>
                <a:spcPts val="0"/>
              </a:spcAft>
              <a:buClr>
                <a:schemeClr val="dk1"/>
              </a:buClr>
              <a:buSzPct val="100000"/>
              <a:buAutoNum type="alphaLcPeriod"/>
            </a:pPr>
            <a:r>
              <a:rPr lang="en-US"/>
              <a:t>Сведения об издателях включают в себя имя, адрес, номер телефона и ссылку на главную страницу сайта. </a:t>
            </a:r>
            <a:endParaRPr/>
          </a:p>
          <a:p>
            <a:pPr indent="-514350" lvl="0" marL="514350" rtl="0" algn="l">
              <a:lnSpc>
                <a:spcPct val="90000"/>
              </a:lnSpc>
              <a:spcBef>
                <a:spcPts val="1000"/>
              </a:spcBef>
              <a:spcAft>
                <a:spcPts val="0"/>
              </a:spcAft>
              <a:buClr>
                <a:schemeClr val="dk1"/>
              </a:buClr>
              <a:buSzPct val="100000"/>
              <a:buAutoNum type="alphaLcPeriod"/>
            </a:pPr>
            <a:r>
              <a:rPr lang="en-US"/>
              <a:t>В базу внесены данные нескольких складов, включая код, адрес и номер телефона. </a:t>
            </a:r>
            <a:endParaRPr/>
          </a:p>
          <a:p>
            <a:pPr indent="-514350" lvl="0" marL="514350" rtl="0" algn="l">
              <a:lnSpc>
                <a:spcPct val="90000"/>
              </a:lnSpc>
              <a:spcBef>
                <a:spcPts val="1000"/>
              </a:spcBef>
              <a:spcAft>
                <a:spcPts val="0"/>
              </a:spcAft>
              <a:buClr>
                <a:schemeClr val="dk1"/>
              </a:buClr>
              <a:buSzPct val="100000"/>
              <a:buAutoNum type="alphaLcPeriod"/>
            </a:pPr>
            <a:r>
              <a:rPr lang="en-US"/>
              <a:t>На складе хранится некоторое количество книг. Одна и та же книга может храниться на нескольких складах. </a:t>
            </a:r>
            <a:endParaRPr/>
          </a:p>
          <a:p>
            <a:pPr indent="-514350" lvl="0" marL="514350" rtl="0" algn="l">
              <a:lnSpc>
                <a:spcPct val="90000"/>
              </a:lnSpc>
              <a:spcBef>
                <a:spcPts val="1000"/>
              </a:spcBef>
              <a:spcAft>
                <a:spcPts val="0"/>
              </a:spcAft>
              <a:buClr>
                <a:schemeClr val="dk1"/>
              </a:buClr>
              <a:buSzPct val="100000"/>
              <a:buAutoNum type="alphaLcPeriod"/>
            </a:pPr>
            <a:r>
              <a:rPr lang="en-US"/>
              <a:t> В базе данных регистрируется число экземпляров книги, хранящихся на различных складах. . Книжный магазин хранит данные покупателей: имя, адрес, адрес электронной почты и номер телефона. </a:t>
            </a:r>
            <a:endParaRPr/>
          </a:p>
          <a:p>
            <a:pPr indent="-514350" lvl="0" marL="514350" rtl="0" algn="l">
              <a:lnSpc>
                <a:spcPct val="90000"/>
              </a:lnSpc>
              <a:spcBef>
                <a:spcPts val="1000"/>
              </a:spcBef>
              <a:spcAft>
                <a:spcPts val="0"/>
              </a:spcAft>
              <a:buClr>
                <a:schemeClr val="dk1"/>
              </a:buClr>
              <a:buSzPct val="100000"/>
              <a:buAutoNum type="alphaLcPeriod"/>
            </a:pPr>
            <a:r>
              <a:rPr lang="en-US"/>
              <a:t>У покупателя имеется несколько корзин. Корзине присваивается идентификатор Shopping_Cart_ID, и она содержит несколько книг.</a:t>
            </a:r>
            <a:endParaRPr/>
          </a:p>
          <a:p>
            <a:pPr indent="-514350" lvl="0" marL="514350" rtl="0" algn="l">
              <a:lnSpc>
                <a:spcPct val="90000"/>
              </a:lnSpc>
              <a:spcBef>
                <a:spcPts val="1000"/>
              </a:spcBef>
              <a:spcAft>
                <a:spcPts val="0"/>
              </a:spcAft>
              <a:buClr>
                <a:schemeClr val="dk1"/>
              </a:buClr>
              <a:buSzPct val="100000"/>
              <a:buAutoNum type="alphaLcPeriod"/>
            </a:pPr>
            <a:r>
              <a:rPr lang="en-US"/>
              <a:t>Некоторые корзины могут содержать несколько экземпляров одной и той же книги. В базе данных регистрируется число экземпляров каждой книги, находящихся в любой корзине. </a:t>
            </a:r>
            <a:endParaRPr/>
          </a:p>
          <a:p>
            <a:pPr indent="-514350" lvl="0" marL="514350" rtl="0" algn="l">
              <a:lnSpc>
                <a:spcPct val="90000"/>
              </a:lnSpc>
              <a:spcBef>
                <a:spcPts val="1000"/>
              </a:spcBef>
              <a:spcAft>
                <a:spcPts val="0"/>
              </a:spcAft>
              <a:buClr>
                <a:schemeClr val="dk1"/>
              </a:buClr>
              <a:buSzPct val="100000"/>
              <a:buAutoNum type="alphaLcPeriod"/>
            </a:pPr>
            <a:r>
              <a:rPr lang="en-US"/>
              <a:t>На данном этапе для выполнения транзакции требуется дополнительная информация. Как правило, покупателю нужно указать или выбрать платежный адрес, адрес доставки, способ доставки и платежные данные, например номер кредитной карты. После размещения заказа покупатель получает уведомление по электронной почте</a:t>
            </a:r>
            <a:endParaRPr/>
          </a:p>
        </p:txBody>
      </p:sp>
    </p:spTree>
  </p:cSld>
  <p:clrMapOvr>
    <a:masterClrMapping/>
  </p:clrMapOvr>
</p:sld>
</file>

<file path=ppt/slides/slide8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p8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2 вариант. Предметная область: интернет-магазин железнодорожных билетов</a:t>
            </a:r>
            <a:endParaRPr/>
          </a:p>
        </p:txBody>
      </p:sp>
      <p:sp>
        <p:nvSpPr>
          <p:cNvPr id="896" name="Google Shape;896;p8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rPr lang="en-US"/>
              <a:t>Zhd.ru — интернет-магазин, где покупатели могут посмотреть направления и забронировать/купить железнодорожные билеты. </a:t>
            </a:r>
            <a:endParaRPr/>
          </a:p>
          <a:p>
            <a:pPr indent="-514350" lvl="0" marL="514350" rtl="0" algn="l">
              <a:lnSpc>
                <a:spcPct val="90000"/>
              </a:lnSpc>
              <a:spcBef>
                <a:spcPts val="1000"/>
              </a:spcBef>
              <a:spcAft>
                <a:spcPts val="0"/>
              </a:spcAft>
              <a:buClr>
                <a:schemeClr val="dk1"/>
              </a:buClr>
              <a:buSzPct val="100000"/>
              <a:buAutoNum type="alphaLcPeriod"/>
            </a:pPr>
            <a:r>
              <a:rPr lang="en-US"/>
              <a:t>Каждый билет имеет номер, город отправления, город прибытия,  дату и время отправления, дату и время прибытия, вагон, тип вагона, место, тип места, наличие багажа, дополнительные услуги. </a:t>
            </a:r>
            <a:endParaRPr/>
          </a:p>
          <a:p>
            <a:pPr indent="-514350" lvl="0" marL="514350" rtl="0" algn="l">
              <a:lnSpc>
                <a:spcPct val="90000"/>
              </a:lnSpc>
              <a:spcBef>
                <a:spcPts val="1000"/>
              </a:spcBef>
              <a:spcAft>
                <a:spcPts val="0"/>
              </a:spcAft>
              <a:buClr>
                <a:schemeClr val="dk1"/>
              </a:buClr>
              <a:buSzPct val="100000"/>
              <a:buAutoNum type="alphaLcPeriod"/>
            </a:pPr>
            <a:r>
              <a:rPr lang="en-US"/>
              <a:t>Сведения о пассажирах включают в себя  ФИО, серия  и номер удостоверения личности, дату рождения, номер телефона. </a:t>
            </a:r>
            <a:endParaRPr/>
          </a:p>
          <a:p>
            <a:pPr indent="-514350" lvl="0" marL="514350" rtl="0" algn="l">
              <a:lnSpc>
                <a:spcPct val="90000"/>
              </a:lnSpc>
              <a:spcBef>
                <a:spcPts val="1000"/>
              </a:spcBef>
              <a:spcAft>
                <a:spcPts val="0"/>
              </a:spcAft>
              <a:buClr>
                <a:schemeClr val="dk1"/>
              </a:buClr>
              <a:buSzPct val="100000"/>
              <a:buAutoNum type="alphaLcPeriod"/>
            </a:pPr>
            <a:r>
              <a:rPr lang="en-US"/>
              <a:t>Сведения о  городах включают номер, название. </a:t>
            </a:r>
            <a:endParaRPr/>
          </a:p>
          <a:p>
            <a:pPr indent="-514350" lvl="0" marL="514350" rtl="0" algn="l">
              <a:lnSpc>
                <a:spcPct val="90000"/>
              </a:lnSpc>
              <a:spcBef>
                <a:spcPts val="1000"/>
              </a:spcBef>
              <a:spcAft>
                <a:spcPts val="0"/>
              </a:spcAft>
              <a:buClr>
                <a:schemeClr val="dk1"/>
              </a:buClr>
              <a:buSzPct val="100000"/>
              <a:buAutoNum type="alphaLcPeriod"/>
            </a:pPr>
            <a:r>
              <a:rPr lang="en-US"/>
              <a:t>Сведения о ж/д вокзалах (станциях) включают наименование, адрес, количество путей. В каждом городе может быть несколько ж/д вокзалов. Через каждый ж/д вокзал проходят многие поезда. </a:t>
            </a:r>
            <a:endParaRPr/>
          </a:p>
          <a:p>
            <a:pPr indent="-514350" lvl="0" marL="514350" rtl="0" algn="l">
              <a:lnSpc>
                <a:spcPct val="90000"/>
              </a:lnSpc>
              <a:spcBef>
                <a:spcPts val="1000"/>
              </a:spcBef>
              <a:spcAft>
                <a:spcPts val="0"/>
              </a:spcAft>
              <a:buClr>
                <a:schemeClr val="dk1"/>
              </a:buClr>
              <a:buSzPct val="100000"/>
              <a:buAutoNum type="alphaLcPeriod"/>
            </a:pPr>
            <a:r>
              <a:rPr lang="en-US"/>
              <a:t>Сведения о поезде (как о маршруте) включают номер поезда, начальную станцию, конечную станцию, дату и время отправления, дату и время прибытия, тип (скорый, фирменный, скоростной). Для каждого поезда хранится информация о всех промежуточных станциях (в том числе, дата и время прибытия, дата и  и время отправления, код вокзала). Для каждого поезда хранится информации о свободных и занятых местах.</a:t>
            </a:r>
            <a:endParaRPr/>
          </a:p>
          <a:p>
            <a:pPr indent="-514350" lvl="0" marL="514350" rtl="0" algn="l">
              <a:lnSpc>
                <a:spcPct val="90000"/>
              </a:lnSpc>
              <a:spcBef>
                <a:spcPts val="1000"/>
              </a:spcBef>
              <a:spcAft>
                <a:spcPts val="0"/>
              </a:spcAft>
              <a:buClr>
                <a:schemeClr val="dk1"/>
              </a:buClr>
              <a:buSzPct val="100000"/>
              <a:buAutoNum type="alphaLcPeriod"/>
            </a:pPr>
            <a:r>
              <a:rPr lang="en-US"/>
              <a:t> В базе хранится информация о поездах, ежедневно проходящих через каждый ж/д вокзал, времени их нахождения на ж/д вокзале. </a:t>
            </a:r>
            <a:endParaRPr/>
          </a:p>
          <a:p>
            <a:pPr indent="-514350" lvl="0" marL="514350" rtl="0" algn="l">
              <a:lnSpc>
                <a:spcPct val="90000"/>
              </a:lnSpc>
              <a:spcBef>
                <a:spcPts val="1000"/>
              </a:spcBef>
              <a:spcAft>
                <a:spcPts val="0"/>
              </a:spcAft>
              <a:buClr>
                <a:schemeClr val="dk1"/>
              </a:buClr>
              <a:buSzPct val="100000"/>
              <a:buAutoNum type="alphaLcPeriod"/>
            </a:pPr>
            <a:r>
              <a:rPr lang="en-US"/>
              <a:t>Билеты покупают покупатели (они могут не быть пассажирами). У покупателя имеется несколько корзин. Корзине присваивается идентификатор Shopping_Cart_ID, и она содержит несколько билетов.</a:t>
            </a:r>
            <a:endParaRPr/>
          </a:p>
          <a:p>
            <a:pPr indent="-514350" lvl="0" marL="514350" rtl="0" algn="l">
              <a:lnSpc>
                <a:spcPct val="90000"/>
              </a:lnSpc>
              <a:spcBef>
                <a:spcPts val="1000"/>
              </a:spcBef>
              <a:spcAft>
                <a:spcPts val="0"/>
              </a:spcAft>
              <a:buClr>
                <a:schemeClr val="dk1"/>
              </a:buClr>
              <a:buSzPct val="100000"/>
              <a:buAutoNum type="alphaLcPeriod"/>
            </a:pPr>
            <a:r>
              <a:rPr lang="en-US"/>
              <a:t>На данном этапе для выполнения транзакции требуется дополнительная информация. Как правило, покупателю нужно указать или выбрать платежный адрес, платежные данные, например номер кредитной карты. После размещения заказа покупатель получает уведомление по электронной почте</a:t>
            </a:r>
            <a:endParaRPr/>
          </a:p>
        </p:txBody>
      </p:sp>
    </p:spTree>
  </p:cSld>
  <p:clrMapOvr>
    <a:masterClrMapping/>
  </p:clrMapOvr>
</p:sld>
</file>

<file path=ppt/slides/slide8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1" name="Shape 901"/>
        <p:cNvGrpSpPr/>
        <p:nvPr/>
      </p:nvGrpSpPr>
      <p:grpSpPr>
        <a:xfrm>
          <a:off x="0" y="0"/>
          <a:ext cx="0" cy="0"/>
          <a:chOff x="0" y="0"/>
          <a:chExt cx="0" cy="0"/>
        </a:xfrm>
      </p:grpSpPr>
      <p:sp>
        <p:nvSpPr>
          <p:cNvPr id="902" name="Google Shape;902;p84"/>
          <p:cNvSpPr/>
          <p:nvPr/>
        </p:nvSpPr>
        <p:spPr>
          <a:xfrm>
            <a:off x="0" y="0"/>
            <a:ext cx="12192000" cy="68580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3" name="Google Shape;903;p84"/>
          <p:cNvSpPr/>
          <p:nvPr/>
        </p:nvSpPr>
        <p:spPr>
          <a:xfrm flipH="1">
            <a:off x="-1" y="-1"/>
            <a:ext cx="12191998" cy="1590742"/>
          </a:xfrm>
          <a:prstGeom prst="rect">
            <a:avLst/>
          </a:prstGeom>
          <a:gradFill>
            <a:gsLst>
              <a:gs pos="0">
                <a:srgbClr val="000000"/>
              </a:gs>
              <a:gs pos="100000">
                <a:srgbClr val="2F5496"/>
              </a:gs>
            </a:gsLst>
            <a:lin ang="84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4" name="Google Shape;904;p84"/>
          <p:cNvSpPr/>
          <p:nvPr/>
        </p:nvSpPr>
        <p:spPr>
          <a:xfrm flipH="1" rot="10800000">
            <a:off x="-3" y="0"/>
            <a:ext cx="8115306" cy="1590742"/>
          </a:xfrm>
          <a:prstGeom prst="rect">
            <a:avLst/>
          </a:prstGeom>
          <a:gradFill>
            <a:gsLst>
              <a:gs pos="0">
                <a:srgbClr val="4472C4">
                  <a:alpha val="0"/>
                </a:srgbClr>
              </a:gs>
              <a:gs pos="20000">
                <a:srgbClr val="4472C4">
                  <a:alpha val="0"/>
                </a:srgbClr>
              </a:gs>
              <a:gs pos="100000">
                <a:srgbClr val="1F3864">
                  <a:alpha val="54901"/>
                </a:srgbClr>
              </a:gs>
            </a:gsLst>
            <a:lin ang="13800001"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5" name="Google Shape;905;p84"/>
          <p:cNvSpPr/>
          <p:nvPr/>
        </p:nvSpPr>
        <p:spPr>
          <a:xfrm flipH="1">
            <a:off x="8115299" y="-1"/>
            <a:ext cx="4076698" cy="1590742"/>
          </a:xfrm>
          <a:prstGeom prst="rect">
            <a:avLst/>
          </a:prstGeom>
          <a:gradFill>
            <a:gsLst>
              <a:gs pos="0">
                <a:srgbClr val="4472C4">
                  <a:alpha val="65882"/>
                </a:srgbClr>
              </a:gs>
              <a:gs pos="100000">
                <a:srgbClr val="000000">
                  <a:alpha val="29803"/>
                </a:srgbClr>
              </a:gs>
            </a:gsLst>
            <a:lin ang="132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6" name="Google Shape;906;p84"/>
          <p:cNvSpPr/>
          <p:nvPr/>
        </p:nvSpPr>
        <p:spPr>
          <a:xfrm>
            <a:off x="459350" y="-1"/>
            <a:ext cx="11732646" cy="1597433"/>
          </a:xfrm>
          <a:prstGeom prst="rect">
            <a:avLst/>
          </a:prstGeom>
          <a:gradFill>
            <a:gsLst>
              <a:gs pos="0">
                <a:srgbClr val="000000">
                  <a:alpha val="0"/>
                </a:srgbClr>
              </a:gs>
              <a:gs pos="50000">
                <a:srgbClr val="000000">
                  <a:alpha val="0"/>
                </a:srgbClr>
              </a:gs>
              <a:gs pos="99000">
                <a:srgbClr val="1F3864">
                  <a:alpha val="51764"/>
                </a:srgbClr>
              </a:gs>
              <a:gs pos="100000">
                <a:srgbClr val="1F3864">
                  <a:alpha val="51764"/>
                </a:srgbClr>
              </a:gs>
            </a:gsLst>
            <a:lin ang="16800000"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alibri"/>
              <a:buNone/>
            </a:pPr>
            <a:r>
              <a:t/>
            </a:r>
            <a:endParaRPr b="0" i="0" sz="1800" u="none" cap="none" strike="noStrike">
              <a:solidFill>
                <a:srgbClr val="FFFFFF"/>
              </a:solidFill>
              <a:latin typeface="Calibri"/>
              <a:ea typeface="Calibri"/>
              <a:cs typeface="Calibri"/>
              <a:sym typeface="Calibri"/>
            </a:endParaRPr>
          </a:p>
        </p:txBody>
      </p:sp>
      <p:sp>
        <p:nvSpPr>
          <p:cNvPr id="907" name="Google Shape;907;p84"/>
          <p:cNvSpPr txBox="1"/>
          <p:nvPr>
            <p:ph type="title"/>
          </p:nvPr>
        </p:nvSpPr>
        <p:spPr>
          <a:xfrm>
            <a:off x="1371599" y="294538"/>
            <a:ext cx="9895951" cy="1033669"/>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FFFFFF"/>
              </a:buClr>
              <a:buSzPts val="3700"/>
              <a:buFont typeface="Calibri"/>
              <a:buNone/>
            </a:pPr>
            <a:r>
              <a:rPr lang="en-US" sz="3700">
                <a:solidFill>
                  <a:srgbClr val="FFFFFF"/>
                </a:solidFill>
              </a:rPr>
              <a:t>Упражнение 4</a:t>
            </a:r>
            <a:endParaRPr/>
          </a:p>
        </p:txBody>
      </p:sp>
      <p:sp>
        <p:nvSpPr>
          <p:cNvPr id="908" name="Google Shape;908;p84"/>
          <p:cNvSpPr txBox="1"/>
          <p:nvPr>
            <p:ph idx="1" type="body"/>
          </p:nvPr>
        </p:nvSpPr>
        <p:spPr>
          <a:xfrm>
            <a:off x="1371599" y="2318197"/>
            <a:ext cx="9724031" cy="368335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rPr lang="en-US" sz="2000"/>
              <a:t>Спроектируйте ER-диаграмму </a:t>
            </a:r>
            <a:r>
              <a:rPr b="1" lang="en-US" sz="2000"/>
              <a:t>строго</a:t>
            </a:r>
            <a:r>
              <a:rPr lang="en-US" sz="2000"/>
              <a:t> </a:t>
            </a:r>
            <a:r>
              <a:rPr lang="en-US" sz="2000">
                <a:solidFill>
                  <a:srgbClr val="0070C0"/>
                </a:solidFill>
              </a:rPr>
              <a:t>либо в нотации Мартина, либо в нотации Баркера</a:t>
            </a:r>
            <a:r>
              <a:rPr lang="en-US" sz="2000"/>
              <a:t>. </a:t>
            </a:r>
            <a:endParaRPr/>
          </a:p>
          <a:p>
            <a:pPr indent="0" lvl="0" marL="0" rtl="0" algn="l">
              <a:lnSpc>
                <a:spcPct val="90000"/>
              </a:lnSpc>
              <a:spcBef>
                <a:spcPts val="1000"/>
              </a:spcBef>
              <a:spcAft>
                <a:spcPts val="0"/>
              </a:spcAft>
              <a:buClr>
                <a:schemeClr val="dk1"/>
              </a:buClr>
              <a:buSzPts val="2000"/>
              <a:buNone/>
            </a:pPr>
            <a:r>
              <a:rPr lang="en-US" sz="2000"/>
              <a:t>Вариант задания у студентов с нечетными номерами в журнале – 1, у студентов с четными номерами – 2.</a:t>
            </a:r>
            <a:endParaRPr/>
          </a:p>
        </p:txBody>
      </p:sp>
    </p:spTree>
  </p:cSld>
  <p:clrMapOvr>
    <a:masterClrMapping/>
  </p:clrMapOvr>
</p:sld>
</file>

<file path=ppt/slides/slide8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sp>
        <p:nvSpPr>
          <p:cNvPr id="913" name="Google Shape;913;p8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Вариант 1</a:t>
            </a:r>
            <a:endParaRPr/>
          </a:p>
        </p:txBody>
      </p:sp>
      <p:sp>
        <p:nvSpPr>
          <p:cNvPr id="914" name="Google Shape;914;p8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228600" rtl="0" algn="l">
              <a:lnSpc>
                <a:spcPct val="107000"/>
              </a:lnSpc>
              <a:spcBef>
                <a:spcPts val="0"/>
              </a:spcBef>
              <a:spcAft>
                <a:spcPts val="0"/>
              </a:spcAft>
              <a:buClr>
                <a:schemeClr val="dk1"/>
              </a:buClr>
              <a:buSzPts val="1800"/>
              <a:buNone/>
            </a:pPr>
            <a:r>
              <a:rPr lang="en-US" sz="1800">
                <a:latin typeface="Times New Roman"/>
                <a:ea typeface="Times New Roman"/>
                <a:cs typeface="Times New Roman"/>
                <a:sym typeface="Times New Roman"/>
              </a:rPr>
              <a:t>Платный прием пациентов проводится врачами разных специальностей (хирург, терапевт, кардиолог, офтальмолог и т.д.). При оформлении приема должна быть сформирована квитанция об оплате приема, в которой указывается информация о пациенте, о враче, который консультирует пациента, о стоимости приема, о дате приема. Пациент оплачивает за прием некоторую сумму, которая устанавливается персонально для каждого врача. За каждый прием врачу отчисляется фиксированный процент от стоимости приема. Процент отчисления от стоимости приема на зарплату врача также устанавливается персонально для каждого врача. Размер начисляемой врачу заработной платы за каждый прием вычисляется по формуле: Зарплата = Стоимость приема · Процент отчисления на зарплату. Из этой суммы вычитается подоходный налог, составляющий 13% от начисленной зарплаты.</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8" name="Shape 918"/>
        <p:cNvGrpSpPr/>
        <p:nvPr/>
      </p:nvGrpSpPr>
      <p:grpSpPr>
        <a:xfrm>
          <a:off x="0" y="0"/>
          <a:ext cx="0" cy="0"/>
          <a:chOff x="0" y="0"/>
          <a:chExt cx="0" cy="0"/>
        </a:xfrm>
      </p:grpSpPr>
      <p:sp>
        <p:nvSpPr>
          <p:cNvPr id="919" name="Google Shape;919;p8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Вариант 2</a:t>
            </a:r>
            <a:endParaRPr/>
          </a:p>
        </p:txBody>
      </p:sp>
      <p:sp>
        <p:nvSpPr>
          <p:cNvPr id="920" name="Google Shape;920;p8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0" lvl="0" marL="228600" rtl="0" algn="l">
              <a:lnSpc>
                <a:spcPct val="107000"/>
              </a:lnSpc>
              <a:spcBef>
                <a:spcPts val="0"/>
              </a:spcBef>
              <a:spcAft>
                <a:spcPts val="0"/>
              </a:spcAft>
              <a:buClr>
                <a:schemeClr val="dk1"/>
              </a:buClr>
              <a:buSzPct val="100000"/>
              <a:buNone/>
            </a:pPr>
            <a:r>
              <a:rPr lang="en-US" sz="2800">
                <a:latin typeface="Times New Roman"/>
                <a:ea typeface="Times New Roman"/>
                <a:cs typeface="Times New Roman"/>
                <a:sym typeface="Times New Roman"/>
              </a:rPr>
              <a:t>Досуговый центр – это организация, которая предоставляет услуги по проведению детских дней рождений, мастер-классов по различным направлениям. Так же в этом центре будет преподавательский состав, обучающий детей различным предметам в игровой форме. Центр по своей сути является универсальным местом и для проведения детских мероприятий, и для учебы, и для развития детей. В детском центре будет производится следующая деятельность:</a:t>
            </a:r>
            <a:endParaRPr/>
          </a:p>
          <a:p>
            <a:pPr indent="-342900" lvl="0" marL="342900" rtl="0" algn="just">
              <a:lnSpc>
                <a:spcPct val="107000"/>
              </a:lnSpc>
              <a:spcBef>
                <a:spcPts val="1000"/>
              </a:spcBef>
              <a:spcAft>
                <a:spcPts val="0"/>
              </a:spcAft>
              <a:buClr>
                <a:schemeClr val="dk1"/>
              </a:buClr>
              <a:buSzPct val="100000"/>
              <a:buFont typeface="Calibri"/>
              <a:buAutoNum type="arabicParenR"/>
            </a:pPr>
            <a:r>
              <a:rPr lang="en-US" sz="2800">
                <a:latin typeface="Calibri"/>
                <a:ea typeface="Calibri"/>
                <a:cs typeface="Calibri"/>
                <a:sym typeface="Calibri"/>
              </a:rPr>
              <a:t>Возможность заказать проведения детского праздника непосредственно в досуговом центре;</a:t>
            </a:r>
            <a:endParaRPr/>
          </a:p>
          <a:p>
            <a:pPr indent="-342900" lvl="0" marL="342900" rtl="0" algn="just">
              <a:lnSpc>
                <a:spcPct val="107000"/>
              </a:lnSpc>
              <a:spcBef>
                <a:spcPts val="1000"/>
              </a:spcBef>
              <a:spcAft>
                <a:spcPts val="0"/>
              </a:spcAft>
              <a:buClr>
                <a:schemeClr val="dk1"/>
              </a:buClr>
              <a:buSzPct val="100000"/>
              <a:buFont typeface="Calibri"/>
              <a:buAutoNum type="arabicParenR"/>
            </a:pPr>
            <a:r>
              <a:rPr lang="en-US" sz="2800">
                <a:latin typeface="Calibri"/>
                <a:ea typeface="Calibri"/>
                <a:cs typeface="Calibri"/>
                <a:sym typeface="Calibri"/>
              </a:rPr>
              <a:t>Возможность заказать аниматора и организацию праздника на дому;</a:t>
            </a:r>
            <a:endParaRPr/>
          </a:p>
          <a:p>
            <a:pPr indent="-342900" lvl="0" marL="342900" rtl="0" algn="just">
              <a:lnSpc>
                <a:spcPct val="107000"/>
              </a:lnSpc>
              <a:spcBef>
                <a:spcPts val="1000"/>
              </a:spcBef>
              <a:spcAft>
                <a:spcPts val="0"/>
              </a:spcAft>
              <a:buClr>
                <a:schemeClr val="dk1"/>
              </a:buClr>
              <a:buSzPct val="100000"/>
              <a:buFont typeface="Calibri"/>
              <a:buAutoNum type="arabicParenR"/>
            </a:pPr>
            <a:r>
              <a:rPr lang="en-US" sz="2800">
                <a:latin typeface="Calibri"/>
                <a:ea typeface="Calibri"/>
                <a:cs typeface="Calibri"/>
                <a:sym typeface="Calibri"/>
              </a:rPr>
              <a:t>Запись ребенка к интересующему специалисту (развитие моторики, преподавание предметов в игровой форме, детский массаж).</a:t>
            </a:r>
            <a:endParaRPr/>
          </a:p>
          <a:p>
            <a:pPr indent="0" lvl="0" marL="0" rtl="0" algn="just">
              <a:lnSpc>
                <a:spcPct val="107000"/>
              </a:lnSpc>
              <a:spcBef>
                <a:spcPts val="1800"/>
              </a:spcBef>
              <a:spcAft>
                <a:spcPts val="0"/>
              </a:spcAft>
              <a:buClr>
                <a:schemeClr val="dk1"/>
              </a:buClr>
              <a:buSzPct val="100000"/>
              <a:buNone/>
            </a:pPr>
            <a:r>
              <a:rPr lang="en-US">
                <a:latin typeface="Calibri"/>
                <a:ea typeface="Calibri"/>
                <a:cs typeface="Calibri"/>
                <a:sym typeface="Calibri"/>
              </a:rPr>
              <a:t>В базе данных должна храниться информация о преподавателях, предметах, аниматорах, мероприятиях, расписании занятий и мероприятий.</a:t>
            </a:r>
            <a:endParaRPr sz="2800">
              <a:latin typeface="Calibri"/>
              <a:ea typeface="Calibri"/>
              <a:cs typeface="Calibri"/>
              <a:sym typeface="Calibri"/>
            </a:endParaRPr>
          </a:p>
          <a:p>
            <a:pPr indent="-104140" lvl="0" marL="228600" rtl="0" algn="l">
              <a:lnSpc>
                <a:spcPct val="90000"/>
              </a:lnSpc>
              <a:spcBef>
                <a:spcPts val="1800"/>
              </a:spcBef>
              <a:spcAft>
                <a:spcPts val="0"/>
              </a:spcAft>
              <a:buClr>
                <a:schemeClr val="dk1"/>
              </a:buClr>
              <a:buSzPct val="100000"/>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Тема Office">
  <a:themeElements>
    <a:clrScheme name="Стандартная">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2022-09-06T11:55:13Z</dcterms:created>
  <dc:creator>Анастасия Свирина</dc:creator>
</cp:coreProperties>
</file>