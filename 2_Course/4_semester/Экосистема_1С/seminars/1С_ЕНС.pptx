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8" r:id="rId5"/>
    <p:sldId id="267" r:id="rId6"/>
    <p:sldId id="266" r:id="rId7"/>
    <p:sldId id="265" r:id="rId8"/>
    <p:sldId id="271" r:id="rId9"/>
    <p:sldId id="270" r:id="rId10"/>
    <p:sldId id="269" r:id="rId11"/>
    <p:sldId id="263" r:id="rId12"/>
    <p:sldId id="264" r:id="rId13"/>
    <p:sldId id="262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854" y="-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65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51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35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8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85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00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80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07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95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23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FCD8B-908C-4041-97E1-A6FAB33AB1F9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91863-1B52-489D-8ECF-670940AF5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06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1c.ru/applications/1C-EN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lerk.ru/blogs/e-office24/611401/" TargetMode="External"/><Relationship Id="rId5" Type="http://schemas.openxmlformats.org/officeDocument/2006/relationships/hyperlink" Target="https://astral.ru/aj/elem/lichnyy-kabinet-ens-v-1s-kak-nastroit-za-15-minut-i-zabyt-o-ruchnykh-sverkakh/" TargetMode="External"/><Relationship Id="rId4" Type="http://schemas.openxmlformats.org/officeDocument/2006/relationships/hyperlink" Target="https://fserver.1c.ru/its/files/1782251561e4933791217609bcefb7fdbce506e02d/video/lector/lector20250312/lector20250312-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77131" y="184559"/>
              <a:ext cx="4202884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Всем </a:t>
              </a:r>
              <a:r>
                <a:rPr lang="ru-RU" sz="2400" dirty="0" err="1" smtClean="0">
                  <a:solidFill>
                    <a:srgbClr val="C00000"/>
                  </a:solidFill>
                </a:rPr>
                <a:t>прив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5116EF01-9666-44E6-89BA-6A957D2E8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448"/>
          <a:stretch/>
        </p:blipFill>
        <p:spPr>
          <a:xfrm>
            <a:off x="5594970" y="789207"/>
            <a:ext cx="3549030" cy="4299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6D35974-9BC2-4CDA-BC81-4E4D7CB8EAAB}"/>
              </a:ext>
            </a:extLst>
          </p:cNvPr>
          <p:cNvSpPr txBox="1"/>
          <p:nvPr/>
        </p:nvSpPr>
        <p:spPr>
          <a:xfrm>
            <a:off x="435668" y="1502383"/>
            <a:ext cx="5391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1С: ЕНС – от контроля к автоматизации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0C58388-EEF0-4ABB-AA9D-3A2246596834}"/>
              </a:ext>
            </a:extLst>
          </p:cNvPr>
          <p:cNvSpPr txBox="1"/>
          <p:nvPr/>
        </p:nvSpPr>
        <p:spPr>
          <a:xfrm>
            <a:off x="512451" y="1962136"/>
            <a:ext cx="5238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Работа с единым налоговым счетом в «1С:Бухгалтерии 8»</a:t>
            </a:r>
          </a:p>
        </p:txBody>
      </p:sp>
    </p:spTree>
    <p:extLst>
      <p:ext uri="{BB962C8B-B14F-4D97-AF65-F5344CB8AC3E}">
        <p14:creationId xmlns:p14="http://schemas.microsoft.com/office/powerpoint/2010/main" val="312789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8"/>
              <a:ext cx="1677798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3"/>
          <a:stretch/>
        </p:blipFill>
        <p:spPr bwMode="auto">
          <a:xfrm>
            <a:off x="6027420" y="1446682"/>
            <a:ext cx="3116580" cy="361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962F32A-0CCA-4160-A843-91E2AE41B522}"/>
              </a:ext>
            </a:extLst>
          </p:cNvPr>
          <p:cNvSpPr txBox="1"/>
          <p:nvPr/>
        </p:nvSpPr>
        <p:spPr>
          <a:xfrm>
            <a:off x="730890" y="96338"/>
            <a:ext cx="5378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Что такое ЕНС и зачем интеграция с </a:t>
            </a:r>
            <a:r>
              <a:rPr lang="ru-RU" sz="2400" dirty="0" smtClean="0">
                <a:solidFill>
                  <a:srgbClr val="C00000"/>
                </a:solidFill>
              </a:rPr>
              <a:t>1С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009" y="1153863"/>
            <a:ext cx="7597849" cy="336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/>
              <a:t>ЕНС</a:t>
            </a:r>
            <a:r>
              <a:rPr lang="ru-RU" sz="1600" dirty="0"/>
              <a:t> – единый налоговый счёт в </a:t>
            </a:r>
            <a:r>
              <a:rPr lang="ru-RU" sz="1600" dirty="0" smtClean="0"/>
              <a:t>налоговой (</a:t>
            </a:r>
            <a:r>
              <a:rPr lang="ru-RU" sz="1600" dirty="0" smtClean="0">
                <a:solidFill>
                  <a:srgbClr val="C00000"/>
                </a:solidFill>
              </a:rPr>
              <a:t>ФНС</a:t>
            </a:r>
            <a:r>
              <a:rPr lang="ru-RU" sz="1600" dirty="0" smtClean="0"/>
              <a:t>)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Уплата большинства налогов и взносов – одним Единым налоговым платежом (ЕНП</a:t>
            </a:r>
            <a:r>
              <a:rPr lang="ru-RU" sz="1600" dirty="0" smtClean="0"/>
              <a:t>)</a:t>
            </a:r>
            <a:endParaRPr lang="ru-RU" sz="1600" dirty="0"/>
          </a:p>
          <a:p>
            <a:endParaRPr lang="ru-RU" sz="1600" dirty="0"/>
          </a:p>
          <a:p>
            <a:pPr>
              <a:spcAft>
                <a:spcPts val="300"/>
              </a:spcAft>
            </a:pPr>
            <a:r>
              <a:rPr lang="ru-RU" b="1" dirty="0"/>
              <a:t>Интеграция </a:t>
            </a:r>
            <a:r>
              <a:rPr lang="ru-RU" b="1" dirty="0">
                <a:solidFill>
                  <a:srgbClr val="C00000"/>
                </a:solidFill>
              </a:rPr>
              <a:t>1С</a:t>
            </a:r>
            <a:r>
              <a:rPr lang="ru-RU" b="1" dirty="0"/>
              <a:t> с ЛК ФНС позволяет бухгалтеру:</a:t>
            </a:r>
          </a:p>
          <a:p>
            <a:r>
              <a:rPr lang="ru-RU" sz="1600" dirty="0" smtClean="0">
                <a:solidFill>
                  <a:srgbClr val="C00000"/>
                </a:solidFill>
              </a:rPr>
              <a:t>-</a:t>
            </a:r>
            <a:r>
              <a:rPr lang="ru-RU" sz="1600" dirty="0" smtClean="0"/>
              <a:t> видеть </a:t>
            </a:r>
            <a:r>
              <a:rPr lang="ru-RU" sz="1600" dirty="0"/>
              <a:t>реальное сальдо ЕНС в режиме </a:t>
            </a:r>
            <a:r>
              <a:rPr lang="ru-RU" sz="1600" dirty="0" smtClean="0"/>
              <a:t>онлайн</a:t>
            </a:r>
            <a:endParaRPr lang="ru-RU" sz="1600" dirty="0"/>
          </a:p>
          <a:p>
            <a:r>
              <a:rPr lang="ru-RU" sz="1600" dirty="0" smtClean="0">
                <a:solidFill>
                  <a:srgbClr val="C00000"/>
                </a:solidFill>
              </a:rPr>
              <a:t>-</a:t>
            </a:r>
            <a:r>
              <a:rPr lang="ru-RU" sz="1600" dirty="0" smtClean="0"/>
              <a:t> контролировать </a:t>
            </a:r>
            <a:r>
              <a:rPr lang="ru-RU" sz="1600" dirty="0"/>
              <a:t>задолженность и предстоящие </a:t>
            </a:r>
            <a:r>
              <a:rPr lang="ru-RU" sz="1600" dirty="0" smtClean="0"/>
              <a:t>платежи</a:t>
            </a:r>
            <a:endParaRPr lang="ru-RU" sz="1600" dirty="0"/>
          </a:p>
          <a:p>
            <a:r>
              <a:rPr lang="ru-RU" sz="1600" dirty="0" smtClean="0">
                <a:solidFill>
                  <a:srgbClr val="C00000"/>
                </a:solidFill>
              </a:rPr>
              <a:t>-</a:t>
            </a:r>
            <a:r>
              <a:rPr lang="ru-RU" sz="1600" dirty="0" smtClean="0"/>
              <a:t> получать </a:t>
            </a:r>
            <a:r>
              <a:rPr lang="ru-RU" sz="1600" dirty="0"/>
              <a:t>детальную расшифровку </a:t>
            </a:r>
            <a:r>
              <a:rPr lang="ru-RU" sz="1600" dirty="0" smtClean="0"/>
              <a:t>операций</a:t>
            </a:r>
            <a:endParaRPr lang="ru-RU" sz="1600" dirty="0"/>
          </a:p>
          <a:p>
            <a:r>
              <a:rPr lang="ru-RU" sz="1600" dirty="0" smtClean="0">
                <a:solidFill>
                  <a:srgbClr val="C00000"/>
                </a:solidFill>
              </a:rPr>
              <a:t>-</a:t>
            </a:r>
            <a:r>
              <a:rPr lang="ru-RU" sz="1600" dirty="0" smtClean="0"/>
              <a:t> отправлять </a:t>
            </a:r>
            <a:r>
              <a:rPr lang="ru-RU" sz="1600" dirty="0"/>
              <a:t>заявления и запросы прямо из</a:t>
            </a:r>
            <a:r>
              <a:rPr lang="ru-RU" sz="1600" dirty="0">
                <a:solidFill>
                  <a:srgbClr val="C00000"/>
                </a:solidFill>
              </a:rPr>
              <a:t> 1С</a:t>
            </a:r>
            <a:r>
              <a:rPr lang="ru-RU" sz="1600" dirty="0"/>
              <a:t>, без захода на сайт </a:t>
            </a:r>
            <a:r>
              <a:rPr lang="ru-RU" sz="1600" dirty="0" smtClean="0"/>
              <a:t>ФНС</a:t>
            </a:r>
          </a:p>
          <a:p>
            <a:r>
              <a:rPr lang="ru-RU" sz="1600" dirty="0" smtClean="0">
                <a:solidFill>
                  <a:srgbClr val="C00000"/>
                </a:solidFill>
              </a:rPr>
              <a:t>-</a:t>
            </a:r>
            <a:r>
              <a:rPr lang="ru-RU" sz="1600" dirty="0" smtClean="0"/>
              <a:t> режим </a:t>
            </a:r>
            <a:r>
              <a:rPr lang="ru-RU" sz="1600" dirty="0"/>
              <a:t>сверки – расхождения между </a:t>
            </a:r>
            <a:r>
              <a:rPr lang="ru-RU" sz="1600" dirty="0">
                <a:solidFill>
                  <a:srgbClr val="C00000"/>
                </a:solidFill>
              </a:rPr>
              <a:t>1С</a:t>
            </a:r>
            <a:r>
              <a:rPr lang="ru-RU" sz="1600" dirty="0"/>
              <a:t> и ФНС за </a:t>
            </a:r>
            <a:r>
              <a:rPr lang="ru-RU" sz="1600" dirty="0" smtClean="0"/>
              <a:t>секунды</a:t>
            </a:r>
          </a:p>
          <a:p>
            <a:r>
              <a:rPr lang="ru-RU" sz="1600" dirty="0" smtClean="0">
                <a:solidFill>
                  <a:srgbClr val="C00000"/>
                </a:solidFill>
              </a:rPr>
              <a:t>-</a:t>
            </a:r>
            <a:r>
              <a:rPr lang="ru-RU" sz="1600" dirty="0" smtClean="0"/>
              <a:t> автоматическое </a:t>
            </a:r>
            <a:r>
              <a:rPr lang="ru-RU" sz="1600" dirty="0"/>
              <a:t>формирование «Сведений об уплате налогов»</a:t>
            </a:r>
          </a:p>
          <a:p>
            <a:endParaRPr lang="ru-RU" sz="1600" dirty="0"/>
          </a:p>
          <a:p>
            <a:r>
              <a:rPr lang="ru-RU" sz="1600" b="1" dirty="0"/>
              <a:t>Главный принцип</a:t>
            </a:r>
            <a:r>
              <a:rPr lang="ru-RU" sz="1600" dirty="0"/>
              <a:t>: не дублировать учёт налоговой, а использовать её </a:t>
            </a:r>
            <a:r>
              <a:rPr lang="ru-RU" sz="1600" dirty="0" smtClean="0"/>
              <a:t>данные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5307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>
                  <a:solidFill>
                    <a:srgbClr val="C00000"/>
                  </a:solidFill>
                </a:rPr>
                <a:t>Как подключить интеграцию в </a:t>
              </a:r>
              <a:r>
                <a:rPr lang="ru-RU" sz="2400" dirty="0" smtClean="0">
                  <a:solidFill>
                    <a:srgbClr val="C00000"/>
                  </a:solidFill>
                </a:rPr>
                <a:t>1С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66701" y="1090408"/>
            <a:ext cx="86334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Где находится: </a:t>
            </a:r>
            <a:r>
              <a:rPr lang="ru-RU" sz="1600" dirty="0" smtClean="0"/>
              <a:t>Главное </a:t>
            </a:r>
            <a:r>
              <a:rPr lang="ru-RU" sz="1600" dirty="0"/>
              <a:t>→ </a:t>
            </a:r>
            <a:r>
              <a:rPr lang="ru-RU" sz="1600" dirty="0" smtClean="0"/>
              <a:t>Сервис </a:t>
            </a:r>
            <a:r>
              <a:rPr lang="ru-RU" sz="1600" dirty="0"/>
              <a:t>→ </a:t>
            </a:r>
            <a:r>
              <a:rPr lang="ru-RU" sz="1600" dirty="0" smtClean="0"/>
              <a:t>Личный </a:t>
            </a:r>
            <a:r>
              <a:rPr lang="ru-RU" sz="1600" dirty="0"/>
              <a:t>кабинет </a:t>
            </a:r>
            <a:r>
              <a:rPr lang="ru-RU" sz="1600" dirty="0" smtClean="0"/>
              <a:t>ЕНС</a:t>
            </a:r>
            <a:endParaRPr lang="ru-RU" sz="1600" dirty="0"/>
          </a:p>
          <a:p>
            <a:endParaRPr lang="ru-RU" sz="1600" dirty="0"/>
          </a:p>
          <a:p>
            <a:r>
              <a:rPr lang="ru-RU" b="1" dirty="0"/>
              <a:t>Два варианта авторизации</a:t>
            </a:r>
            <a:r>
              <a:rPr lang="ru-RU" b="1" dirty="0" smtClean="0"/>
              <a:t>:</a:t>
            </a:r>
            <a:endParaRPr lang="ru-RU" b="1" dirty="0"/>
          </a:p>
          <a:p>
            <a:r>
              <a:rPr lang="ru-RU" sz="1600" dirty="0" smtClean="0"/>
              <a:t>1. По </a:t>
            </a:r>
            <a:r>
              <a:rPr lang="ru-RU" sz="1600" dirty="0"/>
              <a:t>сертификату КЭП (квалифицированной электронной подписи</a:t>
            </a:r>
            <a:r>
              <a:rPr lang="ru-RU" sz="1600" dirty="0" smtClean="0"/>
              <a:t>)</a:t>
            </a:r>
            <a:endParaRPr lang="ru-RU" sz="1600" dirty="0"/>
          </a:p>
          <a:p>
            <a:r>
              <a:rPr lang="ru-RU" sz="1600" dirty="0" smtClean="0"/>
              <a:t>2. После </a:t>
            </a:r>
            <a:r>
              <a:rPr lang="ru-RU" sz="1600" dirty="0"/>
              <a:t>отправки в ФНС «Согласия на раскрытие налоговой тайны» (формируется прямо из </a:t>
            </a:r>
            <a:r>
              <a:rPr lang="ru-RU" sz="1600" dirty="0">
                <a:solidFill>
                  <a:srgbClr val="C00000"/>
                </a:solidFill>
              </a:rPr>
              <a:t>1С</a:t>
            </a:r>
            <a:r>
              <a:rPr lang="ru-RU" sz="1600" dirty="0" smtClean="0"/>
              <a:t>)</a:t>
            </a:r>
            <a:endParaRPr lang="ru-RU" sz="1600" dirty="0"/>
          </a:p>
          <a:p>
            <a:endParaRPr lang="ru-RU" sz="1600" dirty="0" smtClean="0"/>
          </a:p>
          <a:p>
            <a:r>
              <a:rPr lang="ru-RU" sz="1600" b="1" dirty="0" smtClean="0"/>
              <a:t>Советуют:</a:t>
            </a:r>
            <a:r>
              <a:rPr lang="ru-RU" sz="1600" dirty="0" smtClean="0"/>
              <a:t> устанавливать </a:t>
            </a:r>
            <a:r>
              <a:rPr lang="ru-RU" sz="1600" dirty="0"/>
              <a:t>флаг «Обновлять личный кабинет в фоновом режиме» – данные будут подтягиваться ночью </a:t>
            </a:r>
            <a:r>
              <a:rPr lang="ru-RU" sz="1600" dirty="0" smtClean="0"/>
              <a:t>автоматически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Для работы нужен подключённый сервис </a:t>
            </a:r>
            <a:r>
              <a:rPr lang="ru-RU" sz="1600" dirty="0">
                <a:solidFill>
                  <a:srgbClr val="C00000"/>
                </a:solidFill>
              </a:rPr>
              <a:t>1С-Отчётность</a:t>
            </a:r>
            <a:r>
              <a:rPr lang="ru-RU" sz="1600" dirty="0"/>
              <a:t> (если нет – бесплатный тариф «Промо ЕНС» на 6 месяцев</a:t>
            </a:r>
            <a:r>
              <a:rPr lang="ru-RU" sz="1600" dirty="0" smtClean="0"/>
              <a:t>)</a:t>
            </a:r>
            <a:endParaRPr lang="ru-RU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253" y="327171"/>
            <a:ext cx="208597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74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Отправка согласия в ФНС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7" y="1838905"/>
            <a:ext cx="6356985" cy="3144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22407" y="1416010"/>
            <a:ext cx="2351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Вариант авторизации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22405" y="754439"/>
            <a:ext cx="88149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«</a:t>
            </a:r>
            <a:r>
              <a:rPr lang="ru-RU" dirty="0"/>
              <a:t>Отчеты</a:t>
            </a:r>
            <a:r>
              <a:rPr lang="ru-RU" dirty="0" smtClean="0"/>
              <a:t>» → «</a:t>
            </a:r>
            <a:r>
              <a:rPr lang="ru-RU" dirty="0"/>
              <a:t>Регламентированные </a:t>
            </a:r>
            <a:r>
              <a:rPr lang="ru-RU" dirty="0" smtClean="0"/>
              <a:t>отчеты» → «</a:t>
            </a:r>
            <a:r>
              <a:rPr lang="ru-RU" dirty="0"/>
              <a:t>Уведомления» </a:t>
            </a:r>
            <a:r>
              <a:rPr lang="ru-RU" dirty="0" smtClean="0"/>
              <a:t>→ «</a:t>
            </a:r>
            <a:r>
              <a:rPr lang="ru-RU" dirty="0"/>
              <a:t>Создать</a:t>
            </a:r>
            <a:r>
              <a:rPr lang="ru-RU" dirty="0" smtClean="0"/>
              <a:t>» → «</a:t>
            </a:r>
            <a:r>
              <a:rPr lang="ru-RU" dirty="0"/>
              <a:t>Налоговый контроль» </a:t>
            </a:r>
            <a:r>
              <a:rPr lang="ru-RU" dirty="0" smtClean="0"/>
              <a:t>→ «</a:t>
            </a:r>
            <a:r>
              <a:rPr lang="ru-RU" dirty="0"/>
              <a:t>Согласие на раскрытие налоговой тайны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9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Личный кабинет </a:t>
              </a:r>
              <a:r>
                <a:rPr lang="ru-RU" sz="2400" dirty="0">
                  <a:solidFill>
                    <a:srgbClr val="C00000"/>
                  </a:solidFill>
                </a:rPr>
                <a:t>ЕНС</a:t>
              </a: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48" y="1373355"/>
            <a:ext cx="7139938" cy="36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9948" y="818976"/>
            <a:ext cx="5327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Главное →</a:t>
            </a:r>
            <a:r>
              <a:rPr lang="ru-RU" sz="1600" dirty="0" smtClean="0"/>
              <a:t> </a:t>
            </a:r>
            <a:r>
              <a:rPr lang="ru-RU" sz="1600" dirty="0"/>
              <a:t>Единый налоговый счет →</a:t>
            </a:r>
            <a:r>
              <a:rPr lang="ru-RU" sz="1600" dirty="0" smtClean="0"/>
              <a:t> </a:t>
            </a:r>
            <a:r>
              <a:rPr lang="ru-RU" sz="1600" dirty="0"/>
              <a:t>Личный кабинет ЕНС</a:t>
            </a:r>
          </a:p>
        </p:txBody>
      </p:sp>
    </p:spTree>
    <p:extLst>
      <p:ext uri="{BB962C8B-B14F-4D97-AF65-F5344CB8AC3E}">
        <p14:creationId xmlns:p14="http://schemas.microsoft.com/office/powerpoint/2010/main" val="48044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Интерфейс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143"/>
          <a:stretch/>
        </p:blipFill>
        <p:spPr bwMode="auto">
          <a:xfrm>
            <a:off x="3859285" y="818976"/>
            <a:ext cx="4896095" cy="4107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333" y="818976"/>
            <a:ext cx="394254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C00000"/>
                </a:solidFill>
              </a:rPr>
              <a:t>●</a:t>
            </a:r>
            <a:r>
              <a:rPr lang="ru-RU" dirty="0"/>
              <a:t> </a:t>
            </a:r>
            <a:r>
              <a:rPr lang="ru-RU" sz="1600" dirty="0"/>
              <a:t>Сальдо (состояние ЕНС) </a:t>
            </a:r>
            <a:r>
              <a:rPr lang="ru-RU" sz="1600" dirty="0">
                <a:solidFill>
                  <a:srgbClr val="C00000"/>
                </a:solidFill>
              </a:rPr>
              <a:t>(1</a:t>
            </a:r>
            <a:r>
              <a:rPr lang="ru-RU" sz="1600" dirty="0" smtClean="0">
                <a:solidFill>
                  <a:srgbClr val="C00000"/>
                </a:solidFill>
              </a:rPr>
              <a:t>)</a:t>
            </a:r>
          </a:p>
          <a:p>
            <a:r>
              <a:rPr lang="ru-RU" sz="1400" dirty="0" smtClean="0"/>
              <a:t>- </a:t>
            </a:r>
            <a:r>
              <a:rPr lang="ru-RU" sz="1400" i="1" dirty="0" smtClean="0"/>
              <a:t>Предстоящие </a:t>
            </a:r>
            <a:r>
              <a:rPr lang="ru-RU" sz="1400" i="1" dirty="0"/>
              <a:t>платежи </a:t>
            </a:r>
            <a:r>
              <a:rPr lang="ru-RU" sz="1400" dirty="0"/>
              <a:t>– налоги, по которым </a:t>
            </a:r>
            <a:r>
              <a:rPr lang="ru-RU" sz="1400" dirty="0" smtClean="0"/>
              <a:t>уведомления /</a:t>
            </a:r>
            <a:r>
              <a:rPr lang="ru-RU" sz="1400" dirty="0"/>
              <a:t>декларации </a:t>
            </a:r>
            <a:r>
              <a:rPr lang="ru-RU" sz="1400" dirty="0" smtClean="0"/>
              <a:t>сданы</a:t>
            </a:r>
            <a:endParaRPr lang="ru-RU" sz="1400" dirty="0"/>
          </a:p>
          <a:p>
            <a:r>
              <a:rPr lang="ru-RU" sz="1400" dirty="0" smtClean="0"/>
              <a:t>- </a:t>
            </a:r>
            <a:r>
              <a:rPr lang="ru-RU" sz="1400" i="1" dirty="0" smtClean="0"/>
              <a:t>Зарезервировано</a:t>
            </a:r>
            <a:r>
              <a:rPr lang="ru-RU" sz="1400" dirty="0" smtClean="0"/>
              <a:t> </a:t>
            </a:r>
            <a:r>
              <a:rPr lang="ru-RU" sz="1400" dirty="0"/>
              <a:t>– суммы, закреплённые за конкретными </a:t>
            </a:r>
            <a:r>
              <a:rPr lang="ru-RU" sz="1400" dirty="0" smtClean="0"/>
              <a:t>налогами (НДФЛ, отсрочки и </a:t>
            </a:r>
            <a:r>
              <a:rPr lang="ru-RU" sz="1400" dirty="0" err="1" smtClean="0"/>
              <a:t>тд</a:t>
            </a:r>
            <a:r>
              <a:rPr lang="ru-RU" sz="1400" dirty="0" smtClean="0"/>
              <a:t>)</a:t>
            </a:r>
            <a:endParaRPr lang="ru-RU" sz="1400" dirty="0"/>
          </a:p>
          <a:p>
            <a:r>
              <a:rPr lang="ru-RU" sz="1400" dirty="0" smtClean="0"/>
              <a:t>- </a:t>
            </a:r>
            <a:r>
              <a:rPr lang="ru-RU" sz="1400" i="1" dirty="0" smtClean="0"/>
              <a:t>Всего </a:t>
            </a:r>
            <a:r>
              <a:rPr lang="ru-RU" sz="1400" i="1" dirty="0"/>
              <a:t>к уплате</a:t>
            </a:r>
            <a:r>
              <a:rPr lang="ru-RU" sz="1400" dirty="0"/>
              <a:t> – сколько нужно перечислить прямо </a:t>
            </a:r>
            <a:r>
              <a:rPr lang="ru-RU" sz="1400" dirty="0" smtClean="0"/>
              <a:t>сейчас</a:t>
            </a:r>
          </a:p>
          <a:p>
            <a:endParaRPr lang="ru-RU" sz="1000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●</a:t>
            </a:r>
            <a:r>
              <a:rPr lang="ru-RU" dirty="0" smtClean="0"/>
              <a:t> </a:t>
            </a:r>
            <a:r>
              <a:rPr lang="ru-RU" sz="1600" dirty="0" smtClean="0"/>
              <a:t>Разделы </a:t>
            </a:r>
            <a:r>
              <a:rPr lang="ru-RU" sz="1600" dirty="0">
                <a:solidFill>
                  <a:srgbClr val="C00000"/>
                </a:solidFill>
              </a:rPr>
              <a:t>(2)</a:t>
            </a:r>
            <a:endParaRPr lang="ru-RU" sz="1600" dirty="0" smtClean="0"/>
          </a:p>
          <a:p>
            <a:r>
              <a:rPr lang="ru-RU" sz="1400" dirty="0" smtClean="0"/>
              <a:t>«</a:t>
            </a:r>
            <a:r>
              <a:rPr lang="ru-RU" sz="1400" dirty="0"/>
              <a:t>Все обязательства», «Задолженность», «Предстоящие платежи», «Зарезервировано», «Операции ЕНП», «История ЕНС», «Процедуры взыскания»</a:t>
            </a:r>
            <a:r>
              <a:rPr lang="ru-RU" sz="1600" dirty="0" smtClean="0"/>
              <a:t> </a:t>
            </a:r>
            <a:endParaRPr lang="ru-RU" dirty="0" smtClean="0"/>
          </a:p>
          <a:p>
            <a:endParaRPr lang="ru-RU" sz="1000" dirty="0" smtClean="0">
              <a:solidFill>
                <a:srgbClr val="C00000"/>
              </a:solidFill>
            </a:endParaRPr>
          </a:p>
          <a:p>
            <a:r>
              <a:rPr lang="ru-RU" sz="1200" dirty="0" smtClean="0">
                <a:solidFill>
                  <a:srgbClr val="C00000"/>
                </a:solidFill>
              </a:rPr>
              <a:t>●</a:t>
            </a:r>
            <a:r>
              <a:rPr lang="ru-RU" dirty="0" smtClean="0"/>
              <a:t> </a:t>
            </a:r>
            <a:r>
              <a:rPr lang="ru-RU" sz="1600" dirty="0"/>
              <a:t>Расшифровка разделов </a:t>
            </a:r>
            <a:r>
              <a:rPr lang="ru-RU" sz="1600" dirty="0">
                <a:solidFill>
                  <a:srgbClr val="C00000"/>
                </a:solidFill>
              </a:rPr>
              <a:t>(3)</a:t>
            </a:r>
            <a:r>
              <a:rPr lang="ru-RU" dirty="0"/>
              <a:t> </a:t>
            </a:r>
            <a:endParaRPr lang="ru-RU" dirty="0" smtClean="0"/>
          </a:p>
          <a:p>
            <a:endParaRPr lang="ru-RU" sz="1000" dirty="0" smtClean="0">
              <a:solidFill>
                <a:srgbClr val="C00000"/>
              </a:solidFill>
            </a:endParaRPr>
          </a:p>
          <a:p>
            <a:r>
              <a:rPr lang="ru-RU" sz="1200" dirty="0" smtClean="0">
                <a:solidFill>
                  <a:srgbClr val="C00000"/>
                </a:solidFill>
              </a:rPr>
              <a:t>●</a:t>
            </a:r>
            <a:r>
              <a:rPr lang="ru-RU" dirty="0" smtClean="0"/>
              <a:t> </a:t>
            </a:r>
            <a:r>
              <a:rPr lang="ru-RU" sz="1600" dirty="0"/>
              <a:t>Документальное сопровождение </a:t>
            </a:r>
            <a:r>
              <a:rPr lang="ru-RU" sz="1600" dirty="0">
                <a:solidFill>
                  <a:srgbClr val="C00000"/>
                </a:solidFill>
              </a:rPr>
              <a:t>(4)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01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Раздел: предстоящие платежи 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14"/>
          <a:stretch/>
        </p:blipFill>
        <p:spPr bwMode="auto">
          <a:xfrm>
            <a:off x="3922763" y="742776"/>
            <a:ext cx="4786898" cy="415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67086" y="1400085"/>
            <a:ext cx="3225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C00000"/>
                </a:solidFill>
              </a:rPr>
              <a:t>●</a:t>
            </a:r>
            <a:r>
              <a:rPr lang="ru-RU" dirty="0"/>
              <a:t> Ближайший платеж (сумма и дата) </a:t>
            </a:r>
            <a:endParaRPr lang="ru-RU" dirty="0" smtClean="0"/>
          </a:p>
          <a:p>
            <a:endParaRPr lang="ru-RU" dirty="0"/>
          </a:p>
          <a:p>
            <a:r>
              <a:rPr lang="ru-RU" sz="1200" dirty="0" smtClean="0">
                <a:solidFill>
                  <a:srgbClr val="C00000"/>
                </a:solidFill>
              </a:rPr>
              <a:t>●</a:t>
            </a:r>
            <a:r>
              <a:rPr lang="ru-RU" dirty="0" smtClean="0"/>
              <a:t> </a:t>
            </a:r>
            <a:r>
              <a:rPr lang="ru-RU" dirty="0"/>
              <a:t>Обязательства с </a:t>
            </a:r>
            <a:r>
              <a:rPr lang="ru-RU" dirty="0" smtClean="0"/>
              <a:t>не наступившим </a:t>
            </a:r>
            <a:r>
              <a:rPr lang="ru-RU" dirty="0"/>
              <a:t>сроком уплаты. В разрезе </a:t>
            </a:r>
            <a:r>
              <a:rPr lang="ru-RU" dirty="0" smtClean="0"/>
              <a:t>КБК (</a:t>
            </a:r>
            <a:r>
              <a:rPr lang="ru-RU" dirty="0"/>
              <a:t>код бюджетной </a:t>
            </a:r>
            <a:r>
              <a:rPr lang="ru-RU" dirty="0" smtClean="0"/>
              <a:t>классификации), </a:t>
            </a:r>
            <a:r>
              <a:rPr lang="ru-RU" dirty="0"/>
              <a:t>сроков уплаты и видов платежей</a:t>
            </a:r>
          </a:p>
        </p:txBody>
      </p:sp>
    </p:spTree>
    <p:extLst>
      <p:ext uri="{BB962C8B-B14F-4D97-AF65-F5344CB8AC3E}">
        <p14:creationId xmlns:p14="http://schemas.microsoft.com/office/powerpoint/2010/main" val="295079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Раздел: зарезервировано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900" y="1189452"/>
            <a:ext cx="5546884" cy="325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0704" y="1311371"/>
            <a:ext cx="28644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Расшифровка суммы резерва </a:t>
            </a:r>
            <a:endParaRPr lang="ru-RU" b="1" dirty="0" smtClean="0">
              <a:solidFill>
                <a:srgbClr val="C00000"/>
              </a:solidFill>
            </a:endParaRPr>
          </a:p>
          <a:p>
            <a:endParaRPr lang="ru-RU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●</a:t>
            </a:r>
            <a:r>
              <a:rPr lang="ru-RU" dirty="0" smtClean="0"/>
              <a:t> </a:t>
            </a:r>
            <a:r>
              <a:rPr lang="ru-RU" dirty="0"/>
              <a:t>По документам, отправленным пользователем </a:t>
            </a:r>
            <a:endParaRPr lang="ru-RU" dirty="0" smtClean="0"/>
          </a:p>
          <a:p>
            <a:endParaRPr lang="ru-RU" dirty="0"/>
          </a:p>
          <a:p>
            <a:r>
              <a:rPr lang="ru-RU" sz="1200" dirty="0" smtClean="0">
                <a:solidFill>
                  <a:srgbClr val="C00000"/>
                </a:solidFill>
              </a:rPr>
              <a:t>●</a:t>
            </a:r>
            <a:r>
              <a:rPr lang="ru-RU" dirty="0" smtClean="0"/>
              <a:t> </a:t>
            </a:r>
            <a:r>
              <a:rPr lang="ru-RU" dirty="0"/>
              <a:t>Автоматический резерв по законодательству</a:t>
            </a:r>
          </a:p>
        </p:txBody>
      </p:sp>
    </p:spTree>
    <p:extLst>
      <p:ext uri="{BB962C8B-B14F-4D97-AF65-F5344CB8AC3E}">
        <p14:creationId xmlns:p14="http://schemas.microsoft.com/office/powerpoint/2010/main" val="183943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785190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Разделы: операции ЕНП, история ЕНС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655745"/>
            <a:ext cx="5029042" cy="4093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19" y="975826"/>
            <a:ext cx="36880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Операции ЕНП </a:t>
            </a:r>
            <a:endParaRPr lang="ru-RU" b="1" dirty="0" smtClean="0">
              <a:solidFill>
                <a:srgbClr val="C00000"/>
              </a:solidFill>
            </a:endParaRPr>
          </a:p>
          <a:p>
            <a:endParaRPr lang="ru-RU" sz="1000" dirty="0"/>
          </a:p>
          <a:p>
            <a:r>
              <a:rPr lang="ru-RU" sz="1600" dirty="0" smtClean="0"/>
              <a:t>Расшифровка </a:t>
            </a:r>
            <a:r>
              <a:rPr lang="ru-RU" sz="1600" dirty="0"/>
              <a:t>поступления средств в качестве Единого налогового платежа и направления их </a:t>
            </a:r>
            <a:r>
              <a:rPr lang="ru-RU" sz="1600" dirty="0" smtClean="0"/>
              <a:t>списания</a:t>
            </a:r>
          </a:p>
          <a:p>
            <a:endParaRPr lang="ru-RU" sz="1000" dirty="0" smtClean="0"/>
          </a:p>
          <a:p>
            <a:r>
              <a:rPr lang="ru-RU" sz="14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Поступления денег на счет (уплаты) </a:t>
            </a:r>
            <a:endParaRPr lang="ru-RU" sz="1600" dirty="0" smtClean="0"/>
          </a:p>
          <a:p>
            <a:r>
              <a:rPr lang="ru-RU" sz="14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Каким образом средства распределялись между каждым </a:t>
            </a:r>
            <a:endParaRPr lang="ru-RU" sz="1600" dirty="0" smtClean="0"/>
          </a:p>
          <a:p>
            <a:endParaRPr lang="ru-RU" sz="1600" dirty="0"/>
          </a:p>
          <a:p>
            <a:r>
              <a:rPr lang="ru-RU" b="1" dirty="0" smtClean="0">
                <a:solidFill>
                  <a:srgbClr val="C00000"/>
                </a:solidFill>
              </a:rPr>
              <a:t>История </a:t>
            </a:r>
            <a:r>
              <a:rPr lang="ru-RU" b="1" dirty="0">
                <a:solidFill>
                  <a:srgbClr val="C00000"/>
                </a:solidFill>
              </a:rPr>
              <a:t>ЕНС </a:t>
            </a:r>
            <a:endParaRPr lang="ru-RU" b="1" dirty="0" smtClean="0">
              <a:solidFill>
                <a:srgbClr val="C00000"/>
              </a:solidFill>
            </a:endParaRPr>
          </a:p>
          <a:p>
            <a:endParaRPr lang="ru-RU" sz="1000" dirty="0" smtClean="0"/>
          </a:p>
          <a:p>
            <a:r>
              <a:rPr lang="ru-RU" sz="1600" dirty="0" smtClean="0"/>
              <a:t>История </a:t>
            </a:r>
            <a:r>
              <a:rPr lang="ru-RU" sz="1600" dirty="0"/>
              <a:t>изменения сальдо по датам</a:t>
            </a:r>
          </a:p>
        </p:txBody>
      </p:sp>
    </p:spTree>
    <p:extLst>
      <p:ext uri="{BB962C8B-B14F-4D97-AF65-F5344CB8AC3E}">
        <p14:creationId xmlns:p14="http://schemas.microsoft.com/office/powerpoint/2010/main" val="284511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>
                  <a:solidFill>
                    <a:srgbClr val="C00000"/>
                  </a:solidFill>
                </a:rPr>
                <a:t>Пополнение ЕНС</a:t>
              </a: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764" y="754949"/>
            <a:ext cx="4400071" cy="4303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69219" y="1076919"/>
            <a:ext cx="419610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Пополнить ЕНС </a:t>
            </a:r>
            <a:endParaRPr lang="ru-RU" b="1" dirty="0" smtClean="0">
              <a:solidFill>
                <a:srgbClr val="C00000"/>
              </a:solidFill>
            </a:endParaRPr>
          </a:p>
          <a:p>
            <a:endParaRPr lang="ru-RU" sz="1000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Сформировать платежное поручение </a:t>
            </a:r>
            <a:endParaRPr lang="ru-RU" sz="1600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Указать «Сумму» к уплате </a:t>
            </a:r>
            <a:endParaRPr lang="ru-RU" sz="1600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Форма платежки — упрощенная (только для отправки /выгрузки)</a:t>
            </a:r>
            <a:r>
              <a:rPr lang="ru-RU" dirty="0"/>
              <a:t> </a:t>
            </a:r>
            <a:endParaRPr lang="ru-RU" dirty="0" smtClean="0"/>
          </a:p>
          <a:p>
            <a:endParaRPr lang="ru-RU" sz="2400" dirty="0"/>
          </a:p>
          <a:p>
            <a:endParaRPr lang="ru-RU" sz="2400" dirty="0"/>
          </a:p>
          <a:p>
            <a:r>
              <a:rPr lang="ru-RU" b="1" dirty="0" smtClean="0">
                <a:solidFill>
                  <a:srgbClr val="C00000"/>
                </a:solidFill>
              </a:rPr>
              <a:t>Распорядиться </a:t>
            </a:r>
            <a:r>
              <a:rPr lang="ru-RU" b="1" dirty="0">
                <a:solidFill>
                  <a:srgbClr val="C00000"/>
                </a:solidFill>
              </a:rPr>
              <a:t>сальдо </a:t>
            </a:r>
            <a:endParaRPr lang="ru-RU" b="1" dirty="0" smtClean="0">
              <a:solidFill>
                <a:srgbClr val="C00000"/>
              </a:solidFill>
            </a:endParaRPr>
          </a:p>
          <a:p>
            <a:endParaRPr lang="ru-RU" sz="1000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Вернуть </a:t>
            </a:r>
            <a:endParaRPr lang="ru-RU" sz="1600" dirty="0" smtClean="0"/>
          </a:p>
          <a:p>
            <a:r>
              <a:rPr lang="ru-RU" sz="1200" dirty="0" smtClean="0">
                <a:solidFill>
                  <a:srgbClr val="C00000"/>
                </a:solidFill>
              </a:rPr>
              <a:t>➔</a:t>
            </a:r>
            <a:r>
              <a:rPr lang="ru-RU" sz="1600" dirty="0" smtClean="0"/>
              <a:t> </a:t>
            </a:r>
            <a:r>
              <a:rPr lang="ru-RU" sz="1600" dirty="0"/>
              <a:t>Подать заявление о зачете</a:t>
            </a:r>
          </a:p>
        </p:txBody>
      </p:sp>
    </p:spTree>
    <p:extLst>
      <p:ext uri="{BB962C8B-B14F-4D97-AF65-F5344CB8AC3E}">
        <p14:creationId xmlns:p14="http://schemas.microsoft.com/office/powerpoint/2010/main" val="223715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Выводы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1047576"/>
            <a:ext cx="82448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 smtClean="0"/>
              <a:t>1. </a:t>
            </a:r>
            <a:r>
              <a:rPr lang="ru-RU" dirty="0" smtClean="0"/>
              <a:t>Работать </a:t>
            </a:r>
            <a:r>
              <a:rPr lang="ru-RU" dirty="0"/>
              <a:t>с ЕНС в </a:t>
            </a:r>
            <a:r>
              <a:rPr lang="ru-RU" dirty="0">
                <a:solidFill>
                  <a:srgbClr val="C00000"/>
                </a:solidFill>
              </a:rPr>
              <a:t>1С</a:t>
            </a:r>
            <a:r>
              <a:rPr lang="ru-RU" dirty="0"/>
              <a:t> стало проще – не нужно вручную распределять налоги и делать </a:t>
            </a:r>
            <a:r>
              <a:rPr lang="ru-RU" dirty="0" smtClean="0"/>
              <a:t>зачёты</a:t>
            </a:r>
            <a:endParaRPr lang="ru-RU" dirty="0"/>
          </a:p>
          <a:p>
            <a:pPr>
              <a:spcAft>
                <a:spcPts val="600"/>
              </a:spcAft>
            </a:pPr>
            <a:r>
              <a:rPr lang="ru-RU" b="1" dirty="0" smtClean="0"/>
              <a:t>2. </a:t>
            </a:r>
            <a:r>
              <a:rPr lang="ru-RU" dirty="0" smtClean="0"/>
              <a:t>Учёт </a:t>
            </a:r>
            <a:r>
              <a:rPr lang="ru-RU" dirty="0"/>
              <a:t>максимально приближен к данным ФНС – вы всегда видите актуальное сальдо и предстоящие </a:t>
            </a:r>
            <a:r>
              <a:rPr lang="ru-RU" dirty="0" smtClean="0"/>
              <a:t>платежи</a:t>
            </a:r>
            <a:endParaRPr lang="ru-RU" dirty="0"/>
          </a:p>
          <a:p>
            <a:pPr>
              <a:spcAft>
                <a:spcPts val="600"/>
              </a:spcAft>
            </a:pPr>
            <a:r>
              <a:rPr lang="ru-RU" b="1" dirty="0" smtClean="0"/>
              <a:t>3. </a:t>
            </a:r>
            <a:r>
              <a:rPr lang="ru-RU" dirty="0" smtClean="0"/>
              <a:t>Документ </a:t>
            </a:r>
            <a:r>
              <a:rPr lang="ru-RU" dirty="0"/>
              <a:t>«Операции ЕНС» (с 2026 г.) – универсальный инструмент: и для автоматического переноса налогов, и для ручных </a:t>
            </a:r>
            <a:r>
              <a:rPr lang="ru-RU" dirty="0" smtClean="0"/>
              <a:t>корректировок</a:t>
            </a:r>
            <a:endParaRPr lang="ru-RU" dirty="0"/>
          </a:p>
          <a:p>
            <a:pPr>
              <a:spcAft>
                <a:spcPts val="600"/>
              </a:spcAft>
            </a:pPr>
            <a:r>
              <a:rPr lang="ru-RU" b="1" dirty="0" smtClean="0"/>
              <a:t>4. </a:t>
            </a:r>
            <a:r>
              <a:rPr lang="ru-RU" dirty="0" smtClean="0"/>
              <a:t>Регламентная </a:t>
            </a:r>
            <a:r>
              <a:rPr lang="ru-RU" dirty="0"/>
              <a:t>операция «Начисление налогов на ЕНС» делает всю работу по срокам уплаты – проверяйте её перед закрытием </a:t>
            </a:r>
            <a:r>
              <a:rPr lang="ru-RU" dirty="0" smtClean="0"/>
              <a:t>месяца</a:t>
            </a:r>
            <a:endParaRPr lang="ru-RU" dirty="0"/>
          </a:p>
          <a:p>
            <a:pPr>
              <a:spcAft>
                <a:spcPts val="600"/>
              </a:spcAft>
            </a:pPr>
            <a:r>
              <a:rPr lang="ru-RU" b="1" dirty="0" smtClean="0"/>
              <a:t>5. </a:t>
            </a:r>
            <a:r>
              <a:rPr lang="ru-RU" dirty="0" smtClean="0"/>
              <a:t>Ручные </a:t>
            </a:r>
            <a:r>
              <a:rPr lang="ru-RU" dirty="0"/>
              <a:t>корректировки возможны, но «замораживают» документ – используйте их только при явных расхождениях с ЛК </a:t>
            </a:r>
            <a:r>
              <a:rPr lang="ru-RU" dirty="0" smtClean="0"/>
              <a:t>ФНС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696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599262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Спасибо за внимание!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871" b="11739"/>
          <a:stretch/>
        </p:blipFill>
        <p:spPr bwMode="auto">
          <a:xfrm>
            <a:off x="209151" y="1151630"/>
            <a:ext cx="8751969" cy="371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15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9E5886C2-B1BE-45F3-A960-1C5AEC8E92A0}"/>
              </a:ext>
            </a:extLst>
          </p:cNvPr>
          <p:cNvGrpSpPr/>
          <p:nvPr/>
        </p:nvGrpSpPr>
        <p:grpSpPr>
          <a:xfrm>
            <a:off x="0" y="0"/>
            <a:ext cx="7134837" cy="5108495"/>
            <a:chOff x="0" y="0"/>
            <a:chExt cx="9513116" cy="6811326"/>
          </a:xfrm>
        </p:grpSpPr>
        <p:pic>
          <p:nvPicPr>
            <p:cNvPr id="2" name="Рисунок 1">
              <a:extLst>
                <a:ext uri="{FF2B5EF4-FFF2-40B4-BE49-F238E27FC236}">
                  <a16:creationId xmlns="" xmlns:a16="http://schemas.microsoft.com/office/drawing/2014/main" id="{ED932F81-B70D-4BBC-AA23-DD7264C1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069066" cy="6811326"/>
            </a:xfrm>
            <a:prstGeom prst="rect">
              <a:avLst/>
            </a:prstGeom>
          </p:spPr>
        </p:pic>
        <p:sp>
          <p:nvSpPr>
            <p:cNvPr id="3" name="Прямоугольник 2">
              <a:extLst>
                <a:ext uri="{FF2B5EF4-FFF2-40B4-BE49-F238E27FC236}">
                  <a16:creationId xmlns="" xmlns:a16="http://schemas.microsoft.com/office/drawing/2014/main" id="{38867F3C-6CC7-4590-9FDB-641FA8C4377C}"/>
                </a:ext>
              </a:extLst>
            </p:cNvPr>
            <p:cNvSpPr/>
            <p:nvPr/>
          </p:nvSpPr>
          <p:spPr>
            <a:xfrm>
              <a:off x="906011" y="184559"/>
              <a:ext cx="6785109" cy="503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dirty="0" smtClean="0">
                  <a:solidFill>
                    <a:srgbClr val="C00000"/>
                  </a:solidFill>
                </a:rPr>
                <a:t>Ссылки </a:t>
              </a:r>
              <a:r>
                <a:rPr lang="en-US" sz="2400" dirty="0" smtClean="0">
                  <a:solidFill>
                    <a:srgbClr val="C00000"/>
                  </a:solidFill>
                </a:rPr>
                <a:t>[</a:t>
              </a:r>
              <a:r>
                <a:rPr lang="ru-RU" sz="2400" dirty="0" smtClean="0">
                  <a:solidFill>
                    <a:srgbClr val="C00000"/>
                  </a:solidFill>
                </a:rPr>
                <a:t>дата обращения</a:t>
              </a:r>
              <a:r>
                <a:rPr lang="en-US" sz="2400" dirty="0">
                  <a:solidFill>
                    <a:srgbClr val="C00000"/>
                  </a:solidFill>
                </a:rPr>
                <a:t>:</a:t>
              </a:r>
              <a:r>
                <a:rPr lang="ru-RU" sz="2400" dirty="0" smtClean="0">
                  <a:solidFill>
                    <a:srgbClr val="C00000"/>
                  </a:solidFill>
                </a:rPr>
                <a:t> 25.05.26</a:t>
              </a:r>
              <a:r>
                <a:rPr lang="en-US" sz="2400" dirty="0">
                  <a:solidFill>
                    <a:srgbClr val="C00000"/>
                  </a:solidFill>
                </a:rPr>
                <a:t>]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9655AB14-6D6F-418E-9FFF-1F904C55F52A}"/>
                </a:ext>
              </a:extLst>
            </p:cNvPr>
            <p:cNvSpPr/>
            <p:nvPr/>
          </p:nvSpPr>
          <p:spPr>
            <a:xfrm>
              <a:off x="67112" y="1091968"/>
              <a:ext cx="9446004" cy="5652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013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94957" y="1074420"/>
            <a:ext cx="84680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portal.1c.ru/applications/1C-ENS</a:t>
            </a:r>
            <a:endParaRPr lang="ru-RU" dirty="0" smtClean="0"/>
          </a:p>
          <a:p>
            <a:endParaRPr lang="ru-RU" dirty="0"/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fserver.1c.ru/its/files/1782251561e4933791217609bcefb7fdbce506e02d/video/lector/lector20250312/lector20250312-1.pdf</a:t>
            </a:r>
            <a:endParaRPr lang="ru-RU" dirty="0" smtClean="0"/>
          </a:p>
          <a:p>
            <a:endParaRPr lang="ru-RU" dirty="0"/>
          </a:p>
          <a:p>
            <a:r>
              <a:rPr lang="en-US" dirty="0">
                <a:hlinkClick r:id="rId5"/>
              </a:rPr>
              <a:t>https://astral.ru/aj/elem/lichnyy-kabinet-ens-v-1s-kak-nastroit-za-15-minut-i-zabyt-o-ruchnykh-sverkakh</a:t>
            </a:r>
            <a:r>
              <a:rPr lang="en-US" dirty="0" smtClean="0">
                <a:hlinkClick r:id="rId5"/>
              </a:rPr>
              <a:t>/</a:t>
            </a:r>
            <a:endParaRPr lang="ru-RU" dirty="0" smtClean="0"/>
          </a:p>
          <a:p>
            <a:endParaRPr lang="ru-RU" dirty="0"/>
          </a:p>
          <a:p>
            <a:r>
              <a:rPr lang="en-US" dirty="0">
                <a:hlinkClick r:id="rId6"/>
              </a:rPr>
              <a:t>https://www.klerk.ru/blogs/e-office24/611401</a:t>
            </a:r>
            <a:r>
              <a:rPr lang="en-US" dirty="0" smtClean="0">
                <a:hlinkClick r:id="rId6"/>
              </a:rPr>
              <a:t>/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65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512</Words>
  <Application>Microsoft Office PowerPoint</Application>
  <PresentationFormat>Экран (16:9)</PresentationFormat>
  <Paragraphs>92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Ченцов Егор Андреевич</dc:creator>
  <cp:lastModifiedBy>Home</cp:lastModifiedBy>
  <cp:revision>28</cp:revision>
  <dcterms:created xsi:type="dcterms:W3CDTF">2026-05-23T09:35:21Z</dcterms:created>
  <dcterms:modified xsi:type="dcterms:W3CDTF">2026-07-09T10:05:18Z</dcterms:modified>
</cp:coreProperties>
</file>