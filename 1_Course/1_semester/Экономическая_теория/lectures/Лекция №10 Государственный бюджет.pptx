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98" r:id="rId4"/>
    <p:sldId id="300" r:id="rId5"/>
    <p:sldId id="258" r:id="rId6"/>
    <p:sldId id="259" r:id="rId7"/>
    <p:sldId id="260" r:id="rId8"/>
    <p:sldId id="261" r:id="rId9"/>
    <p:sldId id="296" r:id="rId10"/>
    <p:sldId id="262" r:id="rId11"/>
    <p:sldId id="263" r:id="rId12"/>
    <p:sldId id="264" r:id="rId13"/>
    <p:sldId id="265" r:id="rId14"/>
    <p:sldId id="266" r:id="rId15"/>
    <p:sldId id="267" r:id="rId16"/>
    <p:sldId id="268" r:id="rId17"/>
    <p:sldId id="269" r:id="rId18"/>
    <p:sldId id="270" r:id="rId19"/>
    <p:sldId id="271" r:id="rId20"/>
    <p:sldId id="272" r:id="rId21"/>
    <p:sldId id="294" r:id="rId22"/>
    <p:sldId id="273" r:id="rId23"/>
    <p:sldId id="295" r:id="rId24"/>
    <p:sldId id="274" r:id="rId25"/>
    <p:sldId id="275" r:id="rId26"/>
    <p:sldId id="293" r:id="rId27"/>
    <p:sldId id="276" r:id="rId28"/>
    <p:sldId id="292" r:id="rId29"/>
    <p:sldId id="277" r:id="rId30"/>
    <p:sldId id="278" r:id="rId31"/>
    <p:sldId id="279" r:id="rId32"/>
    <p:sldId id="280" r:id="rId33"/>
    <p:sldId id="299" r:id="rId34"/>
    <p:sldId id="281" r:id="rId3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Средний стиль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5" name="Скругленный прямоугольник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Скругленный прямоугольник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Заголовок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ru-RU"/>
              <a:t>Образец заголовка</a:t>
            </a:r>
            <a:endParaRPr kumimoji="0" lang="en-US"/>
          </a:p>
        </p:txBody>
      </p:sp>
      <p:sp>
        <p:nvSpPr>
          <p:cNvPr id="20" name="Подзаголовок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ru-RU"/>
              <a:t>Образец подзаголовка</a:t>
            </a:r>
            <a:endParaRPr kumimoji="0" lang="en-US"/>
          </a:p>
        </p:txBody>
      </p:sp>
      <p:sp>
        <p:nvSpPr>
          <p:cNvPr id="19" name="Дата 18"/>
          <p:cNvSpPr>
            <a:spLocks noGrp="1"/>
          </p:cNvSpPr>
          <p:nvPr>
            <p:ph type="dt" sz="half" idx="10"/>
          </p:nvPr>
        </p:nvSpPr>
        <p:spPr/>
        <p:txBody>
          <a:bodyPr/>
          <a:lstStyle/>
          <a:p>
            <a:fld id="{09C6652D-DB59-4585-ACC9-5412A4C2AD47}" type="datetimeFigureOut">
              <a:rPr lang="ru-RU" smtClean="0"/>
              <a:t>21.10.2021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11" name="Номер слайда 10"/>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2920" y="4983480"/>
            <a:ext cx="8183880" cy="1051560"/>
          </a:xfrm>
        </p:spPr>
        <p:txBody>
          <a:bodyPr/>
          <a:lstStyle/>
          <a:p>
            <a:r>
              <a:rPr kumimoji="0" lang="ru-RU"/>
              <a:t>Образец заголовка</a:t>
            </a:r>
            <a:endParaRPr kumimoji="0" lang="en-US"/>
          </a:p>
        </p:txBody>
      </p:sp>
      <p:sp>
        <p:nvSpPr>
          <p:cNvPr id="3" name="Содержимое 2"/>
          <p:cNvSpPr>
            <a:spLocks noGrp="1"/>
          </p:cNvSpPr>
          <p:nvPr>
            <p:ph idx="1"/>
          </p:nvPr>
        </p:nvSpPr>
        <p:spPr>
          <a:xfrm>
            <a:off x="502920" y="530352"/>
            <a:ext cx="8183880" cy="4187952"/>
          </a:xfrm>
        </p:spPr>
        <p:txBody>
          <a:bodyPr/>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09C6652D-DB59-4585-ACC9-5412A4C2AD47}" type="datetimeFigureOut">
              <a:rPr lang="ru-RU" smtClean="0"/>
              <a:t>21.10.2021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Скругленный прямоугольник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Скругленный прямоугольник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ru-RU"/>
              <a:t>Образец заголовка</a:t>
            </a:r>
            <a:endParaRPr kumimoji="0" lang="en-US"/>
          </a:p>
        </p:txBody>
      </p:sp>
      <p:sp>
        <p:nvSpPr>
          <p:cNvPr id="3" name="Текст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ru-RU"/>
              <a:t>Образец текста</a:t>
            </a:r>
          </a:p>
        </p:txBody>
      </p:sp>
      <p:sp>
        <p:nvSpPr>
          <p:cNvPr id="4" name="Дата 3"/>
          <p:cNvSpPr>
            <a:spLocks noGrp="1"/>
          </p:cNvSpPr>
          <p:nvPr>
            <p:ph type="dt" sz="half" idx="10"/>
          </p:nvPr>
        </p:nvSpPr>
        <p:spPr/>
        <p:txBody>
          <a:bodyPr/>
          <a:lstStyle/>
          <a:p>
            <a:fld id="{09C6652D-DB59-4585-ACC9-5412A4C2AD47}" type="datetimeFigureOut">
              <a:rPr lang="ru-RU" smtClean="0"/>
              <a:t>21.10.2021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Содержимое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Содержимое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09C6652D-DB59-4585-ACC9-5412A4C2AD47}" type="datetimeFigureOut">
              <a:rPr lang="ru-RU" smtClean="0"/>
              <a:t>21.10.2021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2920" y="4983480"/>
            <a:ext cx="8183880" cy="1051560"/>
          </a:xfrm>
        </p:spPr>
        <p:txBody>
          <a:bodyPr anchor="b"/>
          <a:lstStyle>
            <a:lvl1pPr>
              <a:defRPr b="1"/>
            </a:lvl1pPr>
            <a:extLst/>
          </a:lstStyle>
          <a:p>
            <a:r>
              <a:rPr kumimoji="0" lang="ru-RU"/>
              <a:t>Образец заголовка</a:t>
            </a:r>
            <a:endParaRPr kumimoji="0" lang="en-US"/>
          </a:p>
        </p:txBody>
      </p:sp>
      <p:sp>
        <p:nvSpPr>
          <p:cNvPr id="3" name="Текст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4" name="Текст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ru-RU"/>
              <a:t>Образец текста</a:t>
            </a:r>
          </a:p>
        </p:txBody>
      </p:sp>
      <p:sp>
        <p:nvSpPr>
          <p:cNvPr id="5" name="Содержимое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6" name="Содержимое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7" name="Дата 6"/>
          <p:cNvSpPr>
            <a:spLocks noGrp="1"/>
          </p:cNvSpPr>
          <p:nvPr>
            <p:ph type="dt" sz="half" idx="10"/>
          </p:nvPr>
        </p:nvSpPr>
        <p:spPr/>
        <p:txBody>
          <a:bodyPr/>
          <a:lstStyle/>
          <a:p>
            <a:fld id="{09C6652D-DB59-4585-ACC9-5412A4C2AD47}" type="datetimeFigureOut">
              <a:rPr lang="ru-RU" smtClean="0"/>
              <a:t>21.10.2021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kumimoji="0" lang="ru-RU"/>
              <a:t>Образец заголовка</a:t>
            </a:r>
            <a:endParaRPr kumimoji="0" lang="en-US"/>
          </a:p>
        </p:txBody>
      </p:sp>
      <p:sp>
        <p:nvSpPr>
          <p:cNvPr id="3" name="Дата 2"/>
          <p:cNvSpPr>
            <a:spLocks noGrp="1"/>
          </p:cNvSpPr>
          <p:nvPr>
            <p:ph type="dt" sz="half" idx="10"/>
          </p:nvPr>
        </p:nvSpPr>
        <p:spPr/>
        <p:txBody>
          <a:bodyPr/>
          <a:lstStyle/>
          <a:p>
            <a:fld id="{09C6652D-DB59-4585-ACC9-5412A4C2AD47}" type="datetimeFigureOut">
              <a:rPr lang="ru-RU" smtClean="0"/>
              <a:t>21.10.2021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7" name="Скругленный прямоугольник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Дата 1"/>
          <p:cNvSpPr>
            <a:spLocks noGrp="1"/>
          </p:cNvSpPr>
          <p:nvPr>
            <p:ph type="dt" sz="half" idx="10"/>
          </p:nvPr>
        </p:nvSpPr>
        <p:spPr/>
        <p:txBody>
          <a:bodyPr/>
          <a:lstStyle/>
          <a:p>
            <a:fld id="{09C6652D-DB59-4585-ACC9-5412A4C2AD47}" type="datetimeFigureOut">
              <a:rPr lang="ru-RU" smtClean="0"/>
              <a:t>21.10.2021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ru-RU"/>
              <a:t>Образец заголовка</a:t>
            </a:r>
            <a:endParaRPr kumimoji="0" lang="en-US"/>
          </a:p>
        </p:txBody>
      </p:sp>
      <p:sp>
        <p:nvSpPr>
          <p:cNvPr id="3" name="Текст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Содержимое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09C6652D-DB59-4585-ACC9-5412A4C2AD47}" type="datetimeFigureOut">
              <a:rPr lang="ru-RU" smtClean="0"/>
              <a:t>21.10.2021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Скругленный прямоугольник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Прямоугольник с одним скругленным углом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Заголовок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ru-RU"/>
              <a:t>Образец заголовка</a:t>
            </a:r>
            <a:endParaRPr kumimoji="0" lang="en-US"/>
          </a:p>
        </p:txBody>
      </p:sp>
      <p:sp>
        <p:nvSpPr>
          <p:cNvPr id="4" name="Текст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5" name="Дата 4"/>
          <p:cNvSpPr>
            <a:spLocks noGrp="1"/>
          </p:cNvSpPr>
          <p:nvPr>
            <p:ph type="dt" sz="half" idx="10"/>
          </p:nvPr>
        </p:nvSpPr>
        <p:spPr/>
        <p:txBody>
          <a:bodyPr/>
          <a:lstStyle/>
          <a:p>
            <a:fld id="{09C6652D-DB59-4585-ACC9-5412A4C2AD47}" type="datetimeFigureOut">
              <a:rPr lang="ru-RU" smtClean="0"/>
              <a:t>21.10.2021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1A946E8-B5B9-4822-99F3-84697A3057FD}" type="slidenum">
              <a:rPr lang="ru-RU" smtClean="0"/>
              <a:t>‹#›</a:t>
            </a:fld>
            <a:endParaRPr lang="ru-RU"/>
          </a:p>
        </p:txBody>
      </p:sp>
      <p:sp>
        <p:nvSpPr>
          <p:cNvPr id="3" name="Рисунок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ru-RU"/>
              <a:t>Вставка рисунка</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02920" y="4983480"/>
            <a:ext cx="8183880" cy="1051560"/>
          </a:xfrm>
        </p:spPr>
        <p:txBody>
          <a:bodyPr/>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502920" y="530352"/>
            <a:ext cx="8183880" cy="4187952"/>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09C6652D-DB59-4585-ACC9-5412A4C2AD47}" type="datetimeFigureOut">
              <a:rPr lang="ru-RU" smtClean="0"/>
              <a:t>21.10.2021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533404"/>
            <a:ext cx="1981200" cy="5257799"/>
          </a:xfrm>
        </p:spPr>
        <p:txBody>
          <a:bodyPr vert="eaVert"/>
          <a:lstStyle/>
          <a:p>
            <a:r>
              <a:rPr kumimoji="0" lang="ru-RU"/>
              <a:t>Образец заголовка</a:t>
            </a:r>
            <a:endParaRPr kumimoji="0" lang="en-US"/>
          </a:p>
        </p:txBody>
      </p:sp>
      <p:sp>
        <p:nvSpPr>
          <p:cNvPr id="3" name="Вертикальный текст 2"/>
          <p:cNvSpPr>
            <a:spLocks noGrp="1"/>
          </p:cNvSpPr>
          <p:nvPr>
            <p:ph type="body" orient="vert" idx="1"/>
          </p:nvPr>
        </p:nvSpPr>
        <p:spPr>
          <a:xfrm>
            <a:off x="533400" y="533402"/>
            <a:ext cx="5943600" cy="5257801"/>
          </a:xfrm>
        </p:spPr>
        <p:txBody>
          <a:bodyPr vert="eaVert"/>
          <a:lstStyle/>
          <a:p>
            <a:pPr lvl="0" eaLnBrk="1" latinLnBrk="0" hangingPunct="1"/>
            <a:r>
              <a:rPr lang="ru-RU"/>
              <a:t>Образец текста</a:t>
            </a:r>
          </a:p>
          <a:p>
            <a:pPr lvl="1" eaLnBrk="1" latinLnBrk="0" hangingPunct="1"/>
            <a:r>
              <a:rPr lang="ru-RU"/>
              <a:t>Второй уровень</a:t>
            </a:r>
          </a:p>
          <a:p>
            <a:pPr lvl="2" eaLnBrk="1" latinLnBrk="0" hangingPunct="1"/>
            <a:r>
              <a:rPr lang="ru-RU"/>
              <a:t>Третий уровень</a:t>
            </a:r>
          </a:p>
          <a:p>
            <a:pPr lvl="3" eaLnBrk="1" latinLnBrk="0" hangingPunct="1"/>
            <a:r>
              <a:rPr lang="ru-RU"/>
              <a:t>Четвертый уровень</a:t>
            </a:r>
          </a:p>
          <a:p>
            <a:pPr lvl="4" eaLnBrk="1" latinLnBrk="0" hangingPunct="1"/>
            <a:r>
              <a:rPr lang="ru-RU"/>
              <a:t>Пятый уровень</a:t>
            </a:r>
            <a:endParaRPr kumimoji="0" lang="en-US"/>
          </a:p>
        </p:txBody>
      </p:sp>
      <p:sp>
        <p:nvSpPr>
          <p:cNvPr id="4" name="Дата 3"/>
          <p:cNvSpPr>
            <a:spLocks noGrp="1"/>
          </p:cNvSpPr>
          <p:nvPr>
            <p:ph type="dt" sz="half" idx="10"/>
          </p:nvPr>
        </p:nvSpPr>
        <p:spPr/>
        <p:txBody>
          <a:bodyPr/>
          <a:lstStyle/>
          <a:p>
            <a:fld id="{09C6652D-DB59-4585-ACC9-5412A4C2AD47}" type="datetimeFigureOut">
              <a:rPr lang="ru-RU" smtClean="0"/>
              <a:t>21.10.2021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1A946E8-B5B9-4822-99F3-84697A3057FD}"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Скругленный прямоугольник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Скругленный прямоугольник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Заголовок 12"/>
          <p:cNvSpPr>
            <a:spLocks noGrp="1"/>
          </p:cNvSpPr>
          <p:nvPr>
            <p:ph type="title"/>
          </p:nvPr>
        </p:nvSpPr>
        <p:spPr>
          <a:xfrm>
            <a:off x="502920" y="4985590"/>
            <a:ext cx="8183880" cy="1051560"/>
          </a:xfrm>
          <a:prstGeom prst="rect">
            <a:avLst/>
          </a:prstGeom>
        </p:spPr>
        <p:txBody>
          <a:bodyPr vert="horz" anchor="b">
            <a:normAutofit/>
          </a:bodyPr>
          <a:lstStyle/>
          <a:p>
            <a:r>
              <a:rPr kumimoji="0" lang="ru-RU"/>
              <a:t>Образец заголовка</a:t>
            </a:r>
            <a:endParaRPr kumimoji="0" lang="en-US"/>
          </a:p>
        </p:txBody>
      </p:sp>
      <p:sp>
        <p:nvSpPr>
          <p:cNvPr id="4" name="Текст 3"/>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ru-RU"/>
              <a:t>Образец текста</a:t>
            </a:r>
          </a:p>
          <a:p>
            <a:pPr lvl="1" eaLnBrk="1" latinLnBrk="0" hangingPunct="1"/>
            <a:r>
              <a:rPr kumimoji="0" lang="ru-RU"/>
              <a:t>Второй уровень</a:t>
            </a:r>
          </a:p>
          <a:p>
            <a:pPr lvl="2" eaLnBrk="1" latinLnBrk="0" hangingPunct="1"/>
            <a:r>
              <a:rPr kumimoji="0" lang="ru-RU"/>
              <a:t>Третий уровень</a:t>
            </a:r>
          </a:p>
          <a:p>
            <a:pPr lvl="3" eaLnBrk="1" latinLnBrk="0" hangingPunct="1"/>
            <a:r>
              <a:rPr kumimoji="0" lang="ru-RU"/>
              <a:t>Четвертый уровень</a:t>
            </a:r>
          </a:p>
          <a:p>
            <a:pPr lvl="4" eaLnBrk="1" latinLnBrk="0" hangingPunct="1"/>
            <a:r>
              <a:rPr kumimoji="0" lang="ru-RU"/>
              <a:t>Пятый уровень</a:t>
            </a:r>
            <a:endParaRPr kumimoji="0" lang="en-US"/>
          </a:p>
        </p:txBody>
      </p:sp>
      <p:sp>
        <p:nvSpPr>
          <p:cNvPr id="25" name="Дата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09C6652D-DB59-4585-ACC9-5412A4C2AD47}" type="datetimeFigureOut">
              <a:rPr lang="ru-RU" smtClean="0"/>
              <a:t>21.10.2021</a:t>
            </a:fld>
            <a:endParaRPr lang="ru-RU"/>
          </a:p>
        </p:txBody>
      </p:sp>
      <p:sp>
        <p:nvSpPr>
          <p:cNvPr id="18" name="Нижний колонтитул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ru-RU"/>
          </a:p>
        </p:txBody>
      </p:sp>
      <p:sp>
        <p:nvSpPr>
          <p:cNvPr id="5" name="Номер слайда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A1A946E8-B5B9-4822-99F3-84697A3057FD}"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55576" y="1124744"/>
            <a:ext cx="7772400" cy="1470025"/>
          </a:xfrm>
          <a:solidFill>
            <a:schemeClr val="bg1"/>
          </a:solidFill>
        </p:spPr>
        <p:txBody>
          <a:bodyPr>
            <a:noAutofit/>
          </a:bodyPr>
          <a:lstStyle/>
          <a:p>
            <a:r>
              <a:rPr lang="ru-RU" sz="4800" dirty="0"/>
              <a:t>Государственный бюджет</a:t>
            </a:r>
          </a:p>
        </p:txBody>
      </p:sp>
      <p:sp>
        <p:nvSpPr>
          <p:cNvPr id="3" name="Подзаголовок 2"/>
          <p:cNvSpPr>
            <a:spLocks noGrp="1"/>
          </p:cNvSpPr>
          <p:nvPr>
            <p:ph type="subTitle" idx="1"/>
          </p:nvPr>
        </p:nvSpPr>
        <p:spPr>
          <a:xfrm>
            <a:off x="3851920" y="5229200"/>
            <a:ext cx="4968552" cy="1008112"/>
          </a:xfrm>
        </p:spPr>
        <p:txBody>
          <a:bodyPr>
            <a:noAutofit/>
          </a:bodyPr>
          <a:lstStyle/>
          <a:p>
            <a:pPr algn="l"/>
            <a:endParaRPr lang="ru-RU"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02920" y="530352"/>
            <a:ext cx="8183880" cy="5274912"/>
          </a:xfrm>
        </p:spPr>
        <p:txBody>
          <a:bodyPr>
            <a:normAutofit/>
          </a:bodyPr>
          <a:lstStyle/>
          <a:p>
            <a:pPr>
              <a:buNone/>
            </a:pPr>
            <a:r>
              <a:rPr lang="ru-RU" b="1" dirty="0"/>
              <a:t>Государственный бюджет </a:t>
            </a:r>
            <a:r>
              <a:rPr lang="ru-RU" dirty="0"/>
              <a:t>– это баланс доходов и расходов государства за определенный период времени (обычно за год), представляющий собой основной финансовый план страны, который после его принятия законодательным органом власти (Парламентом, Государственной Думой, Конгрессом и т.п.) приобретает силу закона и обязателен для исполнения.</a:t>
            </a:r>
            <a:br>
              <a:rPr lang="ru-RU" dirty="0"/>
            </a:br>
            <a:br>
              <a:rPr lang="ru-RU" dirty="0"/>
            </a:br>
            <a:endParaRPr lang="ru-RU"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Содержимое 5" descr="5bc09d62a7fb19a1e0b47c09adc3d4a0.jpg"/>
          <p:cNvPicPr>
            <a:picLocks noGrp="1" noChangeAspect="1"/>
          </p:cNvPicPr>
          <p:nvPr>
            <p:ph idx="1"/>
          </p:nvPr>
        </p:nvPicPr>
        <p:blipFill>
          <a:blip r:embed="rId2" cstate="print"/>
          <a:stretch>
            <a:fillRect/>
          </a:stretch>
        </p:blipFill>
        <p:spPr>
          <a:xfrm>
            <a:off x="467544" y="548680"/>
            <a:ext cx="8168918" cy="5256584"/>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Содержимое 3" descr="unnamed.png"/>
          <p:cNvPicPr>
            <a:picLocks noGrp="1" noChangeAspect="1"/>
          </p:cNvPicPr>
          <p:nvPr>
            <p:ph idx="1"/>
          </p:nvPr>
        </p:nvPicPr>
        <p:blipFill>
          <a:blip r:embed="rId2" cstate="print"/>
          <a:stretch>
            <a:fillRect/>
          </a:stretch>
        </p:blipFill>
        <p:spPr>
          <a:xfrm>
            <a:off x="467544" y="908720"/>
            <a:ext cx="8192908" cy="4752528"/>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80060" y="530352"/>
            <a:ext cx="8183880" cy="5346920"/>
          </a:xfrm>
        </p:spPr>
        <p:txBody>
          <a:bodyPr anchor="t">
            <a:normAutofit/>
          </a:bodyPr>
          <a:lstStyle/>
          <a:p>
            <a:pPr>
              <a:buNone/>
            </a:pPr>
            <a:r>
              <a:rPr lang="ru-RU" sz="2000" dirty="0"/>
              <a:t>При выполнении своих функций государство несёт многочисленные расходы. </a:t>
            </a:r>
            <a:r>
              <a:rPr lang="ru-RU" sz="2000" i="1" dirty="0"/>
              <a:t>По целям </a:t>
            </a:r>
            <a:r>
              <a:rPr lang="ru-RU" sz="2000" dirty="0"/>
              <a:t>расходы государства делятся на:</a:t>
            </a:r>
            <a:br>
              <a:rPr lang="ru-RU" sz="2400" dirty="0"/>
            </a:br>
            <a:br>
              <a:rPr lang="ru-RU" sz="2600" dirty="0"/>
            </a:br>
            <a:endParaRPr lang="ru-RU" sz="2600" dirty="0"/>
          </a:p>
        </p:txBody>
      </p:sp>
      <p:graphicFrame>
        <p:nvGraphicFramePr>
          <p:cNvPr id="4" name="Таблица 3"/>
          <p:cNvGraphicFramePr>
            <a:graphicFrameLocks noGrp="1"/>
          </p:cNvGraphicFramePr>
          <p:nvPr/>
        </p:nvGraphicFramePr>
        <p:xfrm>
          <a:off x="611560" y="1700808"/>
          <a:ext cx="7848872" cy="4336257"/>
        </p:xfrm>
        <a:graphic>
          <a:graphicData uri="http://schemas.openxmlformats.org/drawingml/2006/table">
            <a:tbl>
              <a:tblPr firstRow="1" bandRow="1">
                <a:tableStyleId>{D7AC3CCA-C797-4891-BE02-D94E43425B78}</a:tableStyleId>
              </a:tblPr>
              <a:tblGrid>
                <a:gridCol w="2016224">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tblGrid>
              <a:tr h="1445419">
                <a:tc>
                  <a:txBody>
                    <a:bodyPr/>
                    <a:lstStyle/>
                    <a:p>
                      <a:r>
                        <a:rPr kumimoji="0" lang="ru-RU" b="0" i="0" kern="1200" dirty="0">
                          <a:solidFill>
                            <a:schemeClr val="dk1"/>
                          </a:solidFill>
                          <a:latin typeface="+mn-lt"/>
                          <a:ea typeface="+mn-ea"/>
                          <a:cs typeface="+mn-cs"/>
                        </a:rPr>
                        <a:t>политические цели</a:t>
                      </a:r>
                      <a:endParaRPr lang="ru-RU" dirty="0"/>
                    </a:p>
                  </a:txBody>
                  <a:tcPr/>
                </a:tc>
                <a:tc>
                  <a:txBody>
                    <a:bodyPr/>
                    <a:lstStyle/>
                    <a:p>
                      <a:r>
                        <a:rPr kumimoji="0" lang="ru-RU" b="0" i="0" kern="1200" dirty="0">
                          <a:solidFill>
                            <a:schemeClr val="dk1"/>
                          </a:solidFill>
                          <a:latin typeface="+mn-lt"/>
                          <a:ea typeface="+mn-ea"/>
                          <a:cs typeface="+mn-cs"/>
                        </a:rPr>
                        <a:t>обеспечение национальной обороны и безопасности (содержание армии, полиции, судов и т.д.), содержание аппарата управления государством</a:t>
                      </a:r>
                      <a:endParaRPr lang="ru-RU" dirty="0"/>
                    </a:p>
                  </a:txBody>
                  <a:tcPr/>
                </a:tc>
                <a:extLst>
                  <a:ext uri="{0D108BD9-81ED-4DB2-BD59-A6C34878D82A}">
                    <a16:rowId xmlns:a16="http://schemas.microsoft.com/office/drawing/2014/main" val="10000"/>
                  </a:ext>
                </a:extLst>
              </a:tr>
              <a:tr h="1445419">
                <a:tc>
                  <a:txBody>
                    <a:bodyPr/>
                    <a:lstStyle/>
                    <a:p>
                      <a:r>
                        <a:rPr kumimoji="0" lang="ru-RU" b="0" i="0" kern="1200" dirty="0">
                          <a:solidFill>
                            <a:schemeClr val="dk1"/>
                          </a:solidFill>
                          <a:latin typeface="+mn-lt"/>
                          <a:ea typeface="+mn-ea"/>
                          <a:cs typeface="+mn-cs"/>
                        </a:rPr>
                        <a:t>экономические цели</a:t>
                      </a:r>
                      <a:endParaRPr lang="ru-RU" dirty="0"/>
                    </a:p>
                  </a:txBody>
                  <a:tcPr/>
                </a:tc>
                <a:tc>
                  <a:txBody>
                    <a:bodyPr/>
                    <a:lstStyle/>
                    <a:p>
                      <a:r>
                        <a:rPr kumimoji="0" lang="ru-RU" b="0" i="0" kern="1200" dirty="0">
                          <a:solidFill>
                            <a:schemeClr val="dk1"/>
                          </a:solidFill>
                          <a:latin typeface="+mn-lt"/>
                          <a:ea typeface="+mn-ea"/>
                          <a:cs typeface="+mn-cs"/>
                        </a:rPr>
                        <a:t>содержание и обеспечение функционирования государственного сектора экономики; помощь (прежде всего субсидирование) частному сектору экономики</a:t>
                      </a:r>
                      <a:endParaRPr lang="ru-RU" dirty="0"/>
                    </a:p>
                  </a:txBody>
                  <a:tcPr/>
                </a:tc>
                <a:extLst>
                  <a:ext uri="{0D108BD9-81ED-4DB2-BD59-A6C34878D82A}">
                    <a16:rowId xmlns:a16="http://schemas.microsoft.com/office/drawing/2014/main" val="10001"/>
                  </a:ext>
                </a:extLst>
              </a:tr>
              <a:tr h="1445419">
                <a:tc>
                  <a:txBody>
                    <a:bodyPr/>
                    <a:lstStyle/>
                    <a:p>
                      <a:r>
                        <a:rPr kumimoji="0" lang="ru-RU" b="0" i="0" kern="1200" dirty="0">
                          <a:solidFill>
                            <a:schemeClr val="dk1"/>
                          </a:solidFill>
                          <a:latin typeface="+mn-lt"/>
                          <a:ea typeface="+mn-ea"/>
                          <a:cs typeface="+mn-cs"/>
                        </a:rPr>
                        <a:t>социальные цели</a:t>
                      </a:r>
                      <a:endParaRPr lang="ru-RU" dirty="0"/>
                    </a:p>
                  </a:txBody>
                  <a:tcPr/>
                </a:tc>
                <a:tc>
                  <a:txBody>
                    <a:bodyPr/>
                    <a:lstStyle/>
                    <a:p>
                      <a:r>
                        <a:rPr kumimoji="0" lang="ru-RU" b="0" i="0" kern="1200" dirty="0">
                          <a:solidFill>
                            <a:schemeClr val="dk1"/>
                          </a:solidFill>
                          <a:latin typeface="+mn-lt"/>
                          <a:ea typeface="+mn-ea"/>
                          <a:cs typeface="+mn-cs"/>
                        </a:rPr>
                        <a:t>социальное обеспечение (выплата пенсий, стипендий, пособий ); образование, здравоохранение, развитие фундаментальной науки, охрана окружающей среды</a:t>
                      </a:r>
                      <a:endParaRPr lang="ru-RU"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02920" y="530352"/>
            <a:ext cx="8183880" cy="5202904"/>
          </a:xfrm>
        </p:spPr>
        <p:txBody>
          <a:bodyPr>
            <a:normAutofit fontScale="85000" lnSpcReduction="10000"/>
          </a:bodyPr>
          <a:lstStyle/>
          <a:p>
            <a:pPr>
              <a:buNone/>
            </a:pPr>
            <a:r>
              <a:rPr lang="ru-RU" i="1" dirty="0"/>
              <a:t>С макроэкономической точки зрения </a:t>
            </a:r>
            <a:r>
              <a:rPr lang="ru-RU" dirty="0"/>
              <a:t>все государственные расходы делятся на:</a:t>
            </a:r>
            <a:br>
              <a:rPr lang="ru-RU" dirty="0"/>
            </a:br>
            <a:br>
              <a:rPr lang="ru-RU" dirty="0"/>
            </a:br>
            <a:r>
              <a:rPr lang="ru-RU" dirty="0"/>
              <a:t>-</a:t>
            </a:r>
            <a:r>
              <a:rPr lang="ru-RU" u="sng" dirty="0"/>
              <a:t>государственные закупки товаров и услуг </a:t>
            </a:r>
            <a:r>
              <a:rPr lang="ru-RU" dirty="0"/>
              <a:t>(их стоимость включается в ВВП );</a:t>
            </a:r>
          </a:p>
          <a:p>
            <a:pPr>
              <a:buNone/>
            </a:pPr>
            <a:endParaRPr lang="ru-RU" dirty="0"/>
          </a:p>
          <a:p>
            <a:pPr>
              <a:buNone/>
            </a:pPr>
            <a:r>
              <a:rPr lang="ru-RU" dirty="0"/>
              <a:t>   -</a:t>
            </a:r>
            <a:r>
              <a:rPr lang="ru-RU" u="sng" dirty="0"/>
              <a:t>трансферты</a:t>
            </a:r>
            <a:r>
              <a:rPr lang="ru-RU" dirty="0"/>
              <a:t> (их стоимость не включается в ВВП, поскольку они являются результатом перераспределения национального дохода );</a:t>
            </a:r>
          </a:p>
          <a:p>
            <a:pPr>
              <a:buNone/>
            </a:pPr>
            <a:r>
              <a:rPr lang="ru-RU" dirty="0"/>
              <a:t> </a:t>
            </a:r>
            <a:br>
              <a:rPr lang="ru-RU" dirty="0"/>
            </a:br>
            <a:r>
              <a:rPr lang="ru-RU" dirty="0"/>
              <a:t>-</a:t>
            </a:r>
            <a:r>
              <a:rPr lang="ru-RU" u="sng" dirty="0"/>
              <a:t>выплаты процентов по государственным облигациям</a:t>
            </a:r>
            <a:r>
              <a:rPr lang="ru-RU" dirty="0"/>
              <a:t>, т. е. обслуживание государственного долга (эти расходы также не входят в ВВП, так как выплачиваются из доходов государственного бюджета).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835696" y="548680"/>
            <a:ext cx="5328592" cy="914400"/>
          </a:xfrm>
          <a:prstGeom prst="rect">
            <a:avLst/>
          </a:prstGeom>
          <a:solidFill>
            <a:schemeClr val="tx1">
              <a:lumMod val="65000"/>
              <a:lumOff val="35000"/>
            </a:schemeClr>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ru-RU" dirty="0"/>
              <a:t>Г</a:t>
            </a:r>
            <a:r>
              <a:rPr lang="ru-RU" i="1" dirty="0"/>
              <a:t>осударственные закупки товаров и услуг</a:t>
            </a:r>
            <a:endParaRPr lang="ru-RU" dirty="0"/>
          </a:p>
        </p:txBody>
      </p:sp>
      <p:sp>
        <p:nvSpPr>
          <p:cNvPr id="5" name="Прямоугольник 4"/>
          <p:cNvSpPr/>
          <p:nvPr/>
        </p:nvSpPr>
        <p:spPr>
          <a:xfrm>
            <a:off x="4860032" y="2564904"/>
            <a:ext cx="3888432" cy="3024336"/>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u="sng" dirty="0"/>
              <a:t>расходы на государственное потребление</a:t>
            </a:r>
            <a:r>
              <a:rPr lang="ru-RU" dirty="0"/>
              <a:t>, которые включают покупку государством потребительских товаров, оплату услуг государственных служащих, т. е. выплату жалования чиновникам, учителям, врачам</a:t>
            </a:r>
          </a:p>
        </p:txBody>
      </p:sp>
      <p:sp>
        <p:nvSpPr>
          <p:cNvPr id="6" name="Прямоугольник 5"/>
          <p:cNvSpPr/>
          <p:nvPr/>
        </p:nvSpPr>
        <p:spPr>
          <a:xfrm>
            <a:off x="467544" y="2564904"/>
            <a:ext cx="3672408" cy="3024336"/>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u="sng" dirty="0"/>
              <a:t>государственные инвестиции</a:t>
            </a:r>
            <a:r>
              <a:rPr lang="ru-RU" dirty="0"/>
              <a:t> - покупки государством инвестиционных товаров для обеспечения процесс производства в государственном секторе экономики, т. е. расходы на строительство дорог, школ, больниц и т. п.</a:t>
            </a:r>
          </a:p>
        </p:txBody>
      </p:sp>
      <p:sp>
        <p:nvSpPr>
          <p:cNvPr id="11" name="Стрелка вниз 10"/>
          <p:cNvSpPr/>
          <p:nvPr/>
        </p:nvSpPr>
        <p:spPr>
          <a:xfrm rot="19394611">
            <a:off x="6156176" y="1484784"/>
            <a:ext cx="484632" cy="1008112"/>
          </a:xfrm>
          <a:prstGeom prst="downArrow">
            <a:avLst/>
          </a:prstGeom>
          <a:solidFill>
            <a:schemeClr val="tx1">
              <a:lumMod val="65000"/>
              <a:lumOff val="35000"/>
            </a:schemeClr>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Стрелка вниз 11"/>
          <p:cNvSpPr/>
          <p:nvPr/>
        </p:nvSpPr>
        <p:spPr>
          <a:xfrm rot="2276097">
            <a:off x="2661307" y="1530387"/>
            <a:ext cx="484632" cy="978408"/>
          </a:xfrm>
          <a:prstGeom prst="downArrow">
            <a:avLst/>
          </a:prstGeom>
          <a:solidFill>
            <a:schemeClr val="tx1">
              <a:lumMod val="65000"/>
              <a:lumOff val="35000"/>
            </a:schemeClr>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76672"/>
            <a:ext cx="8183880" cy="1051560"/>
          </a:xfrm>
        </p:spPr>
        <p:txBody>
          <a:bodyPr/>
          <a:lstStyle/>
          <a:p>
            <a:r>
              <a:rPr lang="ru-RU" dirty="0"/>
              <a:t>Доходы</a:t>
            </a:r>
          </a:p>
        </p:txBody>
      </p:sp>
      <p:sp>
        <p:nvSpPr>
          <p:cNvPr id="3" name="Содержимое 2"/>
          <p:cNvSpPr>
            <a:spLocks noGrp="1"/>
          </p:cNvSpPr>
          <p:nvPr>
            <p:ph idx="1"/>
          </p:nvPr>
        </p:nvSpPr>
        <p:spPr>
          <a:xfrm>
            <a:off x="539552" y="1844824"/>
            <a:ext cx="8183880" cy="4187952"/>
          </a:xfrm>
        </p:spPr>
        <p:txBody>
          <a:bodyPr>
            <a:normAutofit fontScale="92500"/>
          </a:bodyPr>
          <a:lstStyle/>
          <a:p>
            <a:pPr>
              <a:buNone/>
            </a:pPr>
            <a:r>
              <a:rPr lang="ru-RU" dirty="0"/>
              <a:t>Основные источники доходов государства:</a:t>
            </a:r>
            <a:br>
              <a:rPr lang="ru-RU" dirty="0"/>
            </a:br>
            <a:br>
              <a:rPr lang="ru-RU" dirty="0"/>
            </a:br>
            <a:r>
              <a:rPr lang="ru-RU" dirty="0"/>
              <a:t>-</a:t>
            </a:r>
            <a:r>
              <a:rPr lang="ru-RU" i="1" dirty="0"/>
              <a:t>налоги</a:t>
            </a:r>
            <a:r>
              <a:rPr lang="ru-RU" dirty="0"/>
              <a:t> (включая взносы на социальное страхование );</a:t>
            </a:r>
            <a:br>
              <a:rPr lang="ru-RU" dirty="0"/>
            </a:br>
            <a:r>
              <a:rPr lang="ru-RU" dirty="0"/>
              <a:t>-</a:t>
            </a:r>
            <a:r>
              <a:rPr lang="ru-RU" i="1" dirty="0"/>
              <a:t>прибыль государственных предприятий</a:t>
            </a:r>
            <a:r>
              <a:rPr lang="ru-RU" dirty="0"/>
              <a:t>; </a:t>
            </a:r>
            <a:br>
              <a:rPr lang="ru-RU" dirty="0"/>
            </a:br>
            <a:r>
              <a:rPr lang="ru-RU" dirty="0"/>
              <a:t>-</a:t>
            </a:r>
            <a:r>
              <a:rPr lang="ru-RU" i="1" dirty="0" err="1"/>
              <a:t>сеньораж</a:t>
            </a:r>
            <a:r>
              <a:rPr lang="ru-RU" dirty="0"/>
              <a:t> (доход от эмиссии денег);</a:t>
            </a:r>
            <a:br>
              <a:rPr lang="ru-RU" dirty="0"/>
            </a:br>
            <a:r>
              <a:rPr lang="ru-RU" dirty="0"/>
              <a:t>-</a:t>
            </a:r>
            <a:r>
              <a:rPr lang="ru-RU" i="1" dirty="0"/>
              <a:t>средства от продажи государственных ценных бумаг</a:t>
            </a:r>
            <a:r>
              <a:rPr lang="ru-RU" dirty="0"/>
              <a:t>; </a:t>
            </a:r>
            <a:br>
              <a:rPr lang="ru-RU" dirty="0"/>
            </a:br>
            <a:r>
              <a:rPr lang="ru-RU" dirty="0"/>
              <a:t>-</a:t>
            </a:r>
            <a:r>
              <a:rPr lang="ru-RU" i="1" dirty="0"/>
              <a:t>доходы от приватизации</a:t>
            </a:r>
            <a:r>
              <a:rPr lang="ru-RU" dirty="0"/>
              <a:t> и др.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Содержимое 3" descr="825297521-primernaya_struktura_dohodov_federal_nogo_byudzheta_rossiyskoy_federaci.jpg"/>
          <p:cNvPicPr>
            <a:picLocks noGrp="1" noChangeAspect="1"/>
          </p:cNvPicPr>
          <p:nvPr>
            <p:ph idx="1"/>
          </p:nvPr>
        </p:nvPicPr>
        <p:blipFill>
          <a:blip r:embed="rId2" cstate="print"/>
          <a:stretch>
            <a:fillRect/>
          </a:stretch>
        </p:blipFill>
        <p:spPr>
          <a:xfrm>
            <a:off x="395536" y="404664"/>
            <a:ext cx="8352928" cy="5688632"/>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02920" y="530352"/>
            <a:ext cx="8183880" cy="2322584"/>
          </a:xfrm>
        </p:spPr>
        <p:txBody>
          <a:bodyPr>
            <a:normAutofit fontScale="92500" lnSpcReduction="10000"/>
          </a:bodyPr>
          <a:lstStyle/>
          <a:p>
            <a:pPr>
              <a:buNone/>
            </a:pPr>
            <a:r>
              <a:rPr lang="ru-RU" dirty="0"/>
              <a:t>Разница между доходами и расходами государства составляет </a:t>
            </a:r>
            <a:r>
              <a:rPr lang="ru-RU" i="1" dirty="0"/>
              <a:t>сальдо государственного бюджета </a:t>
            </a:r>
            <a:r>
              <a:rPr lang="ru-RU" dirty="0"/>
              <a:t>(</a:t>
            </a:r>
            <a:r>
              <a:rPr lang="el-GR" dirty="0"/>
              <a:t>δ</a:t>
            </a:r>
            <a:r>
              <a:rPr lang="ru-RU" dirty="0"/>
              <a:t>). В зависимости от соотношения расходов и доходов государственный бюджет может находиться в трех различных состояниях:</a:t>
            </a:r>
          </a:p>
        </p:txBody>
      </p:sp>
      <p:pic>
        <p:nvPicPr>
          <p:cNvPr id="4" name="Рисунок 3" descr="oCWKGK6xlNM.jpg"/>
          <p:cNvPicPr>
            <a:picLocks noChangeAspect="1"/>
          </p:cNvPicPr>
          <p:nvPr/>
        </p:nvPicPr>
        <p:blipFill>
          <a:blip r:embed="rId2" cstate="print"/>
          <a:stretch>
            <a:fillRect/>
          </a:stretch>
        </p:blipFill>
        <p:spPr>
          <a:xfrm>
            <a:off x="611560" y="2852936"/>
            <a:ext cx="7868356" cy="30963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p:cNvSpPr>
            <a:spLocks noGrp="1"/>
          </p:cNvSpPr>
          <p:nvPr>
            <p:ph idx="1"/>
          </p:nvPr>
        </p:nvSpPr>
        <p:spPr>
          <a:xfrm>
            <a:off x="502920" y="530352"/>
            <a:ext cx="8183880" cy="5130896"/>
          </a:xfrm>
        </p:spPr>
        <p:txBody>
          <a:bodyPr>
            <a:noAutofit/>
          </a:bodyPr>
          <a:lstStyle/>
          <a:p>
            <a:pPr>
              <a:buNone/>
            </a:pPr>
            <a:r>
              <a:rPr lang="ru-RU" sz="2400" dirty="0"/>
              <a:t>Когда доходы бюджета превышают расходы, сальдо бюджета положительное (</a:t>
            </a:r>
            <a:r>
              <a:rPr lang="el-GR" sz="2400" dirty="0"/>
              <a:t>δ</a:t>
            </a:r>
            <a:r>
              <a:rPr lang="ru-RU" sz="2400" dirty="0"/>
              <a:t>&gt;0), что соответствует </a:t>
            </a:r>
            <a:r>
              <a:rPr lang="ru-RU" sz="2400" i="1" u="sng" dirty="0" err="1"/>
              <a:t>профициту</a:t>
            </a:r>
            <a:r>
              <a:rPr lang="ru-RU" sz="2400" dirty="0"/>
              <a:t> (излишку) государственного бюджета.</a:t>
            </a:r>
          </a:p>
          <a:p>
            <a:pPr>
              <a:buNone/>
            </a:pPr>
            <a:endParaRPr lang="ru-RU" sz="2400" dirty="0"/>
          </a:p>
          <a:p>
            <a:pPr>
              <a:buNone/>
            </a:pPr>
            <a:r>
              <a:rPr lang="ru-RU" sz="2400" dirty="0"/>
              <a:t>Когда доходы равны расходам, сальдо бюджета равно нулю (</a:t>
            </a:r>
            <a:r>
              <a:rPr lang="el-GR" sz="2400" dirty="0"/>
              <a:t>δ</a:t>
            </a:r>
            <a:r>
              <a:rPr lang="ru-RU" sz="2400" dirty="0"/>
              <a:t>-0) и такой бюджет называется </a:t>
            </a:r>
            <a:r>
              <a:rPr lang="ru-RU" sz="2400" i="1" u="sng" dirty="0"/>
              <a:t>сбалансированным бюджетом</a:t>
            </a:r>
            <a:r>
              <a:rPr lang="ru-RU" sz="2400" dirty="0"/>
              <a:t>.</a:t>
            </a:r>
          </a:p>
          <a:p>
            <a:pPr>
              <a:buNone/>
            </a:pPr>
            <a:endParaRPr lang="ru-RU" sz="2400" dirty="0"/>
          </a:p>
          <a:p>
            <a:pPr>
              <a:buNone/>
            </a:pPr>
            <a:r>
              <a:rPr lang="ru-RU" sz="2400" dirty="0"/>
              <a:t>Когда доходы бюджета меньше, чем расходы, сальдо бюджета отрицательное (</a:t>
            </a:r>
            <a:r>
              <a:rPr lang="el-GR" sz="2400" dirty="0"/>
              <a:t>δ</a:t>
            </a:r>
            <a:r>
              <a:rPr lang="ru-RU" sz="2400" dirty="0"/>
              <a:t>&lt;0) и имеет место </a:t>
            </a:r>
            <a:r>
              <a:rPr lang="ru-RU" sz="2400" i="1" u="sng" dirty="0"/>
              <a:t>дефицит</a:t>
            </a:r>
            <a:r>
              <a:rPr lang="ru-RU" sz="2400" dirty="0"/>
              <a:t> государственного бюджета.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548680"/>
            <a:ext cx="8183880" cy="936104"/>
          </a:xfrm>
        </p:spPr>
        <p:txBody>
          <a:bodyPr>
            <a:normAutofit fontScale="85000" lnSpcReduction="10000"/>
          </a:bodyPr>
          <a:lstStyle/>
          <a:p>
            <a:pPr>
              <a:buNone/>
            </a:pPr>
            <a:r>
              <a:rPr lang="ru-RU" dirty="0"/>
              <a:t>На разных фазах экономического цикла состояние государственного бюджета разное.</a:t>
            </a:r>
          </a:p>
          <a:p>
            <a:pPr>
              <a:buNone/>
            </a:pPr>
            <a:endParaRPr lang="ru-RU" dirty="0"/>
          </a:p>
        </p:txBody>
      </p:sp>
      <p:graphicFrame>
        <p:nvGraphicFramePr>
          <p:cNvPr id="4" name="Таблица 3"/>
          <p:cNvGraphicFramePr>
            <a:graphicFrameLocks noGrp="1"/>
          </p:cNvGraphicFramePr>
          <p:nvPr/>
        </p:nvGraphicFramePr>
        <p:xfrm>
          <a:off x="755576" y="1556792"/>
          <a:ext cx="7632849" cy="4248471"/>
        </p:xfrm>
        <a:graphic>
          <a:graphicData uri="http://schemas.openxmlformats.org/drawingml/2006/table">
            <a:tbl>
              <a:tblPr firstRow="1" bandRow="1">
                <a:tableStyleId>{7E9639D4-E3E2-4D34-9284-5A2195B3D0D7}</a:tableStyleId>
              </a:tblPr>
              <a:tblGrid>
                <a:gridCol w="2544283">
                  <a:extLst>
                    <a:ext uri="{9D8B030D-6E8A-4147-A177-3AD203B41FA5}">
                      <a16:colId xmlns:a16="http://schemas.microsoft.com/office/drawing/2014/main" val="20000"/>
                    </a:ext>
                  </a:extLst>
                </a:gridCol>
                <a:gridCol w="2544283">
                  <a:extLst>
                    <a:ext uri="{9D8B030D-6E8A-4147-A177-3AD203B41FA5}">
                      <a16:colId xmlns:a16="http://schemas.microsoft.com/office/drawing/2014/main" val="20001"/>
                    </a:ext>
                  </a:extLst>
                </a:gridCol>
                <a:gridCol w="2544283">
                  <a:extLst>
                    <a:ext uri="{9D8B030D-6E8A-4147-A177-3AD203B41FA5}">
                      <a16:colId xmlns:a16="http://schemas.microsoft.com/office/drawing/2014/main" val="20002"/>
                    </a:ext>
                  </a:extLst>
                </a:gridCol>
              </a:tblGrid>
              <a:tr h="1416157">
                <a:tc>
                  <a:txBody>
                    <a:bodyPr/>
                    <a:lstStyle/>
                    <a:p>
                      <a:r>
                        <a:rPr lang="ru-RU" dirty="0"/>
                        <a:t>Состояние экономики</a:t>
                      </a:r>
                    </a:p>
                  </a:txBody>
                  <a:tcPr/>
                </a:tc>
                <a:tc>
                  <a:txBody>
                    <a:bodyPr/>
                    <a:lstStyle/>
                    <a:p>
                      <a:r>
                        <a:rPr lang="ru-RU" dirty="0"/>
                        <a:t>Дефицит бюджета</a:t>
                      </a:r>
                    </a:p>
                  </a:txBody>
                  <a:tcPr/>
                </a:tc>
                <a:tc>
                  <a:txBody>
                    <a:bodyPr/>
                    <a:lstStyle/>
                    <a:p>
                      <a:r>
                        <a:rPr lang="ru-RU" dirty="0" err="1"/>
                        <a:t>Профицит</a:t>
                      </a:r>
                      <a:r>
                        <a:rPr lang="ru-RU" dirty="0"/>
                        <a:t> бюджета</a:t>
                      </a:r>
                    </a:p>
                  </a:txBody>
                  <a:tcPr/>
                </a:tc>
                <a:extLst>
                  <a:ext uri="{0D108BD9-81ED-4DB2-BD59-A6C34878D82A}">
                    <a16:rowId xmlns:a16="http://schemas.microsoft.com/office/drawing/2014/main" val="10000"/>
                  </a:ext>
                </a:extLst>
              </a:tr>
              <a:tr h="1416157">
                <a:tc>
                  <a:txBody>
                    <a:bodyPr/>
                    <a:lstStyle/>
                    <a:p>
                      <a:r>
                        <a:rPr lang="ru-RU" dirty="0"/>
                        <a:t>Спад</a:t>
                      </a:r>
                    </a:p>
                  </a:txBody>
                  <a:tcPr/>
                </a:tc>
                <a:tc>
                  <a:txBody>
                    <a:bodyPr/>
                    <a:lstStyle/>
                    <a:p>
                      <a:r>
                        <a:rPr lang="ru-RU" dirty="0"/>
                        <a:t>Увеличивается (если он существовал изначально)</a:t>
                      </a:r>
                    </a:p>
                  </a:txBody>
                  <a:tcPr/>
                </a:tc>
                <a:tc>
                  <a:txBody>
                    <a:bodyPr/>
                    <a:lstStyle/>
                    <a:p>
                      <a:r>
                        <a:rPr lang="ru-RU" dirty="0"/>
                        <a:t>Сокращается</a:t>
                      </a:r>
                      <a:r>
                        <a:rPr lang="ru-RU" baseline="0" dirty="0"/>
                        <a:t> (если он наблюдался)</a:t>
                      </a:r>
                      <a:endParaRPr lang="ru-RU" dirty="0"/>
                    </a:p>
                  </a:txBody>
                  <a:tcPr/>
                </a:tc>
                <a:extLst>
                  <a:ext uri="{0D108BD9-81ED-4DB2-BD59-A6C34878D82A}">
                    <a16:rowId xmlns:a16="http://schemas.microsoft.com/office/drawing/2014/main" val="10001"/>
                  </a:ext>
                </a:extLst>
              </a:tr>
              <a:tr h="1416157">
                <a:tc>
                  <a:txBody>
                    <a:bodyPr/>
                    <a:lstStyle/>
                    <a:p>
                      <a:r>
                        <a:rPr lang="ru-RU" dirty="0"/>
                        <a:t>Бум</a:t>
                      </a:r>
                    </a:p>
                  </a:txBody>
                  <a:tcPr/>
                </a:tc>
                <a:tc>
                  <a:txBody>
                    <a:bodyPr/>
                    <a:lstStyle/>
                    <a:p>
                      <a:r>
                        <a:rPr lang="ru-RU" dirty="0"/>
                        <a:t>Уменьшается</a:t>
                      </a:r>
                    </a:p>
                  </a:txBody>
                  <a:tcPr/>
                </a:tc>
                <a:tc>
                  <a:txBody>
                    <a:bodyPr/>
                    <a:lstStyle/>
                    <a:p>
                      <a:r>
                        <a:rPr lang="ru-RU" dirty="0"/>
                        <a:t>Увеличивается</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404664"/>
            <a:ext cx="8183880" cy="1368152"/>
          </a:xfrm>
        </p:spPr>
        <p:txBody>
          <a:bodyPr>
            <a:normAutofit/>
          </a:bodyPr>
          <a:lstStyle/>
          <a:p>
            <a:r>
              <a:rPr lang="ru-RU" dirty="0"/>
              <a:t>Концепции государственного бюджета</a:t>
            </a:r>
          </a:p>
        </p:txBody>
      </p:sp>
      <p:sp>
        <p:nvSpPr>
          <p:cNvPr id="3" name="Содержимое 2"/>
          <p:cNvSpPr>
            <a:spLocks noGrp="1"/>
          </p:cNvSpPr>
          <p:nvPr>
            <p:ph idx="1"/>
          </p:nvPr>
        </p:nvSpPr>
        <p:spPr>
          <a:xfrm>
            <a:off x="467544" y="1844824"/>
            <a:ext cx="8183880" cy="4187952"/>
          </a:xfrm>
        </p:spPr>
        <p:txBody>
          <a:bodyPr>
            <a:normAutofit fontScale="85000" lnSpcReduction="10000"/>
          </a:bodyPr>
          <a:lstStyle/>
          <a:p>
            <a:pPr>
              <a:buNone/>
            </a:pPr>
            <a:r>
              <a:rPr lang="ru-RU" dirty="0"/>
              <a:t>Отношение к дефициту государственного бюджета, как правило, отрицательное. Наиболее популярной выступает идея сбалансированного бюджета. Исторически в отношении состояния государственного бюджета выдвигалось три концепции: </a:t>
            </a:r>
            <a:r>
              <a:rPr lang="ru-RU" i="1" dirty="0"/>
              <a:t>идея ежегодно сбалансированного бюджета</a:t>
            </a:r>
            <a:r>
              <a:rPr lang="ru-RU" dirty="0"/>
              <a:t>; </a:t>
            </a:r>
            <a:r>
              <a:rPr lang="ru-RU" i="1" dirty="0"/>
              <a:t>идея бюджета, сбалансированного по фазам экономического цикла</a:t>
            </a:r>
            <a:r>
              <a:rPr lang="ru-RU" dirty="0"/>
              <a:t> (на циклической основе); </a:t>
            </a:r>
            <a:r>
              <a:rPr lang="ru-RU" i="1" dirty="0"/>
              <a:t>идея сбалансированности не бюджета, а экономики </a:t>
            </a:r>
            <a:r>
              <a:rPr lang="ru-RU" dirty="0"/>
              <a:t>(идея "функциональных финансов").</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404664"/>
            <a:ext cx="8183880" cy="936104"/>
          </a:xfrm>
        </p:spPr>
        <p:txBody>
          <a:bodyPr>
            <a:normAutofit fontScale="90000"/>
          </a:bodyPr>
          <a:lstStyle/>
          <a:p>
            <a:r>
              <a:rPr lang="ru-RU" b="0" dirty="0"/>
              <a:t>Концепция ежегодно сбалансированного бюджета</a:t>
            </a:r>
            <a:endParaRPr lang="ru-RU" dirty="0"/>
          </a:p>
        </p:txBody>
      </p:sp>
      <p:sp>
        <p:nvSpPr>
          <p:cNvPr id="3" name="Содержимое 2"/>
          <p:cNvSpPr>
            <a:spLocks noGrp="1"/>
          </p:cNvSpPr>
          <p:nvPr>
            <p:ph idx="1"/>
          </p:nvPr>
        </p:nvSpPr>
        <p:spPr>
          <a:xfrm>
            <a:off x="467544" y="1412776"/>
            <a:ext cx="8183880" cy="4824536"/>
          </a:xfrm>
        </p:spPr>
        <p:txBody>
          <a:bodyPr>
            <a:normAutofit fontScale="40000" lnSpcReduction="20000"/>
          </a:bodyPr>
          <a:lstStyle/>
          <a:p>
            <a:pPr>
              <a:buNone/>
            </a:pPr>
            <a:r>
              <a:rPr lang="ru-RU" dirty="0"/>
              <a:t>  </a:t>
            </a:r>
            <a:r>
              <a:rPr lang="ru-RU" sz="4500" dirty="0"/>
              <a:t>Концепция ежегодно сбалансированного бюджета состоит в том, что независимо от фазы экономического цикла и состояния экономики каждый год </a:t>
            </a:r>
            <a:r>
              <a:rPr lang="ru-RU" sz="4500" i="1" dirty="0"/>
              <a:t>расходы бюджета должны быть равны доходам</a:t>
            </a:r>
            <a:r>
              <a:rPr lang="ru-RU" sz="4500" dirty="0"/>
              <a:t>. На практике это означает, что, например, в период спада, когда доходы бюджета (налоговые поступления) минимальны, государство для обеспечения сбалансированности бюджета должно снижать государственные расходы (государственные закупки и трансферты). А поскольку снижение и государственных закупок, и трансфертов ведет к уменьшению совокупного спроса и, следовательно, объема производства, то эта мера вызовет еще более глубокий спад. И наоборот, если в экономике бум и налоговые поступления максимальны, то для уравновешивания расходов бюджета с доходами правительство должно увеличить государственные расходы, провоцируя еще больший "перегрев" экономики и, следовательно, еще более высокую инфляцию.</a:t>
            </a:r>
          </a:p>
          <a:p>
            <a:pPr>
              <a:buNone/>
            </a:pPr>
            <a:r>
              <a:rPr lang="ru-RU" sz="4500" dirty="0"/>
              <a:t>  </a:t>
            </a:r>
            <a:r>
              <a:rPr lang="ru-RU" sz="4500" i="1" dirty="0"/>
              <a:t>Таким образом, реализация идеи ежегодно сбалансированного бюджета ведет к усилению циклических колебаний экономики и исключает возможность проведения правительством политики по стабилизации экономики.</a:t>
            </a:r>
          </a:p>
          <a:p>
            <a:pPr>
              <a:buNone/>
            </a:pPr>
            <a:endParaRPr lang="ru-R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76672"/>
            <a:ext cx="8183880" cy="864096"/>
          </a:xfrm>
        </p:spPr>
        <p:txBody>
          <a:bodyPr>
            <a:normAutofit/>
          </a:bodyPr>
          <a:lstStyle/>
          <a:p>
            <a:r>
              <a:rPr lang="ru-RU" sz="2400" b="0" dirty="0"/>
              <a:t>Концепция государственного бюджета, сбалансированного на циклической основе</a:t>
            </a:r>
            <a:endParaRPr lang="ru-RU" sz="2400" dirty="0"/>
          </a:p>
        </p:txBody>
      </p:sp>
      <p:sp>
        <p:nvSpPr>
          <p:cNvPr id="3" name="Содержимое 2"/>
          <p:cNvSpPr>
            <a:spLocks noGrp="1"/>
          </p:cNvSpPr>
          <p:nvPr>
            <p:ph idx="1"/>
          </p:nvPr>
        </p:nvSpPr>
        <p:spPr>
          <a:xfrm>
            <a:off x="467544" y="1340768"/>
            <a:ext cx="8183880" cy="4692008"/>
          </a:xfrm>
        </p:spPr>
        <p:txBody>
          <a:bodyPr>
            <a:normAutofit fontScale="70000" lnSpcReduction="20000"/>
          </a:bodyPr>
          <a:lstStyle/>
          <a:p>
            <a:pPr>
              <a:buNone/>
            </a:pPr>
            <a:r>
              <a:rPr lang="ru-RU" dirty="0"/>
              <a:t>Заключается в том, что иметь сбалансированный бюджет ежегодно необязательно. Важно, чтобы </a:t>
            </a:r>
            <a:r>
              <a:rPr lang="ru-RU" i="1" dirty="0"/>
              <a:t>бюджет был сбалансирован в целом в течение экономического цикла</a:t>
            </a:r>
            <a:r>
              <a:rPr lang="ru-RU" dirty="0"/>
              <a:t>: </a:t>
            </a:r>
            <a:r>
              <a:rPr lang="ru-RU" dirty="0" err="1"/>
              <a:t>профицит</a:t>
            </a:r>
            <a:r>
              <a:rPr lang="ru-RU" dirty="0"/>
              <a:t> бюджета, увеличивающийся в период бума (высокого уровня деловой активности), когда доходы бюджета максимальны, должен использоваться для финансирования дефицита бюджета, возникающего в период рецессии (минимальной деловой активности), когда доходы бюджета резко сокращаются. При этом, чтобы противостоять спаду, правительство должно снизить налоги и увеличить расходы, сознательно вызывая дефицит, а в ходе последующего инфляционного подъема оно должно повысить налоги и урезать правительственные расходы, чтобы увеличить </a:t>
            </a:r>
            <a:r>
              <a:rPr lang="ru-RU" dirty="0" err="1"/>
              <a:t>профицит</a:t>
            </a:r>
            <a:r>
              <a:rPr lang="ru-RU" dirty="0"/>
              <a:t> бюджета и использовать его на покрытие бюджетного дефицита, возникшего в период спада.</a:t>
            </a:r>
          </a:p>
          <a:p>
            <a:pPr>
              <a:buNone/>
            </a:pPr>
            <a:r>
              <a:rPr lang="ru-RU" dirty="0"/>
              <a:t> </a:t>
            </a:r>
            <a:r>
              <a:rPr lang="ru-RU" i="1" dirty="0"/>
              <a:t>Таким образом, действия правительства должны создавать позитивную </a:t>
            </a:r>
            <a:r>
              <a:rPr lang="ru-RU" i="1" dirty="0" err="1"/>
              <a:t>антициклическую</a:t>
            </a:r>
            <a:r>
              <a:rPr lang="ru-RU" i="1" dirty="0"/>
              <a:t> силу.</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1268760"/>
            <a:ext cx="8183880" cy="4187952"/>
          </a:xfrm>
        </p:spPr>
        <p:txBody>
          <a:bodyPr>
            <a:normAutofit fontScale="85000" lnSpcReduction="10000"/>
          </a:bodyPr>
          <a:lstStyle/>
          <a:p>
            <a:pPr>
              <a:buNone/>
            </a:pPr>
            <a:r>
              <a:rPr lang="ru-RU" dirty="0"/>
              <a:t>Существенный недостаток этой концепции состоит в том, что фазы бума и рецессии различаются по продолжительности и глубине (как правило, спады более продолжительны и глубоки, а бумы относительно недолги), поэтому суммы </a:t>
            </a:r>
            <a:r>
              <a:rPr lang="ru-RU" dirty="0" err="1"/>
              <a:t>профицита</a:t>
            </a:r>
            <a:r>
              <a:rPr lang="ru-RU" dirty="0"/>
              <a:t> бюджета, который можно накопить в период бума, и дефицита, который накапливается в период спада, обычно не совпадают. В результате задача стабилизации вступает в противоречие с задачей сбалансирования бюджета в ходе цикла.</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476672"/>
            <a:ext cx="8183880" cy="432048"/>
          </a:xfrm>
        </p:spPr>
        <p:txBody>
          <a:bodyPr>
            <a:normAutofit fontScale="90000"/>
          </a:bodyPr>
          <a:lstStyle/>
          <a:p>
            <a:r>
              <a:rPr lang="ru-RU" sz="2800" b="0" dirty="0"/>
              <a:t>Концепция "функциональных финансов"</a:t>
            </a:r>
            <a:endParaRPr lang="ru-RU" sz="2800" dirty="0"/>
          </a:p>
        </p:txBody>
      </p:sp>
      <p:sp>
        <p:nvSpPr>
          <p:cNvPr id="3" name="Содержимое 2"/>
          <p:cNvSpPr>
            <a:spLocks noGrp="1"/>
          </p:cNvSpPr>
          <p:nvPr>
            <p:ph idx="1"/>
          </p:nvPr>
        </p:nvSpPr>
        <p:spPr>
          <a:xfrm>
            <a:off x="467544" y="908720"/>
            <a:ext cx="8183880" cy="5400600"/>
          </a:xfrm>
        </p:spPr>
        <p:txBody>
          <a:bodyPr>
            <a:normAutofit fontScale="40000" lnSpcReduction="20000"/>
          </a:bodyPr>
          <a:lstStyle/>
          <a:p>
            <a:pPr>
              <a:buNone/>
            </a:pPr>
            <a:r>
              <a:rPr lang="ru-RU" sz="4500" dirty="0"/>
              <a:t>Наибольшее распространение получила именно эта концепция, согласно которой целью государства должна быть не сбалансированность бюджета, а стабильность экономики. Идея была выдвинута Дж. М. </a:t>
            </a:r>
            <a:r>
              <a:rPr lang="ru-RU" sz="4500" dirty="0" err="1"/>
              <a:t>Кейнсом</a:t>
            </a:r>
            <a:r>
              <a:rPr lang="ru-RU" sz="4500" dirty="0"/>
              <a:t> в его работе "Общая теория занятости, процента и денег" (1936 г.) и активно использовалась в экономиках развитых стран до середины 1970-х гг.</a:t>
            </a:r>
          </a:p>
          <a:p>
            <a:pPr>
              <a:buNone/>
            </a:pPr>
            <a:r>
              <a:rPr lang="ru-RU" sz="4500" dirty="0"/>
              <a:t>Согласно воззрениям </a:t>
            </a:r>
            <a:r>
              <a:rPr lang="ru-RU" sz="4500" dirty="0" err="1"/>
              <a:t>Кейнса</a:t>
            </a:r>
            <a:r>
              <a:rPr lang="ru-RU" sz="4500" dirty="0"/>
              <a:t>, инструменты государственного бюджета (</a:t>
            </a:r>
            <a:r>
              <a:rPr lang="ru-RU" sz="4500" dirty="0" err="1"/>
              <a:t>гос.закупки</a:t>
            </a:r>
            <a:r>
              <a:rPr lang="ru-RU" sz="4500" dirty="0"/>
              <a:t>, налоги и трансферты) должны использоваться в качестве </a:t>
            </a:r>
            <a:r>
              <a:rPr lang="ru-RU" sz="4500" dirty="0" err="1"/>
              <a:t>антициклических</a:t>
            </a:r>
            <a:r>
              <a:rPr lang="ru-RU" sz="4500" dirty="0"/>
              <a:t> регуляторов, стабилизирующих экономику на разных фазах цикла. Если в экономике спад, то государство в целях стимулирования деловой активности и обеспечения экономического подъема должно увеличивать свои расходы (</a:t>
            </a:r>
            <a:r>
              <a:rPr lang="ru-RU" sz="4500" dirty="0" err="1"/>
              <a:t>гос.закупки</a:t>
            </a:r>
            <a:r>
              <a:rPr lang="ru-RU" sz="4500" dirty="0"/>
              <a:t> и трансферты) и уменьшать налоги, что приведет к росту совокупного спроса. И наоборот, если в экономике бум ("перегрев"), то государство должно сокращать расходы и увеличивать налоги (доходы бюджета), что сдерживает деловую активность и "остужает" экономику, ведет к ее стабилизации. Состояние государственного бюджета при этом значения не имеет. Бюджет должен выступать инструментом достижения и поддержания макроэкономической стабильности.</a:t>
            </a:r>
          </a:p>
          <a:p>
            <a:pPr>
              <a:buNone/>
            </a:pPr>
            <a:endParaRPr lang="ru-R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692696"/>
            <a:ext cx="8183880" cy="4187952"/>
          </a:xfrm>
        </p:spPr>
        <p:txBody>
          <a:bodyPr>
            <a:normAutofit fontScale="70000" lnSpcReduction="20000"/>
          </a:bodyPr>
          <a:lstStyle/>
          <a:p>
            <a:pPr>
              <a:buNone/>
            </a:pPr>
            <a:r>
              <a:rPr lang="ru-RU" dirty="0"/>
              <a:t>Поскольку теория </a:t>
            </a:r>
            <a:r>
              <a:rPr lang="ru-RU" dirty="0" err="1"/>
              <a:t>Кейнса</a:t>
            </a:r>
            <a:r>
              <a:rPr lang="ru-RU" dirty="0"/>
              <a:t> была направлена на разработку рецептов борьбы с рецессией, со спадом в экономике, что предлагалось осуществлять, используя в первую очередь инструменты бюджетного регулирования (увеличение государственных закупок и трансфертов, т.е. расходов бюджета, и снижение налогов, т.е. доходов бюджета), то эта теория получила название политики "дефицитного финансирования".</a:t>
            </a:r>
          </a:p>
          <a:p>
            <a:pPr>
              <a:buNone/>
            </a:pPr>
            <a:endParaRPr lang="ru-RU" dirty="0"/>
          </a:p>
          <a:p>
            <a:pPr>
              <a:buNone/>
            </a:pPr>
            <a:r>
              <a:rPr lang="ru-RU" dirty="0"/>
              <a:t>В результате использования в большинстве развитых стран в 1950-е— 1960-е гг. </a:t>
            </a:r>
            <a:r>
              <a:rPr lang="ru-RU" dirty="0" err="1"/>
              <a:t>кейнсианских</a:t>
            </a:r>
            <a:r>
              <a:rPr lang="ru-RU" dirty="0"/>
              <a:t> рецептов регулирования экономики проблема хронического дефицита государственного бюджета к середине 1970-х гг. превратилась в серьезную макроэкономическую проблему, что послужило одной из причин усиления инфляционных процессов.</a:t>
            </a:r>
          </a:p>
          <a:p>
            <a:pPr>
              <a:buNone/>
            </a:pPr>
            <a:endParaRPr lang="ru-RU"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332656"/>
            <a:ext cx="8183880" cy="1440160"/>
          </a:xfrm>
        </p:spPr>
        <p:txBody>
          <a:bodyPr>
            <a:normAutofit fontScale="90000"/>
          </a:bodyPr>
          <a:lstStyle/>
          <a:p>
            <a:r>
              <a:rPr lang="ru-RU" sz="3100" dirty="0"/>
              <a:t>Дефицит государственного бюджета и способы его финансирования</a:t>
            </a:r>
            <a:br>
              <a:rPr lang="ru-RU" dirty="0"/>
            </a:br>
            <a:endParaRPr lang="ru-RU" dirty="0"/>
          </a:p>
        </p:txBody>
      </p:sp>
      <p:sp>
        <p:nvSpPr>
          <p:cNvPr id="3" name="Содержимое 2"/>
          <p:cNvSpPr>
            <a:spLocks noGrp="1"/>
          </p:cNvSpPr>
          <p:nvPr>
            <p:ph idx="1"/>
          </p:nvPr>
        </p:nvSpPr>
        <p:spPr>
          <a:xfrm>
            <a:off x="467544" y="1340768"/>
            <a:ext cx="8183880" cy="4980040"/>
          </a:xfrm>
        </p:spPr>
        <p:txBody>
          <a:bodyPr>
            <a:normAutofit fontScale="77500" lnSpcReduction="20000"/>
          </a:bodyPr>
          <a:lstStyle/>
          <a:p>
            <a:pPr>
              <a:buNone/>
            </a:pPr>
            <a:r>
              <a:rPr lang="ru-RU" dirty="0"/>
              <a:t>Дефицит бюджета имеет место, когда расходы правительства превышают доходы бюджета.</a:t>
            </a:r>
          </a:p>
          <a:p>
            <a:pPr>
              <a:buNone/>
            </a:pPr>
            <a:endParaRPr lang="ru-RU" dirty="0"/>
          </a:p>
          <a:p>
            <a:pPr>
              <a:buNone/>
            </a:pPr>
            <a:r>
              <a:rPr lang="ru-RU" dirty="0"/>
              <a:t>Бюджетный дефицит может быть профинансирован тремя способами: </a:t>
            </a:r>
          </a:p>
          <a:p>
            <a:pPr>
              <a:buNone/>
            </a:pPr>
            <a:r>
              <a:rPr lang="ru-RU" dirty="0"/>
              <a:t>1)за счет эмиссии денег (монетизация дефицита);</a:t>
            </a:r>
          </a:p>
          <a:p>
            <a:pPr>
              <a:buNone/>
            </a:pPr>
            <a:r>
              <a:rPr lang="ru-RU" dirty="0"/>
              <a:t>2)за счет займа у населения своей страны (внутренний долг);</a:t>
            </a:r>
          </a:p>
          <a:p>
            <a:pPr>
              <a:buNone/>
            </a:pPr>
            <a:r>
              <a:rPr lang="ru-RU" dirty="0"/>
              <a:t>3)за счет займа у других стран или международных финансовых организаций (внешний долг).</a:t>
            </a:r>
          </a:p>
          <a:p>
            <a:pPr>
              <a:buNone/>
            </a:pPr>
            <a:endParaRPr lang="ru-RU" dirty="0"/>
          </a:p>
          <a:p>
            <a:pPr>
              <a:buNone/>
            </a:pPr>
            <a:r>
              <a:rPr lang="ru-RU" dirty="0"/>
              <a:t>Первый способ называется </a:t>
            </a:r>
            <a:r>
              <a:rPr lang="ru-RU" i="1" dirty="0"/>
              <a:t>эмиссионным</a:t>
            </a:r>
            <a:r>
              <a:rPr lang="ru-RU" dirty="0"/>
              <a:t> или денежным способом, а второй и третий — </a:t>
            </a:r>
            <a:r>
              <a:rPr lang="ru-RU" i="1" dirty="0"/>
              <a:t>долговыми</a:t>
            </a:r>
            <a:r>
              <a:rPr lang="ru-RU" dirty="0"/>
              <a:t> способами финансирования дефицита государственного бюджета. Рассмотрим достоинства и недостатки каждого из способов.</a:t>
            </a:r>
          </a:p>
          <a:p>
            <a:pPr>
              <a:buNone/>
            </a:pPr>
            <a:endParaRPr lang="ru-RU"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67544" y="476672"/>
            <a:ext cx="8208912" cy="1938992"/>
          </a:xfrm>
          <a:prstGeom prst="rect">
            <a:avLst/>
          </a:prstGeom>
          <a:noFill/>
        </p:spPr>
        <p:txBody>
          <a:bodyPr wrap="square" rtlCol="0">
            <a:spAutoFit/>
          </a:bodyPr>
          <a:lstStyle/>
          <a:p>
            <a:r>
              <a:rPr lang="ru-RU" sz="2000" b="1" dirty="0"/>
              <a:t>Эмиссионный</a:t>
            </a:r>
            <a:r>
              <a:rPr lang="ru-RU" sz="2000" dirty="0"/>
              <a:t> способ финансирования дефицита государственного бюджета состоит в том, что центральный банк увеличивает денежную массу, выпуская в обращение дополнительные деньги, с помощью которых правительство покрывает превышение своих расходов над доходами, и называется монетизацией бюджетного дефицита.</a:t>
            </a:r>
          </a:p>
        </p:txBody>
      </p:sp>
      <p:pic>
        <p:nvPicPr>
          <p:cNvPr id="9" name="Рисунок 8" descr="8237c811de7bedb7513e7b75109d167d.jpg"/>
          <p:cNvPicPr>
            <a:picLocks noChangeAspect="1"/>
          </p:cNvPicPr>
          <p:nvPr/>
        </p:nvPicPr>
        <p:blipFill>
          <a:blip r:embed="rId2" cstate="print"/>
          <a:stretch>
            <a:fillRect/>
          </a:stretch>
        </p:blipFill>
        <p:spPr>
          <a:xfrm>
            <a:off x="600536" y="2636912"/>
            <a:ext cx="7931904" cy="34563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nvGraphicFramePr>
        <p:xfrm>
          <a:off x="395536" y="404664"/>
          <a:ext cx="8280920" cy="6225931"/>
        </p:xfrm>
        <a:graphic>
          <a:graphicData uri="http://schemas.openxmlformats.org/drawingml/2006/table">
            <a:tbl>
              <a:tblPr firstRow="1" bandRow="1">
                <a:tableStyleId>{8EC20E35-A176-4012-BC5E-935CFFF8708E}</a:tableStyleId>
              </a:tblPr>
              <a:tblGrid>
                <a:gridCol w="5040560">
                  <a:extLst>
                    <a:ext uri="{9D8B030D-6E8A-4147-A177-3AD203B41FA5}">
                      <a16:colId xmlns:a16="http://schemas.microsoft.com/office/drawing/2014/main" val="20000"/>
                    </a:ext>
                  </a:extLst>
                </a:gridCol>
                <a:gridCol w="3240360">
                  <a:extLst>
                    <a:ext uri="{9D8B030D-6E8A-4147-A177-3AD203B41FA5}">
                      <a16:colId xmlns:a16="http://schemas.microsoft.com/office/drawing/2014/main" val="20001"/>
                    </a:ext>
                  </a:extLst>
                </a:gridCol>
              </a:tblGrid>
              <a:tr h="373771">
                <a:tc>
                  <a:txBody>
                    <a:bodyPr/>
                    <a:lstStyle/>
                    <a:p>
                      <a:r>
                        <a:rPr lang="ru-RU" dirty="0"/>
                        <a:t>Достоинства</a:t>
                      </a:r>
                    </a:p>
                  </a:txBody>
                  <a:tcPr/>
                </a:tc>
                <a:tc>
                  <a:txBody>
                    <a:bodyPr/>
                    <a:lstStyle/>
                    <a:p>
                      <a:r>
                        <a:rPr lang="ru-RU" dirty="0"/>
                        <a:t>Недостатки</a:t>
                      </a:r>
                    </a:p>
                  </a:txBody>
                  <a:tcPr/>
                </a:tc>
                <a:extLst>
                  <a:ext uri="{0D108BD9-81ED-4DB2-BD59-A6C34878D82A}">
                    <a16:rowId xmlns:a16="http://schemas.microsoft.com/office/drawing/2014/main" val="10000"/>
                  </a:ext>
                </a:extLst>
              </a:tr>
              <a:tr h="5674901">
                <a:tc>
                  <a:txBody>
                    <a:bodyPr/>
                    <a:lstStyle/>
                    <a:p>
                      <a:r>
                        <a:rPr kumimoji="0" lang="ru-RU" sz="1800" b="0" i="0" kern="1200" dirty="0">
                          <a:solidFill>
                            <a:schemeClr val="dk1"/>
                          </a:solidFill>
                          <a:latin typeface="+mn-lt"/>
                          <a:ea typeface="+mn-ea"/>
                          <a:cs typeface="+mn-cs"/>
                        </a:rPr>
                        <a:t>-рост денежной массы является фактором увеличения совокупного спроса и, следовательно, объема производства. Увеличение предложения денег обусловливает снижение ставки процента (удешевление цены кредита) на денежном рынке, что стимулирует инвестиции и обеспечивает рост совокупных расходов и совокупного выпуска;</a:t>
                      </a:r>
                      <a:br>
                        <a:rPr lang="ru-RU" sz="1800" dirty="0"/>
                      </a:br>
                      <a:r>
                        <a:rPr kumimoji="0" lang="ru-RU" sz="1800" b="0" i="0" kern="1200" dirty="0">
                          <a:solidFill>
                            <a:schemeClr val="dk1"/>
                          </a:solidFill>
                          <a:latin typeface="+mn-lt"/>
                          <a:ea typeface="+mn-ea"/>
                          <a:cs typeface="+mn-cs"/>
                        </a:rPr>
                        <a:t>-эту меру можно осуществить быстро. Рост денежной массы происходит, когда центральный банк покупает государственные ценные бумаги и, оплачивая продавцам (домохозяйствам и фирмам) стоимость этих ценных бумаг, выпускает в обращение дополнительные деньги. Такую покупку он может сделать в любой момент и в любом необходимом объеме.</a:t>
                      </a:r>
                      <a:endParaRPr lang="ru-RU" sz="1800" dirty="0"/>
                    </a:p>
                  </a:txBody>
                  <a:tcPr/>
                </a:tc>
                <a:tc>
                  <a:txBody>
                    <a:bodyPr/>
                    <a:lstStyle/>
                    <a:p>
                      <a:r>
                        <a:rPr lang="ru-RU" dirty="0"/>
                        <a:t>-</a:t>
                      </a:r>
                      <a:r>
                        <a:rPr kumimoji="0" lang="ru-RU" b="0" i="0" kern="1200" dirty="0">
                          <a:solidFill>
                            <a:schemeClr val="dk1"/>
                          </a:solidFill>
                          <a:latin typeface="+mn-lt"/>
                          <a:ea typeface="+mn-ea"/>
                          <a:cs typeface="+mn-cs"/>
                        </a:rPr>
                        <a:t>увеличение денежной массы ведет к инфляции, т.е. это инфляционный способ финансирования</a:t>
                      </a:r>
                      <a:endParaRPr lang="ru-RU"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476672"/>
            <a:ext cx="8507288" cy="2160240"/>
          </a:xfrm>
        </p:spPr>
        <p:txBody>
          <a:bodyPr>
            <a:noAutofit/>
          </a:bodyPr>
          <a:lstStyle/>
          <a:p>
            <a:pPr>
              <a:buNone/>
            </a:pPr>
            <a:r>
              <a:rPr lang="ru-RU" sz="1800" b="1" dirty="0"/>
              <a:t>    </a:t>
            </a:r>
            <a:r>
              <a:rPr lang="ru-RU" sz="2000" b="1" dirty="0"/>
              <a:t>Финансирование дефицита государственного бюджета за счет внутреннего займа </a:t>
            </a:r>
            <a:r>
              <a:rPr lang="ru-RU" sz="2000" dirty="0"/>
              <a:t>заключается в том, что государство выпускает ценные бумаги (государственные облигации и казначейские векселя), продает их населению (домохозяйствам и фирмам) и полученные средства использует для финансирования превышения государственных расходов над доходами.</a:t>
            </a:r>
          </a:p>
        </p:txBody>
      </p:sp>
      <p:pic>
        <p:nvPicPr>
          <p:cNvPr id="5" name="Рисунок 4" descr="68786.jpg"/>
          <p:cNvPicPr>
            <a:picLocks noChangeAspect="1"/>
          </p:cNvPicPr>
          <p:nvPr/>
        </p:nvPicPr>
        <p:blipFill>
          <a:blip r:embed="rId2" cstate="print"/>
          <a:stretch>
            <a:fillRect/>
          </a:stretch>
        </p:blipFill>
        <p:spPr>
          <a:xfrm>
            <a:off x="539552" y="2924944"/>
            <a:ext cx="8064896" cy="331236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Таблица 3"/>
          <p:cNvGraphicFramePr>
            <a:graphicFrameLocks noGrp="1"/>
          </p:cNvGraphicFramePr>
          <p:nvPr/>
        </p:nvGraphicFramePr>
        <p:xfrm>
          <a:off x="323528" y="260648"/>
          <a:ext cx="8496944" cy="6418476"/>
        </p:xfrm>
        <a:graphic>
          <a:graphicData uri="http://schemas.openxmlformats.org/drawingml/2006/table">
            <a:tbl>
              <a:tblPr firstRow="1" bandRow="1">
                <a:tableStyleId>{8EC20E35-A176-4012-BC5E-935CFFF8708E}</a:tableStyleId>
              </a:tblPr>
              <a:tblGrid>
                <a:gridCol w="4680520">
                  <a:extLst>
                    <a:ext uri="{9D8B030D-6E8A-4147-A177-3AD203B41FA5}">
                      <a16:colId xmlns:a16="http://schemas.microsoft.com/office/drawing/2014/main" val="20000"/>
                    </a:ext>
                  </a:extLst>
                </a:gridCol>
                <a:gridCol w="3816424">
                  <a:extLst>
                    <a:ext uri="{9D8B030D-6E8A-4147-A177-3AD203B41FA5}">
                      <a16:colId xmlns:a16="http://schemas.microsoft.com/office/drawing/2014/main" val="20001"/>
                    </a:ext>
                  </a:extLst>
                </a:gridCol>
              </a:tblGrid>
              <a:tr h="355996">
                <a:tc>
                  <a:txBody>
                    <a:bodyPr/>
                    <a:lstStyle/>
                    <a:p>
                      <a:r>
                        <a:rPr lang="ru-RU" sz="1600" dirty="0"/>
                        <a:t>Достоинства</a:t>
                      </a:r>
                    </a:p>
                  </a:txBody>
                  <a:tcPr/>
                </a:tc>
                <a:tc>
                  <a:txBody>
                    <a:bodyPr/>
                    <a:lstStyle/>
                    <a:p>
                      <a:r>
                        <a:rPr lang="ru-RU" dirty="0"/>
                        <a:t>Недостатки</a:t>
                      </a:r>
                    </a:p>
                  </a:txBody>
                  <a:tcPr/>
                </a:tc>
                <a:extLst>
                  <a:ext uri="{0D108BD9-81ED-4DB2-BD59-A6C34878D82A}">
                    <a16:rowId xmlns:a16="http://schemas.microsoft.com/office/drawing/2014/main" val="10000"/>
                  </a:ext>
                </a:extLst>
              </a:tr>
              <a:tr h="6052716">
                <a:tc>
                  <a:txBody>
                    <a:bodyPr/>
                    <a:lstStyle/>
                    <a:p>
                      <a:r>
                        <a:rPr kumimoji="0" lang="ru-RU" sz="1600" b="0" i="0" kern="1200" dirty="0">
                          <a:solidFill>
                            <a:schemeClr val="dk1"/>
                          </a:solidFill>
                          <a:latin typeface="+mn-lt"/>
                          <a:ea typeface="+mn-ea"/>
                          <a:cs typeface="+mn-cs"/>
                        </a:rPr>
                        <a:t>-не ведет к инфляции, так как денежная масса не изменяется (часть сбережений домохозяйств в виде платы за купленные государственные облигации перемещается к правительству, т.е. деньги лишь переходят от одного экономического агента к другому), поэтому в краткосрочном периоде это </a:t>
                      </a:r>
                      <a:r>
                        <a:rPr kumimoji="0" lang="ru-RU" sz="1600" b="0" i="0" kern="1200" dirty="0" err="1">
                          <a:solidFill>
                            <a:schemeClr val="dk1"/>
                          </a:solidFill>
                          <a:latin typeface="+mn-lt"/>
                          <a:ea typeface="+mn-ea"/>
                          <a:cs typeface="+mn-cs"/>
                        </a:rPr>
                        <a:t>неинфляционный</a:t>
                      </a:r>
                      <a:r>
                        <a:rPr kumimoji="0" lang="ru-RU" sz="1600" b="0" i="0" kern="1200" dirty="0">
                          <a:solidFill>
                            <a:schemeClr val="dk1"/>
                          </a:solidFill>
                          <a:latin typeface="+mn-lt"/>
                          <a:ea typeface="+mn-ea"/>
                          <a:cs typeface="+mn-cs"/>
                        </a:rPr>
                        <a:t> способ финансирования;</a:t>
                      </a:r>
                      <a:br>
                        <a:rPr lang="ru-RU" sz="1600" dirty="0"/>
                      </a:br>
                      <a:r>
                        <a:rPr kumimoji="0" lang="ru-RU" sz="1600" b="0" i="0" kern="1200" dirty="0">
                          <a:solidFill>
                            <a:schemeClr val="dk1"/>
                          </a:solidFill>
                          <a:latin typeface="+mn-lt"/>
                          <a:ea typeface="+mn-ea"/>
                          <a:cs typeface="+mn-cs"/>
                        </a:rPr>
                        <a:t>-это достаточно оперативный способ, поскольку выпуск и размещение (продажу) государственных ценных бумаг можно обеспечить быстро. Население в развитых странах с удовольствием покупает государственные ценные бумаги, поскольку они </a:t>
                      </a:r>
                      <a:r>
                        <a:rPr kumimoji="0" lang="ru-RU" sz="1600" b="0" i="0" kern="1200" dirty="0" err="1">
                          <a:solidFill>
                            <a:schemeClr val="dk1"/>
                          </a:solidFill>
                          <a:latin typeface="+mn-lt"/>
                          <a:ea typeface="+mn-ea"/>
                          <a:cs typeface="+mn-cs"/>
                        </a:rPr>
                        <a:t>высоколиквидны</a:t>
                      </a:r>
                      <a:r>
                        <a:rPr kumimoji="0" lang="ru-RU" sz="1600" b="0" i="0" kern="1200" dirty="0">
                          <a:solidFill>
                            <a:schemeClr val="dk1"/>
                          </a:solidFill>
                          <a:latin typeface="+mn-lt"/>
                          <a:ea typeface="+mn-ea"/>
                          <a:cs typeface="+mn-cs"/>
                        </a:rPr>
                        <a:t> (их легко и быстро можно продать — это "почти деньги"), высоконадежны (гарантированы государством, которое пользуется доверием), практически </a:t>
                      </a:r>
                      <a:r>
                        <a:rPr kumimoji="0" lang="ru-RU" sz="1600" b="0" i="0" kern="1200" dirty="0" err="1">
                          <a:solidFill>
                            <a:schemeClr val="dk1"/>
                          </a:solidFill>
                          <a:latin typeface="+mn-lt"/>
                          <a:ea typeface="+mn-ea"/>
                          <a:cs typeface="+mn-cs"/>
                        </a:rPr>
                        <a:t>безрисковы</a:t>
                      </a:r>
                      <a:r>
                        <a:rPr kumimoji="0" lang="ru-RU" sz="1600" b="0" i="0" kern="1200" dirty="0">
                          <a:solidFill>
                            <a:schemeClr val="dk1"/>
                          </a:solidFill>
                          <a:latin typeface="+mn-lt"/>
                          <a:ea typeface="+mn-ea"/>
                          <a:cs typeface="+mn-cs"/>
                        </a:rPr>
                        <a:t> и достаточно доходны (по ним платится процент)</a:t>
                      </a:r>
                      <a:endParaRPr lang="ru-RU" sz="1600" dirty="0"/>
                    </a:p>
                  </a:txBody>
                  <a:tcPr/>
                </a:tc>
                <a:tc>
                  <a:txBody>
                    <a:bodyPr/>
                    <a:lstStyle/>
                    <a:p>
                      <a:r>
                        <a:rPr kumimoji="0" lang="ru-RU" sz="1600" b="0" i="0" kern="1200" dirty="0">
                          <a:solidFill>
                            <a:schemeClr val="dk1"/>
                          </a:solidFill>
                          <a:latin typeface="+mn-lt"/>
                          <a:ea typeface="+mn-ea"/>
                          <a:cs typeface="+mn-cs"/>
                        </a:rPr>
                        <a:t>-государство выпускает облигации для финансирования дефицита своего бюджета, выплата процентов по которым провоцирует еще больший дефицит*;</a:t>
                      </a:r>
                      <a:br>
                        <a:rPr lang="ru-RU" sz="1600" dirty="0"/>
                      </a:br>
                      <a:r>
                        <a:rPr kumimoji="0" lang="ru-RU" sz="1600" b="0" i="0" kern="1200" dirty="0">
                          <a:solidFill>
                            <a:schemeClr val="dk1"/>
                          </a:solidFill>
                          <a:latin typeface="+mn-lt"/>
                          <a:ea typeface="+mn-ea"/>
                          <a:cs typeface="+mn-cs"/>
                        </a:rPr>
                        <a:t>-данный способ является </a:t>
                      </a:r>
                      <a:r>
                        <a:rPr kumimoji="0" lang="ru-RU" sz="1600" b="0" i="0" kern="1200" dirty="0" err="1">
                          <a:solidFill>
                            <a:schemeClr val="dk1"/>
                          </a:solidFill>
                          <a:latin typeface="+mn-lt"/>
                          <a:ea typeface="+mn-ea"/>
                          <a:cs typeface="+mn-cs"/>
                        </a:rPr>
                        <a:t>неинфляционным</a:t>
                      </a:r>
                      <a:r>
                        <a:rPr kumimoji="0" lang="ru-RU" sz="1600" b="0" i="0" kern="1200" dirty="0">
                          <a:solidFill>
                            <a:schemeClr val="dk1"/>
                          </a:solidFill>
                          <a:latin typeface="+mn-lt"/>
                          <a:ea typeface="+mn-ea"/>
                          <a:cs typeface="+mn-cs"/>
                        </a:rPr>
                        <a:t> только в краткосрочном периоде, а в долгосрочном периоде он может обусловить достаточно высокую инфляцию**;</a:t>
                      </a:r>
                      <a:br>
                        <a:rPr lang="ru-RU" sz="1600" dirty="0"/>
                      </a:br>
                      <a:r>
                        <a:rPr kumimoji="0" lang="ru-RU" sz="1600" b="0" i="0" kern="1200" dirty="0">
                          <a:solidFill>
                            <a:schemeClr val="dk1"/>
                          </a:solidFill>
                          <a:latin typeface="+mn-lt"/>
                          <a:ea typeface="+mn-ea"/>
                          <a:cs typeface="+mn-cs"/>
                        </a:rPr>
                        <a:t>-чтобы избежать высокой инфляции, разумнее не отказываться от эмиссионного способа финансирования, а использовать его в сочетании с долговым, при этом существенным недостатком долгового способа финансирования является эффект вытеснения (</a:t>
                      </a:r>
                      <a:r>
                        <a:rPr kumimoji="0" lang="ru-RU" sz="1600" b="0" i="0" kern="1200" dirty="0" err="1">
                          <a:solidFill>
                            <a:schemeClr val="dk1"/>
                          </a:solidFill>
                          <a:latin typeface="+mn-lt"/>
                          <a:ea typeface="+mn-ea"/>
                          <a:cs typeface="+mn-cs"/>
                        </a:rPr>
                        <a:t>crowding-out</a:t>
                      </a:r>
                      <a:r>
                        <a:rPr kumimoji="0" lang="ru-RU" sz="1600" b="0" i="0" kern="1200" dirty="0">
                          <a:solidFill>
                            <a:schemeClr val="dk1"/>
                          </a:solidFill>
                          <a:latin typeface="+mn-lt"/>
                          <a:ea typeface="+mn-ea"/>
                          <a:cs typeface="+mn-cs"/>
                        </a:rPr>
                        <a:t> </a:t>
                      </a:r>
                      <a:r>
                        <a:rPr kumimoji="0" lang="ru-RU" sz="1600" b="0" i="0" kern="1200" dirty="0" err="1">
                          <a:solidFill>
                            <a:schemeClr val="dk1"/>
                          </a:solidFill>
                          <a:latin typeface="+mn-lt"/>
                          <a:ea typeface="+mn-ea"/>
                          <a:cs typeface="+mn-cs"/>
                        </a:rPr>
                        <a:t>effect</a:t>
                      </a:r>
                      <a:r>
                        <a:rPr kumimoji="0" lang="ru-RU" sz="1600" b="0" i="0" kern="1200" dirty="0">
                          <a:solidFill>
                            <a:schemeClr val="dk1"/>
                          </a:solidFill>
                          <a:latin typeface="+mn-lt"/>
                          <a:ea typeface="+mn-ea"/>
                          <a:cs typeface="+mn-cs"/>
                        </a:rPr>
                        <a:t>) частных инвестиций***</a:t>
                      </a:r>
                      <a:endParaRPr lang="ru-RU" sz="1600"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404664"/>
            <a:ext cx="8424936" cy="6264696"/>
          </a:xfrm>
        </p:spPr>
        <p:txBody>
          <a:bodyPr>
            <a:normAutofit fontScale="25000" lnSpcReduction="20000"/>
          </a:bodyPr>
          <a:lstStyle/>
          <a:p>
            <a:pPr>
              <a:buNone/>
            </a:pPr>
            <a:r>
              <a:rPr lang="ru-RU" sz="5600" dirty="0"/>
              <a:t>* - Очевидно, что население не будет покупать государственные облигации, если они не будут приносить дохода, т.е. если по ним не будет выплачиваться процент. Выплата процентов по государственным облигациям называется обслуживанием государственного долга. Чем больше государственный долг (чем больше выпущено государственных облигаций), тем большие суммы должны идти на обслуживание долга. А выплата процентов по государственным облигациям является частью расходов государственного бюджета, и чем они больше, тем больше дефицит бюджета.</a:t>
            </a:r>
          </a:p>
          <a:p>
            <a:pPr>
              <a:buNone/>
            </a:pPr>
            <a:r>
              <a:rPr lang="ru-RU" sz="5600" dirty="0"/>
              <a:t>** -два американских экономиста Томас Сарджент и Нейл </a:t>
            </a:r>
            <a:r>
              <a:rPr lang="ru-RU" sz="5600" dirty="0" err="1"/>
              <a:t>Уоллис</a:t>
            </a:r>
            <a:r>
              <a:rPr lang="ru-RU" sz="5600" dirty="0"/>
              <a:t>, доказали, что долговое финансирование дефицита государственного бюджета может привести к еще более высокой инфляции, чем эмиссионное. Эта идея получила в экономической литературе название теоремы Сарджента — </a:t>
            </a:r>
            <a:r>
              <a:rPr lang="ru-RU" sz="5600" dirty="0" err="1"/>
              <a:t>Уоллиса</a:t>
            </a:r>
            <a:r>
              <a:rPr lang="ru-RU" sz="5600" dirty="0"/>
              <a:t>. Дело в том, что государство, финансируя дефицит бюджета за счет внутреннего займа (выпуска государственных облигаций), как правило, строит финансовую пирамиду, расплачиваясь с прошлыми долгами займом в настоящем, который нужно будет возвращать в будущем, причем возврат долга включает как саму сумму долга, так и проценты по долгу. Государство таким образом рефинансирует долг. Если государство будет использовать только этот метод финансирования дефицита государственного бюджета, то может наступить момент, когда дефицит окажется столь велик (т.е. будет выпущено такое количество государственных облигаций и расходы по обслуживанию государственного долга будут столь значительны), что его финансирование долговым способом станет невозможным, и придется использовать эмиссионное финансирование. Но при этом величина эмиссии будет гораздо больше, чем если проводить ее в разумных размерах (небольшими порциями) каждый год. Это может привести к всплеску инфляции в будущем. </a:t>
            </a:r>
          </a:p>
          <a:p>
            <a:pPr>
              <a:buNone/>
            </a:pPr>
            <a:r>
              <a:rPr lang="ru-RU" sz="5600" dirty="0"/>
              <a:t>*** -Экономический смысл эффекта вытеснения заключается в следующем: увеличение количества государственных облигаций на рынке ценных бумаг приводит к тому, что часть сбережений домохозяйств расходуется на покупку государственных ценных бумаг, а не на покупку ценных бумаг частных фирм, что могло бы обеспечить расширение производства и способствовать экономическому росту. Это сокращает инвестиционные ресурсы и поэтому инвестиционные расходы частных фирм. Кроме того, борьба за кредитные средства ведет к росту их цены — ставки процента, т.е. к удорожанию кредитов, в результате инвестиционные расходы фирм уменьшаются.</a:t>
            </a:r>
            <a:br>
              <a:rPr lang="ru-RU" dirty="0"/>
            </a:br>
            <a:endParaRPr lang="ru-RU"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179512" y="404664"/>
            <a:ext cx="3240360" cy="5904656"/>
          </a:xfrm>
        </p:spPr>
        <p:txBody>
          <a:bodyPr>
            <a:noAutofit/>
          </a:bodyPr>
          <a:lstStyle/>
          <a:p>
            <a:pPr>
              <a:buNone/>
            </a:pPr>
            <a:r>
              <a:rPr lang="ru-RU" sz="1800" b="1" dirty="0"/>
              <a:t>  Финансирование дефицита государственного бюджета с помощью внешнего займа</a:t>
            </a:r>
            <a:r>
              <a:rPr lang="ru-RU" sz="1800" dirty="0"/>
              <a:t>, т.е. займа у других стран (как правило, путем продажи им частных и государственных ценных бумаг, т.е. финансовых активов) или международных финансовых организаций (Международного валютного фонда — МВФ, Мирового банка, Лондонского клуба, Парижского клуба и др.).</a:t>
            </a:r>
          </a:p>
        </p:txBody>
      </p:sp>
      <p:pic>
        <p:nvPicPr>
          <p:cNvPr id="5" name="Рисунок 4" descr="image-2.jpg"/>
          <p:cNvPicPr>
            <a:picLocks noChangeAspect="1"/>
          </p:cNvPicPr>
          <p:nvPr/>
        </p:nvPicPr>
        <p:blipFill>
          <a:blip r:embed="rId2" cstate="print"/>
          <a:stretch>
            <a:fillRect/>
          </a:stretch>
        </p:blipFill>
        <p:spPr>
          <a:xfrm>
            <a:off x="3275856" y="476672"/>
            <a:ext cx="5472608" cy="583264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одержимое 3"/>
          <p:cNvGraphicFramePr>
            <a:graphicFrameLocks noGrp="1"/>
          </p:cNvGraphicFramePr>
          <p:nvPr>
            <p:ph idx="1"/>
          </p:nvPr>
        </p:nvGraphicFramePr>
        <p:xfrm>
          <a:off x="503238" y="530222"/>
          <a:ext cx="8183562" cy="5713248"/>
        </p:xfrm>
        <a:graphic>
          <a:graphicData uri="http://schemas.openxmlformats.org/drawingml/2006/table">
            <a:tbl>
              <a:tblPr firstRow="1" bandRow="1">
                <a:tableStyleId>{8EC20E35-A176-4012-BC5E-935CFFF8708E}</a:tableStyleId>
              </a:tblPr>
              <a:tblGrid>
                <a:gridCol w="4091781">
                  <a:extLst>
                    <a:ext uri="{9D8B030D-6E8A-4147-A177-3AD203B41FA5}">
                      <a16:colId xmlns:a16="http://schemas.microsoft.com/office/drawing/2014/main" val="20000"/>
                    </a:ext>
                  </a:extLst>
                </a:gridCol>
                <a:gridCol w="4091781">
                  <a:extLst>
                    <a:ext uri="{9D8B030D-6E8A-4147-A177-3AD203B41FA5}">
                      <a16:colId xmlns:a16="http://schemas.microsoft.com/office/drawing/2014/main" val="20001"/>
                    </a:ext>
                  </a:extLst>
                </a:gridCol>
              </a:tblGrid>
              <a:tr h="409728">
                <a:tc>
                  <a:txBody>
                    <a:bodyPr/>
                    <a:lstStyle/>
                    <a:p>
                      <a:r>
                        <a:rPr lang="ru-RU" dirty="0"/>
                        <a:t>Достоинства</a:t>
                      </a:r>
                    </a:p>
                  </a:txBody>
                  <a:tcPr/>
                </a:tc>
                <a:tc>
                  <a:txBody>
                    <a:bodyPr/>
                    <a:lstStyle/>
                    <a:p>
                      <a:r>
                        <a:rPr lang="ru-RU" dirty="0"/>
                        <a:t>Недостатки</a:t>
                      </a:r>
                    </a:p>
                  </a:txBody>
                  <a:tcPr/>
                </a:tc>
                <a:extLst>
                  <a:ext uri="{0D108BD9-81ED-4DB2-BD59-A6C34878D82A}">
                    <a16:rowId xmlns:a16="http://schemas.microsoft.com/office/drawing/2014/main" val="10000"/>
                  </a:ext>
                </a:extLst>
              </a:tr>
              <a:tr h="5297362">
                <a:tc>
                  <a:txBody>
                    <a:bodyPr/>
                    <a:lstStyle/>
                    <a:p>
                      <a:r>
                        <a:rPr kumimoji="0" lang="ru-RU" b="0" i="0" kern="1200" dirty="0">
                          <a:solidFill>
                            <a:schemeClr val="dk1"/>
                          </a:solidFill>
                          <a:latin typeface="+mn-lt"/>
                          <a:ea typeface="+mn-ea"/>
                          <a:cs typeface="+mn-cs"/>
                        </a:rPr>
                        <a:t>-возможность получения крупных сумм в условиях, если внутренний </a:t>
                      </a:r>
                      <a:r>
                        <a:rPr kumimoji="0" lang="ru-RU" b="0" i="0" kern="1200" dirty="0" err="1">
                          <a:solidFill>
                            <a:schemeClr val="dk1"/>
                          </a:solidFill>
                          <a:latin typeface="+mn-lt"/>
                          <a:ea typeface="+mn-ea"/>
                          <a:cs typeface="+mn-cs"/>
                        </a:rPr>
                        <a:t>займ</a:t>
                      </a:r>
                      <a:r>
                        <a:rPr kumimoji="0" lang="ru-RU" b="0" i="0" kern="1200" dirty="0">
                          <a:solidFill>
                            <a:schemeClr val="dk1"/>
                          </a:solidFill>
                          <a:latin typeface="+mn-lt"/>
                          <a:ea typeface="+mn-ea"/>
                          <a:cs typeface="+mn-cs"/>
                        </a:rPr>
                        <a:t> по каким-то причинам невозможен или нецелесообразен, а финансирование дефицита государственного бюджета эмиссионным способом создает угрозу высокой инфляции</a:t>
                      </a:r>
                      <a:endParaRPr lang="ru-RU" dirty="0"/>
                    </a:p>
                  </a:txBody>
                  <a:tcPr/>
                </a:tc>
                <a:tc>
                  <a:txBody>
                    <a:bodyPr/>
                    <a:lstStyle/>
                    <a:p>
                      <a:r>
                        <a:rPr kumimoji="0" lang="ru-RU" b="0" i="0" kern="1200" dirty="0">
                          <a:solidFill>
                            <a:schemeClr val="dk1"/>
                          </a:solidFill>
                          <a:latin typeface="+mn-lt"/>
                          <a:ea typeface="+mn-ea"/>
                          <a:cs typeface="+mn-cs"/>
                        </a:rPr>
                        <a:t>-необходимость возвращения долга и обслуживания долга (выплаты как самой суммы долга, так и процентов по долгу);</a:t>
                      </a:r>
                      <a:br>
                        <a:rPr lang="ru-RU" dirty="0"/>
                      </a:br>
                      <a:r>
                        <a:rPr kumimoji="0" lang="ru-RU" b="0" i="0" kern="1200" dirty="0">
                          <a:solidFill>
                            <a:schemeClr val="dk1"/>
                          </a:solidFill>
                          <a:latin typeface="+mn-lt"/>
                          <a:ea typeface="+mn-ea"/>
                          <a:cs typeface="+mn-cs"/>
                        </a:rPr>
                        <a:t>-невозможность построения финансовой пирамиды для выплаты внешнего долга;</a:t>
                      </a:r>
                      <a:br>
                        <a:rPr lang="ru-RU" dirty="0"/>
                      </a:br>
                      <a:r>
                        <a:rPr kumimoji="0" lang="ru-RU" b="0" i="0" kern="1200" dirty="0">
                          <a:solidFill>
                            <a:schemeClr val="dk1"/>
                          </a:solidFill>
                          <a:latin typeface="+mn-lt"/>
                          <a:ea typeface="+mn-ea"/>
                          <a:cs typeface="+mn-cs"/>
                        </a:rPr>
                        <a:t>-необходимость отвлечения средств из экономики страны для выплаты внешнего долга и его обслуживания, что ведет к сокращению внутреннего объема производства и спаду в экономике;</a:t>
                      </a:r>
                      <a:br>
                        <a:rPr lang="ru-RU" dirty="0"/>
                      </a:br>
                      <a:r>
                        <a:rPr kumimoji="0" lang="ru-RU" b="0" i="0" kern="1200" dirty="0">
                          <a:solidFill>
                            <a:schemeClr val="dk1"/>
                          </a:solidFill>
                          <a:latin typeface="+mn-lt"/>
                          <a:ea typeface="+mn-ea"/>
                          <a:cs typeface="+mn-cs"/>
                        </a:rPr>
                        <a:t>-при дефиците платежного баланса возможность истощения золотовалютных резервов страны</a:t>
                      </a:r>
                      <a:endParaRPr lang="ru-RU" dirty="0"/>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908720"/>
            <a:ext cx="8183880" cy="1080120"/>
          </a:xfrm>
        </p:spPr>
        <p:txBody>
          <a:bodyPr>
            <a:normAutofit fontScale="90000"/>
          </a:bodyPr>
          <a:lstStyle/>
          <a:p>
            <a:r>
              <a:rPr lang="ru-RU" dirty="0"/>
              <a:t>Государственный долг, его виды и последствия</a:t>
            </a:r>
            <a:br>
              <a:rPr lang="ru-RU" dirty="0"/>
            </a:br>
            <a:endParaRPr lang="ru-RU" dirty="0"/>
          </a:p>
        </p:txBody>
      </p:sp>
      <p:sp>
        <p:nvSpPr>
          <p:cNvPr id="3" name="Содержимое 2"/>
          <p:cNvSpPr>
            <a:spLocks noGrp="1"/>
          </p:cNvSpPr>
          <p:nvPr>
            <p:ph idx="1"/>
          </p:nvPr>
        </p:nvSpPr>
        <p:spPr>
          <a:xfrm>
            <a:off x="539552" y="1772816"/>
            <a:ext cx="8183880" cy="4187952"/>
          </a:xfrm>
        </p:spPr>
        <p:txBody>
          <a:bodyPr>
            <a:normAutofit fontScale="85000" lnSpcReduction="20000"/>
          </a:bodyPr>
          <a:lstStyle/>
          <a:p>
            <a:pPr>
              <a:buNone/>
            </a:pPr>
            <a:r>
              <a:rPr lang="ru-RU" b="1" dirty="0"/>
              <a:t>Государственный долг </a:t>
            </a:r>
            <a:r>
              <a:rPr lang="ru-RU" dirty="0"/>
              <a:t>представляет собой сумму накопленных бюджетных дефицитов за вычетом суммы </a:t>
            </a:r>
            <a:r>
              <a:rPr lang="ru-RU" dirty="0" err="1"/>
              <a:t>профицитов</a:t>
            </a:r>
            <a:r>
              <a:rPr lang="ru-RU" dirty="0"/>
              <a:t> бюджета, которые имели место в стране.</a:t>
            </a:r>
          </a:p>
          <a:p>
            <a:pPr>
              <a:buNone/>
            </a:pPr>
            <a:endParaRPr lang="ru-RU" dirty="0"/>
          </a:p>
          <a:p>
            <a:pPr>
              <a:buNone/>
            </a:pPr>
            <a:r>
              <a:rPr lang="ru-RU" dirty="0"/>
              <a:t>Таким образом, это показатель запаса, поскольку рассчитывается на определенный момент времени (например, по состоянию на 1 января 2002 г.) в отличие от дефицита государственного бюджета, который является показателем потока, поскольку рассчитывается за определенный период времени (за год).</a:t>
            </a:r>
          </a:p>
          <a:p>
            <a:pPr>
              <a:buNone/>
            </a:pPr>
            <a:endParaRPr lang="ru-RU"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692696"/>
            <a:ext cx="8183880" cy="4608512"/>
          </a:xfrm>
        </p:spPr>
        <p:txBody>
          <a:bodyPr>
            <a:normAutofit fontScale="92500" lnSpcReduction="10000"/>
          </a:bodyPr>
          <a:lstStyle/>
          <a:p>
            <a:pPr>
              <a:buNone/>
            </a:pPr>
            <a:r>
              <a:rPr lang="ru-RU" dirty="0"/>
              <a:t>Причиной появления и увеличения государственного долга является </a:t>
            </a:r>
            <a:r>
              <a:rPr lang="ru-RU" i="1" dirty="0"/>
              <a:t>финансирование дефицита государственного бюджета за счет внутреннего и внешнего займов </a:t>
            </a:r>
            <a:r>
              <a:rPr lang="ru-RU" dirty="0"/>
              <a:t>(неслучайно они называются долговыми способами покрытия бюджетного дефицита).</a:t>
            </a:r>
          </a:p>
          <a:p>
            <a:pPr>
              <a:buNone/>
            </a:pPr>
            <a:endParaRPr lang="ru-RU" dirty="0"/>
          </a:p>
          <a:p>
            <a:pPr>
              <a:buNone/>
            </a:pPr>
            <a:r>
              <a:rPr lang="ru-RU" dirty="0"/>
              <a:t>Соответственно различают два вида государственного долга: внутренний и внешний.</a:t>
            </a:r>
          </a:p>
          <a:p>
            <a:pPr>
              <a:buNone/>
            </a:pPr>
            <a:endParaRPr lang="ru-RU"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627784" y="548680"/>
            <a:ext cx="3600400" cy="914400"/>
          </a:xfrm>
          <a:prstGeom prst="rect">
            <a:avLst/>
          </a:prstGeom>
          <a:solidFill>
            <a:schemeClr val="tx1">
              <a:lumMod val="65000"/>
              <a:lumOff val="35000"/>
            </a:schemeClr>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Государственный долг</a:t>
            </a:r>
          </a:p>
        </p:txBody>
      </p:sp>
      <p:sp>
        <p:nvSpPr>
          <p:cNvPr id="5" name="Прямоугольник 4"/>
          <p:cNvSpPr/>
          <p:nvPr/>
        </p:nvSpPr>
        <p:spPr>
          <a:xfrm>
            <a:off x="611560" y="2492896"/>
            <a:ext cx="3528392" cy="3240360"/>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Внутренний государственный долг (</a:t>
            </a:r>
            <a:r>
              <a:rPr lang="ru-RU" dirty="0" err="1"/>
              <a:t>internal</a:t>
            </a:r>
            <a:r>
              <a:rPr lang="ru-RU" dirty="0"/>
              <a:t> </a:t>
            </a:r>
            <a:r>
              <a:rPr lang="ru-RU" dirty="0" err="1"/>
              <a:t>debt</a:t>
            </a:r>
            <a:r>
              <a:rPr lang="ru-RU" dirty="0"/>
              <a:t>) — это совокупная задолженность правительства гражданам страны, равная суммарной номинальной стоимости всех имеющихся у них на определенный момент государственных облигаций</a:t>
            </a:r>
          </a:p>
        </p:txBody>
      </p:sp>
      <p:sp>
        <p:nvSpPr>
          <p:cNvPr id="6" name="Прямоугольник 5"/>
          <p:cNvSpPr/>
          <p:nvPr/>
        </p:nvSpPr>
        <p:spPr>
          <a:xfrm>
            <a:off x="5004048" y="2492896"/>
            <a:ext cx="3600400" cy="3240360"/>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Внешний государственный долг (</a:t>
            </a:r>
            <a:r>
              <a:rPr lang="ru-RU" dirty="0" err="1"/>
              <a:t>external</a:t>
            </a:r>
            <a:r>
              <a:rPr lang="ru-RU" dirty="0"/>
              <a:t> </a:t>
            </a:r>
            <a:r>
              <a:rPr lang="ru-RU" dirty="0" err="1"/>
              <a:t>debt</a:t>
            </a:r>
            <a:r>
              <a:rPr lang="ru-RU" dirty="0"/>
              <a:t>) — это суммарная задолженность страны иностранным гражданам, другим странам и международным финансовым организациям.</a:t>
            </a:r>
          </a:p>
        </p:txBody>
      </p:sp>
      <p:sp>
        <p:nvSpPr>
          <p:cNvPr id="7" name="Стрелка вниз 6"/>
          <p:cNvSpPr/>
          <p:nvPr/>
        </p:nvSpPr>
        <p:spPr>
          <a:xfrm rot="2293594">
            <a:off x="2950538" y="1457815"/>
            <a:ext cx="484632" cy="978408"/>
          </a:xfrm>
          <a:prstGeom prst="downArrow">
            <a:avLst/>
          </a:prstGeom>
          <a:solidFill>
            <a:schemeClr val="tx1">
              <a:lumMod val="65000"/>
              <a:lumOff val="35000"/>
            </a:schemeClr>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Стрелка вниз 7"/>
          <p:cNvSpPr/>
          <p:nvPr/>
        </p:nvSpPr>
        <p:spPr>
          <a:xfrm rot="19211192">
            <a:off x="5405112" y="1454498"/>
            <a:ext cx="484632" cy="978408"/>
          </a:xfrm>
          <a:prstGeom prst="downArrow">
            <a:avLst/>
          </a:prstGeom>
          <a:solidFill>
            <a:schemeClr val="tx1">
              <a:lumMod val="65000"/>
              <a:lumOff val="35000"/>
            </a:schemeClr>
          </a:solidFill>
          <a:ln>
            <a:solidFill>
              <a:schemeClr val="tx2">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02920" y="530352"/>
            <a:ext cx="8183880" cy="2682624"/>
          </a:xfrm>
        </p:spPr>
        <p:txBody>
          <a:bodyPr>
            <a:normAutofit fontScale="70000" lnSpcReduction="20000"/>
          </a:bodyPr>
          <a:lstStyle/>
          <a:p>
            <a:pPr>
              <a:buNone/>
            </a:pPr>
            <a:r>
              <a:rPr lang="ru-RU" dirty="0"/>
              <a:t>По абсолютной величине долга невозможно судить о том, насколько серьезной экономической проблемой он является. Если сумма долга составляет незначительную долю ВВП (даже несмотря на его большую абсолютную величину) и экономика динамично развивается, выплата самого долга и процентов по долгу не является непосильным бременем для экономики. Поэтому показателем бремени государственного долга для экономики является отношение абсолютной величины долга (D) к объему ВВП (Y) (доля долга в ВВП)</a:t>
            </a:r>
          </a:p>
        </p:txBody>
      </p:sp>
      <p:pic>
        <p:nvPicPr>
          <p:cNvPr id="4" name="Рисунок 3" descr="QfxlY_t8Rjo.jpg"/>
          <p:cNvPicPr>
            <a:picLocks noChangeAspect="1"/>
          </p:cNvPicPr>
          <p:nvPr/>
        </p:nvPicPr>
        <p:blipFill>
          <a:blip r:embed="rId2" cstate="print"/>
          <a:stretch>
            <a:fillRect/>
          </a:stretch>
        </p:blipFill>
        <p:spPr>
          <a:xfrm>
            <a:off x="6012160" y="4293096"/>
            <a:ext cx="2448272" cy="1595910"/>
          </a:xfrm>
          <a:prstGeom prst="rect">
            <a:avLst/>
          </a:prstGeom>
        </p:spPr>
      </p:pic>
      <p:pic>
        <p:nvPicPr>
          <p:cNvPr id="5" name="Рисунок 4" descr="DsnHoe0Ik0Q.jpg"/>
          <p:cNvPicPr>
            <a:picLocks noChangeAspect="1"/>
          </p:cNvPicPr>
          <p:nvPr/>
        </p:nvPicPr>
        <p:blipFill>
          <a:blip r:embed="rId3" cstate="print"/>
          <a:stretch>
            <a:fillRect/>
          </a:stretch>
        </p:blipFill>
        <p:spPr>
          <a:xfrm>
            <a:off x="899592" y="3140968"/>
            <a:ext cx="2361862" cy="1476164"/>
          </a:xfrm>
          <a:prstGeom prst="rect">
            <a:avLst/>
          </a:prstGeom>
        </p:spPr>
      </p:pic>
      <p:sp>
        <p:nvSpPr>
          <p:cNvPr id="6" name="TextBox 5"/>
          <p:cNvSpPr txBox="1"/>
          <p:nvPr/>
        </p:nvSpPr>
        <p:spPr>
          <a:xfrm>
            <a:off x="683568" y="4797152"/>
            <a:ext cx="5472608" cy="923330"/>
          </a:xfrm>
          <a:prstGeom prst="rect">
            <a:avLst/>
          </a:prstGeom>
          <a:noFill/>
        </p:spPr>
        <p:txBody>
          <a:bodyPr wrap="square" rtlCol="0">
            <a:spAutoFit/>
          </a:bodyPr>
          <a:lstStyle/>
          <a:p>
            <a:r>
              <a:rPr lang="ru-RU" dirty="0"/>
              <a:t>или более точный показатель отношения темпов роста долга (</a:t>
            </a:r>
            <a:r>
              <a:rPr lang="ru-RU" dirty="0" err="1"/>
              <a:t>gD</a:t>
            </a:r>
            <a:r>
              <a:rPr lang="ru-RU" dirty="0"/>
              <a:t>) к темпам роста ВВП (</a:t>
            </a:r>
            <a:r>
              <a:rPr lang="ru-RU" dirty="0" err="1"/>
              <a:t>g</a:t>
            </a:r>
            <a:r>
              <a:rPr lang="en-US" dirty="0"/>
              <a:t>Y</a:t>
            </a:r>
            <a:r>
              <a:rPr lang="ru-RU"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476672"/>
            <a:ext cx="8568952" cy="1368152"/>
          </a:xfrm>
        </p:spPr>
        <p:txBody>
          <a:bodyPr>
            <a:normAutofit fontScale="85000" lnSpcReduction="20000"/>
          </a:bodyPr>
          <a:lstStyle/>
          <a:p>
            <a:pPr>
              <a:buNone/>
            </a:pPr>
            <a:r>
              <a:rPr lang="ru-RU" dirty="0"/>
              <a:t>При низких темпах роста ВВП и низких темпах экономического роста государственный долг превращается в серьезную макроэкономическую проблему.</a:t>
            </a:r>
          </a:p>
          <a:p>
            <a:pPr>
              <a:buNone/>
            </a:pPr>
            <a:endParaRPr lang="ru-RU" dirty="0"/>
          </a:p>
          <a:p>
            <a:pPr>
              <a:buNone/>
            </a:pPr>
            <a:endParaRPr lang="ru-RU" dirty="0"/>
          </a:p>
        </p:txBody>
      </p:sp>
      <p:pic>
        <p:nvPicPr>
          <p:cNvPr id="4" name="Рисунок 3" descr="6be5e51s-1920.jpg"/>
          <p:cNvPicPr>
            <a:picLocks noChangeAspect="1"/>
          </p:cNvPicPr>
          <p:nvPr/>
        </p:nvPicPr>
        <p:blipFill>
          <a:blip r:embed="rId2" cstate="print"/>
          <a:stretch>
            <a:fillRect/>
          </a:stretch>
        </p:blipFill>
        <p:spPr>
          <a:xfrm>
            <a:off x="467544" y="2564904"/>
            <a:ext cx="3816424" cy="3168352"/>
          </a:xfrm>
          <a:prstGeom prst="rect">
            <a:avLst/>
          </a:prstGeom>
        </p:spPr>
      </p:pic>
      <p:sp>
        <p:nvSpPr>
          <p:cNvPr id="6" name="TextBox 5"/>
          <p:cNvSpPr txBox="1"/>
          <p:nvPr/>
        </p:nvSpPr>
        <p:spPr>
          <a:xfrm>
            <a:off x="4355976" y="1556792"/>
            <a:ext cx="4320480" cy="4524315"/>
          </a:xfrm>
          <a:prstGeom prst="rect">
            <a:avLst/>
          </a:prstGeom>
          <a:noFill/>
        </p:spPr>
        <p:txBody>
          <a:bodyPr wrap="square" rtlCol="0">
            <a:spAutoFit/>
          </a:bodyPr>
          <a:lstStyle/>
          <a:p>
            <a:r>
              <a:rPr lang="ru-RU" dirty="0"/>
              <a:t>Опасность большого внутреннего государственного долга связана не с тем, что правительство может обанкротиться, так как оно обычно не погашает долг, а рефинансирует его, выпуская новые государственные займы и делая новые долги для погашения старых, т.е. строит финансовую пирамиду. Кроме того, правительство для финансирования своих расходов может повысить налоги или выпустить в обращение дополнительные деньги.</a:t>
            </a:r>
          </a:p>
          <a:p>
            <a:endParaRPr lang="ru-RU"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323528" y="476672"/>
            <a:ext cx="8424936" cy="5832648"/>
          </a:xfrm>
        </p:spPr>
        <p:txBody>
          <a:bodyPr>
            <a:normAutofit fontScale="70000" lnSpcReduction="20000"/>
          </a:bodyPr>
          <a:lstStyle/>
          <a:p>
            <a:pPr>
              <a:buNone/>
            </a:pPr>
            <a:r>
              <a:rPr lang="ru-RU" sz="3800" dirty="0"/>
              <a:t>Серьезные проблемы большого государственного внутреннего долга заключаются в том, что:</a:t>
            </a:r>
          </a:p>
          <a:p>
            <a:pPr>
              <a:buNone/>
            </a:pPr>
            <a:endParaRPr lang="ru-RU" sz="3800" dirty="0"/>
          </a:p>
          <a:p>
            <a:r>
              <a:rPr lang="ru-RU" sz="3200" dirty="0"/>
              <a:t>снижается эффективность экономики, поскольку отвлекаются средства из производственного сектора экономики как на обслуживание долга, так и на выплату самой суммы долга;</a:t>
            </a:r>
          </a:p>
          <a:p>
            <a:endParaRPr lang="ru-RU" sz="3200" dirty="0"/>
          </a:p>
          <a:p>
            <a:r>
              <a:rPr lang="ru-RU" sz="3200" dirty="0"/>
              <a:t>перераспределяется доход от частного сектора к государственному;</a:t>
            </a:r>
          </a:p>
          <a:p>
            <a:endParaRPr lang="ru-RU" sz="3200" dirty="0"/>
          </a:p>
          <a:p>
            <a:r>
              <a:rPr lang="ru-RU" sz="3200" dirty="0"/>
              <a:t>усиливается неравенство в доходах;</a:t>
            </a:r>
          </a:p>
          <a:p>
            <a:endParaRPr lang="ru-RU" sz="3200" dirty="0"/>
          </a:p>
          <a:p>
            <a:r>
              <a:rPr lang="ru-RU" sz="3200" dirty="0"/>
              <a:t>рефинансирование долга ведет к росту ставки процента, что вызывает вытеснение инвестиций в краткосрочном периоде, а в долгосрочном периоде может привести к сокращению запаса капитала и снижению производственного потенциала страны;</a:t>
            </a:r>
          </a:p>
          <a:p>
            <a:pPr>
              <a:buNone/>
            </a:pPr>
            <a:endParaRPr lang="ru-RU"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467544" y="548680"/>
            <a:ext cx="8183880" cy="5400600"/>
          </a:xfrm>
        </p:spPr>
        <p:txBody>
          <a:bodyPr>
            <a:normAutofit fontScale="70000" lnSpcReduction="20000"/>
          </a:bodyPr>
          <a:lstStyle/>
          <a:p>
            <a:r>
              <a:rPr lang="ru-RU" dirty="0"/>
              <a:t>создается угроза высокой инфляции в будущем;</a:t>
            </a:r>
          </a:p>
          <a:p>
            <a:endParaRPr lang="ru-RU" dirty="0"/>
          </a:p>
          <a:p>
            <a:r>
              <a:rPr lang="ru-RU" dirty="0"/>
              <a:t>необходимость выплаты процентов по долгу может потребовать повышения налогов, что приведет к подрыву действия экономических стимулов;</a:t>
            </a:r>
          </a:p>
          <a:p>
            <a:endParaRPr lang="ru-RU" dirty="0"/>
          </a:p>
          <a:p>
            <a:r>
              <a:rPr lang="ru-RU" dirty="0"/>
              <a:t>дефицит государственного бюджета может стать хроническим явлением;</a:t>
            </a:r>
          </a:p>
          <a:p>
            <a:endParaRPr lang="ru-RU" dirty="0"/>
          </a:p>
          <a:p>
            <a:r>
              <a:rPr lang="ru-RU" dirty="0"/>
              <a:t>может появиться двойной дефицит (</a:t>
            </a:r>
            <a:r>
              <a:rPr lang="ru-RU" dirty="0" err="1"/>
              <a:t>twin-debts</a:t>
            </a:r>
            <a:r>
              <a:rPr lang="ru-RU" dirty="0"/>
              <a:t>), при котором дефицит государственного бюджета сочетается с дефицитом торгового баланса. Эти два вида дефицитов взаимообусловлены. Из тождества инъекций и изъятий </a:t>
            </a:r>
            <a:r>
              <a:rPr lang="en-US" dirty="0"/>
              <a:t>I</a:t>
            </a:r>
            <a:r>
              <a:rPr lang="ru-RU" dirty="0"/>
              <a:t>+</a:t>
            </a:r>
            <a:r>
              <a:rPr lang="en-US" dirty="0"/>
              <a:t> G </a:t>
            </a:r>
            <a:r>
              <a:rPr lang="ru-RU" dirty="0"/>
              <a:t>+ </a:t>
            </a:r>
            <a:r>
              <a:rPr lang="ru-RU" dirty="0" err="1"/>
              <a:t>Ех</a:t>
            </a:r>
            <a:r>
              <a:rPr lang="ru-RU" dirty="0"/>
              <a:t> = S + </a:t>
            </a:r>
            <a:r>
              <a:rPr lang="en-US" dirty="0"/>
              <a:t>T</a:t>
            </a:r>
            <a:r>
              <a:rPr lang="ru-RU" dirty="0"/>
              <a:t>+ </a:t>
            </a:r>
            <a:r>
              <a:rPr lang="en-US" dirty="0" err="1"/>
              <a:t>Im</a:t>
            </a:r>
            <a:r>
              <a:rPr lang="ru-RU" dirty="0"/>
              <a:t> следует, что (G</a:t>
            </a:r>
            <a:r>
              <a:rPr lang="en-US" dirty="0"/>
              <a:t> - </a:t>
            </a:r>
            <a:r>
              <a:rPr lang="ru-RU" dirty="0"/>
              <a:t>Т) </a:t>
            </a:r>
            <a:r>
              <a:rPr lang="en-US" dirty="0"/>
              <a:t>= (S – I)</a:t>
            </a:r>
            <a:r>
              <a:rPr lang="ru-RU" dirty="0"/>
              <a:t> + (</a:t>
            </a:r>
            <a:r>
              <a:rPr lang="ru-RU" dirty="0" err="1"/>
              <a:t>Im</a:t>
            </a:r>
            <a:r>
              <a:rPr lang="ru-RU" dirty="0"/>
              <a:t> </a:t>
            </a:r>
            <a:r>
              <a:rPr lang="en-US" dirty="0"/>
              <a:t>- </a:t>
            </a:r>
            <a:r>
              <a:rPr lang="ru-RU" dirty="0" err="1"/>
              <a:t>Ex</a:t>
            </a:r>
            <a:r>
              <a:rPr lang="ru-RU" dirty="0"/>
              <a:t>). При невозможности финансирования роста дефицита государственного бюджета за счет внутренних сбережений приходится его финансировать за счет внешнего займа и увеличения дефицита торгового (платежного) баланса.</a:t>
            </a:r>
          </a:p>
          <a:p>
            <a:endParaRPr lang="ru-RU"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Содержимое 2"/>
          <p:cNvSpPr>
            <a:spLocks noGrp="1"/>
          </p:cNvSpPr>
          <p:nvPr>
            <p:ph idx="1"/>
          </p:nvPr>
        </p:nvSpPr>
        <p:spPr>
          <a:xfrm>
            <a:off x="502920" y="530352"/>
            <a:ext cx="8183880" cy="5562944"/>
          </a:xfrm>
        </p:spPr>
        <p:txBody>
          <a:bodyPr>
            <a:normAutofit fontScale="62500" lnSpcReduction="20000"/>
          </a:bodyPr>
          <a:lstStyle/>
          <a:p>
            <a:pPr>
              <a:buNone/>
            </a:pPr>
            <a:r>
              <a:rPr lang="ru-RU" sz="3200" dirty="0"/>
              <a:t>Негативные последствия большого государственного внешнего долга обусловлены </a:t>
            </a:r>
            <a:r>
              <a:rPr lang="ru-RU" sz="3200" i="1" dirty="0"/>
              <a:t>необходимостью возвращения долга и его обслуживания</a:t>
            </a:r>
            <a:r>
              <a:rPr lang="ru-RU" sz="3200" dirty="0"/>
              <a:t> и состоят в том, что:</a:t>
            </a:r>
            <a:endParaRPr lang="en-US" sz="3200" dirty="0"/>
          </a:p>
          <a:p>
            <a:pPr>
              <a:buNone/>
            </a:pPr>
            <a:endParaRPr lang="ru-RU" dirty="0"/>
          </a:p>
          <a:p>
            <a:r>
              <a:rPr lang="ru-RU" dirty="0"/>
              <a:t>выплата процентов и основной суммы долга иностранцам вызывают перевод определенной части ВВП за рубеж, в результате снижаются производственные возможности и эффективность национальной экономики;</a:t>
            </a:r>
            <a:endParaRPr lang="en-US" dirty="0"/>
          </a:p>
          <a:p>
            <a:endParaRPr lang="ru-RU" dirty="0"/>
          </a:p>
          <a:p>
            <a:r>
              <a:rPr lang="ru-RU" dirty="0"/>
              <a:t>бремя выплаты долга перекладывается на будущие поколения, что может привести к снижению уровня их благосостояния;</a:t>
            </a:r>
            <a:endParaRPr lang="en-US" dirty="0"/>
          </a:p>
          <a:p>
            <a:endParaRPr lang="ru-RU" dirty="0"/>
          </a:p>
          <a:p>
            <a:r>
              <a:rPr lang="ru-RU" dirty="0"/>
              <a:t>при хроническом дефиците торгового (платежного) баланса (особенно при режиме фиксированных валютных курсов) появляется угроза истощения золотовалютных резервов страны, что может в итоге привести к валютному кризису;</a:t>
            </a:r>
            <a:endParaRPr lang="en-US" dirty="0"/>
          </a:p>
          <a:p>
            <a:endParaRPr lang="ru-RU" dirty="0"/>
          </a:p>
          <a:p>
            <a:r>
              <a:rPr lang="ru-RU" dirty="0"/>
              <a:t>возникает угроза долгового кризиса.</a:t>
            </a:r>
          </a:p>
          <a:p>
            <a:pPr>
              <a:buNone/>
            </a:pPr>
            <a:endParaRPr lang="ru-RU"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Аспект">
  <a:themeElements>
    <a:clrScheme name="Аспект">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Аспект">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Аспект">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393</TotalTime>
  <Words>2858</Words>
  <Application>Microsoft Macintosh PowerPoint</Application>
  <PresentationFormat>Экран (4:3)</PresentationFormat>
  <Paragraphs>115</Paragraphs>
  <Slides>34</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34</vt:i4>
      </vt:variant>
    </vt:vector>
  </HeadingPairs>
  <TitlesOfParts>
    <vt:vector size="37" baseType="lpstr">
      <vt:lpstr>Verdana</vt:lpstr>
      <vt:lpstr>Wingdings 2</vt:lpstr>
      <vt:lpstr>Аспект</vt:lpstr>
      <vt:lpstr>Государственный бюджет</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Доходы</vt:lpstr>
      <vt:lpstr>Презентация PowerPoint</vt:lpstr>
      <vt:lpstr>Презентация PowerPoint</vt:lpstr>
      <vt:lpstr>Презентация PowerPoint</vt:lpstr>
      <vt:lpstr>Презентация PowerPoint</vt:lpstr>
      <vt:lpstr>Концепции государственного бюджета</vt:lpstr>
      <vt:lpstr>Концепция ежегодно сбалансированного бюджета</vt:lpstr>
      <vt:lpstr>Концепция государственного бюджета, сбалансированного на циклической основе</vt:lpstr>
      <vt:lpstr>Презентация PowerPoint</vt:lpstr>
      <vt:lpstr>Концепция "функциональных финансов"</vt:lpstr>
      <vt:lpstr>Презентация PowerPoint</vt:lpstr>
      <vt:lpstr>Дефицит государственного бюджета и способы его финансирования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Государственный долг, его виды и последствия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Государственный бюджет</dc:title>
  <dc:creator>Константин</dc:creator>
  <cp:lastModifiedBy>Королева Нонна Шараповна</cp:lastModifiedBy>
  <cp:revision>36</cp:revision>
  <dcterms:created xsi:type="dcterms:W3CDTF">2021-09-23T10:27:40Z</dcterms:created>
  <dcterms:modified xsi:type="dcterms:W3CDTF">2021-10-21T20:46:23Z</dcterms:modified>
</cp:coreProperties>
</file>