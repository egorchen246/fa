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embeddedFontLst>
    <p:embeddedFont>
      <p:font typeface="Lato" panose="020B0604020202020204" charset="0"/>
      <p:regular r:id="rId16"/>
      <p:bold r:id="rId17"/>
      <p:italic r:id="rId18"/>
      <p:boldItalic r:id="rId19"/>
    </p:embeddedFont>
    <p:embeddedFont>
      <p:font typeface="Raleway SemiBold" panose="020B0604020202020204" charset="-52"/>
      <p:regular r:id="rId20"/>
      <p:bold r:id="rId21"/>
      <p:italic r:id="rId22"/>
      <p:boldItalic r:id="rId23"/>
    </p:embeddedFont>
    <p:embeddedFont>
      <p:font typeface="Roboto Mono" panose="020B0604020202020204" charset="0"/>
      <p:regular r:id="rId24"/>
      <p:bold r:id="rId25"/>
      <p:italic r:id="rId26"/>
      <p:boldItalic r:id="rId27"/>
    </p:embeddedFont>
    <p:embeddedFont>
      <p:font typeface="Raleway" panose="020B0604020202020204" charset="-52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3405CDF1-EEE8-440A-82BF-9C241EB5D87F}">
  <a:tblStyle styleId="{3405CDF1-EEE8-440A-82BF-9C241EB5D87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6" d="100"/>
          <a:sy n="116" d="100"/>
        </p:scale>
        <p:origin x="-413" y="1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733962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39f086cc2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39f086cc2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39f086cc2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39f086cc2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39f086cc2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39f086cc2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3a22050e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3a22050e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3a22050e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3a22050e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3a22050ed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3a22050ed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3a22050ed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3a22050ed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3a22050ed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3a22050ed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3a22050ed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3a22050ed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3a22050ed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3a22050ed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3a22050ed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3a22050ed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3a22050ed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3a22050ed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fpgaemu.readthedocs.io/en/latest/drivers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kernel.org/doc/html/latest/driver-api/index.html" TargetMode="External"/><Relationship Id="rId5" Type="http://schemas.openxmlformats.org/officeDocument/2006/relationships/hyperlink" Target="https://habr.com/ru/articles/337946/" TargetMode="External"/><Relationship Id="rId4" Type="http://schemas.openxmlformats.org/officeDocument/2006/relationships/hyperlink" Target="https://habr.com/ru/articles/206148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985250" y="1264550"/>
            <a:ext cx="80220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0">
                <a:solidFill>
                  <a:srgbClr val="000000"/>
                </a:solidFill>
              </a:rPr>
              <a:t>Драйверы символьных устройств в Linux</a:t>
            </a:r>
            <a:endParaRPr sz="3200" b="0"/>
          </a:p>
        </p:txBody>
      </p:sp>
      <p:sp>
        <p:nvSpPr>
          <p:cNvPr id="88" name="Google Shape;88;p13"/>
          <p:cNvSpPr txBox="1"/>
          <p:nvPr/>
        </p:nvSpPr>
        <p:spPr>
          <a:xfrm>
            <a:off x="7517425" y="3576400"/>
            <a:ext cx="46500" cy="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такое драйвер устройства</a:t>
            </a:r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body" idx="1"/>
          </p:nvPr>
        </p:nvSpPr>
        <p:spPr>
          <a:xfrm>
            <a:off x="512025" y="2050350"/>
            <a:ext cx="7377600" cy="10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985">
                <a:solidFill>
                  <a:srgbClr val="000000"/>
                </a:solidFill>
              </a:rPr>
              <a:t>Драйвер — это программное обеспечение, которое позволяет операционной системе и установленным программам взаимодействовать с аппаратными устройствами компьютера.</a:t>
            </a:r>
            <a:endParaRPr sz="2985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1650" y="3263525"/>
            <a:ext cx="5502350" cy="18799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31225" y="3245463"/>
            <a:ext cx="3610500" cy="19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>
                <a:latin typeface="Lato"/>
                <a:ea typeface="Lato"/>
                <a:cs typeface="Lato"/>
                <a:sym typeface="Lato"/>
              </a:rPr>
              <a:t>Драйверы работают как посредники между операционной системой и аппаратным обеспечением, обеспечивая правильное функционирование и совместимость устройств с компьютером.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7" name="Google Shape;97;p14"/>
          <p:cNvCxnSpPr/>
          <p:nvPr/>
        </p:nvCxnSpPr>
        <p:spPr>
          <a:xfrm>
            <a:off x="15525" y="3103175"/>
            <a:ext cx="9123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Классификация устройств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03" name="Google Shape;103;p15"/>
          <p:cNvGraphicFramePr/>
          <p:nvPr/>
        </p:nvGraphicFramePr>
        <p:xfrm>
          <a:off x="0" y="2089075"/>
          <a:ext cx="9143975" cy="3054425"/>
        </p:xfrm>
        <a:graphic>
          <a:graphicData uri="http://schemas.openxmlformats.org/drawingml/2006/table">
            <a:tbl>
              <a:tblPr>
                <a:noFill/>
                <a:tableStyleId>{3405CDF1-EEE8-440A-82BF-9C241EB5D87F}</a:tableStyleId>
              </a:tblPr>
              <a:tblGrid>
                <a:gridCol w="3057575"/>
                <a:gridCol w="3043200"/>
                <a:gridCol w="3043200"/>
              </a:tblGrid>
              <a:tr h="380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Тип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Особенности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Примеры</a:t>
                      </a:r>
                      <a:endParaRPr sz="1100"/>
                    </a:p>
                  </a:txBody>
                  <a:tcPr marL="63500" marR="63500" marT="63500" marB="63500"/>
                </a:tc>
              </a:tr>
              <a:tr h="1037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Символьные (клавиатура, COM-порты, звук)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Последовательный поток байт, нет кэширования, произвольный доступ обычно не поддерживается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/dev/tty, /dev/input/mouse, /dev/null</a:t>
                      </a:r>
                      <a:endParaRPr sz="1100"/>
                    </a:p>
                  </a:txBody>
                  <a:tcPr marL="63500" marR="63500" marT="63500" marB="63500"/>
                </a:tc>
              </a:tr>
              <a:tr h="818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Блочные (жёсткие диски, флешки, RAM-диск)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Доступ блоками (512, 1024 байт), кэширование, поддержка буферов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/dev/sda, /dev/nvme0n1</a:t>
                      </a:r>
                      <a:endParaRPr sz="1100"/>
                    </a:p>
                  </a:txBody>
                  <a:tcPr marL="63500" marR="63500" marT="63500" marB="63500"/>
                </a:tc>
              </a:tr>
              <a:tr h="818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Сетевые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Работают через сокеты, не используют файлы устройств</a:t>
                      </a:r>
                      <a:endParaRPr sz="11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eth0, wlan0</a:t>
                      </a:r>
                      <a:endParaRPr sz="1100"/>
                    </a:p>
                  </a:txBody>
                  <a:tcPr marL="63500" marR="63500" marT="63500" marB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Символьные устройства: характеристика</a:t>
            </a:r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3203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ru" sz="1235">
                <a:solidFill>
                  <a:srgbClr val="000000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Особенности символьных устройств:</a:t>
            </a:r>
            <a:endParaRPr sz="1235">
              <a:solidFill>
                <a:srgbClr val="000000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marL="457200" lvl="0" indent="-307023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35"/>
              <a:buFont typeface="Lato"/>
              <a:buChar char="●"/>
            </a:pPr>
            <a:r>
              <a:rPr lang="ru" sz="1235">
                <a:solidFill>
                  <a:srgbClr val="000000"/>
                </a:solidFill>
              </a:rPr>
              <a:t>данные передаются последовательно</a:t>
            </a:r>
            <a:endParaRPr sz="1235">
              <a:solidFill>
                <a:srgbClr val="000000"/>
              </a:solidFill>
            </a:endParaRPr>
          </a:p>
          <a:p>
            <a:pPr marL="457200" lvl="0" indent="-30702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5"/>
              <a:buFont typeface="Lato"/>
              <a:buChar char="●"/>
            </a:pPr>
            <a:r>
              <a:rPr lang="ru" sz="1235">
                <a:solidFill>
                  <a:srgbClr val="000000"/>
                </a:solidFill>
              </a:rPr>
              <a:t>отсутствует буферизация блоков</a:t>
            </a:r>
            <a:endParaRPr sz="1235">
              <a:solidFill>
                <a:srgbClr val="000000"/>
              </a:solidFill>
            </a:endParaRPr>
          </a:p>
          <a:p>
            <a:pPr marL="457200" lvl="0" indent="-30702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5"/>
              <a:buFont typeface="Lato"/>
              <a:buChar char="●"/>
            </a:pPr>
            <a:r>
              <a:rPr lang="ru" sz="1235">
                <a:solidFill>
                  <a:srgbClr val="000000"/>
                </a:solidFill>
              </a:rPr>
              <a:t>простой интерфейс (open/read/write)</a:t>
            </a:r>
            <a:endParaRPr sz="1235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ru" sz="1235">
                <a:solidFill>
                  <a:srgbClr val="000000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Примеры устройств:</a:t>
            </a:r>
            <a:endParaRPr sz="1235">
              <a:solidFill>
                <a:srgbClr val="000000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marL="457200" lvl="0" indent="-307023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35"/>
              <a:buFont typeface="Lato"/>
              <a:buChar char="●"/>
            </a:pPr>
            <a:r>
              <a:rPr lang="ru" sz="1235">
                <a:solidFill>
                  <a:srgbClr val="000000"/>
                </a:solidFill>
              </a:rPr>
              <a:t>клавиатура</a:t>
            </a:r>
            <a:endParaRPr sz="1235">
              <a:solidFill>
                <a:srgbClr val="000000"/>
              </a:solidFill>
            </a:endParaRPr>
          </a:p>
          <a:p>
            <a:pPr marL="457200" lvl="0" indent="-30702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5"/>
              <a:buFont typeface="Lato"/>
              <a:buChar char="●"/>
            </a:pPr>
            <a:r>
              <a:rPr lang="ru" sz="1235">
                <a:solidFill>
                  <a:srgbClr val="000000"/>
                </a:solidFill>
              </a:rPr>
              <a:t>терминал</a:t>
            </a:r>
            <a:endParaRPr sz="1235">
              <a:solidFill>
                <a:srgbClr val="000000"/>
              </a:solidFill>
            </a:endParaRPr>
          </a:p>
          <a:p>
            <a:pPr marL="457200" lvl="0" indent="-30702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5"/>
              <a:buFont typeface="Lato"/>
              <a:buChar char="●"/>
            </a:pPr>
            <a:r>
              <a:rPr lang="ru" sz="1235">
                <a:solidFill>
                  <a:srgbClr val="000000"/>
                </a:solidFill>
              </a:rPr>
              <a:t>последовательный порт </a:t>
            </a:r>
            <a:endParaRPr sz="1235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105"/>
          </a:p>
        </p:txBody>
      </p:sp>
      <p:pic>
        <p:nvPicPr>
          <p:cNvPr id="110" name="Google Shape;11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9600" y="3029475"/>
            <a:ext cx="3289117" cy="53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/>
        </p:nvSpPr>
        <p:spPr>
          <a:xfrm>
            <a:off x="4388125" y="2489400"/>
            <a:ext cx="3245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Пример использования: </a:t>
            </a:r>
            <a:endParaRPr sz="1500"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>
            <a:spLocks noGrp="1"/>
          </p:cNvSpPr>
          <p:nvPr>
            <p:ph type="title"/>
          </p:nvPr>
        </p:nvSpPr>
        <p:spPr>
          <a:xfrm>
            <a:off x="0" y="5118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Номера устройств (major/minor)</a:t>
            </a:r>
            <a:endParaRPr/>
          </a:p>
        </p:txBody>
      </p:sp>
      <p:sp>
        <p:nvSpPr>
          <p:cNvPr id="117" name="Google Shape;117;p17"/>
          <p:cNvSpPr txBox="1">
            <a:spLocks noGrp="1"/>
          </p:cNvSpPr>
          <p:nvPr>
            <p:ph type="body" idx="1"/>
          </p:nvPr>
        </p:nvSpPr>
        <p:spPr>
          <a:xfrm>
            <a:off x="0" y="1286225"/>
            <a:ext cx="4383300" cy="38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 Linux каждое устройство представлено файлом в каталоге </a:t>
            </a:r>
            <a:r>
              <a:rPr lang="ru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/dev</a:t>
            </a:r>
            <a:br>
              <a:rPr lang="ru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Идентификация устройства происходит с помощью двух чисел:</a:t>
            </a:r>
            <a:endParaRPr sz="11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Major number (старший номер)</a:t>
            </a:r>
            <a:br>
              <a:rPr lang="ru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определяет </a:t>
            </a:r>
            <a:r>
              <a:rPr lang="ru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драйвер устройства</a:t>
            </a:r>
            <a:endParaRPr sz="11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Minor number (младший номер)</a:t>
            </a:r>
            <a:br>
              <a:rPr lang="ru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определяет </a:t>
            </a:r>
            <a:r>
              <a:rPr lang="ru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конкретный экземпляр устройства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управляемый драйвером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Как это работает</a:t>
            </a:r>
            <a:endParaRPr sz="11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Ядро смотрит на </a:t>
            </a:r>
            <a:r>
              <a:rPr lang="ru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major number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выбирает нужный драйвер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Затем передаёт </a:t>
            </a:r>
            <a:r>
              <a:rPr lang="ru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minor number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драйвер понимает, с каким устройством работать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8" name="Google Shape;11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2550" y="3076375"/>
            <a:ext cx="4931450" cy="105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Выделение номеров устройств</a:t>
            </a:r>
            <a:endParaRPr/>
          </a:p>
        </p:txBody>
      </p:sp>
      <p:sp>
        <p:nvSpPr>
          <p:cNvPr id="124" name="Google Shape;124;p18"/>
          <p:cNvSpPr txBox="1">
            <a:spLocks noGrp="1"/>
          </p:cNvSpPr>
          <p:nvPr>
            <p:ph type="body" idx="1"/>
          </p:nvPr>
        </p:nvSpPr>
        <p:spPr>
          <a:xfrm>
            <a:off x="318300" y="2092650"/>
            <a:ext cx="69510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chemeClr val="dk2"/>
                </a:solidFill>
              </a:rPr>
              <a:t>Для регистрации устройства используются функции ядра:</a:t>
            </a:r>
            <a:endParaRPr sz="16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 b="1">
              <a:solidFill>
                <a:schemeClr val="dk2"/>
              </a:solidFill>
            </a:endParaRPr>
          </a:p>
        </p:txBody>
      </p:sp>
      <p:pic>
        <p:nvPicPr>
          <p:cNvPr id="125" name="Google Shape;12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602" y="2684350"/>
            <a:ext cx="6834658" cy="57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8"/>
          <p:cNvSpPr txBox="1"/>
          <p:nvPr/>
        </p:nvSpPr>
        <p:spPr>
          <a:xfrm>
            <a:off x="139650" y="3660625"/>
            <a:ext cx="74943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register_chrdev_region</a:t>
            </a:r>
            <a:r>
              <a:rPr lang="ru"/>
              <a:t> — статическое выделение, пользователь сам выбирает major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alloc_chrdev_region</a:t>
            </a:r>
            <a:r>
              <a:rPr lang="ru"/>
              <a:t> — динамическое выделение (предпочтительно), ядро само выбирает свободный major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Структура file_operations</a:t>
            </a:r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body" idx="1"/>
          </p:nvPr>
        </p:nvSpPr>
        <p:spPr>
          <a:xfrm>
            <a:off x="-38800" y="2063350"/>
            <a:ext cx="4383300" cy="29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file_operations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структура, связывающая системные вызовы с функциями драйвера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Основные поля: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 — открытие устройства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 — чтение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— запись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release — закрытие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ioctl — управление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3" name="Google Shape;13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0550" y="2571750"/>
            <a:ext cx="3933825" cy="173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Реализация операций драйвера</a:t>
            </a:r>
            <a:endParaRPr/>
          </a:p>
        </p:txBody>
      </p:sp>
      <p:pic>
        <p:nvPicPr>
          <p:cNvPr id="139" name="Google Shape;13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6900" y="1948350"/>
            <a:ext cx="4648951" cy="303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Функция ioctl</a:t>
            </a:r>
            <a:endParaRPr/>
          </a:p>
        </p:txBody>
      </p:sp>
      <p:sp>
        <p:nvSpPr>
          <p:cNvPr id="145" name="Google Shape;145;p21"/>
          <p:cNvSpPr txBox="1">
            <a:spLocks noGrp="1"/>
          </p:cNvSpPr>
          <p:nvPr>
            <p:ph type="body" idx="1"/>
          </p:nvPr>
        </p:nvSpPr>
        <p:spPr>
          <a:xfrm>
            <a:off x="0" y="2078875"/>
            <a:ext cx="42204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ioctl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это механизм для выполнения нестандартных операций над устройством, которые нельзя выразить через read/write.</a:t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ioctl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используется для: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передачи управляющих команд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настройки устройства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выполнения нестандартных операций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6" name="Google Shape;14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4025" y="2130375"/>
            <a:ext cx="4238625" cy="22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API cdev и её основные функции</a:t>
            </a:r>
            <a:endParaRPr/>
          </a:p>
        </p:txBody>
      </p:sp>
      <p:sp>
        <p:nvSpPr>
          <p:cNvPr id="152" name="Google Shape;152;p22"/>
          <p:cNvSpPr txBox="1">
            <a:spLocks noGrp="1"/>
          </p:cNvSpPr>
          <p:nvPr>
            <p:ph type="body" idx="1"/>
          </p:nvPr>
        </p:nvSpPr>
        <p:spPr>
          <a:xfrm>
            <a:off x="46550" y="2078875"/>
            <a:ext cx="4150500" cy="28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92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cdev</a:t>
            </a:r>
            <a:r>
              <a:rPr lang="ru" sz="12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(character device) — это структура ядра Linux, которая:</a:t>
            </a:r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0667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92"/>
              <a:buFont typeface="Arial"/>
              <a:buChar char="●"/>
            </a:pPr>
            <a:r>
              <a:rPr lang="ru" sz="12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представляет символьное устройство внутри ядра</a:t>
            </a:r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0667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2"/>
              <a:buFont typeface="Arial"/>
              <a:buChar char="●"/>
            </a:pPr>
            <a:r>
              <a:rPr lang="ru" sz="12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связывает </a:t>
            </a:r>
            <a:r>
              <a:rPr lang="ru" sz="1292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номер устройства (major/minor)</a:t>
            </a:r>
            <a:r>
              <a:rPr lang="ru" sz="12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с </a:t>
            </a:r>
            <a:r>
              <a:rPr lang="ru" sz="1292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функциями драйвера</a:t>
            </a:r>
            <a:endParaRPr sz="1292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92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cdev</a:t>
            </a:r>
            <a:r>
              <a:rPr lang="ru" sz="12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применяется:</a:t>
            </a:r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0667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92"/>
              <a:buFont typeface="Arial"/>
              <a:buChar char="●"/>
            </a:pPr>
            <a:r>
              <a:rPr lang="ru" sz="12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при создании символьных драйверов</a:t>
            </a:r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0667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2"/>
              <a:buFont typeface="Arial"/>
              <a:buChar char="●"/>
            </a:pPr>
            <a:r>
              <a:rPr lang="ru" sz="12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при регистрации устройства в системе</a:t>
            </a:r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0667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2"/>
              <a:buFont typeface="Arial"/>
              <a:buChar char="●"/>
            </a:pPr>
            <a:r>
              <a:rPr lang="ru" sz="129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при связывании с </a:t>
            </a:r>
            <a:r>
              <a:rPr lang="ru" sz="1292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file_operations</a:t>
            </a:r>
            <a:endParaRPr sz="1292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53" name="Google Shape;153;p22"/>
          <p:cNvSpPr txBox="1"/>
          <p:nvPr/>
        </p:nvSpPr>
        <p:spPr>
          <a:xfrm>
            <a:off x="4608200" y="2187725"/>
            <a:ext cx="3343800" cy="15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b="1"/>
              <a:t>Основные функции:</a:t>
            </a:r>
            <a:endParaRPr b="1"/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ru">
                <a:solidFill>
                  <a:srgbClr val="8959A8"/>
                </a:solidFill>
                <a:latin typeface="Roboto Mono"/>
                <a:ea typeface="Roboto Mono"/>
                <a:cs typeface="Roboto Mono"/>
                <a:sym typeface="Roboto Mono"/>
              </a:rPr>
              <a:t>cdev_init()</a:t>
            </a:r>
            <a:r>
              <a:rPr lang="ru"/>
              <a:t> — инициализация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>
                <a:solidFill>
                  <a:srgbClr val="8959A8"/>
                </a:solidFill>
                <a:latin typeface="Roboto Mono"/>
                <a:ea typeface="Roboto Mono"/>
                <a:cs typeface="Roboto Mono"/>
                <a:sym typeface="Roboto Mono"/>
              </a:rPr>
              <a:t>cdev_add()</a:t>
            </a:r>
            <a:r>
              <a:rPr lang="ru">
                <a:solidFill>
                  <a:schemeClr val="dk2"/>
                </a:solidFill>
              </a:rPr>
              <a:t> </a:t>
            </a:r>
            <a:r>
              <a:rPr lang="ru"/>
              <a:t>— регистрация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>
                <a:solidFill>
                  <a:srgbClr val="8959A8"/>
                </a:solidFill>
                <a:latin typeface="Roboto Mono"/>
                <a:ea typeface="Roboto Mono"/>
                <a:cs typeface="Roboto Mono"/>
                <a:sym typeface="Roboto Mono"/>
              </a:rPr>
              <a:t>cdev_del()</a:t>
            </a:r>
            <a:r>
              <a:rPr lang="ru"/>
              <a:t> — удаление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Создание узлов устройств</a:t>
            </a:r>
            <a:endParaRPr/>
          </a:p>
        </p:txBody>
      </p:sp>
      <p:sp>
        <p:nvSpPr>
          <p:cNvPr id="159" name="Google Shape;159;p23"/>
          <p:cNvSpPr txBox="1">
            <a:spLocks noGrp="1"/>
          </p:cNvSpPr>
          <p:nvPr>
            <p:ph type="body" idx="1"/>
          </p:nvPr>
        </p:nvSpPr>
        <p:spPr>
          <a:xfrm>
            <a:off x="418950" y="1915975"/>
            <a:ext cx="73779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После регистрации драйвера в ядре необходимо создать файл в </a:t>
            </a:r>
            <a:r>
              <a:rPr lang="ru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/dev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через который пользовательские программы смогут взаимодействовать с устройством. Без узла устройства доступ к драйверу невозможен.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3"/>
          <p:cNvSpPr txBox="1"/>
          <p:nvPr/>
        </p:nvSpPr>
        <p:spPr>
          <a:xfrm>
            <a:off x="103500" y="2571750"/>
            <a:ext cx="2590800" cy="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1">
                <a:solidFill>
                  <a:schemeClr val="dk2"/>
                </a:solidFill>
              </a:rPr>
              <a:t>1. Ручное создание через mknod</a:t>
            </a:r>
            <a:endParaRPr sz="1100" b="1">
              <a:solidFill>
                <a:schemeClr val="dk2"/>
              </a:solidFill>
            </a:endParaRPr>
          </a:p>
        </p:txBody>
      </p:sp>
      <p:pic>
        <p:nvPicPr>
          <p:cNvPr id="161" name="Google Shape;16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00" y="2944650"/>
            <a:ext cx="25908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3"/>
          <p:cNvSpPr txBox="1"/>
          <p:nvPr/>
        </p:nvSpPr>
        <p:spPr>
          <a:xfrm>
            <a:off x="0" y="3239925"/>
            <a:ext cx="2650200" cy="10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 b="1"/>
              <a:t>Пояснение:</a:t>
            </a:r>
            <a:endParaRPr sz="1100" b="1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ru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c</a:t>
            </a:r>
            <a:r>
              <a:rPr lang="ru" sz="1100">
                <a:solidFill>
                  <a:schemeClr val="dk2"/>
                </a:solidFill>
              </a:rPr>
              <a:t> — символьное устройство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ru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240</a:t>
            </a:r>
            <a:r>
              <a:rPr lang="ru" sz="1100">
                <a:solidFill>
                  <a:schemeClr val="dk2"/>
                </a:solidFill>
              </a:rPr>
              <a:t> — major number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ru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ru" sz="1100">
                <a:solidFill>
                  <a:schemeClr val="dk2"/>
                </a:solidFill>
              </a:rPr>
              <a:t> — minor number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63" name="Google Shape;163;p23"/>
          <p:cNvSpPr txBox="1"/>
          <p:nvPr/>
        </p:nvSpPr>
        <p:spPr>
          <a:xfrm>
            <a:off x="2650200" y="2474900"/>
            <a:ext cx="3188700" cy="26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" sz="1300" b="1"/>
              <a:t>2. Автоматическое нсоздаие через udev</a:t>
            </a:r>
            <a:endParaRPr sz="1300" b="1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ru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udev</a:t>
            </a:r>
            <a:r>
              <a:rPr lang="ru" sz="1100"/>
              <a:t> — система, которая автоматически создаёт устройства в </a:t>
            </a:r>
            <a:r>
              <a:rPr lang="ru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/dev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 sz="1100"/>
              <a:t>реагирует на события ядра 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 b="1"/>
              <a:t>Принцип работы:</a:t>
            </a:r>
            <a:endParaRPr sz="1100" b="1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ru" sz="1100"/>
              <a:t>драйвер регистрирует устройство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 sz="1100"/>
              <a:t>ядро генерирует событие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 sz="1100"/>
              <a:t>udev создаёт соответствующий файл</a:t>
            </a:r>
            <a:endParaRPr sz="1100"/>
          </a:p>
        </p:txBody>
      </p:sp>
      <p:sp>
        <p:nvSpPr>
          <p:cNvPr id="164" name="Google Shape;164;p23"/>
          <p:cNvSpPr txBox="1"/>
          <p:nvPr/>
        </p:nvSpPr>
        <p:spPr>
          <a:xfrm>
            <a:off x="5753700" y="2517450"/>
            <a:ext cx="3390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b="1"/>
              <a:t>3. Создание из драйвера (device_create)</a:t>
            </a:r>
            <a:endParaRPr sz="1200" b="1"/>
          </a:p>
        </p:txBody>
      </p:sp>
      <p:pic>
        <p:nvPicPr>
          <p:cNvPr id="165" name="Google Shape;16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3400" y="3091100"/>
            <a:ext cx="33909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3"/>
          <p:cNvSpPr txBox="1"/>
          <p:nvPr/>
        </p:nvSpPr>
        <p:spPr>
          <a:xfrm>
            <a:off x="6044700" y="3646225"/>
            <a:ext cx="2808300" cy="12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 b="1">
                <a:solidFill>
                  <a:schemeClr val="dk2"/>
                </a:solidFill>
              </a:rPr>
              <a:t>Пояснение:</a:t>
            </a:r>
            <a:endParaRPr sz="1100" b="1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ru" sz="1100">
                <a:solidFill>
                  <a:schemeClr val="dk2"/>
                </a:solidFill>
              </a:rPr>
              <a:t>создаёт запись в </a:t>
            </a:r>
            <a:r>
              <a:rPr lang="ru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/dev</a:t>
            </a:r>
            <a:r>
              <a:rPr lang="ru" sz="1100">
                <a:solidFill>
                  <a:schemeClr val="dk2"/>
                </a:solidFill>
              </a:rPr>
              <a:t> автоматически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ru" sz="1100">
                <a:solidFill>
                  <a:schemeClr val="dk2"/>
                </a:solidFill>
              </a:rPr>
              <a:t>используется вместе с </a:t>
            </a:r>
            <a:r>
              <a:rPr lang="ru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class_create</a:t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167" name="Google Shape;167;p23"/>
          <p:cNvCxnSpPr/>
          <p:nvPr/>
        </p:nvCxnSpPr>
        <p:spPr>
          <a:xfrm>
            <a:off x="15525" y="2490300"/>
            <a:ext cx="9123300" cy="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простого символьного драйвера</a:t>
            </a:r>
            <a:endParaRPr/>
          </a:p>
        </p:txBody>
      </p:sp>
      <p:pic>
        <p:nvPicPr>
          <p:cNvPr id="173" name="Google Shape;17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623249"/>
            <a:ext cx="4572000" cy="4671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623250"/>
            <a:ext cx="4572000" cy="3945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Ссылки на источники: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4599000" cy="15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https://fpgaemu.readthedocs.io/en/latest/drivers.html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https://habr.com/ru/articles/206148/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https://habr.com/ru/articles/337946/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https://www.kernel.org/doc/html/latest/driver-api/index.html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452</Words>
  <Application>Microsoft Office PowerPoint</Application>
  <PresentationFormat>Экран (16:9)</PresentationFormat>
  <Paragraphs>90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Lato</vt:lpstr>
      <vt:lpstr>Raleway SemiBold</vt:lpstr>
      <vt:lpstr>Roboto Mono</vt:lpstr>
      <vt:lpstr>Raleway</vt:lpstr>
      <vt:lpstr>Streamline</vt:lpstr>
      <vt:lpstr>Драйверы символьных устройств в Linux</vt:lpstr>
      <vt:lpstr>Что такое драйвер устройства</vt:lpstr>
      <vt:lpstr>Классификация устройств </vt:lpstr>
      <vt:lpstr>Символьные устройства: характеристика</vt:lpstr>
      <vt:lpstr> Номера устройств (major/minor)</vt:lpstr>
      <vt:lpstr>Выделение номеров устройств</vt:lpstr>
      <vt:lpstr>Структура file_operations</vt:lpstr>
      <vt:lpstr>Реализация операций драйвера</vt:lpstr>
      <vt:lpstr>Функция ioctl</vt:lpstr>
      <vt:lpstr>API cdev и её основные функции</vt:lpstr>
      <vt:lpstr>Создание узлов устройств</vt:lpstr>
      <vt:lpstr>Пример простого символьного драйвера</vt:lpstr>
      <vt:lpstr>Ссылки на источники: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Драйверы символьных устройств в Linux</dc:title>
  <cp:lastModifiedBy>Home</cp:lastModifiedBy>
  <cp:revision>1</cp:revision>
  <dcterms:modified xsi:type="dcterms:W3CDTF">2026-04-02T22:45:14Z</dcterms:modified>
</cp:coreProperties>
</file>