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12192000"/>
  <p:notesSz cx="6858000" cy="9144000"/>
  <p:embeddedFontLst>
    <p:embeddedFont>
      <p:font typeface="Constantia"/>
      <p:regular r:id="rId39"/>
      <p:bold r:id="rId40"/>
      <p:italic r:id="rId41"/>
      <p:boldItalic r:id="rId42"/>
    </p:embeddedFont>
    <p:embeddedFont>
      <p:font typeface="Fira Sans"/>
      <p:regular r:id="rId43"/>
      <p:bold r:id="rId44"/>
      <p:italic r:id="rId45"/>
      <p:boldItalic r:id="rId46"/>
    </p:embeddedFont>
    <p:embeddedFont>
      <p:font typeface="Quattrocento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1" roundtripDataSignature="AMtx7mjeATKU1/MUJ5Fm2/ZjhludpDmq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F49CB1-D507-4D54-AD01-0BA75D21BAF4}">
  <a:tblStyle styleId="{77F49CB1-D507-4D54-AD01-0BA75D21BAF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nstantia-bold.fntdata"/><Relationship Id="rId42" Type="http://schemas.openxmlformats.org/officeDocument/2006/relationships/font" Target="fonts/Constantia-boldItalic.fntdata"/><Relationship Id="rId41" Type="http://schemas.openxmlformats.org/officeDocument/2006/relationships/font" Target="fonts/Constantia-italic.fntdata"/><Relationship Id="rId44" Type="http://schemas.openxmlformats.org/officeDocument/2006/relationships/font" Target="fonts/FiraSans-bold.fntdata"/><Relationship Id="rId43" Type="http://schemas.openxmlformats.org/officeDocument/2006/relationships/font" Target="fonts/FiraSans-regular.fntdata"/><Relationship Id="rId46" Type="http://schemas.openxmlformats.org/officeDocument/2006/relationships/font" Target="fonts/FiraSans-boldItalic.fntdata"/><Relationship Id="rId45" Type="http://schemas.openxmlformats.org/officeDocument/2006/relationships/font" Target="fonts/Fira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QuattrocentoSans-bold.fntdata"/><Relationship Id="rId47" Type="http://schemas.openxmlformats.org/officeDocument/2006/relationships/font" Target="fonts/QuattrocentoSans-regular.fntdata"/><Relationship Id="rId49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Constantia-regular.fntdata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Quattrocento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659045/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Бизнес-требования: ключ к успешному проектированию информационных систем</a:t>
            </a:r>
            <a:br>
              <a:rPr lang="en-US"/>
            </a:br>
            <a:br>
              <a:rPr lang="en-US"/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Информационные системы призваны поддерживать и автоматизировать ключевые бизнес-процессы организации, помогая ей достигать своих стратегических целей. Однако для того, чтобы система была эффективной и удовлетворяла реальные потребности бизнеса, необходимо тщательно определить и задокументировать бизнес-требования.</a:t>
            </a:r>
            <a:br>
              <a:rPr lang="en-US"/>
            </a:br>
            <a:br>
              <a:rPr lang="en-US"/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Бизнес-требования представляют собой детальное описание того, что информационная система должна делать для успешной поддержки бизнес-процессов. Они определяют необходимую функциональность, производительность, масштабируемость, безопасность и другие важные характеристики системы.</a:t>
            </a:r>
            <a:br>
              <a:rPr lang="en-US"/>
            </a:br>
            <a:br>
              <a:rPr lang="en-US"/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Чёткое формулирование бизнес-требований имеет решающее значение на всех этапах жизненного цикла информационной системы - от начального проектирования до дальнейшей эксплуатации и развития. Это позволяет:</a:t>
            </a:r>
            <a:br>
              <a:rPr lang="en-US"/>
            </a:br>
            <a:br>
              <a:rPr lang="en-US"/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Обеспечить соответствие системы реальным потребностям бизнеса.</a:t>
            </a:r>
            <a:br>
              <a:rPr lang="en-US"/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Сфокусировать команду разработчиков на решении ключевых задач.</a:t>
            </a:r>
            <a:br>
              <a:rPr lang="en-US"/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Создать объективные критерии оценки и приёмки системы.</a:t>
            </a:r>
            <a:br>
              <a:rPr lang="en-US"/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Заложить основу для непрерывного совершенствования и адаптации системы.</a:t>
            </a:r>
            <a:br>
              <a:rPr lang="en-US"/>
            </a:br>
            <a:br>
              <a:rPr lang="en-US"/>
            </a:b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Таким образом, тщательная проработка и документирование бизнес-требований является ключевым фактором успеха при внедрении эффективных, функциональных и востребованных информационных систем.</a:t>
            </a:r>
            <a:endParaRPr/>
          </a:p>
        </p:txBody>
      </p:sp>
      <p:sp>
        <p:nvSpPr>
          <p:cNvPr id="98" name="Google Shape;98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Процесс проектирования включает в себя следующие этапы. 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Концептуальное проектирование – это процедура конструирования информационной модели, не зависящей от каких-либо физических условий реализации.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Логическое проектирование – это процесс конструирования информационной модели на основе существующих моделей данных, не зависимо от используемой СУБД и других условий физической реализации.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Физическое проектирование – это процедура создания описания конкретной реализации БД с описанием структуры хранения данных, методов доступа к данным.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Процесс проектирования базы данных включает несколько ключевых стадий, включая даталогическое проектирование, инфологическое проектирование, физическое проектирование, создание предварительной логической модели и определение предметной области.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Давайте подробнее рассмотрим каждую из этих стадий: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Даталогическое проектирование: - В процессе даталогического проектирования определяются сущности и их атрибуты на основе анализа предметной области. Существует несколько способов представления даталогической модели, например, диаграмма сущность-связь (ER-диаграмма) или модель объектов.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Инфологическое проектирование: - Инфологическое проектирование включает в себя определение связей между сущностями и их описанием. На этом этапе выявляются отношения между сущностями и определяются первичные и внешние ключи. Целью инфологического проектирования является создание абстрактной модели данных, которая отражает логическую структуру базы данных.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Физическое проектирование: - Физическое проектирование включает в себя преобразование инфологической модели в реальную реализацию базы данных, специфичную для конкретной СУБД. На этом этапе определяются таблицы, столбцы, типы данных, ограничения целостности, индексы и другие аспекты, необходимые для создания и оптимизации базы данных. Также на этом этапе можно провести нормализацию, разбивая таблицы на более мелкие для устранения избыточности и обеспечения целостности данных.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Создание предварительной логической модели: - Предварительная логическая модель представляет собой первоначальную структуру базы данных, которая может быть представлена в виде диаграммы сущность-связь или другого типа модели. Эта модель служит основой для дальнейшего развития базы данных и может быть использована для обсуждения с заинтересованными сторонами.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Определение предметной области: - Важной частью проектирования базы данных является определение предметной области, в которой будет работать база данных. Это включает в себя изучение основных бизнес-процессов, сбор требований к данным и определение основных сущностей и атрибутов, которые будут храниться и управляться базой данных. Все эти стадии взаимосвязаны и обычно выполняются последовательно, но в процессе проектирования может быть необходимо проводить итерации и корректировки модели на разных этапах для достижения желаемых результатов.</a:t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базы данных — это процесс разработки структуры и организации базы данных, которая будет хранить и управлять данными. Включает в себя несколько ключевых стадий: 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Анализ требований: - Идентификация бизнес-потребностей: взаимодействие с заинтересованными сторонами, чтобы определить, какие данные будут храниться и как они будут использоваться. - Определение функциональных и нефункциональных требований: определение, какие операции будут выполняться с данными и какие ограничения будут наложены на базу данных (например, производительность, безопасность, надежность). - Сбор и анализ существующих данных: изучение имеющихся данных, определение их структуры и связей для лучшего понимания предметной области. 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Концептуальное проектирование: - Создание концептуальной модели данных: создание абстрактного представления данных, используя сущности, атрибуты и связи между ними, например, с помощью диаграммы сущность-связь (ER-диаграммы). - Определение ключевых понятий: идентификация основных сущностей, их атрибутов и отношений, а также определение первичных ключей и ограничений целостности. 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Логическое проектирование: - Преобразование концептуальной модели в логическую модель: преобразование сущностей, атрибутов и связей в таблицы, столбцы и отношения. - Нормализация данных: разделение таблиц на отдельные логически связанные структуры для снижения избыточности данных и обеспечения целостности данных. - Определение внешних ключей и связей между таблицами: определение связей между таблицами, чтобы связать данные разных сущностей. 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Физическое проектирование: - Выбор СУБД и определение физической структуры базы данных, такой как таблицы, индексы и ограничения. - Выбор оптимальных типов данных для каждого столбца таблицы, учитывая требования по размеру, точности и эффективности. - Оптимизация производительности: создание индексов, структуризация таблиц, оптимизация запросов для обеспечения быстрого доступа и обработки данных. 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Развертывание и обслуживание: - Создание базы данных согласно физическому проекту. - Загрузка данных в базу данных из исходных источников. - Установка и настройка механизмов резервного копирования и восстановления. - Разработка процедур обновления и поддержки базы данных, включая мониторинг и оптимизацию производительности. Процесс проектирования базы данных является итеративным, и на разных этапах может потребоваться внесение изменений или корректировок в модели. Важно также учитывать нормы и стандарты для создания эффективной, надежной и безопасной базы данных.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https://habr.com/ru/post/659045/</a:t>
            </a:r>
            <a:r>
              <a:rPr lang="en-US"/>
              <a:t> хорошая статья для бизнес-информатиков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Бизнес-правила и требования к системе базы данных являются основой проектирования и разработки базы данных. Они определяют, как будет использоваться база данных и какие функциональные и нефункциональные характеристики должны быть реализованы. Вот некоторые типичные примеры бизнес-правил и требований: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Функциональные требования: - Управление данными: требования к хранению, обновлению, поиску и удалению данных в базе данных. - Автоматизация бизнес-процессов: требования к созданию процедур и операций, которые автоматизируют определенные бизнес-процессы и операции. - Интеграция данных: требования к обмену и интеграции данных между различными системами и базами данных. - Отчетность и аналитика: требования к созданию отчетов, аналитических запросов и инструментов для анализа данных. - Безопасность и доступность данных: требования к защите данных, резервному копированию, восстановлению, контролю доступа и аудиту действий пользователей.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Нефункциональные требования: - Производительность: требования к скорости выполнения запросов, отклику системы, обработке транзакций и общей производительности базы данных. - Масштабируемость: требования к возможности масштабирования базы данных, чтобы она могла обрабатывать растущие объемы данных и пользовательских запросов. - Надежность и доступность: требования к отказоустойчивости, восстанавливаемости после сбоев, высокой доступности базы данных и минимизации периодов простоя. - Интеграция с другими системами: требования к возможности интеграции базы данных с другими приложениями, системами управления ресурсами, системами электронной коммерции и т. д. - Удобство использования: требования к простоте и интуитивной понятности интерфейсов базы данных для пользователей и администраторов. Бизнес-правила могут также определять ограничения для данных, правила целостности, требования к форматированию данных, права доступа пользователей и другие персонифицированные требования, связанные с конкретным бизнесом. В процессе проектирования базы данных важно тщательно изучить бизнес-правила и требования, чтобы убедиться, что база данных будет соответствовать потребностям бизнеса и обеспечивать эффективное управление данными.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Oracle учебник</a:t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Oracle учебник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Oracle учебник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Oracle учебник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Oracle учебник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Oracle учебник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Constraint — другое название для ограничения в бизнес-правиле.</a:t>
            </a:r>
            <a:endParaRPr/>
          </a:p>
        </p:txBody>
      </p:sp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Oracle учебник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Oracle учебник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Задачи из учебника по Oracle</a:t>
            </a:r>
            <a:endParaRPr/>
          </a:p>
        </p:txBody>
      </p:sp>
      <p:sp>
        <p:nvSpPr>
          <p:cNvPr id="294" name="Google Shape;29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33"/>
              </a:buClr>
              <a:buSzPts val="1800"/>
              <a:buFont typeface="Arial"/>
              <a:buChar char="•"/>
            </a:pPr>
            <a:r>
              <a:rPr b="0" i="1" lang="en-US" sz="1800">
                <a:solidFill>
                  <a:srgbClr val="663333"/>
                </a:solidFill>
                <a:latin typeface="Verdana"/>
                <a:ea typeface="Verdana"/>
                <a:cs typeface="Verdana"/>
                <a:sym typeface="Verdana"/>
              </a:rPr>
              <a:t>Функциональный подход — </a:t>
            </a:r>
            <a:r>
              <a:rPr b="0" i="0" lang="en-US" sz="1800">
                <a:solidFill>
                  <a:srgbClr val="663333"/>
                </a:solidFill>
                <a:latin typeface="Verdana"/>
                <a:ea typeface="Verdana"/>
                <a:cs typeface="Verdana"/>
                <a:sym typeface="Verdana"/>
              </a:rPr>
              <a:t>он реализует принцип движения "от задач" и применяется тогда, когда заранее известны функции некоторой группы лиц и комплексов задач, для обслуживания информационных потребностей которых создается рассматриваемая БД. В этом случае мы можем четко выделить минимальный необходимый набор объектов предметной области, которые должны быть описаны.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33"/>
              </a:buClr>
              <a:buSzPts val="1800"/>
              <a:buFont typeface="Arial"/>
              <a:buChar char="•"/>
            </a:pPr>
            <a:r>
              <a:rPr b="0" i="1" lang="en-US" sz="1800">
                <a:solidFill>
                  <a:srgbClr val="663333"/>
                </a:solidFill>
                <a:latin typeface="Verdana"/>
                <a:ea typeface="Verdana"/>
                <a:cs typeface="Verdana"/>
                <a:sym typeface="Verdana"/>
              </a:rPr>
              <a:t>Предметный подход — </a:t>
            </a:r>
            <a:r>
              <a:rPr b="0" i="0" lang="en-US" sz="1800">
                <a:solidFill>
                  <a:srgbClr val="663333"/>
                </a:solidFill>
                <a:latin typeface="Verdana"/>
                <a:ea typeface="Verdana"/>
                <a:cs typeface="Verdana"/>
                <a:sym typeface="Verdana"/>
              </a:rPr>
              <a:t>когда информационные потребности будущих пользователей БД жестко не фиксируются. Они могут быть многоаспектными и весьма динамичными. Мы не можем точно выделить минимальный набор объектов предметной области, которые необходимо описывать. В описание предметной области в этом случае включаются такие объекты и взаимосвязи, которые наиболее характерны и наиболее существенны для нее. БД, конструируемая при этом, называется предметной, то есть она может быть использована при решении множества разнообразных, заранее не определенных задач. Конструирование предметной БД в некотором смысле кажется гораздо более заманчивым, однако трудность всеобщего охвата предметной области с невозможностью конкретизации потребностей пользователей может привести к избыточно сложной схеме БД, которая для конкретных задач будет неэффективной.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Word документ для подсказки, но может пойти по другому сценарию.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Если останется время можно разобрать еще одну любую предметную область.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Выбор темы для РАР можно или по журналу или самостоятельно между студентами или пусть сами себе придумывают.</a:t>
            </a:r>
            <a:endParaRPr/>
          </a:p>
        </p:txBody>
      </p:sp>
      <p:sp>
        <p:nvSpPr>
          <p:cNvPr id="332" name="Google Shape;33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rgbClr val="2F5496"/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40000">
                <a:srgbClr val="4472C4">
                  <a:alpha val="0"/>
                </a:srgbClr>
              </a:gs>
              <a:gs pos="100000">
                <a:srgbClr val="2F5496">
                  <a:alpha val="51372"/>
                </a:srgbClr>
              </a:gs>
            </a:gsLst>
            <a:lin ang="2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rgbClr val="1F3864">
                  <a:alpha val="0"/>
                </a:srgbClr>
              </a:gs>
              <a:gs pos="100000">
                <a:srgbClr val="000000">
                  <a:alpha val="24313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 rot="-9091028">
            <a:off x="5945431" y="-1032053"/>
            <a:ext cx="4990147" cy="4439131"/>
          </a:xfrm>
          <a:custGeom>
            <a:rect b="b" l="l" r="r" t="t"/>
            <a:pathLst>
              <a:path extrusionOk="0" h="4439131" w="4990147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rgbClr val="4472C4">
                  <a:alpha val="21568"/>
                </a:srgbClr>
              </a:gs>
              <a:gs pos="87000">
                <a:srgbClr val="8DA9DB">
                  <a:alpha val="1568"/>
                </a:srgbClr>
              </a:gs>
              <a:gs pos="100000">
                <a:srgbClr val="8DA9DB">
                  <a:alpha val="1568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FFFFFF"/>
                </a:solidFill>
              </a:rPr>
              <a:t>Практическое занятие 2.</a:t>
            </a:r>
            <a:endParaRPr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1350682" y="4870824"/>
            <a:ext cx="10005951" cy="14582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Этапы проектирования БД.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Бизнес-требования и бизнес-правила.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1"/>
          <p:cNvSpPr txBox="1"/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Что такое бизнес-требования?</a:t>
            </a:r>
            <a:endParaRPr/>
          </a:p>
        </p:txBody>
      </p:sp>
      <p:sp>
        <p:nvSpPr>
          <p:cNvPr id="101" name="Google Shape;101;p41"/>
          <p:cNvSpPr txBox="1"/>
          <p:nvPr>
            <p:ph idx="1" type="body"/>
          </p:nvPr>
        </p:nvSpPr>
        <p:spPr>
          <a:xfrm>
            <a:off x="343524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Бизнес-требования - это описание того, что информационная система должна делать, чтобы поддерживать бизнес-процессы и достигать целей организации. Они определяют функциональность, производительность, ограничения и другие характеристики, необходимые для успешного внедрения и использования системы.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Что такое бизнес-правила?</a:t>
            </a:r>
            <a:endParaRPr/>
          </a:p>
        </p:txBody>
      </p:sp>
      <p:sp>
        <p:nvSpPr>
          <p:cNvPr id="107" name="Google Shape;107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Бизнес-правила - это политики, процедуры, ограничения и руководящие принципы, которые определяют или ограничивают определенные аспекты бизнеса. Они устанавливают, как должна функционировать организация, и являются основой для реализации бизнес-требований.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Взаимосвязь бизнес-требований и бизнес-правил</a:t>
            </a:r>
            <a:endParaRPr/>
          </a:p>
        </p:txBody>
      </p:sp>
      <p:sp>
        <p:nvSpPr>
          <p:cNvPr id="113" name="Google Shape;113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Бизнес-требования определяют, что должна делать информационная система, а бизнес-правила описывают, как она должна это делать. Эффективная разработка требует тесной интеграции этих двух компонентов для обеспечения согласованности, целостности и соответствия системы реальным потребностям бизнеса.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4472C4">
                  <a:alpha val="49411"/>
                </a:srgbClr>
              </a:gs>
              <a:gs pos="100000">
                <a:srgbClr val="1F3864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431"/>
                </a:srgbClr>
              </a:gs>
              <a:gs pos="69000">
                <a:srgbClr val="4472C4">
                  <a:alpha val="0"/>
                </a:srgbClr>
              </a:gs>
              <a:gs pos="100000">
                <a:srgbClr val="4472C4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8DA9DB">
                  <a:alpha val="0"/>
                </a:srgbClr>
              </a:gs>
              <a:gs pos="39000">
                <a:srgbClr val="8DA9DB">
                  <a:alpha val="0"/>
                </a:srgbClr>
              </a:gs>
              <a:gs pos="100000">
                <a:srgbClr val="2F5496">
                  <a:alpha val="25490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lang="en-US" sz="3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Этапы проектирования БД</a:t>
            </a:r>
            <a:endParaRPr/>
          </a:p>
        </p:txBody>
      </p:sp>
      <p:pic>
        <p:nvPicPr>
          <p:cNvPr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980" y="164891"/>
            <a:ext cx="4974088" cy="665589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 txBox="1"/>
          <p:nvPr>
            <p:ph idx="4294967295" type="sldNum"/>
          </p:nvPr>
        </p:nvSpPr>
        <p:spPr>
          <a:xfrm>
            <a:off x="11704319" y="6455664"/>
            <a:ext cx="4480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 flipH="1" rot="5400000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 rot="-54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rgbClr val="4472C4">
                  <a:alpha val="49411"/>
                </a:srgbClr>
              </a:gs>
              <a:gs pos="100000">
                <a:srgbClr val="1F3864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 flipH="1" rot="-5400000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8431"/>
                </a:srgbClr>
              </a:gs>
              <a:gs pos="69000">
                <a:srgbClr val="4472C4">
                  <a:alpha val="0"/>
                </a:srgbClr>
              </a:gs>
              <a:gs pos="100000">
                <a:srgbClr val="4472C4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 rot="6097846">
            <a:off x="-747355" y="1201312"/>
            <a:ext cx="4808302" cy="4088666"/>
          </a:xfrm>
          <a:custGeom>
            <a:rect b="b" l="l" r="r" t="t"/>
            <a:pathLst>
              <a:path extrusionOk="0" h="4088666" w="4808302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8DA9DB">
                  <a:alpha val="0"/>
                </a:srgbClr>
              </a:gs>
              <a:gs pos="39000">
                <a:srgbClr val="8DA9DB">
                  <a:alpha val="0"/>
                </a:srgbClr>
              </a:gs>
              <a:gs pos="100000">
                <a:srgbClr val="2F5496">
                  <a:alpha val="25490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lang="en-US" sz="3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Этапы проектирования БД</a:t>
            </a:r>
            <a:endParaRPr/>
          </a:p>
        </p:txBody>
      </p:sp>
      <p:pic>
        <p:nvPicPr>
          <p:cNvPr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981" y="467208"/>
            <a:ext cx="4368642" cy="5923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>
            <p:ph idx="4294967295" type="sldNum"/>
          </p:nvPr>
        </p:nvSpPr>
        <p:spPr>
          <a:xfrm>
            <a:off x="11704319" y="6455664"/>
            <a:ext cx="4480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6"/>
          <p:cNvCxnSpPr/>
          <p:nvPr/>
        </p:nvCxnSpPr>
        <p:spPr>
          <a:xfrm>
            <a:off x="5019869" y="1558212"/>
            <a:ext cx="117565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0" name="Google Shape;140;p6"/>
          <p:cNvSpPr txBox="1"/>
          <p:nvPr/>
        </p:nvSpPr>
        <p:spPr>
          <a:xfrm>
            <a:off x="4311941" y="1208015"/>
            <a:ext cx="9060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Мы тут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>
            <p:ph type="title"/>
          </p:nvPr>
        </p:nvSpPr>
        <p:spPr>
          <a:xfrm>
            <a:off x="1981200" y="222252"/>
            <a:ext cx="82296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1" lang="en-US" sz="3200">
                <a:latin typeface="Comic Sans MS"/>
                <a:ea typeface="Comic Sans MS"/>
                <a:cs typeface="Comic Sans MS"/>
                <a:sym typeface="Comic Sans MS"/>
              </a:rPr>
              <a:t>Стадии проектирования БД</a:t>
            </a:r>
            <a:endParaRPr/>
          </a:p>
        </p:txBody>
      </p:sp>
      <p:sp>
        <p:nvSpPr>
          <p:cNvPr id="147" name="Google Shape;147;p7"/>
          <p:cNvSpPr txBox="1"/>
          <p:nvPr>
            <p:ph idx="4294967295" type="sldNum"/>
          </p:nvPr>
        </p:nvSpPr>
        <p:spPr>
          <a:xfrm>
            <a:off x="9906000" y="6356351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rPr>
              <a:t>‹#›</a:t>
            </a:fld>
            <a:endParaRPr sz="1200">
              <a:solidFill>
                <a:srgbClr val="045C75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051425" y="1916833"/>
            <a:ext cx="2089150" cy="719137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FAFAFA"/>
              </a:gs>
              <a:gs pos="100000">
                <a:srgbClr val="CECECE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Инфологическое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моделирование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424114" y="1656482"/>
            <a:ext cx="2208213" cy="1944687"/>
          </a:xfrm>
          <a:custGeom>
            <a:rect b="b" l="l" r="r" t="t"/>
            <a:pathLst>
              <a:path extrusionOk="0" h="1492" w="1595">
                <a:moveTo>
                  <a:pt x="778" y="34"/>
                </a:moveTo>
                <a:cubicBezTo>
                  <a:pt x="744" y="43"/>
                  <a:pt x="710" y="52"/>
                  <a:pt x="676" y="60"/>
                </a:cubicBezTo>
                <a:cubicBezTo>
                  <a:pt x="651" y="66"/>
                  <a:pt x="600" y="77"/>
                  <a:pt x="600" y="77"/>
                </a:cubicBezTo>
                <a:cubicBezTo>
                  <a:pt x="589" y="83"/>
                  <a:pt x="578" y="90"/>
                  <a:pt x="566" y="94"/>
                </a:cubicBezTo>
                <a:cubicBezTo>
                  <a:pt x="544" y="101"/>
                  <a:pt x="498" y="110"/>
                  <a:pt x="498" y="110"/>
                </a:cubicBezTo>
                <a:cubicBezTo>
                  <a:pt x="490" y="116"/>
                  <a:pt x="482" y="122"/>
                  <a:pt x="473" y="127"/>
                </a:cubicBezTo>
                <a:cubicBezTo>
                  <a:pt x="465" y="131"/>
                  <a:pt x="455" y="131"/>
                  <a:pt x="447" y="136"/>
                </a:cubicBezTo>
                <a:cubicBezTo>
                  <a:pt x="383" y="179"/>
                  <a:pt x="459" y="148"/>
                  <a:pt x="396" y="170"/>
                </a:cubicBezTo>
                <a:cubicBezTo>
                  <a:pt x="319" y="248"/>
                  <a:pt x="347" y="227"/>
                  <a:pt x="295" y="297"/>
                </a:cubicBezTo>
                <a:cubicBezTo>
                  <a:pt x="285" y="344"/>
                  <a:pt x="278" y="365"/>
                  <a:pt x="252" y="407"/>
                </a:cubicBezTo>
                <a:cubicBezTo>
                  <a:pt x="241" y="455"/>
                  <a:pt x="214" y="490"/>
                  <a:pt x="193" y="534"/>
                </a:cubicBezTo>
                <a:cubicBezTo>
                  <a:pt x="164" y="596"/>
                  <a:pt x="138" y="650"/>
                  <a:pt x="108" y="712"/>
                </a:cubicBezTo>
                <a:cubicBezTo>
                  <a:pt x="84" y="761"/>
                  <a:pt x="74" y="815"/>
                  <a:pt x="49" y="864"/>
                </a:cubicBezTo>
                <a:cubicBezTo>
                  <a:pt x="31" y="940"/>
                  <a:pt x="0" y="951"/>
                  <a:pt x="32" y="1051"/>
                </a:cubicBezTo>
                <a:cubicBezTo>
                  <a:pt x="40" y="1078"/>
                  <a:pt x="69" y="1094"/>
                  <a:pt x="83" y="1118"/>
                </a:cubicBezTo>
                <a:cubicBezTo>
                  <a:pt x="121" y="1183"/>
                  <a:pt x="201" y="1268"/>
                  <a:pt x="278" y="1288"/>
                </a:cubicBezTo>
                <a:cubicBezTo>
                  <a:pt x="307" y="1309"/>
                  <a:pt x="367" y="1360"/>
                  <a:pt x="405" y="1373"/>
                </a:cubicBezTo>
                <a:cubicBezTo>
                  <a:pt x="422" y="1379"/>
                  <a:pt x="441" y="1380"/>
                  <a:pt x="456" y="1390"/>
                </a:cubicBezTo>
                <a:cubicBezTo>
                  <a:pt x="519" y="1430"/>
                  <a:pt x="561" y="1474"/>
                  <a:pt x="634" y="1491"/>
                </a:cubicBezTo>
                <a:cubicBezTo>
                  <a:pt x="750" y="1488"/>
                  <a:pt x="866" y="1492"/>
                  <a:pt x="981" y="1483"/>
                </a:cubicBezTo>
                <a:cubicBezTo>
                  <a:pt x="1025" y="1479"/>
                  <a:pt x="1046" y="1454"/>
                  <a:pt x="1083" y="1440"/>
                </a:cubicBezTo>
                <a:cubicBezTo>
                  <a:pt x="1110" y="1430"/>
                  <a:pt x="1167" y="1415"/>
                  <a:pt x="1167" y="1415"/>
                </a:cubicBezTo>
                <a:cubicBezTo>
                  <a:pt x="1195" y="1397"/>
                  <a:pt x="1216" y="1374"/>
                  <a:pt x="1244" y="1356"/>
                </a:cubicBezTo>
                <a:cubicBezTo>
                  <a:pt x="1283" y="1303"/>
                  <a:pt x="1334" y="1274"/>
                  <a:pt x="1379" y="1229"/>
                </a:cubicBezTo>
                <a:cubicBezTo>
                  <a:pt x="1439" y="1168"/>
                  <a:pt x="1371" y="1217"/>
                  <a:pt x="1430" y="1178"/>
                </a:cubicBezTo>
                <a:cubicBezTo>
                  <a:pt x="1453" y="1055"/>
                  <a:pt x="1403" y="930"/>
                  <a:pt x="1498" y="839"/>
                </a:cubicBezTo>
                <a:cubicBezTo>
                  <a:pt x="1515" y="805"/>
                  <a:pt x="1530" y="782"/>
                  <a:pt x="1557" y="754"/>
                </a:cubicBezTo>
                <a:cubicBezTo>
                  <a:pt x="1573" y="672"/>
                  <a:pt x="1595" y="591"/>
                  <a:pt x="1540" y="517"/>
                </a:cubicBezTo>
                <a:cubicBezTo>
                  <a:pt x="1529" y="483"/>
                  <a:pt x="1519" y="469"/>
                  <a:pt x="1489" y="449"/>
                </a:cubicBezTo>
                <a:cubicBezTo>
                  <a:pt x="1444" y="382"/>
                  <a:pt x="1503" y="463"/>
                  <a:pt x="1447" y="407"/>
                </a:cubicBezTo>
                <a:cubicBezTo>
                  <a:pt x="1425" y="385"/>
                  <a:pt x="1420" y="351"/>
                  <a:pt x="1413" y="322"/>
                </a:cubicBezTo>
                <a:cubicBezTo>
                  <a:pt x="1410" y="274"/>
                  <a:pt x="1411" y="226"/>
                  <a:pt x="1404" y="178"/>
                </a:cubicBezTo>
                <a:cubicBezTo>
                  <a:pt x="1397" y="130"/>
                  <a:pt x="1310" y="83"/>
                  <a:pt x="1269" y="68"/>
                </a:cubicBezTo>
                <a:cubicBezTo>
                  <a:pt x="1222" y="21"/>
                  <a:pt x="1139" y="10"/>
                  <a:pt x="1074" y="0"/>
                </a:cubicBezTo>
                <a:cubicBezTo>
                  <a:pt x="998" y="3"/>
                  <a:pt x="921" y="1"/>
                  <a:pt x="845" y="9"/>
                </a:cubicBezTo>
                <a:cubicBezTo>
                  <a:pt x="823" y="11"/>
                  <a:pt x="806" y="34"/>
                  <a:pt x="778" y="34"/>
                </a:cubicBezTo>
                <a:close/>
              </a:path>
            </a:pathLst>
          </a:cu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2844803" y="2343869"/>
            <a:ext cx="16435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Предметная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область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4368801" y="2161306"/>
            <a:ext cx="682624" cy="6351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7"/>
          <p:cNvSpPr/>
          <p:nvPr/>
        </p:nvSpPr>
        <p:spPr>
          <a:xfrm>
            <a:off x="5016501" y="2953468"/>
            <a:ext cx="2089150" cy="9144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FAFAFA"/>
              </a:gs>
              <a:gs pos="100000">
                <a:srgbClr val="CECECE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Даталогическое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моделирование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424113" y="4177432"/>
            <a:ext cx="2089150" cy="7207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42703"/>
                </a:solidFill>
                <a:latin typeface="Arial"/>
                <a:ea typeface="Arial"/>
                <a:cs typeface="Arial"/>
                <a:sym typeface="Arial"/>
              </a:rPr>
              <a:t>Предварительная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42703"/>
                </a:solidFill>
                <a:latin typeface="Arial"/>
                <a:ea typeface="Arial"/>
                <a:cs typeface="Arial"/>
                <a:sym typeface="Arial"/>
              </a:rPr>
              <a:t> логическая модель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7"/>
          <p:cNvCxnSpPr/>
          <p:nvPr/>
        </p:nvCxnSpPr>
        <p:spPr>
          <a:xfrm flipH="1" rot="10800000">
            <a:off x="3648076" y="2528019"/>
            <a:ext cx="1403349" cy="1649413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" name="Google Shape;155;p7"/>
          <p:cNvCxnSpPr/>
          <p:nvPr/>
        </p:nvCxnSpPr>
        <p:spPr>
          <a:xfrm>
            <a:off x="5951538" y="2635970"/>
            <a:ext cx="0" cy="317499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" name="Google Shape;156;p7"/>
          <p:cNvSpPr/>
          <p:nvPr/>
        </p:nvSpPr>
        <p:spPr>
          <a:xfrm>
            <a:off x="7608888" y="3024906"/>
            <a:ext cx="2159000" cy="6270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42703"/>
                </a:solidFill>
                <a:latin typeface="Arial"/>
                <a:ea typeface="Arial"/>
                <a:cs typeface="Arial"/>
                <a:sym typeface="Arial"/>
              </a:rPr>
              <a:t>Анализ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 flipH="1" rot="10800000">
            <a:off x="4151313" y="3528143"/>
            <a:ext cx="865188" cy="6492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8" name="Google Shape;158;p7"/>
          <p:cNvCxnSpPr/>
          <p:nvPr/>
        </p:nvCxnSpPr>
        <p:spPr>
          <a:xfrm>
            <a:off x="7104064" y="3601168"/>
            <a:ext cx="504825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" name="Google Shape;159;p7"/>
          <p:cNvCxnSpPr/>
          <p:nvPr/>
        </p:nvCxnSpPr>
        <p:spPr>
          <a:xfrm rot="10800000">
            <a:off x="7104064" y="3096343"/>
            <a:ext cx="504825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p7"/>
          <p:cNvSpPr txBox="1"/>
          <p:nvPr/>
        </p:nvSpPr>
        <p:spPr>
          <a:xfrm>
            <a:off x="5087939" y="4248869"/>
            <a:ext cx="201612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016501" y="4248868"/>
            <a:ext cx="2087562" cy="914400"/>
          </a:xfrm>
          <a:prstGeom prst="rect">
            <a:avLst/>
          </a:prstGeom>
          <a:gradFill>
            <a:gsLst>
              <a:gs pos="0">
                <a:schemeClr val="lt1"/>
              </a:gs>
              <a:gs pos="50000">
                <a:srgbClr val="FAFAFA"/>
              </a:gs>
              <a:gs pos="100000">
                <a:srgbClr val="CECECE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Физическое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проектирование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7"/>
          <p:cNvCxnSpPr/>
          <p:nvPr/>
        </p:nvCxnSpPr>
        <p:spPr>
          <a:xfrm>
            <a:off x="5952792" y="3888506"/>
            <a:ext cx="0" cy="360362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" name="Google Shape;163;p7"/>
          <p:cNvSpPr/>
          <p:nvPr/>
        </p:nvSpPr>
        <p:spPr>
          <a:xfrm>
            <a:off x="7608888" y="4320307"/>
            <a:ext cx="2159000" cy="7207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42703"/>
                </a:solidFill>
                <a:latin typeface="Arial"/>
                <a:ea typeface="Arial"/>
                <a:cs typeface="Arial"/>
                <a:sym typeface="Arial"/>
              </a:rPr>
              <a:t>Анализ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7"/>
          <p:cNvCxnSpPr/>
          <p:nvPr/>
        </p:nvCxnSpPr>
        <p:spPr>
          <a:xfrm>
            <a:off x="7104064" y="4969593"/>
            <a:ext cx="504825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" name="Google Shape;165;p7"/>
          <p:cNvCxnSpPr/>
          <p:nvPr/>
        </p:nvCxnSpPr>
        <p:spPr>
          <a:xfrm rot="10800000">
            <a:off x="7104064" y="4393331"/>
            <a:ext cx="504825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490"/>
                </a:srgbClr>
              </a:gs>
              <a:gs pos="100000">
                <a:srgbClr val="4472C4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235"/>
                </a:srgbClr>
              </a:gs>
              <a:gs pos="2000">
                <a:srgbClr val="4472C4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588"/>
                </a:srgbClr>
              </a:gs>
              <a:gs pos="100000">
                <a:srgbClr val="8DA9DB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Определения</a:t>
            </a:r>
            <a:endParaRPr/>
          </a:p>
        </p:txBody>
      </p:sp>
      <p:sp>
        <p:nvSpPr>
          <p:cNvPr id="179" name="Google Shape;179;p8"/>
          <p:cNvSpPr txBox="1"/>
          <p:nvPr>
            <p:ph idx="1" type="body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Процесс проектирования включает в себя следующие этапы. 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Концептуальное проектирование </a:t>
            </a:r>
            <a:r>
              <a:rPr lang="en-US" sz="2000"/>
              <a:t>– это процедура конструирования информационной модели, не зависящей от каких-либо физических условий реализации.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Логическое проектирование </a:t>
            </a:r>
            <a:r>
              <a:rPr lang="en-US" sz="2000"/>
              <a:t>– это процесс конструирования информационной модели на основе существующих моделей данных, не зависимо от используемой СУБД и других условий физической реализации.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Физическое проектирование </a:t>
            </a:r>
            <a:r>
              <a:rPr lang="en-US" sz="2000"/>
              <a:t>– это процедура создания описания конкретной реализации БД с описанием структуры хранения данных, методов доступа к данным.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Fira Sans"/>
              <a:buNone/>
            </a:pPr>
            <a:r>
              <a:rPr b="0" i="0" lang="en-US">
                <a:solidFill>
                  <a:srgbClr val="333333"/>
                </a:solidFill>
                <a:latin typeface="Fira Sans"/>
                <a:ea typeface="Fira Sans"/>
                <a:cs typeface="Fira Sans"/>
                <a:sym typeface="Fira Sans"/>
              </a:rPr>
              <a:t>Бизнес-правила и требования к системе</a:t>
            </a:r>
            <a:endParaRPr/>
          </a:p>
        </p:txBody>
      </p:sp>
      <p:sp>
        <p:nvSpPr>
          <p:cNvPr id="186" name="Google Shape;186;p9"/>
          <p:cNvSpPr txBox="1"/>
          <p:nvPr>
            <p:ph idx="1" type="body"/>
          </p:nvPr>
        </p:nvSpPr>
        <p:spPr>
          <a:xfrm>
            <a:off x="1538288" y="2282825"/>
            <a:ext cx="4391025" cy="1146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Бизнес-правила?</a:t>
            </a:r>
            <a:endParaRPr/>
          </a:p>
        </p:txBody>
      </p:sp>
      <p:pic>
        <p:nvPicPr>
          <p:cNvPr id="187" name="Google Shape;18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243262"/>
            <a:ext cx="6096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 txBox="1"/>
          <p:nvPr/>
        </p:nvSpPr>
        <p:spPr>
          <a:xfrm>
            <a:off x="6491288" y="2282825"/>
            <a:ext cx="4391025" cy="1146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 к системе?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0"/>
          <p:cNvGrpSpPr/>
          <p:nvPr/>
        </p:nvGrpSpPr>
        <p:grpSpPr>
          <a:xfrm>
            <a:off x="8850217" y="4539866"/>
            <a:ext cx="2948177" cy="1856993"/>
            <a:chOff x="6195822" y="4530090"/>
            <a:chExt cx="2948177" cy="1856993"/>
          </a:xfrm>
        </p:grpSpPr>
        <p:pic>
          <p:nvPicPr>
            <p:cNvPr id="194" name="Google Shape;19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67447" y="5403716"/>
              <a:ext cx="1020571" cy="9833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95822" y="4626864"/>
              <a:ext cx="1366265" cy="1117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07630" y="4530090"/>
              <a:ext cx="1436369" cy="11757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7" name="Google Shape;197;p10"/>
          <p:cNvSpPr txBox="1"/>
          <p:nvPr>
            <p:ph type="title"/>
          </p:nvPr>
        </p:nvSpPr>
        <p:spPr>
          <a:xfrm>
            <a:off x="1867694" y="125951"/>
            <a:ext cx="8456612" cy="689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Важность бизнес-правил</a:t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977613" y="1051938"/>
            <a:ext cx="10819646" cy="441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575">
            <a:spAutoFit/>
          </a:bodyPr>
          <a:lstStyle/>
          <a:p>
            <a:pPr indent="-228600" lvl="0" marL="241300" marR="11176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9A9B9D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rPr>
              <a:t>При проектировании базы данных крайне важно определить и задокументировать бизнес-правила.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rPr>
              <a:t>Бизнес-правила: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514984" marR="5080" rtl="0" algn="l">
              <a:lnSpc>
                <a:spcPct val="107916"/>
              </a:lnSpc>
              <a:spcBef>
                <a:spcPts val="869"/>
              </a:spcBef>
              <a:spcAft>
                <a:spcPts val="0"/>
              </a:spcAft>
              <a:buClr>
                <a:srgbClr val="9A9B9D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rPr>
              <a:t>Позволяют разработчику или архитектору понять, какие имеются связи и ограничения для участвующих объектов.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514984" marR="43815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rgbClr val="9A9B9D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rPr>
              <a:t>Помогают понять процедуру стандартизации, которую применяет организация при обработке огромных объемов данных.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515619" marR="0" rtl="0" algn="l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rgbClr val="9A9B9D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rPr>
              <a:t>Должны быть простыми и понятными.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514984" marR="2421890" rtl="0" algn="l">
              <a:lnSpc>
                <a:spcPct val="107916"/>
              </a:lnSpc>
              <a:spcBef>
                <a:spcPts val="844"/>
              </a:spcBef>
              <a:spcAft>
                <a:spcPts val="0"/>
              </a:spcAft>
              <a:buClr>
                <a:srgbClr val="9A9B9D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58595B"/>
                </a:solidFill>
                <a:latin typeface="Calibri"/>
                <a:ea typeface="Calibri"/>
                <a:cs typeface="Calibri"/>
                <a:sym typeface="Calibri"/>
              </a:rPr>
              <a:t>Должны поддерживаться в актуальном состоянии.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Важность бизнес-правил</a:t>
            </a:r>
            <a:endParaRPr/>
          </a:p>
        </p:txBody>
      </p:sp>
      <p:sp>
        <p:nvSpPr>
          <p:cNvPr id="209" name="Google Shape;209;p11"/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13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Бизнес-правила служат для понимания бизнес-процессов, а также характера, роли и области применения данных.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665" marR="1689735" rtl="0" algn="l">
              <a:lnSpc>
                <a:spcPct val="90000"/>
              </a:lnSpc>
              <a:spcBef>
                <a:spcPts val="810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Бизнес-правила помогают классифицировать и проектировать таблицы базы данных.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475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Источники бизнес-правил: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469900" marR="0" rtl="0" algn="l">
              <a:lnSpc>
                <a:spcPct val="90000"/>
              </a:lnSpc>
              <a:spcBef>
                <a:spcPts val="385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Руководители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469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Лица, определяющие политику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469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Документация и руководства по эксплуатации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469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Организационные процедуры и стандарты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469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Интервью с конечными пользователями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Бизнес-правила и концептуальное моделирование</a:t>
            </a:r>
            <a:endParaRPr/>
          </a:p>
        </p:txBody>
      </p:sp>
      <p:sp>
        <p:nvSpPr>
          <p:cNvPr id="220" name="Google Shape;220;p12"/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0665" marR="3905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Важность концептуальной модели для бизнеса обусловлена тем, что она: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Точно описывает информационные потребности бизнеса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334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Способствует обсуждению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335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Предотвращает ошибки и неправильное понимание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335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Формирует важную документацию «идеальной системы»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67055" rtl="0" algn="l">
              <a:lnSpc>
                <a:spcPct val="90000"/>
              </a:lnSpc>
              <a:spcBef>
                <a:spcPts val="635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Формирует прочную основу для разработки физической базы данных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1371600" rtl="0" algn="l">
              <a:lnSpc>
                <a:spcPct val="90000"/>
              </a:lnSpc>
              <a:spcBef>
                <a:spcPts val="590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Документирует процессы (также называемые «бизнес- правилами») деловой деятельности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295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Учитывает правила и законы, регулирующие эту отрасль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080" rtl="0" algn="l">
              <a:lnSpc>
                <a:spcPct val="90000"/>
              </a:lnSpc>
              <a:spcBef>
                <a:spcPts val="635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Примечание. Не все бизнес-правила можно смоделировать в базе данных.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 txBox="1"/>
          <p:nvPr>
            <p:ph type="title"/>
          </p:nvPr>
        </p:nvSpPr>
        <p:spPr>
          <a:xfrm>
            <a:off x="1136397" y="502020"/>
            <a:ext cx="5323715" cy="16429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27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None/>
            </a:pPr>
            <a:r>
              <a:rPr lang="en-U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Пример: Определение бизнес-правил</a:t>
            </a:r>
            <a:endParaRPr/>
          </a:p>
        </p:txBody>
      </p:sp>
      <p:sp>
        <p:nvSpPr>
          <p:cNvPr id="227" name="Google Shape;227;p13"/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13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A9B9D"/>
              </a:buClr>
              <a:buSzPts val="14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SunStar Online Book Rentals — успешная компания, сдающая в аренду книги. В связи с расширением бизнеса библиотеке SunStar потребовалось улучшить имеющуюся информационную систему, чтобы обеспечить поддержку организационных изменений.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A9B9D"/>
              </a:buClr>
              <a:buSzPts val="14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SunStar пользуется популярностью, и число клиентов быстро растет. Однако клиентская база нестабильна, и это вызывает затруднения.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 flipH="1" rot="10800000">
            <a:off x="8123333" y="-5"/>
            <a:ext cx="4092521" cy="6858000"/>
          </a:xfrm>
          <a:prstGeom prst="rect">
            <a:avLst/>
          </a:prstGeom>
          <a:gradFill>
            <a:gsLst>
              <a:gs pos="0">
                <a:srgbClr val="000000">
                  <a:alpha val="93333"/>
                </a:srgbClr>
              </a:gs>
              <a:gs pos="8000">
                <a:srgbClr val="000000">
                  <a:alpha val="93333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 flipH="1" rot="10800000">
            <a:off x="8123333" y="-2"/>
            <a:ext cx="4092521" cy="6400369"/>
          </a:xfrm>
          <a:prstGeom prst="rect">
            <a:avLst/>
          </a:prstGeom>
          <a:gradFill>
            <a:gsLst>
              <a:gs pos="0">
                <a:srgbClr val="1F3864">
                  <a:alpha val="0"/>
                </a:srgbClr>
              </a:gs>
              <a:gs pos="31000">
                <a:srgbClr val="1F3864">
                  <a:alpha val="0"/>
                </a:srgbClr>
              </a:gs>
              <a:gs pos="100000">
                <a:srgbClr val="1F3864">
                  <a:alpha val="25490"/>
                </a:srgbClr>
              </a:gs>
            </a:gsLst>
            <a:lin ang="18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 flipH="1" rot="10800000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72000">
                <a:srgbClr val="000000">
                  <a:alpha val="20392"/>
                </a:srgbClr>
              </a:gs>
              <a:gs pos="100000">
                <a:srgbClr val="000000">
                  <a:alpha val="20392"/>
                </a:srgbClr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 flipH="1" rot="10800000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93000">
                <a:srgbClr val="000000">
                  <a:alpha val="28235"/>
                </a:srgbClr>
              </a:gs>
              <a:gs pos="100000">
                <a:srgbClr val="000000">
                  <a:alpha val="2823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5967" y="2054770"/>
            <a:ext cx="4170530" cy="2780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 txBox="1"/>
          <p:nvPr>
            <p:ph type="title"/>
          </p:nvPr>
        </p:nvSpPr>
        <p:spPr>
          <a:xfrm>
            <a:off x="1136397" y="502020"/>
            <a:ext cx="5323715" cy="16429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27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None/>
            </a:pPr>
            <a:r>
              <a:rPr lang="en-U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Пример: Определение бизнес-правил</a:t>
            </a:r>
            <a:endParaRPr/>
          </a:p>
        </p:txBody>
      </p:sp>
      <p:sp>
        <p:nvSpPr>
          <p:cNvPr id="239" name="Google Shape;239;p14"/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13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Основная идея — предложить клиентам три типа участия (Gold, Silver, Bronze) и иметь возможность в дальнейшем предлагать дополнительные варианты. Участие уровня Bronze — бесплатное. Участники уровня Silver и Gold должны платить взносы, но получают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определенные привилегии.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Тип участия не может меняться.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 flipH="1" rot="10800000">
            <a:off x="8123333" y="-5"/>
            <a:ext cx="4092521" cy="6858000"/>
          </a:xfrm>
          <a:prstGeom prst="rect">
            <a:avLst/>
          </a:prstGeom>
          <a:gradFill>
            <a:gsLst>
              <a:gs pos="0">
                <a:srgbClr val="000000">
                  <a:alpha val="93333"/>
                </a:srgbClr>
              </a:gs>
              <a:gs pos="8000">
                <a:srgbClr val="000000">
                  <a:alpha val="93333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 flipH="1" rot="10800000">
            <a:off x="8123333" y="-2"/>
            <a:ext cx="4092521" cy="6400369"/>
          </a:xfrm>
          <a:prstGeom prst="rect">
            <a:avLst/>
          </a:prstGeom>
          <a:gradFill>
            <a:gsLst>
              <a:gs pos="0">
                <a:srgbClr val="1F3864">
                  <a:alpha val="0"/>
                </a:srgbClr>
              </a:gs>
              <a:gs pos="31000">
                <a:srgbClr val="1F3864">
                  <a:alpha val="0"/>
                </a:srgbClr>
              </a:gs>
              <a:gs pos="100000">
                <a:srgbClr val="1F3864">
                  <a:alpha val="25490"/>
                </a:srgbClr>
              </a:gs>
            </a:gsLst>
            <a:lin ang="18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 flipH="1" rot="10800000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72000">
                <a:srgbClr val="000000">
                  <a:alpha val="20392"/>
                </a:srgbClr>
              </a:gs>
              <a:gs pos="100000">
                <a:srgbClr val="000000">
                  <a:alpha val="20392"/>
                </a:srgbClr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 flipH="1" rot="10800000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93000">
                <a:srgbClr val="000000">
                  <a:alpha val="28235"/>
                </a:srgbClr>
              </a:gs>
              <a:gs pos="100000">
                <a:srgbClr val="000000">
                  <a:alpha val="2823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5967" y="2054770"/>
            <a:ext cx="4170530" cy="2780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 txBox="1"/>
          <p:nvPr>
            <p:ph type="title"/>
          </p:nvPr>
        </p:nvSpPr>
        <p:spPr>
          <a:xfrm>
            <a:off x="1136397" y="502020"/>
            <a:ext cx="5323715" cy="16429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8415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Пример: Решение для определения бизнес-правил</a:t>
            </a:r>
            <a:endParaRPr/>
          </a:p>
        </p:txBody>
      </p:sp>
      <p:sp>
        <p:nvSpPr>
          <p:cNvPr id="251" name="Google Shape;251;p15"/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Бизнес-правило: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15619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Участники должны платить взносы.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" marR="0" rtl="0" algn="l">
              <a:lnSpc>
                <a:spcPct val="90000"/>
              </a:lnSpc>
              <a:spcBef>
                <a:spcPts val="8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Ограничение: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14984" marR="5080" rtl="0" algn="l">
              <a:lnSpc>
                <a:spcPct val="90000"/>
              </a:lnSpc>
              <a:spcBef>
                <a:spcPts val="870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Участники должны относиться к одному из трех уровней (Gold, Silver или Bronze).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 flipH="1" rot="10800000">
            <a:off x="8123333" y="-5"/>
            <a:ext cx="4092521" cy="6858000"/>
          </a:xfrm>
          <a:prstGeom prst="rect">
            <a:avLst/>
          </a:prstGeom>
          <a:gradFill>
            <a:gsLst>
              <a:gs pos="0">
                <a:srgbClr val="000000">
                  <a:alpha val="93333"/>
                </a:srgbClr>
              </a:gs>
              <a:gs pos="8000">
                <a:srgbClr val="000000">
                  <a:alpha val="93333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 flipH="1" rot="10800000">
            <a:off x="8123333" y="-2"/>
            <a:ext cx="4092521" cy="6400369"/>
          </a:xfrm>
          <a:prstGeom prst="rect">
            <a:avLst/>
          </a:prstGeom>
          <a:gradFill>
            <a:gsLst>
              <a:gs pos="0">
                <a:srgbClr val="1F3864">
                  <a:alpha val="0"/>
                </a:srgbClr>
              </a:gs>
              <a:gs pos="31000">
                <a:srgbClr val="1F3864">
                  <a:alpha val="0"/>
                </a:srgbClr>
              </a:gs>
              <a:gs pos="100000">
                <a:srgbClr val="1F3864">
                  <a:alpha val="25490"/>
                </a:srgbClr>
              </a:gs>
            </a:gsLst>
            <a:lin ang="18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 flipH="1" rot="10800000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72000">
                <a:srgbClr val="000000">
                  <a:alpha val="20392"/>
                </a:srgbClr>
              </a:gs>
              <a:gs pos="100000">
                <a:srgbClr val="000000">
                  <a:alpha val="20392"/>
                </a:srgbClr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 flipH="1" rot="10800000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93000">
                <a:srgbClr val="000000">
                  <a:alpha val="28235"/>
                </a:srgbClr>
              </a:gs>
              <a:gs pos="100000">
                <a:srgbClr val="000000">
                  <a:alpha val="2823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5967" y="2056308"/>
            <a:ext cx="4170530" cy="2777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 txBox="1"/>
          <p:nvPr>
            <p:ph type="title"/>
          </p:nvPr>
        </p:nvSpPr>
        <p:spPr>
          <a:xfrm>
            <a:off x="1136397" y="502020"/>
            <a:ext cx="5323715" cy="16429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8415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Пример: Решение для определения бизнес-правил</a:t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Бизнес-правило: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14984" marR="5080" rtl="0" algn="l">
              <a:lnSpc>
                <a:spcPct val="90000"/>
              </a:lnSpc>
              <a:spcBef>
                <a:spcPts val="865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Участие уровня Bronze — бесплатное. Участие уровня Silver и Gold обязывает платить взносы.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Ограничение: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15619" marR="0" rtl="0" algn="l">
              <a:lnSpc>
                <a:spcPct val="90000"/>
              </a:lnSpc>
              <a:spcBef>
                <a:spcPts val="535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Тип участия не может меняться.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/>
          <p:nvPr/>
        </p:nvSpPr>
        <p:spPr>
          <a:xfrm flipH="1" rot="10800000">
            <a:off x="8123333" y="-5"/>
            <a:ext cx="4092521" cy="6858000"/>
          </a:xfrm>
          <a:prstGeom prst="rect">
            <a:avLst/>
          </a:prstGeom>
          <a:gradFill>
            <a:gsLst>
              <a:gs pos="0">
                <a:srgbClr val="000000">
                  <a:alpha val="93333"/>
                </a:srgbClr>
              </a:gs>
              <a:gs pos="8000">
                <a:srgbClr val="000000">
                  <a:alpha val="93333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/>
          <p:nvPr/>
        </p:nvSpPr>
        <p:spPr>
          <a:xfrm flipH="1" rot="10800000">
            <a:off x="8123333" y="-2"/>
            <a:ext cx="4092521" cy="6400369"/>
          </a:xfrm>
          <a:prstGeom prst="rect">
            <a:avLst/>
          </a:prstGeom>
          <a:gradFill>
            <a:gsLst>
              <a:gs pos="0">
                <a:srgbClr val="1F3864">
                  <a:alpha val="0"/>
                </a:srgbClr>
              </a:gs>
              <a:gs pos="31000">
                <a:srgbClr val="1F3864">
                  <a:alpha val="0"/>
                </a:srgbClr>
              </a:gs>
              <a:gs pos="100000">
                <a:srgbClr val="1F3864">
                  <a:alpha val="25490"/>
                </a:srgbClr>
              </a:gs>
            </a:gsLst>
            <a:lin ang="18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/>
          <p:nvPr/>
        </p:nvSpPr>
        <p:spPr>
          <a:xfrm flipH="1" rot="10800000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72000">
                <a:srgbClr val="000000">
                  <a:alpha val="20392"/>
                </a:srgbClr>
              </a:gs>
              <a:gs pos="100000">
                <a:srgbClr val="000000">
                  <a:alpha val="20392"/>
                </a:srgbClr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 flipH="1" rot="10800000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93000">
                <a:srgbClr val="000000">
                  <a:alpha val="28235"/>
                </a:srgbClr>
              </a:gs>
              <a:gs pos="100000">
                <a:srgbClr val="000000">
                  <a:alpha val="2823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5967" y="2056308"/>
            <a:ext cx="4170530" cy="2777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Практический сценарий: Определение ключевых бизнес-правил, проблем и предположений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40665" marR="190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Бизнес-правило. Помогает понять бизнес-процессы, а также характер, роль и область применения данных.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665" marR="5080" rtl="0" algn="l">
              <a:lnSpc>
                <a:spcPct val="90000"/>
              </a:lnSpc>
              <a:spcBef>
                <a:spcPts val="810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Предположение. Может быть определено как факт или утверждение, принимаемое без доказательств.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0665" marR="25336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A9B9D"/>
              </a:buClr>
              <a:buSzPts val="2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Проблема. Может быть определена как ситуация или сценарий, который требует внимания и возможного решения, позволяющего упростить ситуацию.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4" name="Google Shape;284;p18"/>
          <p:cNvGraphicFramePr/>
          <p:nvPr/>
        </p:nvGraphicFramePr>
        <p:xfrm>
          <a:off x="180975" y="4848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{77F49CB1-D507-4D54-AD01-0BA75D21BAF4}</a:tableStyleId>
              </a:tblPr>
              <a:tblGrid>
                <a:gridCol w="817900"/>
                <a:gridCol w="3597300"/>
                <a:gridCol w="2475275"/>
                <a:gridCol w="2190200"/>
                <a:gridCol w="1878625"/>
                <a:gridCol w="470700"/>
              </a:tblGrid>
              <a:tr h="1425575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50"/>
                        <a:buFont typeface="Arial"/>
                        <a:buNone/>
                      </a:pPr>
                      <a:r>
                        <a:t/>
                      </a:r>
                      <a:endParaRPr sz="2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212725" marR="539115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Практический сценарий: Определение ключевых бизнес-правил, проблем и предположений</a:t>
                      </a:r>
                      <a:endParaRPr sz="3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/>
                </a:tc>
                <a:tc hMerge="1"/>
                <a:tc hMerge="1"/>
                <a:tc hMerge="1"/>
                <a:tc hMerge="1"/>
                <a:tc hMerge="1"/>
              </a:tr>
              <a:tr h="57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Утверждение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3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Бизнес-правило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3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Предположение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3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Проблема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3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50550">
                <a:tc rowSpan="1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45275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Обеспечить поступление новых книг 21</a:t>
                      </a:r>
                      <a:r>
                        <a:rPr b="1" baseline="30000" lang="en-US" sz="1575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го </a:t>
                      </a: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числа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BD5DD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rowSpan="1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71775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каждого месяца.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vMerge="1"/>
                <a:tc vMerge="1"/>
                <a:tc vMerge="1"/>
                <a:tc vMerge="1"/>
              </a:tr>
              <a:tr h="306700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Библиотекарю сложно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7EBEF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EF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EF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EF"/>
                    </a:solidFill>
                  </a:tcPr>
                </a:tc>
                <a:tc vMerge="1"/>
              </a:tr>
              <a:tr h="243200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определить, какие DVD-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7EBEF"/>
                    </a:solidFill>
                  </a:tcPr>
                </a:tc>
                <a:tc vMerge="1"/>
                <a:tc vMerge="1"/>
                <a:tc vMerge="1"/>
                <a:tc vMerge="1"/>
              </a:tr>
              <a:tr h="243200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диски серьезно просрочены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7EBEF"/>
                    </a:solidFill>
                  </a:tcPr>
                </a:tc>
                <a:tc vMerge="1"/>
                <a:tc vMerge="1"/>
                <a:tc vMerge="1"/>
                <a:tc vMerge="1"/>
              </a:tr>
              <a:tr h="271775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(более чем на две недели).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EF"/>
                    </a:solidFill>
                  </a:tcPr>
                </a:tc>
                <a:tc vMerge="1"/>
                <a:tc vMerge="1"/>
                <a:tc vMerge="1"/>
                <a:tc vMerge="1"/>
              </a:tr>
              <a:tr h="306700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Наша текущая система,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BD5DD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vMerge="1"/>
              </a:tr>
              <a:tr h="243200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вероятно, использует Oracle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BD5DD"/>
                    </a:solidFill>
                  </a:tcPr>
                </a:tc>
                <a:tc vMerge="1"/>
                <a:tc vMerge="1"/>
                <a:tc vMerge="1"/>
                <a:tc vMerge="1"/>
              </a:tr>
              <a:tr h="243200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Database 10</a:t>
                      </a:r>
                      <a:r>
                        <a:rPr b="1" i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 </a:t>
                      </a: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 работает под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BD5DD"/>
                    </a:solidFill>
                  </a:tcPr>
                </a:tc>
                <a:tc vMerge="1"/>
                <a:tc vMerge="1"/>
                <a:tc vMerge="1"/>
                <a:tc vMerge="1"/>
              </a:tr>
              <a:tr h="271775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управлением UNIX.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vMerge="1"/>
                <a:tc vMerge="1"/>
                <a:tc vMerge="1"/>
                <a:tc vMerge="1"/>
              </a:tr>
              <a:tr h="354325">
                <a:tc vMerge="1"/>
                <a:tc gridSpan="4">
                  <a:txBody>
                    <a:bodyPr/>
                    <a:lstStyle/>
                    <a:p>
                      <a:pPr indent="0" lvl="0" marL="5327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F8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Определите, какое из утверждений является бизнес-правилом,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0" marR="0" marL="0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hMerge="1"/>
                <a:tc hMerge="1"/>
                <a:tc vMerge="1"/>
              </a:tr>
              <a:tr h="892175">
                <a:tc vMerge="1"/>
                <a:tc gridSpan="4">
                  <a:txBody>
                    <a:bodyPr/>
                    <a:lstStyle/>
                    <a:p>
                      <a:pPr indent="0" lvl="0" marL="532765" marR="0" rtl="0" algn="l">
                        <a:lnSpc>
                          <a:spcPct val="104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F8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проблемой или предположением.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 hMerge="1"/>
                <a:tc hMerge="1"/>
                <a:tc h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0" name="Google Shape;290;p19"/>
          <p:cNvGraphicFramePr/>
          <p:nvPr/>
        </p:nvGraphicFramePr>
        <p:xfrm>
          <a:off x="557213" y="1920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{77F49CB1-D507-4D54-AD01-0BA75D21BAF4}</a:tableStyleId>
              </a:tblPr>
              <a:tblGrid>
                <a:gridCol w="817900"/>
                <a:gridCol w="3597300"/>
                <a:gridCol w="2475275"/>
                <a:gridCol w="2190200"/>
                <a:gridCol w="1878625"/>
                <a:gridCol w="470700"/>
              </a:tblGrid>
              <a:tr h="1425575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50"/>
                        <a:buFont typeface="Arial"/>
                        <a:buNone/>
                      </a:pPr>
                      <a:r>
                        <a:t/>
                      </a:r>
                      <a:endParaRPr sz="23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212725" marR="539115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ОТВЕТ</a:t>
                      </a:r>
                      <a:endParaRPr sz="3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/>
                </a:tc>
                <a:tc hMerge="1"/>
                <a:tc hMerge="1"/>
                <a:tc hMerge="1"/>
                <a:tc hMerge="1"/>
                <a:tc hMerge="1"/>
              </a:tr>
              <a:tr h="57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Утверждение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3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Бизнес-правило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3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Предположение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3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Проблема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3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50550">
                <a:tc rowSpan="1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45275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Обеспечить поступление новых книг 21</a:t>
                      </a:r>
                      <a:r>
                        <a:rPr b="1" baseline="30000" lang="en-US" sz="1575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го </a:t>
                      </a: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числа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BD5DD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rowSpan="1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71775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каждого месяца.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vMerge="1"/>
                <a:tc vMerge="1"/>
                <a:tc vMerge="1"/>
                <a:tc vMerge="1"/>
              </a:tr>
              <a:tr h="306700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Библиотекарю сложно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7EBEF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EF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EF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EF"/>
                    </a:solidFill>
                  </a:tcPr>
                </a:tc>
                <a:tc vMerge="1"/>
              </a:tr>
              <a:tr h="243200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определить, какие DVD-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7EBEF"/>
                    </a:solidFill>
                  </a:tcPr>
                </a:tc>
                <a:tc vMerge="1"/>
                <a:tc vMerge="1"/>
                <a:tc vMerge="1"/>
                <a:tc vMerge="1"/>
              </a:tr>
              <a:tr h="243200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диски серьезно просрочены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7EBEF"/>
                    </a:solidFill>
                  </a:tcPr>
                </a:tc>
                <a:tc vMerge="1"/>
                <a:tc vMerge="1"/>
                <a:tc vMerge="1"/>
                <a:tc vMerge="1"/>
              </a:tr>
              <a:tr h="271775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(более чем на две недели).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BEF"/>
                    </a:solidFill>
                  </a:tcPr>
                </a:tc>
                <a:tc vMerge="1"/>
                <a:tc vMerge="1"/>
                <a:tc vMerge="1"/>
                <a:tc vMerge="1"/>
              </a:tr>
              <a:tr h="306700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Наша текущая система,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23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BD5DD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vMerge="1"/>
              </a:tr>
              <a:tr h="243200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вероятно, использует Oracle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BD5DD"/>
                    </a:solidFill>
                  </a:tcPr>
                </a:tc>
                <a:tc vMerge="1"/>
                <a:tc vMerge="1"/>
                <a:tc vMerge="1"/>
                <a:tc vMerge="1"/>
              </a:tr>
              <a:tr h="243200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Database 10</a:t>
                      </a:r>
                      <a:r>
                        <a:rPr b="1" i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 </a:t>
                      </a: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 работает под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BD5DD"/>
                    </a:solidFill>
                  </a:tcPr>
                </a:tc>
                <a:tc vMerge="1"/>
                <a:tc vMerge="1"/>
                <a:tc vMerge="1"/>
                <a:tc vMerge="1"/>
              </a:tr>
              <a:tr h="271775">
                <a:tc vMerge="1"/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58595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управлением UNIX.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D5DD"/>
                    </a:solidFill>
                  </a:tcPr>
                </a:tc>
                <a:tc vMerge="1"/>
                <a:tc vMerge="1"/>
                <a:tc vMerge="1"/>
                <a:tc vMerge="1"/>
              </a:tr>
              <a:tr h="354325">
                <a:tc vMerge="1"/>
                <a:tc gridSpan="4">
                  <a:txBody>
                    <a:bodyPr/>
                    <a:lstStyle/>
                    <a:p>
                      <a:pPr indent="0" lvl="0" marL="5327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F8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Определите, какое из утверждений является бизнес-правилом,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0" marR="0" marL="0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hMerge="1"/>
                <a:tc hMerge="1"/>
                <a:tc vMerge="1"/>
              </a:tr>
              <a:tr h="892175">
                <a:tc vMerge="1"/>
                <a:tc gridSpan="4">
                  <a:txBody>
                    <a:bodyPr/>
                    <a:lstStyle/>
                    <a:p>
                      <a:pPr indent="0" lvl="0" marL="532765" marR="0" rtl="0" algn="l">
                        <a:lnSpc>
                          <a:spcPct val="104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F8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проблемой или предположением.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/>
                </a:tc>
                <a:tc hMerge="1"/>
                <a:tc hMerge="1"/>
                <a:tc h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>
                <a:solidFill>
                  <a:srgbClr val="FFFFFF"/>
                </a:solidFill>
              </a:rPr>
              <a:t>Задание 1:  проанализировать практический сценарий и определить бизнес-правила</a:t>
            </a:r>
            <a:endParaRPr/>
          </a:p>
        </p:txBody>
      </p:sp>
      <p:sp>
        <p:nvSpPr>
          <p:cNvPr id="302" name="Google Shape;302;p20"/>
          <p:cNvSpPr txBox="1"/>
          <p:nvPr>
            <p:ph idx="1" type="body"/>
          </p:nvPr>
        </p:nvSpPr>
        <p:spPr>
          <a:xfrm>
            <a:off x="667061" y="1885279"/>
            <a:ext cx="11280100" cy="4200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/>
              <a:t>LibBook — успешная цифровая библиотека, предоставляющая услугу проката CD-дисков и доступ к хранилищу статей и журналов через Интернет. В связи с расширением бизнеса библиотеке LibBook потребовалось улучшить имеющуюся информационную систему и обеспечить поддержку организационных изменений. LibBook пользуется популярностью, и число клиентов быстро растет. Однако клиентская база нестабильна, и это вызывает затруднения. Основная идея — ввести концепцию подписки в системе LibBook. Подписчики платят вступительный взнос. На первоначальном этапе планируется ввести три типа подписки (корпоративную, учебную и индивидуальную), но в будущем могут появиться и другие типы. Подписка для учащихся бесплатна. Представители организаций и преподаватели образовательных учреждений платят за подписку, но получают определенные привилегии. Изменить тип подписки можно только при наличии достаточных оснований</a:t>
            </a:r>
            <a:endParaRPr sz="3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>
                <a:solidFill>
                  <a:srgbClr val="FFFFFF"/>
                </a:solidFill>
              </a:rPr>
              <a:t>Задание 2:  проанализировать практический сценарий и определить бизнес-правила</a:t>
            </a:r>
            <a:endParaRPr/>
          </a:p>
        </p:txBody>
      </p:sp>
      <p:sp>
        <p:nvSpPr>
          <p:cNvPr id="313" name="Google Shape;313;p21"/>
          <p:cNvSpPr txBox="1"/>
          <p:nvPr>
            <p:ph idx="1" type="body"/>
          </p:nvPr>
        </p:nvSpPr>
        <p:spPr>
          <a:xfrm>
            <a:off x="1371599" y="1891970"/>
            <a:ext cx="9724031" cy="4109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Больница Star Care — многопрофильное медицинское учреждение, обслуживающее различные категории пациентов. Каждому врачу, зарегистрированному в этой больнице, присваивается уникальный идентификатор, начинающийся с DC. Согласно требованиям больницы, все работающие в ней врачи должны иметь опыт не менее семи лет. Каждый пациент обязан пройти регистрацию при первом посещении больницы. Когда пациент поступает в больницу, ему присваивается уникальный номер, начинающийся с PT.</a:t>
            </a:r>
            <a:endParaRPr sz="3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1F3864">
                  <a:alpha val="67450"/>
                </a:srgbClr>
              </a:gs>
              <a:gs pos="19000">
                <a:srgbClr val="1F3864">
                  <a:alpha val="67450"/>
                </a:srgbClr>
              </a:gs>
              <a:gs pos="100000">
                <a:srgbClr val="4472C4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3000">
                <a:srgbClr val="4472C4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Системный анализ предметной области</a:t>
            </a:r>
            <a:endParaRPr/>
          </a:p>
        </p:txBody>
      </p:sp>
      <p:grpSp>
        <p:nvGrpSpPr>
          <p:cNvPr id="324" name="Google Shape;324;p22"/>
          <p:cNvGrpSpPr/>
          <p:nvPr/>
        </p:nvGrpSpPr>
        <p:grpSpPr>
          <a:xfrm>
            <a:off x="645389" y="2995074"/>
            <a:ext cx="10925161" cy="2427813"/>
            <a:chOff x="1333" y="882495"/>
            <a:chExt cx="10925161" cy="2427813"/>
          </a:xfrm>
        </p:grpSpPr>
        <p:sp>
          <p:nvSpPr>
            <p:cNvPr id="325" name="Google Shape;325;p22"/>
            <p:cNvSpPr/>
            <p:nvPr/>
          </p:nvSpPr>
          <p:spPr>
            <a:xfrm>
              <a:off x="1333" y="882495"/>
              <a:ext cx="4855627" cy="2427813"/>
            </a:xfrm>
            <a:prstGeom prst="roundRect">
              <a:avLst>
                <a:gd fmla="val 10000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2"/>
            <p:cNvSpPr txBox="1"/>
            <p:nvPr/>
          </p:nvSpPr>
          <p:spPr>
            <a:xfrm>
              <a:off x="72441" y="953603"/>
              <a:ext cx="4713411" cy="2285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675" lIns="89525" spcFirstLastPara="1" rIns="89525" wrap="square" tIns="5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700"/>
                <a:buFont typeface="Calibri"/>
                <a:buNone/>
              </a:pPr>
              <a:r>
                <a:rPr b="0" i="0" lang="en-US" sz="4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Функциональный подход;</a:t>
              </a:r>
              <a:endParaRPr b="0" i="0" sz="4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6070867" y="882495"/>
              <a:ext cx="4855627" cy="2427813"/>
            </a:xfrm>
            <a:prstGeom prst="roundRect">
              <a:avLst>
                <a:gd fmla="val 10000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2"/>
            <p:cNvSpPr txBox="1"/>
            <p:nvPr/>
          </p:nvSpPr>
          <p:spPr>
            <a:xfrm>
              <a:off x="6141975" y="953603"/>
              <a:ext cx="4713411" cy="2285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9675" lIns="89525" spcFirstLastPara="1" rIns="89525" wrap="square" tIns="5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700"/>
                <a:buFont typeface="Calibri"/>
                <a:buNone/>
              </a:pPr>
              <a:r>
                <a:rPr b="0" i="0" lang="en-US" sz="4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Предметный подход. </a:t>
              </a:r>
              <a:endParaRPr b="0" i="0" sz="4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Calibri"/>
              <a:buNone/>
            </a:pPr>
            <a:r>
              <a:rPr lang="en-US" sz="3700">
                <a:solidFill>
                  <a:srgbClr val="FFFFFF"/>
                </a:solidFill>
              </a:rPr>
              <a:t>Описание и требования к проектированию БД</a:t>
            </a:r>
            <a:endParaRPr/>
          </a:p>
        </p:txBody>
      </p:sp>
      <p:sp>
        <p:nvSpPr>
          <p:cNvPr id="340" name="Google Shape;340;p23"/>
          <p:cNvSpPr txBox="1"/>
          <p:nvPr>
            <p:ph idx="1" type="body"/>
          </p:nvPr>
        </p:nvSpPr>
        <p:spPr>
          <a:xfrm>
            <a:off x="1233982" y="1885279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Краткое описание предметной области;</a:t>
            </a:r>
            <a:endParaRPr sz="3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Семантическое описание:</a:t>
            </a:r>
            <a:endParaRPr sz="36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/>
              <a:t>полное описание бизнес-логики(состоящие из бизнес-правил, требований);</a:t>
            </a:r>
            <a:endParaRPr sz="3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/>
              <a:t>Ограничения;</a:t>
            </a:r>
            <a:endParaRPr sz="3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800"/>
              <a:t>Выделение пользователей и их действий.</a:t>
            </a:r>
            <a:endParaRPr sz="3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4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Семантический анализ предметной области </a:t>
            </a:r>
            <a:endParaRPr/>
          </a:p>
        </p:txBody>
      </p:sp>
      <p:sp>
        <p:nvSpPr>
          <p:cNvPr id="351" name="Google Shape;351;p24"/>
          <p:cNvSpPr txBox="1"/>
          <p:nvPr>
            <p:ph idx="1" type="body"/>
          </p:nvPr>
        </p:nvSpPr>
        <p:spPr>
          <a:xfrm>
            <a:off x="128016" y="1590742"/>
            <a:ext cx="12063980" cy="497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Семантический анализ предметной области включает в себя понимание и выделение основных сущностей, атрибутов, связей и правил, характерных для данной предметной области. Вот несколько вариантов, как можно провести семантический анализ предметной области: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1. Текстовый анализ:</a:t>
            </a:r>
            <a:br>
              <a:rPr lang="en-US"/>
            </a:br>
            <a:r>
              <a:rPr lang="en-US"/>
              <a:t>   - Проведение анализа текстов, документов или диалогов, связанных с предметной областью. Выделение ключевых слов, фраз и концепций, которые могут быть связаны с сущностями и атрибутами в предметной области.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2. Интервьюирование экспертов:</a:t>
            </a:r>
            <a:br>
              <a:rPr lang="en-US"/>
            </a:br>
            <a:r>
              <a:rPr lang="en-US"/>
              <a:t>   - Проведение интервью с экспертами, знакомыми с предметной областью, чтобы получить их знания и опыт. Это может включать задавание конкретных вопросов о существующих сущностях, связях, атрибутах и правилах в предметной области.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3. Анализ существующих систем или баз данных:</a:t>
            </a:r>
            <a:br>
              <a:rPr lang="en-US"/>
            </a:br>
            <a:r>
              <a:rPr lang="en-US"/>
              <a:t>   - Изучение существующих систем или баз данных, которые уже используются в предметной области. Это позволит обнаружить сущности, атрибуты, связи и правила, которые они используют для управления данными.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5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5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5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Семантический анализ предметной области </a:t>
            </a:r>
            <a:endParaRPr/>
          </a:p>
        </p:txBody>
      </p:sp>
      <p:sp>
        <p:nvSpPr>
          <p:cNvPr id="362" name="Google Shape;362;p25"/>
          <p:cNvSpPr txBox="1"/>
          <p:nvPr>
            <p:ph idx="1" type="body"/>
          </p:nvPr>
        </p:nvSpPr>
        <p:spPr>
          <a:xfrm>
            <a:off x="310896" y="1622746"/>
            <a:ext cx="11265407" cy="5235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4. Содержательный анализ документации:</a:t>
            </a:r>
            <a:br>
              <a:rPr lang="en-US"/>
            </a:br>
            <a:r>
              <a:rPr lang="en-US"/>
              <a:t>   - Анализ различных документов, таких как руководства, политики, спецификации или правила, связанные с предметной областью. Это позволит обнаружить сущности, атрибуты и связи, описанные в этих документах.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5. Визуальное моделирование:</a:t>
            </a:r>
            <a:br>
              <a:rPr lang="en-US"/>
            </a:br>
            <a:r>
              <a:rPr lang="en-US"/>
              <a:t>   - Создание диаграмм, таких как диаграммы сущность-связь (ER-диаграммы) или диаграммы классов, для визуализации сущностей, атрибутов и связей в предметной области. Это поможет лучше понять структуру и взаимосвязи между различными элементами.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6. Анализ запросов и требований пользователей:</a:t>
            </a:r>
            <a:br>
              <a:rPr lang="en-US"/>
            </a:br>
            <a:r>
              <a:rPr lang="en-US"/>
              <a:t>   - Изучение запросов и требований, выраженных пользователями в предметной области. Это может помочь выделить ключевые сущности, атрибуты и связи, которые пользователи ожидают от базы данных.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Комбинация этих методов позволит получить полное представление о предметной области и провести семантический анализ, чтобы определить основные элементы и правила, которые должны быть учтены при проектировании системы базы данных.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4"/>
          <p:cNvSpPr txBox="1"/>
          <p:nvPr>
            <p:ph type="title"/>
          </p:nvPr>
        </p:nvSpPr>
        <p:spPr>
          <a:xfrm>
            <a:off x="0" y="-204502"/>
            <a:ext cx="10515600" cy="849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4000"/>
              <a:t>Сущности, атрибуты, связи</a:t>
            </a:r>
            <a:endParaRPr/>
          </a:p>
        </p:txBody>
      </p:sp>
      <p:sp>
        <p:nvSpPr>
          <p:cNvPr id="368" name="Google Shape;368;p44"/>
          <p:cNvSpPr/>
          <p:nvPr/>
        </p:nvSpPr>
        <p:spPr>
          <a:xfrm>
            <a:off x="0" y="363915"/>
            <a:ext cx="11857219" cy="6494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Сущности, атрибуты и связи являются фундаментальными концепциями при моделировании данных в информационных системах, которые непосредственно связаны с бизнес-требованиями и бизнес-правилами.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600" u="sng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Сущности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Сущность представляет собой объект или явление реального мира, которое необходимо учитывать в информационной системе. Примерами сущностей могут быть клиенты, товары, заказы, сотрудники и т.д. Определение правильных сущностей является ключевым шагом в разработке эффективной модели данных.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600" u="sng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Атрибуты</a:t>
            </a:r>
            <a:br>
              <a:rPr b="1" i="0" lang="en-US" sz="1600" u="sng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Атрибуты - это характеристики или свойства сущностей, которые необходимо учитывать. Например, для сущности "Клиент" атрибутами могут быть имя, адрес, номер телефона и т.д. Правильный выбор атрибутов гарантирует, что в системе будет храниться вся необходимая информация.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600" u="sng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Связи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Связи определяют логические отношения между сущностями. Например, сущность "Заказ" может быть связана с сущностью "Клиент" отношением "Сделан". Понимание и моделирование связей имеет решающее значение для обеспечения целостности данных и реализации бизнес-логики.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1" i="0" lang="en-US" sz="1600" u="sng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600" u="sng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Интеграция с бизнес-требованиями и бизнес-правилами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Сущности, атрибуты и связи должны быть напрямую связаны с бизнес-требованиями и бизнес-правилами. Эта интеграция обеспечивает, чтобы информационная система отражала реальные потребности бизнеса и могла эффективно поддерживать его процессы.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6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Определение сущности, атрибута и связи</a:t>
            </a:r>
            <a:endParaRPr/>
          </a:p>
        </p:txBody>
      </p:sp>
      <p:sp>
        <p:nvSpPr>
          <p:cNvPr id="379" name="Google Shape;379;p26"/>
          <p:cNvSpPr txBox="1"/>
          <p:nvPr>
            <p:ph idx="1" type="body"/>
          </p:nvPr>
        </p:nvSpPr>
        <p:spPr>
          <a:xfrm>
            <a:off x="310896" y="1622746"/>
            <a:ext cx="11265407" cy="5235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В контексте баз данных и семантического анализа, сущности, атрибуты и связи являются основными понятиями для моделирования реального мира. Вот их определения: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 Сущность: представляет конкретный или абстрактный объект или концепцию, о которой должна храниться информация в базе данных. Например, в системе управления студентами, сущностью может быть "Студент", которая имеет свои атрибуты, такие как имя, фамилия, номер студенческого билета.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 Атрибут: представляет характеристику или свойство сущности. Он описывает информацию, которая связана с данной сущностью. Например, атрибутами студента могут быть его возраст, пол, адрес и т.д.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 Связь: представляет отношение или связь между двумя или более сущностями. Она описывает, как одна сущность связана или взаимодействует с другой сущностью. Например, между сущностями "Студент" и "Курс" может существовать связь "Берет участие в", которая указывает, что студенты могут участвовать в различных курсах.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7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7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7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7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Пример семантического анализа предметной области «Библиотека»</a:t>
            </a:r>
            <a:endParaRPr/>
          </a:p>
        </p:txBody>
      </p:sp>
      <p:sp>
        <p:nvSpPr>
          <p:cNvPr id="390" name="Google Shape;390;p27"/>
          <p:cNvSpPr txBox="1"/>
          <p:nvPr>
            <p:ph idx="1" type="body"/>
          </p:nvPr>
        </p:nvSpPr>
        <p:spPr>
          <a:xfrm>
            <a:off x="310896" y="1622746"/>
            <a:ext cx="11265407" cy="5235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Пример семантического анализа в области "Библиотека":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 Сущности:</a:t>
            </a:r>
            <a:br>
              <a:rPr lang="en-US"/>
            </a:br>
            <a:r>
              <a:rPr lang="en-US"/>
              <a:t>   1. Книга: с атрибутами "название", "автор", "год издания" и т.д.</a:t>
            </a:r>
            <a:br>
              <a:rPr lang="en-US"/>
            </a:br>
            <a:r>
              <a:rPr lang="en-US"/>
              <a:t>   2. Пользователь: с атрибутами "имя", "фамилия", "адрес" и т.д.</a:t>
            </a:r>
            <a:br>
              <a:rPr lang="en-US"/>
            </a:br>
            <a:r>
              <a:rPr lang="en-US"/>
              <a:t>   3. Библиотекарь: с атрибутами "имя", "фамилия", "стаж работы" и т.д.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- Связи:</a:t>
            </a:r>
            <a:br>
              <a:rPr lang="en-US"/>
            </a:br>
            <a:r>
              <a:rPr lang="en-US"/>
              <a:t>   1. Выдача: связь между сущностями "Книга" и "Пользователь", указывающая, что пользователь может взять книгу в библиотеке.</a:t>
            </a:r>
            <a:br>
              <a:rPr lang="en-US"/>
            </a:br>
            <a:r>
              <a:rPr lang="en-US"/>
              <a:t>   2. Учет: связь между сущностями "Книга" и "Библиотекарь", указывающая, какой библиотекарь отвечает за учет каждой книги.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В процессе семантического анализа можно определить дополнительные сущности, атрибуты и связи в зависимости от конкретных требований и особенностей предметной области "Библиотека". Это поможет лучше представить структуру данных и правила, которые должны быть учтены при проектировании системы управления библиотекой.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5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5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5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5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5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n-US" sz="4000">
                <a:solidFill>
                  <a:srgbClr val="FFFFFF"/>
                </a:solidFill>
              </a:rPr>
              <a:t>Задание по определению сущностей, атрибутов и связей в предметной области "Ресторан"</a:t>
            </a:r>
            <a:endParaRPr/>
          </a:p>
        </p:txBody>
      </p:sp>
      <p:sp>
        <p:nvSpPr>
          <p:cNvPr id="401" name="Google Shape;401;p45"/>
          <p:cNvSpPr txBox="1"/>
          <p:nvPr>
            <p:ph idx="1" type="body"/>
          </p:nvPr>
        </p:nvSpPr>
        <p:spPr>
          <a:xfrm>
            <a:off x="310896" y="1622746"/>
            <a:ext cx="11265407" cy="5235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1600"/>
              <a:t>Цель:</a:t>
            </a:r>
            <a:br>
              <a:rPr lang="en-US" sz="1600"/>
            </a:br>
            <a:r>
              <a:rPr lang="en-US" sz="1600"/>
              <a:t>Провести семантический анализ предметной области "Ресторан" и определить ключевые сущности, их атрибуты, а также связи между ними.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Описание:</a:t>
            </a:r>
            <a:br>
              <a:rPr lang="en-US" sz="1600"/>
            </a:br>
            <a:r>
              <a:rPr lang="en-US" sz="1600"/>
              <a:t>Ресторан - это заведение общественного питания, которое предоставляет услуги по приготовлению и подаче пищи, а также обслуживанию посетителей. Ресторан включает в себя различные функциональные зоны и бизнес-процессы, обеспечивающие качественное обслуживание гостей.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Задание:</a:t>
            </a:r>
            <a:br>
              <a:rPr lang="en-US" sz="1600"/>
            </a:br>
            <a:r>
              <a:rPr lang="en-US" sz="1600"/>
              <a:t>1. Определите основные сущности в предметной области "Ресторан". Примеры сущностей: Блюдо, Клиент, Официант, Заказ, Поставщик и т.д.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2. Для каждой сущности определите ключевые атрибуты. Например, для сущности "Блюдо" можно выделить атрибуты: название, состав, цена, время приготовления, категория (основное, десерт и т.д.).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3. Определите связи между выявленными сущностями. Например, связь "Клиент - Заказ" может обозначать, что клиент формирует заказ на определенные блюда.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4. Опишите, как выявленные сущности, атрибуты и связи отражают функционирование ресторана и поддерживают его бизнес-процессы.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5. Предложите дополнительные сущности, атрибуты и связи, которые могут быть полезны для более полного описания предметной области "Ресторан".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Результат:</a:t>
            </a:r>
            <a:br>
              <a:rPr lang="en-US" sz="1600"/>
            </a:br>
            <a:r>
              <a:rPr lang="en-US" sz="1600"/>
              <a:t>Представьте результаты семантического анализа в виде списка сущностей, их атрибутов, а также описания ключевых связей между ними. Сопроводите это кратким пояснением того, как данная модель данных отражает функционирование ресторана.</a:t>
            </a:r>
            <a:endParaRPr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6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6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6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6"/>
          <p:cNvSpPr txBox="1"/>
          <p:nvPr>
            <p:ph type="title"/>
          </p:nvPr>
        </p:nvSpPr>
        <p:spPr>
          <a:xfrm>
            <a:off x="310897" y="294538"/>
            <a:ext cx="10956654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n-US" sz="4000">
                <a:solidFill>
                  <a:srgbClr val="FFFFFF"/>
                </a:solidFill>
              </a:rPr>
              <a:t>Задание по определению сущностей, атрибутов и связей в предметной области "Медицинская клиника"</a:t>
            </a:r>
            <a:endParaRPr/>
          </a:p>
        </p:txBody>
      </p:sp>
      <p:sp>
        <p:nvSpPr>
          <p:cNvPr id="412" name="Google Shape;412;p46"/>
          <p:cNvSpPr txBox="1"/>
          <p:nvPr>
            <p:ph idx="1" type="body"/>
          </p:nvPr>
        </p:nvSpPr>
        <p:spPr>
          <a:xfrm>
            <a:off x="310896" y="1622746"/>
            <a:ext cx="11265407" cy="5235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75000"/>
              <a:buNone/>
            </a:pPr>
            <a:r>
              <a:rPr lang="en-US"/>
              <a:t>Цель:</a:t>
            </a:r>
            <a:br>
              <a:rPr lang="en-US" sz="1600"/>
            </a:br>
            <a:r>
              <a:rPr lang="en-US"/>
              <a:t>Провести семантический анализ предметной области "Медицинская клиника" и определить ключевые сущности, их атрибуты, а также связи между ними.</a:t>
            </a:r>
            <a:br>
              <a:rPr lang="en-US" sz="1600"/>
            </a:br>
            <a:br>
              <a:rPr lang="en-US" sz="1600"/>
            </a:br>
            <a:r>
              <a:rPr lang="en-US"/>
              <a:t>Описание:</a:t>
            </a:r>
            <a:br>
              <a:rPr lang="en-US" sz="1600"/>
            </a:br>
            <a:r>
              <a:rPr lang="en-US"/>
              <a:t>Медицинская клиника - это учреждение, оказывающее широкий спектр медицинских услуг для пациентов. Клиника включает в себя различные подразделения, специалистов и бизнес-процессы, направленные на предоставление качественной и эффективной медицинской помощи.</a:t>
            </a:r>
            <a:br>
              <a:rPr lang="en-US" sz="1600"/>
            </a:br>
            <a:br>
              <a:rPr lang="en-US" sz="1600"/>
            </a:br>
            <a:r>
              <a:rPr lang="en-US"/>
              <a:t>Задание:</a:t>
            </a:r>
            <a:br>
              <a:rPr lang="en-US" sz="1600"/>
            </a:br>
            <a:r>
              <a:rPr lang="en-US"/>
              <a:t>1. Определите основные сущности в предметной области "Медицинская клиника". Примеры сущностей: Пациент, Врач, Медицинская карта, Назначение, Процедура, Диагноз и т.д.</a:t>
            </a:r>
            <a:br>
              <a:rPr lang="en-US" sz="1600"/>
            </a:br>
            <a:br>
              <a:rPr lang="en-US" sz="1600"/>
            </a:br>
            <a:r>
              <a:rPr lang="en-US"/>
              <a:t>2. Для каждой сущности определите ключевые атрибуты. Например, для сущности "Пациент" можно выделить атрибуты: ФИО, дата рождения, пол, контактные данные, страховой номер и т.д.</a:t>
            </a:r>
            <a:br>
              <a:rPr lang="en-US" sz="1600"/>
            </a:br>
            <a:br>
              <a:rPr lang="en-US" sz="1600"/>
            </a:br>
            <a:r>
              <a:rPr lang="en-US"/>
              <a:t>3. Определите связи между выявленными сущностями. Например, связь "Пациент - Медицинская карта" может обозначать, что каждому пациенту соответствует его медицинская карта.</a:t>
            </a:r>
            <a:br>
              <a:rPr lang="en-US" sz="1600"/>
            </a:br>
            <a:br>
              <a:rPr lang="en-US" sz="1600"/>
            </a:br>
            <a:r>
              <a:rPr lang="en-US"/>
              <a:t>4. Опишите, как выявленные сущности, атрибуты и связи отражают функционирование медицинской клиники и поддерживают ее основные бизнес-процессы.</a:t>
            </a:r>
            <a:br>
              <a:rPr lang="en-US" sz="1600"/>
            </a:br>
            <a:br>
              <a:rPr lang="en-US" sz="1600"/>
            </a:br>
            <a:r>
              <a:rPr lang="en-US"/>
              <a:t>5. Предложите дополнительные сущности, атрибуты и связи, которые могут быть полезны для более полного описания предметной области "Медицинская клиника".</a:t>
            </a:r>
            <a:br>
              <a:rPr lang="en-US" sz="1600"/>
            </a:br>
            <a:br>
              <a:rPr lang="en-US" sz="1600"/>
            </a:br>
            <a:r>
              <a:rPr lang="en-US"/>
              <a:t>Результат:</a:t>
            </a:r>
            <a:br>
              <a:rPr lang="en-US" sz="1600"/>
            </a:br>
            <a:r>
              <a:rPr lang="en-US"/>
              <a:t>Представьте результаты семантического анализа в виде списка сущностей, их атрибутов, а также описания ключевых связей между ними. Сопроводите это кратким пояснением того, как данная модель данных отражает функционирование медицинской клиники.</a:t>
            </a:r>
            <a:endParaRPr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7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7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7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7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7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n-US" sz="4000">
                <a:solidFill>
                  <a:srgbClr val="FFFFFF"/>
                </a:solidFill>
              </a:rPr>
              <a:t>Задание по определению сущностей, атрибутов и связей в предметной области "Интернет-магазин"</a:t>
            </a:r>
            <a:endParaRPr/>
          </a:p>
        </p:txBody>
      </p:sp>
      <p:sp>
        <p:nvSpPr>
          <p:cNvPr id="423" name="Google Shape;423;p47"/>
          <p:cNvSpPr txBox="1"/>
          <p:nvPr>
            <p:ph idx="1" type="body"/>
          </p:nvPr>
        </p:nvSpPr>
        <p:spPr>
          <a:xfrm>
            <a:off x="310896" y="1622746"/>
            <a:ext cx="11265407" cy="5235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75000"/>
              <a:buNone/>
            </a:pPr>
            <a:r>
              <a:rPr lang="en-US"/>
              <a:t>Цель:</a:t>
            </a:r>
            <a:br>
              <a:rPr lang="en-US" sz="1600"/>
            </a:br>
            <a:r>
              <a:rPr lang="en-US"/>
              <a:t>Провести семантический анализ предметной области "Интернет-магазин" и определить ключевые сущности, их атрибуты, а также связи между ними.</a:t>
            </a:r>
            <a:br>
              <a:rPr lang="en-US" sz="1600"/>
            </a:br>
            <a:br>
              <a:rPr lang="en-US" sz="1600"/>
            </a:br>
            <a:r>
              <a:rPr lang="en-US"/>
              <a:t>Описание:</a:t>
            </a:r>
            <a:br>
              <a:rPr lang="en-US" sz="1600"/>
            </a:br>
            <a:r>
              <a:rPr lang="en-US"/>
              <a:t>Интернет-магазин - это онлайн-площадка, позволяющая покупателям приобретать товары и услуги дистанционно, используя сеть Интернет. Интернет-магазин обеспечивает полный цикл взаимодействия с клиентами: от выбора товара до его оплаты и доставки.</a:t>
            </a:r>
            <a:br>
              <a:rPr lang="en-US" sz="1600"/>
            </a:br>
            <a:br>
              <a:rPr lang="en-US" sz="1600"/>
            </a:br>
            <a:r>
              <a:rPr lang="en-US"/>
              <a:t>Задание:</a:t>
            </a:r>
            <a:br>
              <a:rPr lang="en-US" sz="1600"/>
            </a:br>
            <a:r>
              <a:rPr lang="en-US"/>
              <a:t>1. Определите основные сущности в предметной области "Интернет-магазин". Примеры сущностей: Товар, Покупатель, Заказ, Корзина, Доставка и т.д.</a:t>
            </a:r>
            <a:br>
              <a:rPr lang="en-US" sz="1600"/>
            </a:br>
            <a:br>
              <a:rPr lang="en-US" sz="1600"/>
            </a:br>
            <a:r>
              <a:rPr lang="en-US"/>
              <a:t>2. Для каждой сущности определите ключевые атрибуты. Например, для сущности "Товар" можно выделить атрибуты: название, описание, категория, цена, наличие на складе, рейтинг и т.д.</a:t>
            </a:r>
            <a:br>
              <a:rPr lang="en-US" sz="1600"/>
            </a:br>
            <a:br>
              <a:rPr lang="en-US" sz="1600"/>
            </a:br>
            <a:r>
              <a:rPr lang="en-US"/>
              <a:t>3. Определите связи между выявленными сущностями. Например, связь "Покупатель - Заказ" может обозначать, что покупатель формирует заказ на определенные товары.</a:t>
            </a:r>
            <a:br>
              <a:rPr lang="en-US" sz="1600"/>
            </a:br>
            <a:br>
              <a:rPr lang="en-US" sz="1600"/>
            </a:br>
            <a:r>
              <a:rPr lang="en-US"/>
              <a:t>4. Опишите, как выявленные сущности, атрибуты и связи отражают функционирование интернет-магазина и поддерживают его бизнес-процессы.</a:t>
            </a:r>
            <a:br>
              <a:rPr lang="en-US" sz="1600"/>
            </a:br>
            <a:br>
              <a:rPr lang="en-US" sz="1600"/>
            </a:br>
            <a:r>
              <a:rPr lang="en-US"/>
              <a:t>5. Предложите дополнительные сущности, атрибуты и связи, которые могут быть полезны для более полного описания предметной области "Интернет-магазин".</a:t>
            </a:r>
            <a:br>
              <a:rPr lang="en-US" sz="1600"/>
            </a:br>
            <a:br>
              <a:rPr lang="en-US" sz="1600"/>
            </a:br>
            <a:r>
              <a:rPr lang="en-US"/>
              <a:t>Результат:</a:t>
            </a:r>
            <a:br>
              <a:rPr lang="en-US" sz="1600"/>
            </a:br>
            <a:r>
              <a:rPr lang="en-US"/>
              <a:t>Представьте результаты семантического анализа в виде списка сущностей, их атрибутов, а также описания ключевых связей между ними. Сопроводите это кратким пояснением того, как данная модель данных отражает функционирование интернет-магазина.</a:t>
            </a:r>
            <a:endParaRPr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8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8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8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8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8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n-US" sz="4000">
                <a:solidFill>
                  <a:srgbClr val="FFFFFF"/>
                </a:solidFill>
              </a:rPr>
              <a:t>Задание по определению сущностей, атрибутов и связей в предметной области "Фитнес-клуб"</a:t>
            </a:r>
            <a:endParaRPr/>
          </a:p>
        </p:txBody>
      </p:sp>
      <p:sp>
        <p:nvSpPr>
          <p:cNvPr id="434" name="Google Shape;434;p48"/>
          <p:cNvSpPr txBox="1"/>
          <p:nvPr>
            <p:ph idx="1" type="body"/>
          </p:nvPr>
        </p:nvSpPr>
        <p:spPr>
          <a:xfrm>
            <a:off x="310896" y="1622746"/>
            <a:ext cx="11265407" cy="5235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75000"/>
              <a:buNone/>
            </a:pPr>
            <a:r>
              <a:rPr lang="en-US"/>
              <a:t>Цель:</a:t>
            </a:r>
            <a:br>
              <a:rPr lang="en-US"/>
            </a:br>
            <a:r>
              <a:rPr lang="en-US"/>
              <a:t>Провести семантический анализ предметной области "Фитнес-клуб" и определить ключевые сущности, их атрибуты, а также связи между ними.</a:t>
            </a:r>
            <a:br>
              <a:rPr lang="en-US"/>
            </a:br>
            <a:br>
              <a:rPr lang="en-US"/>
            </a:br>
            <a:r>
              <a:rPr lang="en-US"/>
              <a:t>Описание:</a:t>
            </a:r>
            <a:br>
              <a:rPr lang="en-US"/>
            </a:br>
            <a:r>
              <a:rPr lang="en-US"/>
              <a:t>Фитнес-клуб - это спортивное учреждение, предоставляющее широкий спектр услуг, связанных с физической активностью, оздоровлением и поддержанием здорового образа жизни. Фитнес-клуб включает в себя различные тренажерные залы, спортивные секции, а также персонал, обеспечивающий тренировки и консультации.</a:t>
            </a:r>
            <a:br>
              <a:rPr lang="en-US"/>
            </a:br>
            <a:br>
              <a:rPr lang="en-US"/>
            </a:br>
            <a:r>
              <a:rPr lang="en-US"/>
              <a:t>Задание:</a:t>
            </a:r>
            <a:br>
              <a:rPr lang="en-US"/>
            </a:br>
            <a:r>
              <a:rPr lang="en-US"/>
              <a:t>1. Определите основные сущности в предметной области "Фитнес-клуб". Примеры сущностей: Клиент, Тренер, Абонемент, Тренировка, Спортивный зал и т.д.</a:t>
            </a:r>
            <a:br>
              <a:rPr lang="en-US"/>
            </a:br>
            <a:br>
              <a:rPr lang="en-US"/>
            </a:br>
            <a:r>
              <a:rPr lang="en-US"/>
              <a:t>2. Для каждой сущности определите ключевые атрибуты. Например, для сущности "Клиент" можно выделить атрибуты: ФИО, дата рождения, пол, контактные данные, цель посещения и т.д.</a:t>
            </a:r>
            <a:br>
              <a:rPr lang="en-US"/>
            </a:br>
            <a:br>
              <a:rPr lang="en-US"/>
            </a:br>
            <a:r>
              <a:rPr lang="en-US"/>
              <a:t>3. Определите связи между выявленными сущностями. Например, связь "Клиент - Абонемент" может обозначать, что клиент приобретает абонемент на посещение фитнес-клуба.</a:t>
            </a:r>
            <a:br>
              <a:rPr lang="en-US"/>
            </a:br>
            <a:br>
              <a:rPr lang="en-US"/>
            </a:br>
            <a:r>
              <a:rPr lang="en-US"/>
              <a:t>4. Опишите, как выявленные сущности, атрибуты и связи отражают функционирование фитнес-клуба и поддерживают его бизнес-процессы.</a:t>
            </a:r>
            <a:br>
              <a:rPr lang="en-US"/>
            </a:br>
            <a:br>
              <a:rPr lang="en-US"/>
            </a:br>
            <a:r>
              <a:rPr lang="en-US"/>
              <a:t>5. Предложите дополнительные сущности, атрибуты и связи, которые могут быть полезны для более полного описания предметной области "Фитнес-клуб".</a:t>
            </a:r>
            <a:br>
              <a:rPr lang="en-US"/>
            </a:br>
            <a:br>
              <a:rPr lang="en-US"/>
            </a:br>
            <a:r>
              <a:rPr lang="en-US"/>
              <a:t>Результат:</a:t>
            </a:r>
            <a:br>
              <a:rPr lang="en-US"/>
            </a:br>
            <a:r>
              <a:rPr lang="en-US"/>
              <a:t>Представьте результаты семантического анализа в виде списка сущностей, их атрибутов, а также описания ключевых связей между ними. Сопроводите это кратким пояснением того, как данная модель данных отражает функционирование фитнес-клуба.</a:t>
            </a:r>
            <a:br>
              <a:rPr lang="en-US"/>
            </a:br>
            <a:endParaRPr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8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8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8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372"/>
                </a:srgbClr>
              </a:gs>
              <a:gs pos="100000">
                <a:srgbClr val="1F3864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8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Домашнее задание</a:t>
            </a:r>
            <a:endParaRPr/>
          </a:p>
        </p:txBody>
      </p:sp>
      <p:sp>
        <p:nvSpPr>
          <p:cNvPr id="445" name="Google Shape;445;p28"/>
          <p:cNvSpPr txBox="1"/>
          <p:nvPr>
            <p:ph idx="1" type="body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Согласно варианту сделать семантический анализ предметной области (срок выполнения 14 дней с момента получения задания).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2022-09-06T11:55:13Z</dcterms:created>
  <dc:creator>Анастасия Свирина</dc:creator>
</cp:coreProperties>
</file>