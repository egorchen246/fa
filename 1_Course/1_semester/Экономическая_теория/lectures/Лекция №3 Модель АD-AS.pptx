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57" r:id="rId3"/>
    <p:sldId id="258" r:id="rId4"/>
    <p:sldId id="259" r:id="rId5"/>
    <p:sldId id="261" r:id="rId6"/>
    <p:sldId id="262" r:id="rId7"/>
    <p:sldId id="263" r:id="rId8"/>
    <p:sldId id="260" r:id="rId9"/>
    <p:sldId id="265" r:id="rId10"/>
    <p:sldId id="266" r:id="rId11"/>
    <p:sldId id="267" r:id="rId12"/>
    <p:sldId id="268" r:id="rId13"/>
    <p:sldId id="269" r:id="rId14"/>
    <p:sldId id="270" r:id="rId15"/>
    <p:sldId id="264"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4" r:id="rId29"/>
    <p:sldId id="285" r:id="rId30"/>
    <p:sldId id="286" r:id="rId31"/>
    <p:sldId id="287" r:id="rId32"/>
    <p:sldId id="288" r:id="rId33"/>
    <p:sldId id="289" r:id="rId34"/>
    <p:sldId id="290" r:id="rId35"/>
    <p:sldId id="291" r:id="rId3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0" d="100"/>
          <a:sy n="120" d="100"/>
        </p:scale>
        <p:origin x="1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ru-RU"/>
              <a:t>Образец заголовка</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8878B8E-3F6C-44BB-9409-1A3C25106BF3}" type="datetimeFigureOut">
              <a:rPr lang="ru-RU" smtClean="0"/>
              <a:t>11.10.2023</a:t>
            </a:fld>
            <a:endParaRPr lang="ru-RU"/>
          </a:p>
        </p:txBody>
      </p:sp>
      <p:sp>
        <p:nvSpPr>
          <p:cNvPr id="5" name="Footer Placeholder 4"/>
          <p:cNvSpPr>
            <a:spLocks noGrp="1"/>
          </p:cNvSpPr>
          <p:nvPr>
            <p:ph type="ftr" sz="quarter" idx="11"/>
          </p:nvPr>
        </p:nvSpPr>
        <p:spPr>
          <a:xfrm>
            <a:off x="2692397" y="5037663"/>
            <a:ext cx="5214635" cy="279400"/>
          </a:xfrm>
        </p:spPr>
        <p:txBody>
          <a:bodyPr/>
          <a:lstStyle/>
          <a:p>
            <a:endParaRPr lang="ru-RU"/>
          </a:p>
        </p:txBody>
      </p:sp>
      <p:sp>
        <p:nvSpPr>
          <p:cNvPr id="6" name="Slide Number Placeholder 5"/>
          <p:cNvSpPr>
            <a:spLocks noGrp="1"/>
          </p:cNvSpPr>
          <p:nvPr>
            <p:ph type="sldNum" sz="quarter" idx="12"/>
          </p:nvPr>
        </p:nvSpPr>
        <p:spPr>
          <a:xfrm>
            <a:off x="8956900" y="5037663"/>
            <a:ext cx="551167" cy="279400"/>
          </a:xfrm>
        </p:spPr>
        <p:txBody>
          <a:bodyPr/>
          <a:lstStyle/>
          <a:p>
            <a:fld id="{77EA511D-B682-4BBE-89BB-7CA3210EF436}" type="slidenum">
              <a:rPr lang="ru-RU" smtClean="0"/>
              <a:t>‹#›</a:t>
            </a:fld>
            <a:endParaRPr lang="ru-RU"/>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432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8878B8E-3F6C-44BB-9409-1A3C25106BF3}" type="datetimeFigureOut">
              <a:rPr lang="ru-RU" smtClean="0"/>
              <a:t>11.10.2023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7EA511D-B682-4BBE-89BB-7CA3210EF436}" type="slidenum">
              <a:rPr lang="ru-RU" smtClean="0"/>
              <a:t>‹#›</a:t>
            </a:fld>
            <a:endParaRPr lang="ru-RU"/>
          </a:p>
        </p:txBody>
      </p:sp>
    </p:spTree>
    <p:extLst>
      <p:ext uri="{BB962C8B-B14F-4D97-AF65-F5344CB8AC3E}">
        <p14:creationId xmlns:p14="http://schemas.microsoft.com/office/powerpoint/2010/main" val="3610553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8878B8E-3F6C-44BB-9409-1A3C25106BF3}" type="datetimeFigureOut">
              <a:rPr lang="ru-RU" smtClean="0"/>
              <a:t>11.10.2023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7EA511D-B682-4BBE-89BB-7CA3210EF436}" type="slidenum">
              <a:rPr lang="ru-RU" smtClean="0"/>
              <a:t>‹#›</a:t>
            </a:fld>
            <a:endParaRPr lang="ru-RU"/>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126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28878B8E-3F6C-44BB-9409-1A3C25106BF3}" type="datetimeFigureOut">
              <a:rPr lang="ru-RU" smtClean="0"/>
              <a:t>11.10.2023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7EA511D-B682-4BBE-89BB-7CA3210EF436}" type="slidenum">
              <a:rPr lang="ru-RU" smtClean="0"/>
              <a:t>‹#›</a:t>
            </a:fld>
            <a:endParaRPr lang="ru-RU"/>
          </a:p>
        </p:txBody>
      </p:sp>
    </p:spTree>
    <p:extLst>
      <p:ext uri="{BB962C8B-B14F-4D97-AF65-F5344CB8AC3E}">
        <p14:creationId xmlns:p14="http://schemas.microsoft.com/office/powerpoint/2010/main" val="3379437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28878B8E-3F6C-44BB-9409-1A3C25106BF3}" type="datetimeFigureOut">
              <a:rPr lang="ru-RU" smtClean="0"/>
              <a:t>11.10.2023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77EA511D-B682-4BBE-89BB-7CA3210EF436}" type="slidenum">
              <a:rPr lang="ru-RU" smtClean="0"/>
              <a:t>‹#›</a:t>
            </a:fld>
            <a:endParaRPr lang="ru-RU"/>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7940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28878B8E-3F6C-44BB-9409-1A3C25106BF3}" type="datetimeFigureOut">
              <a:rPr lang="ru-RU" smtClean="0"/>
              <a:t>11.10.2023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77EA511D-B682-4BBE-89BB-7CA3210EF436}" type="slidenum">
              <a:rPr lang="ru-RU" smtClean="0"/>
              <a:t>‹#›</a:t>
            </a:fld>
            <a:endParaRPr lang="ru-R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1904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878B8E-3F6C-44BB-9409-1A3C25106BF3}" type="datetimeFigureOut">
              <a:rPr lang="ru-RU" smtClean="0"/>
              <a:t>11.10.2023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77EA511D-B682-4BBE-89BB-7CA3210EF436}" type="slidenum">
              <a:rPr lang="ru-RU" smtClean="0"/>
              <a:t>‹#›</a:t>
            </a:fld>
            <a:endParaRPr lang="ru-RU"/>
          </a:p>
        </p:txBody>
      </p:sp>
    </p:spTree>
    <p:extLst>
      <p:ext uri="{BB962C8B-B14F-4D97-AF65-F5344CB8AC3E}">
        <p14:creationId xmlns:p14="http://schemas.microsoft.com/office/powerpoint/2010/main" val="414058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ru-RU"/>
              <a:t>Образец заголовка</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28878B8E-3F6C-44BB-9409-1A3C25106BF3}" type="datetimeFigureOut">
              <a:rPr lang="ru-RU" smtClean="0"/>
              <a:t>11.10.2023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7EA511D-B682-4BBE-89BB-7CA3210EF436}" type="slidenum">
              <a:rPr lang="ru-RU" smtClean="0"/>
              <a:t>‹#›</a:t>
            </a:fld>
            <a:endParaRPr lang="ru-RU"/>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243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ru-RU"/>
              <a:t>Образец заголовка</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28878B8E-3F6C-44BB-9409-1A3C25106BF3}" type="datetimeFigureOut">
              <a:rPr lang="ru-RU" smtClean="0"/>
              <a:t>11.10.2023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7EA511D-B682-4BBE-89BB-7CA3210EF436}" type="slidenum">
              <a:rPr lang="ru-RU" smtClean="0"/>
              <a:t>‹#›</a:t>
            </a:fld>
            <a:endParaRPr lang="ru-RU"/>
          </a:p>
        </p:txBody>
      </p:sp>
    </p:spTree>
    <p:extLst>
      <p:ext uri="{BB962C8B-B14F-4D97-AF65-F5344CB8AC3E}">
        <p14:creationId xmlns:p14="http://schemas.microsoft.com/office/powerpoint/2010/main" val="2542592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28878B8E-3F6C-44BB-9409-1A3C25106BF3}" type="datetimeFigureOut">
              <a:rPr lang="ru-RU" smtClean="0"/>
              <a:t>11.10.2023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7EA511D-B682-4BBE-89BB-7CA3210EF436}" type="slidenum">
              <a:rPr lang="ru-RU" smtClean="0"/>
              <a:t>‹#›</a:t>
            </a:fld>
            <a:endParaRPr lang="ru-RU"/>
          </a:p>
        </p:txBody>
      </p:sp>
    </p:spTree>
    <p:extLst>
      <p:ext uri="{BB962C8B-B14F-4D97-AF65-F5344CB8AC3E}">
        <p14:creationId xmlns:p14="http://schemas.microsoft.com/office/powerpoint/2010/main" val="1755226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ru-RU"/>
              <a:t>Образец заголовка</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8878B8E-3F6C-44BB-9409-1A3C25106BF3}" type="datetimeFigureOut">
              <a:rPr lang="ru-RU" smtClean="0"/>
              <a:t>11.10.2023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7EA511D-B682-4BBE-89BB-7CA3210EF436}" type="slidenum">
              <a:rPr lang="ru-RU" smtClean="0"/>
              <a:t>‹#›</a:t>
            </a:fld>
            <a:endParaRPr lang="ru-RU"/>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7227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ru-RU"/>
              <a:t>Образец заголовка</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8878B8E-3F6C-44BB-9409-1A3C25106BF3}" type="datetimeFigureOut">
              <a:rPr lang="ru-RU" smtClean="0"/>
              <a:t>11.10.2023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7EA511D-B682-4BBE-89BB-7CA3210EF436}" type="slidenum">
              <a:rPr lang="ru-RU" smtClean="0"/>
              <a:t>‹#›</a:t>
            </a:fld>
            <a:endParaRPr lang="ru-RU"/>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40295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ru-RU"/>
              <a:t>Образец заголовка</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8878B8E-3F6C-44BB-9409-1A3C25106BF3}" type="datetimeFigureOut">
              <a:rPr lang="ru-RU" smtClean="0"/>
              <a:t>11.10.2023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7EA511D-B682-4BBE-89BB-7CA3210EF436}" type="slidenum">
              <a:rPr lang="ru-RU" smtClean="0"/>
              <a:t>‹#›</a:t>
            </a:fld>
            <a:endParaRPr lang="ru-RU"/>
          </a:p>
        </p:txBody>
      </p:sp>
    </p:spTree>
    <p:extLst>
      <p:ext uri="{BB962C8B-B14F-4D97-AF65-F5344CB8AC3E}">
        <p14:creationId xmlns:p14="http://schemas.microsoft.com/office/powerpoint/2010/main" val="26697048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ru-RU"/>
              <a:t>Образец заголовка</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8878B8E-3F6C-44BB-9409-1A3C25106BF3}" type="datetimeFigureOut">
              <a:rPr lang="ru-RU" smtClean="0"/>
              <a:t>11.10.2023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7EA511D-B682-4BBE-89BB-7CA3210EF436}" type="slidenum">
              <a:rPr lang="ru-RU" smtClean="0"/>
              <a:t>‹#›</a:t>
            </a:fld>
            <a:endParaRPr lang="ru-RU"/>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37852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ru-RU"/>
              <a:t>Образец заголовка</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8878B8E-3F6C-44BB-9409-1A3C25106BF3}" type="datetimeFigureOut">
              <a:rPr lang="ru-RU" smtClean="0"/>
              <a:t>11.10.2023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7EA511D-B682-4BBE-89BB-7CA3210EF436}" type="slidenum">
              <a:rPr lang="ru-RU" smtClean="0"/>
              <a:t>‹#›</a:t>
            </a:fld>
            <a:endParaRPr lang="ru-RU"/>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3061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8878B8E-3F6C-44BB-9409-1A3C25106BF3}" type="datetimeFigureOut">
              <a:rPr lang="ru-RU" smtClean="0"/>
              <a:t>11.10.2023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7EA511D-B682-4BBE-89BB-7CA3210EF436}" type="slidenum">
              <a:rPr lang="ru-RU" smtClean="0"/>
              <a:t>‹#›</a:t>
            </a:fld>
            <a:endParaRPr lang="ru-R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8967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8878B8E-3F6C-44BB-9409-1A3C25106BF3}" type="datetimeFigureOut">
              <a:rPr lang="ru-RU" smtClean="0"/>
              <a:t>11.10.2023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7EA511D-B682-4BBE-89BB-7CA3210EF436}" type="slidenum">
              <a:rPr lang="ru-RU" smtClean="0"/>
              <a:t>‹#›</a:t>
            </a:fld>
            <a:endParaRPr lang="ru-RU"/>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1287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8878B8E-3F6C-44BB-9409-1A3C25106BF3}" type="datetimeFigureOut">
              <a:rPr lang="ru-RU" smtClean="0"/>
              <a:t>11.10.2023</a:t>
            </a:fld>
            <a:endParaRPr lang="ru-RU"/>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ru-RU"/>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7EA511D-B682-4BBE-89BB-7CA3210EF436}" type="slidenum">
              <a:rPr lang="ru-RU" smtClean="0"/>
              <a:t>‹#›</a:t>
            </a:fld>
            <a:endParaRPr lang="ru-RU"/>
          </a:p>
        </p:txBody>
      </p:sp>
    </p:spTree>
    <p:extLst>
      <p:ext uri="{BB962C8B-B14F-4D97-AF65-F5344CB8AC3E}">
        <p14:creationId xmlns:p14="http://schemas.microsoft.com/office/powerpoint/2010/main" val="2459523521"/>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887506" y="2303947"/>
            <a:ext cx="10524565" cy="1754326"/>
          </a:xfrm>
          <a:prstGeom prst="rect">
            <a:avLst/>
          </a:prstGeom>
          <a:blipFill>
            <a:blip r:embed="rId2"/>
            <a:tile tx="0" ty="0" sx="100000" sy="100000" flip="none" algn="tl"/>
          </a:blipFill>
        </p:spPr>
        <p:txBody>
          <a:bodyPr wrap="square" lIns="91440" tIns="45720" rIns="91440" bIns="45720">
            <a:spAutoFit/>
          </a:bodyPr>
          <a:lstStyle/>
          <a:p>
            <a:pPr algn="ctr"/>
            <a:r>
              <a:rPr lang="ru-RU" sz="5400" b="1" spc="50" dirty="0">
                <a:ln w="9525" cmpd="sng">
                  <a:solidFill>
                    <a:schemeClr val="accent1"/>
                  </a:solidFill>
                  <a:prstDash val="solid"/>
                </a:ln>
                <a:solidFill>
                  <a:srgbClr val="70AD47">
                    <a:tint val="1000"/>
                  </a:srgbClr>
                </a:solidFill>
                <a:effectLst>
                  <a:glow rad="38100">
                    <a:schemeClr val="accent1">
                      <a:alpha val="40000"/>
                    </a:schemeClr>
                  </a:glow>
                </a:effectLst>
              </a:rPr>
              <a:t>Совокупный спрос и совокупное предложение (Модель </a:t>
            </a: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rPr>
              <a:t>AD-AS</a:t>
            </a:r>
            <a:r>
              <a:rPr lang="ru-RU" sz="5400" b="1" spc="50" dirty="0">
                <a:ln w="9525" cmpd="sng">
                  <a:solidFill>
                    <a:schemeClr val="accent1"/>
                  </a:solidFill>
                  <a:prstDash val="solid"/>
                </a:ln>
                <a:solidFill>
                  <a:srgbClr val="70AD47">
                    <a:tint val="1000"/>
                  </a:srgbClr>
                </a:solidFill>
                <a:effectLst>
                  <a:glow rad="38100">
                    <a:schemeClr val="accent1">
                      <a:alpha val="40000"/>
                    </a:schemeClr>
                  </a:glow>
                </a:effectLst>
              </a:rPr>
              <a:t>)</a:t>
            </a:r>
          </a:p>
        </p:txBody>
      </p:sp>
    </p:spTree>
    <p:extLst>
      <p:ext uri="{BB962C8B-B14F-4D97-AF65-F5344CB8AC3E}">
        <p14:creationId xmlns:p14="http://schemas.microsoft.com/office/powerpoint/2010/main" val="3296636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008047" y="545191"/>
            <a:ext cx="10349307" cy="923330"/>
          </a:xfrm>
          <a:prstGeom prst="rect">
            <a:avLst/>
          </a:prstGeom>
          <a:noFill/>
        </p:spPr>
        <p:txBody>
          <a:bodyPr wrap="none" lIns="91440" tIns="45720" rIns="91440" bIns="45720">
            <a:spAutoFit/>
          </a:bodyPr>
          <a:lstStyle/>
          <a:p>
            <a:pPr algn="ctr"/>
            <a:r>
              <a:rPr lang="ru-RU"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Совокупный спрос и его факторы</a:t>
            </a:r>
          </a:p>
        </p:txBody>
      </p:sp>
      <p:sp>
        <p:nvSpPr>
          <p:cNvPr id="3" name="Прямоугольник 2"/>
          <p:cNvSpPr/>
          <p:nvPr/>
        </p:nvSpPr>
        <p:spPr>
          <a:xfrm>
            <a:off x="914401" y="1468521"/>
            <a:ext cx="10363200" cy="3693319"/>
          </a:xfrm>
          <a:prstGeom prst="rect">
            <a:avLst/>
          </a:prstGeom>
        </p:spPr>
        <p:txBody>
          <a:bodyPr wrap="square">
            <a:spAutoFit/>
          </a:bodyPr>
          <a:lstStyle/>
          <a:p>
            <a:pPr algn="just"/>
            <a:r>
              <a:rPr lang="ru-RU" dirty="0"/>
              <a:t>Основными понятиями в макроэкономике выступают </a:t>
            </a:r>
            <a:r>
              <a:rPr lang="ru-RU" b="1" dirty="0"/>
              <a:t>совокупный спрос </a:t>
            </a:r>
            <a:r>
              <a:rPr lang="ru-RU" dirty="0"/>
              <a:t>и </a:t>
            </a:r>
            <a:r>
              <a:rPr lang="ru-RU" b="1" dirty="0"/>
              <a:t>совокупное предложение</a:t>
            </a:r>
            <a:r>
              <a:rPr lang="ru-RU" dirty="0"/>
              <a:t>, а основной (базовой) макроэкономической моделью -модель "совокупного спроса — совокупного предложения" {модель AD-AS). Эта модель позволяет:</a:t>
            </a:r>
          </a:p>
          <a:p>
            <a:pPr algn="just"/>
            <a:endParaRPr lang="ru-RU" dirty="0"/>
          </a:p>
          <a:p>
            <a:pPr marL="285750" indent="-285750" algn="just">
              <a:buFont typeface="Wingdings" panose="05000000000000000000" pitchFamily="2" charset="2"/>
              <a:buChar char="v"/>
            </a:pPr>
            <a:r>
              <a:rPr lang="ru-RU" dirty="0"/>
              <a:t>выяснить условия макроэкономического равновесия;</a:t>
            </a:r>
          </a:p>
          <a:p>
            <a:pPr algn="just"/>
            <a:endParaRPr lang="ru-RU" dirty="0"/>
          </a:p>
          <a:p>
            <a:pPr marL="285750" indent="-285750" algn="just">
              <a:buFont typeface="Wingdings" panose="05000000000000000000" pitchFamily="2" charset="2"/>
              <a:buChar char="v"/>
            </a:pPr>
            <a:r>
              <a:rPr lang="ru-RU" dirty="0"/>
              <a:t>определить величину равновесного объема выпуска и равновесного уровня цен;</a:t>
            </a:r>
          </a:p>
          <a:p>
            <a:pPr marL="285750" indent="-285750" algn="just">
              <a:buFont typeface="Wingdings" panose="05000000000000000000" pitchFamily="2" charset="2"/>
              <a:buChar char="v"/>
            </a:pPr>
            <a:endParaRPr lang="ru-RU" dirty="0"/>
          </a:p>
          <a:p>
            <a:pPr marL="285750" indent="-285750" algn="just">
              <a:buFont typeface="Wingdings" panose="05000000000000000000" pitchFamily="2" charset="2"/>
              <a:buChar char="v"/>
            </a:pPr>
            <a:r>
              <a:rPr lang="ru-RU" dirty="0"/>
              <a:t>объяснить колебания объема выпуска и уровня цен в экономике;</a:t>
            </a:r>
          </a:p>
          <a:p>
            <a:pPr marL="285750" indent="-285750" algn="just">
              <a:buFont typeface="Wingdings" panose="05000000000000000000" pitchFamily="2" charset="2"/>
              <a:buChar char="v"/>
            </a:pPr>
            <a:endParaRPr lang="ru-RU" dirty="0"/>
          </a:p>
          <a:p>
            <a:pPr marL="285750" indent="-285750" algn="just">
              <a:buFont typeface="Wingdings" panose="05000000000000000000" pitchFamily="2" charset="2"/>
              <a:buChar char="v"/>
            </a:pPr>
            <a:r>
              <a:rPr lang="ru-RU" dirty="0"/>
              <a:t>показать причины и последствия изменения совокупного спроса и совокупного предложения;</a:t>
            </a:r>
          </a:p>
          <a:p>
            <a:pPr marL="285750" indent="-285750" algn="just">
              <a:buFont typeface="Wingdings" panose="05000000000000000000" pitchFamily="2" charset="2"/>
              <a:buChar char="v"/>
            </a:pPr>
            <a:endParaRPr lang="ru-RU" dirty="0"/>
          </a:p>
          <a:p>
            <a:pPr marL="285750" indent="-285750" algn="just">
              <a:buFont typeface="Wingdings" panose="05000000000000000000" pitchFamily="2" charset="2"/>
              <a:buChar char="v"/>
            </a:pPr>
            <a:r>
              <a:rPr lang="ru-RU" dirty="0"/>
              <a:t>описать последствия разных вариантов экономической политики государства.</a:t>
            </a:r>
          </a:p>
        </p:txBody>
      </p:sp>
    </p:spTree>
    <p:extLst>
      <p:ext uri="{BB962C8B-B14F-4D97-AF65-F5344CB8AC3E}">
        <p14:creationId xmlns:p14="http://schemas.microsoft.com/office/powerpoint/2010/main" val="167837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14088" y="709736"/>
            <a:ext cx="10981764" cy="769441"/>
          </a:xfrm>
          <a:prstGeom prst="rect">
            <a:avLst/>
          </a:prstGeom>
          <a:solidFill>
            <a:schemeClr val="accent4">
              <a:lumMod val="40000"/>
              <a:lumOff val="60000"/>
            </a:schemeClr>
          </a:solidFill>
        </p:spPr>
        <p:style>
          <a:lnRef idx="2">
            <a:schemeClr val="accent4"/>
          </a:lnRef>
          <a:fillRef idx="1">
            <a:schemeClr val="lt1"/>
          </a:fillRef>
          <a:effectRef idx="0">
            <a:schemeClr val="accent4"/>
          </a:effectRef>
          <a:fontRef idx="minor">
            <a:schemeClr val="dk1"/>
          </a:fontRef>
        </p:style>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r>
              <a:rPr lang="ru-RU" sz="4400" b="1" dirty="0">
                <a:ln/>
                <a:solidFill>
                  <a:schemeClr val="accent4"/>
                </a:solidFill>
              </a:rPr>
              <a:t>Кривая совокупного спроса</a:t>
            </a:r>
          </a:p>
        </p:txBody>
      </p:sp>
      <p:sp>
        <p:nvSpPr>
          <p:cNvPr id="3" name="Прямоугольник 2"/>
          <p:cNvSpPr/>
          <p:nvPr/>
        </p:nvSpPr>
        <p:spPr>
          <a:xfrm>
            <a:off x="932328" y="1640542"/>
            <a:ext cx="10479741" cy="4124206"/>
          </a:xfrm>
          <a:prstGeom prst="rect">
            <a:avLst/>
          </a:prstGeom>
        </p:spPr>
        <p:txBody>
          <a:bodyPr wrap="square">
            <a:spAutoFit/>
          </a:bodyPr>
          <a:lstStyle/>
          <a:p>
            <a:pPr algn="just"/>
            <a:r>
              <a:rPr lang="ru-RU" b="1" dirty="0"/>
              <a:t>Совокупный спрос </a:t>
            </a:r>
            <a:r>
              <a:rPr lang="ru-RU" dirty="0"/>
              <a:t>(</a:t>
            </a:r>
            <a:r>
              <a:rPr lang="ru-RU" dirty="0" err="1"/>
              <a:t>aggregate</a:t>
            </a:r>
            <a:r>
              <a:rPr lang="ru-RU" dirty="0"/>
              <a:t> </a:t>
            </a:r>
            <a:r>
              <a:rPr lang="ru-RU" dirty="0" err="1"/>
              <a:t>demand</a:t>
            </a:r>
            <a:r>
              <a:rPr lang="ru-RU" dirty="0"/>
              <a:t> — AD) представляет собой сумму спросов всех макроэкономических агентов (домохозяйств, фирм, государства и иностранного сектора) на конечные товары и услуги. </a:t>
            </a:r>
            <a:endParaRPr lang="en-US" dirty="0"/>
          </a:p>
          <a:p>
            <a:pPr algn="just"/>
            <a:r>
              <a:rPr lang="ru-RU" dirty="0"/>
              <a:t>Компонентами совокупного спроса выступают:</a:t>
            </a:r>
          </a:p>
          <a:p>
            <a:pPr algn="just"/>
            <a:endParaRPr lang="ru-RU" dirty="0"/>
          </a:p>
          <a:p>
            <a:pPr marL="285750" indent="-285750" algn="just">
              <a:buFont typeface="Arial" panose="020B0604020202020204" pitchFamily="34" charset="0"/>
              <a:buChar char="•"/>
            </a:pPr>
            <a:r>
              <a:rPr lang="ru-RU" dirty="0"/>
              <a:t>спрос домохозяйств — потребительский спрос </a:t>
            </a:r>
            <a:r>
              <a:rPr lang="ru-RU" b="1" dirty="0"/>
              <a:t>(</a:t>
            </a:r>
            <a:r>
              <a:rPr lang="ru-RU" b="1" dirty="0" err="1"/>
              <a:t>consumption</a:t>
            </a:r>
            <a:r>
              <a:rPr lang="ru-RU" b="1" dirty="0"/>
              <a:t> </a:t>
            </a:r>
            <a:r>
              <a:rPr lang="ru-RU" b="1" dirty="0" err="1"/>
              <a:t>demand</a:t>
            </a:r>
            <a:r>
              <a:rPr lang="ru-RU" b="1" dirty="0"/>
              <a:t> — С)</a:t>
            </a:r>
            <a:r>
              <a:rPr lang="ru-RU" dirty="0"/>
              <a:t>;</a:t>
            </a:r>
          </a:p>
          <a:p>
            <a:pPr marL="285750" indent="-285750" algn="just">
              <a:buFont typeface="Arial" panose="020B0604020202020204" pitchFamily="34" charset="0"/>
              <a:buChar char="•"/>
            </a:pPr>
            <a:r>
              <a:rPr lang="ru-RU" dirty="0"/>
              <a:t>спрос фирм — инвестиционный спрос </a:t>
            </a:r>
            <a:r>
              <a:rPr lang="ru-RU" b="1" dirty="0"/>
              <a:t>(</a:t>
            </a:r>
            <a:r>
              <a:rPr lang="ru-RU" b="1" dirty="0" err="1"/>
              <a:t>investment</a:t>
            </a:r>
            <a:r>
              <a:rPr lang="ru-RU" b="1" dirty="0"/>
              <a:t> </a:t>
            </a:r>
            <a:r>
              <a:rPr lang="ru-RU" b="1" dirty="0" err="1"/>
              <a:t>demand</a:t>
            </a:r>
            <a:r>
              <a:rPr lang="ru-RU" b="1" dirty="0"/>
              <a:t> —</a:t>
            </a:r>
            <a:r>
              <a:rPr lang="en-US" b="1" dirty="0"/>
              <a:t>I</a:t>
            </a:r>
            <a:r>
              <a:rPr lang="ru-RU" b="1" dirty="0"/>
              <a:t>)</a:t>
            </a:r>
            <a:r>
              <a:rPr lang="ru-RU" dirty="0"/>
              <a:t>;</a:t>
            </a:r>
          </a:p>
          <a:p>
            <a:pPr marL="285750" indent="-285750" algn="just">
              <a:buFont typeface="Arial" panose="020B0604020202020204" pitchFamily="34" charset="0"/>
              <a:buChar char="•"/>
            </a:pPr>
            <a:r>
              <a:rPr lang="ru-RU" dirty="0"/>
              <a:t>спрос со стороны государства — государственные закупки товаров и услуг </a:t>
            </a:r>
            <a:r>
              <a:rPr lang="ru-RU" b="1" dirty="0"/>
              <a:t>(</a:t>
            </a:r>
            <a:r>
              <a:rPr lang="ru-RU" b="1" dirty="0" err="1"/>
              <a:t>government</a:t>
            </a:r>
            <a:r>
              <a:rPr lang="ru-RU" b="1" dirty="0"/>
              <a:t> </a:t>
            </a:r>
            <a:r>
              <a:rPr lang="ru-RU" b="1" dirty="0" err="1"/>
              <a:t>spending</a:t>
            </a:r>
            <a:r>
              <a:rPr lang="ru-RU" b="1" dirty="0"/>
              <a:t> — G)</a:t>
            </a:r>
            <a:endParaRPr lang="ru-RU" dirty="0"/>
          </a:p>
          <a:p>
            <a:pPr marL="285750" indent="-285750" algn="just">
              <a:buFont typeface="Arial" panose="020B0604020202020204" pitchFamily="34" charset="0"/>
              <a:buChar char="•"/>
            </a:pPr>
            <a:r>
              <a:rPr lang="ru-RU" dirty="0"/>
              <a:t>спрос иностранного сектора — чистый экспорт </a:t>
            </a:r>
            <a:r>
              <a:rPr lang="ru-RU" b="1" dirty="0"/>
              <a:t>(</a:t>
            </a:r>
            <a:r>
              <a:rPr lang="ru-RU" b="1" dirty="0" err="1"/>
              <a:t>demand</a:t>
            </a:r>
            <a:r>
              <a:rPr lang="ru-RU" b="1" dirty="0"/>
              <a:t> </a:t>
            </a:r>
            <a:r>
              <a:rPr lang="ru-RU" b="1" dirty="0" err="1"/>
              <a:t>for</a:t>
            </a:r>
            <a:r>
              <a:rPr lang="ru-RU" b="1" dirty="0"/>
              <a:t> </a:t>
            </a:r>
            <a:r>
              <a:rPr lang="ru-RU" b="1" dirty="0" err="1"/>
              <a:t>net</a:t>
            </a:r>
            <a:r>
              <a:rPr lang="ru-RU" b="1" dirty="0"/>
              <a:t> </a:t>
            </a:r>
            <a:r>
              <a:rPr lang="ru-RU" b="1" dirty="0" err="1"/>
              <a:t>export</a:t>
            </a:r>
            <a:r>
              <a:rPr lang="ru-RU" b="1" dirty="0"/>
              <a:t> — </a:t>
            </a:r>
            <a:r>
              <a:rPr lang="ru-RU" b="1" dirty="0" err="1"/>
              <a:t>Xn</a:t>
            </a:r>
            <a:r>
              <a:rPr lang="ru-RU" b="1" dirty="0"/>
              <a:t>).</a:t>
            </a:r>
            <a:endParaRPr lang="en-US" b="1" dirty="0"/>
          </a:p>
          <a:p>
            <a:pPr algn="just"/>
            <a:endParaRPr lang="ru-RU" dirty="0"/>
          </a:p>
          <a:p>
            <a:pPr algn="just"/>
            <a:r>
              <a:rPr lang="ru-RU" b="1" dirty="0"/>
              <a:t>Поэтому формула совокупного спроса имеет вид:</a:t>
            </a:r>
            <a:endParaRPr lang="en-US" b="1" dirty="0"/>
          </a:p>
          <a:p>
            <a:pPr algn="just"/>
            <a:endParaRPr lang="ru-RU" dirty="0"/>
          </a:p>
          <a:p>
            <a:pPr algn="just"/>
            <a:r>
              <a:rPr lang="ru-RU" sz="2800" b="1" dirty="0">
                <a:solidFill>
                  <a:srgbClr val="C00000"/>
                </a:solidFill>
              </a:rPr>
              <a:t>A</a:t>
            </a:r>
            <a:r>
              <a:rPr lang="en-US" sz="2800" b="1" dirty="0">
                <a:solidFill>
                  <a:srgbClr val="C00000"/>
                </a:solidFill>
              </a:rPr>
              <a:t>D</a:t>
            </a:r>
            <a:r>
              <a:rPr lang="ru-RU" sz="2800" b="1" dirty="0">
                <a:solidFill>
                  <a:srgbClr val="C00000"/>
                </a:solidFill>
              </a:rPr>
              <a:t> = C + </a:t>
            </a:r>
            <a:r>
              <a:rPr lang="en-US" sz="2800" b="1" dirty="0">
                <a:solidFill>
                  <a:srgbClr val="C00000"/>
                </a:solidFill>
              </a:rPr>
              <a:t>I</a:t>
            </a:r>
            <a:r>
              <a:rPr lang="ru-RU" sz="2800" b="1" dirty="0">
                <a:solidFill>
                  <a:srgbClr val="C00000"/>
                </a:solidFill>
              </a:rPr>
              <a:t> + G + X</a:t>
            </a:r>
            <a:r>
              <a:rPr lang="en-US" sz="2800" b="1" dirty="0">
                <a:solidFill>
                  <a:srgbClr val="C00000"/>
                </a:solidFill>
              </a:rPr>
              <a:t>n</a:t>
            </a:r>
            <a:r>
              <a:rPr lang="ru-RU" sz="2800" b="1" dirty="0">
                <a:solidFill>
                  <a:srgbClr val="C00000"/>
                </a:solidFill>
              </a:rPr>
              <a:t>.</a:t>
            </a:r>
            <a:endParaRPr lang="en-US" sz="2800" b="1" dirty="0">
              <a:solidFill>
                <a:srgbClr val="C00000"/>
              </a:solidFill>
            </a:endParaRPr>
          </a:p>
          <a:p>
            <a:pPr algn="just"/>
            <a:r>
              <a:rPr lang="en-US" dirty="0"/>
              <a:t>O</a:t>
            </a:r>
            <a:r>
              <a:rPr lang="ru-RU" dirty="0" err="1"/>
              <a:t>тражает</a:t>
            </a:r>
            <a:r>
              <a:rPr lang="ru-RU" dirty="0"/>
              <a:t> расходы, которые </a:t>
            </a:r>
            <a:r>
              <a:rPr lang="ru-RU" b="1" dirty="0"/>
              <a:t>намерены</a:t>
            </a:r>
            <a:r>
              <a:rPr lang="ru-RU" dirty="0"/>
              <a:t> сделать макроэкономические агенты</a:t>
            </a:r>
            <a:r>
              <a:rPr lang="en-US" dirty="0"/>
              <a:t>. </a:t>
            </a:r>
            <a:r>
              <a:rPr lang="ru-RU" dirty="0"/>
              <a:t>Величина этих совокупных расходов, т.е. величина совокупного спроса зависит прежде всего </a:t>
            </a:r>
            <a:r>
              <a:rPr lang="ru-RU" b="1" dirty="0"/>
              <a:t>от уровня цен</a:t>
            </a:r>
            <a:r>
              <a:rPr lang="en-US" b="1" dirty="0"/>
              <a:t>.</a:t>
            </a:r>
            <a:endParaRPr lang="ru-RU" sz="2800" b="1" dirty="0">
              <a:solidFill>
                <a:srgbClr val="C00000"/>
              </a:solidFill>
            </a:endParaRPr>
          </a:p>
        </p:txBody>
      </p:sp>
    </p:spTree>
    <p:extLst>
      <p:ext uri="{BB962C8B-B14F-4D97-AF65-F5344CB8AC3E}">
        <p14:creationId xmlns:p14="http://schemas.microsoft.com/office/powerpoint/2010/main" val="2753162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2"/>
          <a:srcRect l="34921" t="12145" r="34315" b="14393"/>
          <a:stretch/>
        </p:blipFill>
        <p:spPr>
          <a:xfrm>
            <a:off x="1072660" y="1846385"/>
            <a:ext cx="3622432" cy="3114021"/>
          </a:xfrm>
          <a:prstGeom prst="rect">
            <a:avLst/>
          </a:prstGeom>
        </p:spPr>
      </p:pic>
      <p:sp>
        <p:nvSpPr>
          <p:cNvPr id="3" name="Прямоугольник 2"/>
          <p:cNvSpPr/>
          <p:nvPr/>
        </p:nvSpPr>
        <p:spPr>
          <a:xfrm>
            <a:off x="4991101" y="725739"/>
            <a:ext cx="6096000" cy="5355312"/>
          </a:xfrm>
          <a:prstGeom prst="rect">
            <a:avLst/>
          </a:prstGeom>
        </p:spPr>
        <p:txBody>
          <a:bodyPr>
            <a:spAutoFit/>
          </a:bodyPr>
          <a:lstStyle/>
          <a:p>
            <a:r>
              <a:rPr lang="ru-RU" dirty="0"/>
              <a:t>Каждая точка </a:t>
            </a:r>
            <a:r>
              <a:rPr lang="ru-RU" b="1" dirty="0"/>
              <a:t>кривой совокупного спроса </a:t>
            </a:r>
            <a:r>
              <a:rPr lang="ru-RU" dirty="0"/>
              <a:t>(кривой AD) показывает величину совокупных расходов всех макроэкономических агентов при каждом возможном уровне цен.</a:t>
            </a:r>
          </a:p>
          <a:p>
            <a:endParaRPr lang="ru-RU" dirty="0"/>
          </a:p>
          <a:p>
            <a:r>
              <a:rPr lang="ru-RU" dirty="0"/>
              <a:t>На графике: </a:t>
            </a:r>
          </a:p>
          <a:p>
            <a:r>
              <a:rPr lang="ru-RU" dirty="0"/>
              <a:t>По оси абсцисс откладывается реальный объем выпуска -</a:t>
            </a:r>
            <a:r>
              <a:rPr lang="ru-RU" b="1" dirty="0"/>
              <a:t>реальный ВВП — Y </a:t>
            </a:r>
            <a:r>
              <a:rPr lang="ru-RU" dirty="0"/>
              <a:t>(величина совокупного спроса), измеряемый в денежных единицах (в долларах, рублях и т.п.), т.е. это стоимостной показатель</a:t>
            </a:r>
            <a:r>
              <a:rPr lang="en-US" dirty="0"/>
              <a:t>.</a:t>
            </a:r>
          </a:p>
          <a:p>
            <a:r>
              <a:rPr lang="ru-RU" dirty="0"/>
              <a:t>По оси ординат общий </a:t>
            </a:r>
            <a:r>
              <a:rPr lang="ru-RU" b="1" dirty="0"/>
              <a:t>уровень цен Р </a:t>
            </a:r>
            <a:r>
              <a:rPr lang="ru-RU" dirty="0"/>
              <a:t>(дефлятор ВВП), измеряемый в относительных величинах (долях единицы). </a:t>
            </a:r>
          </a:p>
          <a:p>
            <a:endParaRPr lang="ru-RU" dirty="0"/>
          </a:p>
          <a:p>
            <a:r>
              <a:rPr lang="ru-RU" dirty="0"/>
              <a:t>При более высоком уровне цен (</a:t>
            </a:r>
            <a:r>
              <a:rPr lang="en-US" dirty="0"/>
              <a:t>P1</a:t>
            </a:r>
            <a:r>
              <a:rPr lang="ru-RU" dirty="0"/>
              <a:t>) величина совокупного спроса (Y</a:t>
            </a:r>
            <a:r>
              <a:rPr lang="en-US" dirty="0"/>
              <a:t>1</a:t>
            </a:r>
            <a:r>
              <a:rPr lang="ru-RU" dirty="0"/>
              <a:t>) будет меньше (точка А), чем при более низком уровне цен (Р2), которому соответствует величина совокупного</a:t>
            </a:r>
            <a:r>
              <a:rPr lang="en-US" dirty="0"/>
              <a:t> </a:t>
            </a:r>
            <a:r>
              <a:rPr lang="ru-RU" dirty="0"/>
              <a:t>спроса (Y2)(точка В), а рост дохода у одних экономических агентов может быть скомпенсирован снижением у других.</a:t>
            </a:r>
          </a:p>
        </p:txBody>
      </p:sp>
    </p:spTree>
    <p:extLst>
      <p:ext uri="{BB962C8B-B14F-4D97-AF65-F5344CB8AC3E}">
        <p14:creationId xmlns:p14="http://schemas.microsoft.com/office/powerpoint/2010/main" val="1137721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06669" y="575113"/>
            <a:ext cx="10972800" cy="461665"/>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ru-RU" sz="2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Отрицательный наклон кривой AD объясняется следующими эффектами:</a:t>
            </a:r>
          </a:p>
        </p:txBody>
      </p:sp>
      <p:sp>
        <p:nvSpPr>
          <p:cNvPr id="3" name="Прямоугольник 2"/>
          <p:cNvSpPr/>
          <p:nvPr/>
        </p:nvSpPr>
        <p:spPr>
          <a:xfrm>
            <a:off x="967153" y="1036778"/>
            <a:ext cx="9741876" cy="4801314"/>
          </a:xfrm>
          <a:prstGeom prst="rect">
            <a:avLst/>
          </a:prstGeom>
        </p:spPr>
        <p:txBody>
          <a:bodyPr wrap="square">
            <a:spAutoFit/>
          </a:bodyPr>
          <a:lstStyle/>
          <a:p>
            <a:pPr marL="285750" indent="-285750" algn="just">
              <a:buFont typeface="Wingdings" panose="05000000000000000000" pitchFamily="2" charset="2"/>
              <a:buChar char="v"/>
            </a:pPr>
            <a:r>
              <a:rPr lang="ru-RU" b="1" i="1" u="sng" dirty="0"/>
              <a:t>Эффектом реального богатства</a:t>
            </a:r>
            <a:r>
              <a:rPr lang="ru-RU" dirty="0"/>
              <a:t>, или эффектом реальных денежных запасов</a:t>
            </a:r>
          </a:p>
          <a:p>
            <a:pPr algn="just"/>
            <a:r>
              <a:rPr lang="ru-RU" dirty="0"/>
              <a:t>(</a:t>
            </a:r>
            <a:r>
              <a:rPr lang="ru-RU" dirty="0" err="1"/>
              <a:t>real</a:t>
            </a:r>
            <a:r>
              <a:rPr lang="ru-RU" dirty="0"/>
              <a:t> </a:t>
            </a:r>
            <a:r>
              <a:rPr lang="ru-RU" dirty="0" err="1"/>
              <a:t>money</a:t>
            </a:r>
            <a:r>
              <a:rPr lang="ru-RU" dirty="0"/>
              <a:t> </a:t>
            </a:r>
            <a:r>
              <a:rPr lang="ru-RU" dirty="0" err="1"/>
              <a:t>balances</a:t>
            </a:r>
            <a:r>
              <a:rPr lang="ru-RU" dirty="0"/>
              <a:t> </a:t>
            </a:r>
            <a:r>
              <a:rPr lang="ru-RU" dirty="0" err="1"/>
              <a:t>effect</a:t>
            </a:r>
            <a:r>
              <a:rPr lang="ru-RU" dirty="0"/>
              <a:t>) — эффектом </a:t>
            </a:r>
            <a:r>
              <a:rPr lang="ru-RU" dirty="0" err="1"/>
              <a:t>Пигу</a:t>
            </a:r>
            <a:r>
              <a:rPr lang="ru-RU" dirty="0"/>
              <a:t> Под реальным богатством, или реальными денежными запасами, понимают отношение номинального финансового богатства индивида (М), выраженного в денежной форме, к общему уровню цен (Р):</a:t>
            </a:r>
          </a:p>
          <a:p>
            <a:pPr algn="just"/>
            <a:r>
              <a:rPr lang="ru-RU" b="1" dirty="0" err="1">
                <a:solidFill>
                  <a:srgbClr val="C00000"/>
                </a:solidFill>
              </a:rPr>
              <a:t>Real</a:t>
            </a:r>
            <a:r>
              <a:rPr lang="ru-RU" b="1" dirty="0">
                <a:solidFill>
                  <a:srgbClr val="C00000"/>
                </a:solidFill>
              </a:rPr>
              <a:t> </a:t>
            </a:r>
            <a:r>
              <a:rPr lang="ru-RU" b="1" dirty="0" err="1">
                <a:solidFill>
                  <a:srgbClr val="C00000"/>
                </a:solidFill>
              </a:rPr>
              <a:t>money</a:t>
            </a:r>
            <a:r>
              <a:rPr lang="ru-RU" b="1" dirty="0">
                <a:solidFill>
                  <a:srgbClr val="C00000"/>
                </a:solidFill>
              </a:rPr>
              <a:t> </a:t>
            </a:r>
            <a:r>
              <a:rPr lang="ru-RU" b="1" dirty="0" err="1">
                <a:solidFill>
                  <a:srgbClr val="C00000"/>
                </a:solidFill>
              </a:rPr>
              <a:t>balances</a:t>
            </a:r>
            <a:r>
              <a:rPr lang="ru-RU" b="1" dirty="0">
                <a:solidFill>
                  <a:srgbClr val="C00000"/>
                </a:solidFill>
              </a:rPr>
              <a:t> =М/Р</a:t>
            </a:r>
            <a:endParaRPr lang="ru-RU" dirty="0"/>
          </a:p>
          <a:p>
            <a:pPr algn="just"/>
            <a:r>
              <a:rPr lang="ru-RU" dirty="0"/>
              <a:t>и представляющего собой реальную покупательную способность накопленного номинального финансового богатства человека.</a:t>
            </a:r>
          </a:p>
          <a:p>
            <a:pPr algn="just"/>
            <a:r>
              <a:rPr lang="ru-RU" b="1" dirty="0"/>
              <a:t>Эффект </a:t>
            </a:r>
            <a:r>
              <a:rPr lang="ru-RU" b="1" dirty="0" err="1"/>
              <a:t>Пигу</a:t>
            </a:r>
            <a:r>
              <a:rPr lang="ru-RU" b="1" dirty="0"/>
              <a:t> заключается в следующем: </a:t>
            </a:r>
          </a:p>
          <a:p>
            <a:pPr algn="just"/>
            <a:r>
              <a:rPr lang="ru-RU" dirty="0"/>
              <a:t>если уровень цен (Р) повышается, покупательная способность номинального богатства (М) (т.е. величина реальных денежных запасов — реального финансового богатства -М/Р) падает. Это означает, что на ту же сумму номинальных денежных запасов можно купить меньше товаров и услуг, чем раньше. Люди чувствуют себя относительно беднее, чем раньше, и сокращают потребительские расходы (С), а поскольку потребительский спрос является частью совокупного спроса, то величина совокупного спроса (AD) уменьшается.</a:t>
            </a:r>
          </a:p>
          <a:p>
            <a:pPr algn="just"/>
            <a:r>
              <a:rPr lang="ru-RU" b="1" dirty="0"/>
              <a:t>Эффект </a:t>
            </a:r>
            <a:r>
              <a:rPr lang="ru-RU" b="1" dirty="0" err="1"/>
              <a:t>Пигу</a:t>
            </a:r>
            <a:r>
              <a:rPr lang="ru-RU" b="1" dirty="0"/>
              <a:t> может быть представлен в виде логической цепочки:</a:t>
            </a:r>
          </a:p>
          <a:p>
            <a:pPr algn="just"/>
            <a:endParaRPr lang="ru-RU" b="1" dirty="0">
              <a:solidFill>
                <a:srgbClr val="C00000"/>
              </a:solidFill>
            </a:endParaRPr>
          </a:p>
          <a:p>
            <a:pPr algn="just"/>
            <a:r>
              <a:rPr lang="ru-RU" b="1" dirty="0">
                <a:solidFill>
                  <a:srgbClr val="C00000"/>
                </a:solidFill>
              </a:rPr>
              <a:t>Р =&gt; М/Р =&gt; С  =&gt; AD</a:t>
            </a:r>
          </a:p>
        </p:txBody>
      </p:sp>
      <p:cxnSp>
        <p:nvCxnSpPr>
          <p:cNvPr id="5" name="Прямая со стрелкой 4"/>
          <p:cNvCxnSpPr/>
          <p:nvPr/>
        </p:nvCxnSpPr>
        <p:spPr>
          <a:xfrm flipV="1">
            <a:off x="1234954" y="5424855"/>
            <a:ext cx="5128" cy="3121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Прямая со стрелкой 5"/>
          <p:cNvCxnSpPr/>
          <p:nvPr/>
        </p:nvCxnSpPr>
        <p:spPr>
          <a:xfrm>
            <a:off x="2118946" y="5455627"/>
            <a:ext cx="0" cy="3341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Прямая со стрелкой 12"/>
          <p:cNvCxnSpPr/>
          <p:nvPr/>
        </p:nvCxnSpPr>
        <p:spPr>
          <a:xfrm>
            <a:off x="2719754" y="5468814"/>
            <a:ext cx="0" cy="3341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Прямая со стрелкой 13"/>
          <p:cNvCxnSpPr/>
          <p:nvPr/>
        </p:nvCxnSpPr>
        <p:spPr>
          <a:xfrm>
            <a:off x="3528646" y="5455627"/>
            <a:ext cx="0" cy="3341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2208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257300" y="759889"/>
            <a:ext cx="9574824" cy="4801314"/>
          </a:xfrm>
          <a:prstGeom prst="rect">
            <a:avLst/>
          </a:prstGeom>
        </p:spPr>
        <p:txBody>
          <a:bodyPr wrap="square">
            <a:spAutoFit/>
          </a:bodyPr>
          <a:lstStyle/>
          <a:p>
            <a:pPr marL="285750" indent="-285750">
              <a:buFont typeface="Wingdings" panose="05000000000000000000" pitchFamily="2" charset="2"/>
              <a:buChar char="v"/>
            </a:pPr>
            <a:r>
              <a:rPr lang="ru-RU" dirty="0"/>
              <a:t> </a:t>
            </a:r>
            <a:r>
              <a:rPr lang="ru-RU" b="1" i="1" u="sng" dirty="0"/>
              <a:t>Эффектом процентной ставки (</a:t>
            </a:r>
            <a:r>
              <a:rPr lang="ru-RU" b="1" i="1" u="sng" dirty="0" err="1"/>
              <a:t>interest</a:t>
            </a:r>
            <a:r>
              <a:rPr lang="ru-RU" b="1" i="1" u="sng" dirty="0"/>
              <a:t> </a:t>
            </a:r>
            <a:r>
              <a:rPr lang="ru-RU" b="1" i="1" u="sng" dirty="0" err="1"/>
              <a:t>rate</a:t>
            </a:r>
            <a:r>
              <a:rPr lang="ru-RU" b="1" i="1" u="sng" dirty="0"/>
              <a:t> </a:t>
            </a:r>
            <a:r>
              <a:rPr lang="ru-RU" b="1" i="1" u="sng" dirty="0" err="1"/>
              <a:t>effect</a:t>
            </a:r>
            <a:r>
              <a:rPr lang="ru-RU" b="1" i="1" u="sng" dirty="0"/>
              <a:t>), или эффектом </a:t>
            </a:r>
            <a:r>
              <a:rPr lang="ru-RU" b="1" i="1" u="sng" dirty="0" err="1"/>
              <a:t>Кейнса</a:t>
            </a:r>
            <a:r>
              <a:rPr lang="ru-RU" b="1" i="1" u="sng" dirty="0"/>
              <a:t>.</a:t>
            </a:r>
          </a:p>
          <a:p>
            <a:endParaRPr lang="ru-RU" dirty="0"/>
          </a:p>
          <a:p>
            <a:r>
              <a:rPr lang="ru-RU" dirty="0"/>
              <a:t>Он состоит в следующем: если уровень цен (Р) повышается, возрастает номинальный спрос на деньги (М), так как людям требуется больше денег для покупки подорожавших товаров. Люди снимают деньги с банковских счетов, при неизменной величине предложения денег возможности банков по выдаче кредитов сокращаются, кредитные ресурсы становятся дороже, растет "цена" денег (цена кредита), т.е. ставка процента (R). Удорожание кредита, который в первую очередь берут фирмы для покупки инвестиционных товаров, ведет к сокращению величины инвестиционного спроса (</a:t>
            </a:r>
            <a:r>
              <a:rPr lang="en-US" dirty="0"/>
              <a:t>I</a:t>
            </a:r>
            <a:r>
              <a:rPr lang="ru-RU" dirty="0"/>
              <a:t>), являющегося частью совокупного спроса, и, следовательно, величина совокупного спроса уменьшается. </a:t>
            </a:r>
          </a:p>
          <a:p>
            <a:r>
              <a:rPr lang="ru-RU" b="1" dirty="0"/>
              <a:t>Эффект </a:t>
            </a:r>
            <a:r>
              <a:rPr lang="ru-RU" b="1" dirty="0" err="1"/>
              <a:t>Кейнса</a:t>
            </a:r>
            <a:r>
              <a:rPr lang="ru-RU" b="1" dirty="0"/>
              <a:t> может быть представлен в виде логической цепочки:</a:t>
            </a:r>
          </a:p>
          <a:p>
            <a:endParaRPr lang="ru-RU" dirty="0"/>
          </a:p>
          <a:p>
            <a:pPr algn="ctr"/>
            <a:r>
              <a:rPr lang="ru-RU" b="1" dirty="0">
                <a:solidFill>
                  <a:srgbClr val="C00000"/>
                </a:solidFill>
              </a:rPr>
              <a:t>Р =&gt; M =&gt; </a:t>
            </a:r>
            <a:r>
              <a:rPr lang="en-US" b="1" dirty="0">
                <a:solidFill>
                  <a:srgbClr val="C00000"/>
                </a:solidFill>
              </a:rPr>
              <a:t>R</a:t>
            </a:r>
            <a:r>
              <a:rPr lang="ru-RU" b="1" dirty="0">
                <a:solidFill>
                  <a:srgbClr val="C00000"/>
                </a:solidFill>
              </a:rPr>
              <a:t> =&gt; </a:t>
            </a:r>
            <a:r>
              <a:rPr lang="en-US" b="1" dirty="0">
                <a:solidFill>
                  <a:srgbClr val="C00000"/>
                </a:solidFill>
              </a:rPr>
              <a:t>I</a:t>
            </a:r>
            <a:r>
              <a:rPr lang="ru-RU" b="1" dirty="0">
                <a:solidFill>
                  <a:srgbClr val="C00000"/>
                </a:solidFill>
              </a:rPr>
              <a:t> =&gt; AD .</a:t>
            </a:r>
          </a:p>
          <a:p>
            <a:endParaRPr lang="ru-RU" dirty="0"/>
          </a:p>
          <a:p>
            <a:r>
              <a:rPr lang="ru-RU" dirty="0"/>
              <a:t>Кроме того, рост ставки процента сокращает и потребительские расходы, поскольку кредит берут не только фирмы, но и домохозяйства (потребительский кредит), особенно на покупку товаров длительного пользования, и его удорожание ведет к сокращению потребительского спроса;</a:t>
            </a:r>
          </a:p>
        </p:txBody>
      </p:sp>
      <p:cxnSp>
        <p:nvCxnSpPr>
          <p:cNvPr id="4" name="Прямая со стрелкой 3"/>
          <p:cNvCxnSpPr/>
          <p:nvPr/>
        </p:nvCxnSpPr>
        <p:spPr>
          <a:xfrm flipV="1">
            <a:off x="4862146" y="4009292"/>
            <a:ext cx="0" cy="37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Прямая со стрелкой 4"/>
          <p:cNvCxnSpPr/>
          <p:nvPr/>
        </p:nvCxnSpPr>
        <p:spPr>
          <a:xfrm flipV="1">
            <a:off x="6044712" y="3993905"/>
            <a:ext cx="0" cy="37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Прямая со стрелкой 5"/>
          <p:cNvCxnSpPr/>
          <p:nvPr/>
        </p:nvCxnSpPr>
        <p:spPr>
          <a:xfrm flipV="1">
            <a:off x="5492262" y="3989509"/>
            <a:ext cx="0" cy="37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Прямая со стрелкой 7"/>
          <p:cNvCxnSpPr/>
          <p:nvPr/>
        </p:nvCxnSpPr>
        <p:spPr>
          <a:xfrm>
            <a:off x="6573717" y="4009292"/>
            <a:ext cx="8792" cy="37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Прямая со стрелкой 11"/>
          <p:cNvCxnSpPr/>
          <p:nvPr/>
        </p:nvCxnSpPr>
        <p:spPr>
          <a:xfrm>
            <a:off x="7323992" y="4009292"/>
            <a:ext cx="2930" cy="37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28673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292469" y="1149092"/>
            <a:ext cx="9996854" cy="4247317"/>
          </a:xfrm>
          <a:prstGeom prst="rect">
            <a:avLst/>
          </a:prstGeom>
        </p:spPr>
        <p:txBody>
          <a:bodyPr wrap="square">
            <a:spAutoFit/>
          </a:bodyPr>
          <a:lstStyle/>
          <a:p>
            <a:pPr marL="285750" indent="-285750" algn="just">
              <a:buFont typeface="Wingdings" panose="05000000000000000000" pitchFamily="2" charset="2"/>
              <a:buChar char="v"/>
            </a:pPr>
            <a:r>
              <a:rPr lang="ru-RU" b="1" i="1" u="sng" dirty="0"/>
              <a:t>Эффектом импортных закупок, или эффектом чистого экспорта (</a:t>
            </a:r>
            <a:r>
              <a:rPr lang="ru-RU" b="1" i="1" u="sng" dirty="0" err="1"/>
              <a:t>net</a:t>
            </a:r>
            <a:r>
              <a:rPr lang="ru-RU" b="1" i="1" u="sng" dirty="0"/>
              <a:t> </a:t>
            </a:r>
            <a:r>
              <a:rPr lang="ru-RU" b="1" i="1" u="sng" dirty="0" err="1"/>
              <a:t>export</a:t>
            </a:r>
            <a:r>
              <a:rPr lang="ru-RU" b="1" i="1" u="sng" dirty="0"/>
              <a:t> </a:t>
            </a:r>
            <a:r>
              <a:rPr lang="ru-RU" b="1" i="1" u="sng" dirty="0" err="1"/>
              <a:t>effect</a:t>
            </a:r>
            <a:r>
              <a:rPr lang="ru-RU" b="1" i="1" u="sng" dirty="0"/>
              <a:t>) </a:t>
            </a:r>
          </a:p>
          <a:p>
            <a:pPr algn="just"/>
            <a:r>
              <a:rPr lang="ru-RU" dirty="0"/>
              <a:t>— эффектом </a:t>
            </a:r>
            <a:r>
              <a:rPr lang="ru-RU" dirty="0" err="1"/>
              <a:t>Манделла</a:t>
            </a:r>
            <a:r>
              <a:rPr lang="ru-RU" dirty="0"/>
              <a:t>—Флеминга. </a:t>
            </a:r>
          </a:p>
          <a:p>
            <a:pPr algn="just"/>
            <a:r>
              <a:rPr lang="ru-RU" dirty="0"/>
              <a:t>Он заключается в следующем: </a:t>
            </a:r>
          </a:p>
          <a:p>
            <a:pPr algn="just"/>
            <a:r>
              <a:rPr lang="ru-RU" dirty="0"/>
              <a:t>если уровень цен (Р) в стране повышается, то товары данной страны становятся относительно более дорогими для иностранцев и поэтому экспорт (</a:t>
            </a:r>
            <a:r>
              <a:rPr lang="ru-RU" dirty="0" err="1"/>
              <a:t>Ех</a:t>
            </a:r>
            <a:r>
              <a:rPr lang="ru-RU" dirty="0"/>
              <a:t>) сокращается. Импортные же товары становятся относительно более дешевыми для граждан данной страны, поэтому импорт (</a:t>
            </a:r>
            <a:r>
              <a:rPr lang="en-US" dirty="0" err="1"/>
              <a:t>Im</a:t>
            </a:r>
            <a:r>
              <a:rPr lang="ru-RU" dirty="0"/>
              <a:t>) увеличивается. В результате чистый экспорт (Х</a:t>
            </a:r>
            <a:r>
              <a:rPr lang="en-US" dirty="0"/>
              <a:t>n</a:t>
            </a:r>
            <a:r>
              <a:rPr lang="ru-RU" dirty="0"/>
              <a:t>) сокращается, а поскольку он является частью совокупного спроса, то величина совокупного спроса (AD) уменьшается.</a:t>
            </a:r>
            <a:endParaRPr lang="en-US" dirty="0"/>
          </a:p>
          <a:p>
            <a:pPr algn="just"/>
            <a:r>
              <a:rPr lang="ru-RU" u="sng" dirty="0"/>
              <a:t>Эффект </a:t>
            </a:r>
            <a:r>
              <a:rPr lang="ru-RU" u="sng" dirty="0" err="1"/>
              <a:t>Манделла</a:t>
            </a:r>
            <a:r>
              <a:rPr lang="ru-RU" u="sng" dirty="0"/>
              <a:t>—Флеминга может быть представлен логической цепочкой</a:t>
            </a:r>
            <a:r>
              <a:rPr lang="en-US" dirty="0"/>
              <a:t>:</a:t>
            </a:r>
            <a:endParaRPr lang="ru-RU" dirty="0"/>
          </a:p>
          <a:p>
            <a:pPr algn="just"/>
            <a:endParaRPr lang="ru-RU" dirty="0"/>
          </a:p>
          <a:p>
            <a:pPr algn="ctr"/>
            <a:r>
              <a:rPr lang="ru-RU" b="1" dirty="0">
                <a:solidFill>
                  <a:srgbClr val="C00000"/>
                </a:solidFill>
              </a:rPr>
              <a:t>Р =&gt; </a:t>
            </a:r>
            <a:r>
              <a:rPr lang="ru-RU" b="1" dirty="0" err="1">
                <a:solidFill>
                  <a:srgbClr val="C00000"/>
                </a:solidFill>
              </a:rPr>
              <a:t>Ex</a:t>
            </a:r>
            <a:r>
              <a:rPr lang="en-US" b="1" dirty="0">
                <a:solidFill>
                  <a:srgbClr val="C00000"/>
                </a:solidFill>
              </a:rPr>
              <a:t> </a:t>
            </a:r>
            <a:r>
              <a:rPr lang="ru-RU" b="1" dirty="0">
                <a:solidFill>
                  <a:srgbClr val="C00000"/>
                </a:solidFill>
              </a:rPr>
              <a:t>, </a:t>
            </a:r>
            <a:r>
              <a:rPr lang="en-US" b="1" dirty="0" err="1">
                <a:solidFill>
                  <a:srgbClr val="C00000"/>
                </a:solidFill>
              </a:rPr>
              <a:t>Im</a:t>
            </a:r>
            <a:r>
              <a:rPr lang="ru-RU" b="1" dirty="0">
                <a:solidFill>
                  <a:srgbClr val="C00000"/>
                </a:solidFill>
              </a:rPr>
              <a:t> =&gt; </a:t>
            </a:r>
            <a:r>
              <a:rPr lang="ru-RU" b="1" dirty="0" err="1">
                <a:solidFill>
                  <a:srgbClr val="C00000"/>
                </a:solidFill>
              </a:rPr>
              <a:t>Xn</a:t>
            </a:r>
            <a:r>
              <a:rPr lang="ru-RU" b="1" dirty="0">
                <a:solidFill>
                  <a:srgbClr val="C00000"/>
                </a:solidFill>
              </a:rPr>
              <a:t> </a:t>
            </a:r>
            <a:r>
              <a:rPr lang="en-US" b="1" dirty="0">
                <a:solidFill>
                  <a:srgbClr val="C00000"/>
                </a:solidFill>
              </a:rPr>
              <a:t> </a:t>
            </a:r>
            <a:r>
              <a:rPr lang="ru-RU" b="1" dirty="0">
                <a:solidFill>
                  <a:srgbClr val="C00000"/>
                </a:solidFill>
              </a:rPr>
              <a:t>=&gt; AD</a:t>
            </a:r>
            <a:r>
              <a:rPr lang="en-US" b="1" dirty="0">
                <a:solidFill>
                  <a:srgbClr val="C00000"/>
                </a:solidFill>
              </a:rPr>
              <a:t> </a:t>
            </a:r>
            <a:r>
              <a:rPr lang="ru-RU" b="1" dirty="0">
                <a:solidFill>
                  <a:srgbClr val="C00000"/>
                </a:solidFill>
              </a:rPr>
              <a:t>.</a:t>
            </a:r>
          </a:p>
          <a:p>
            <a:pPr algn="just"/>
            <a:endParaRPr lang="ru-RU" dirty="0"/>
          </a:p>
          <a:p>
            <a:pPr algn="just"/>
            <a:r>
              <a:rPr lang="ru-RU" dirty="0"/>
              <a:t>Эти </a:t>
            </a:r>
            <a:r>
              <a:rPr lang="ru-RU" i="1" dirty="0"/>
              <a:t>три эффекта </a:t>
            </a:r>
            <a:r>
              <a:rPr lang="ru-RU" dirty="0"/>
              <a:t>показывают воздействие </a:t>
            </a:r>
            <a:r>
              <a:rPr lang="ru-RU" b="1" dirty="0">
                <a:solidFill>
                  <a:srgbClr val="C00000"/>
                </a:solidFill>
              </a:rPr>
              <a:t>ценовых факторов </a:t>
            </a:r>
            <a:r>
              <a:rPr lang="ru-RU" dirty="0"/>
              <a:t>(изменения общего уровня цен), которые при прочих равных условиях (неизменных неценовых факторах) влияют на величину совокупного спроса и обусловливают движение вдоль кривой AD.</a:t>
            </a:r>
          </a:p>
        </p:txBody>
      </p:sp>
      <p:cxnSp>
        <p:nvCxnSpPr>
          <p:cNvPr id="3" name="Прямая со стрелкой 2"/>
          <p:cNvCxnSpPr/>
          <p:nvPr/>
        </p:nvCxnSpPr>
        <p:spPr>
          <a:xfrm flipV="1">
            <a:off x="5002823" y="3859823"/>
            <a:ext cx="0" cy="37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 name="Прямая со стрелкой 3"/>
          <p:cNvCxnSpPr/>
          <p:nvPr/>
        </p:nvCxnSpPr>
        <p:spPr>
          <a:xfrm flipV="1">
            <a:off x="6166338" y="3837843"/>
            <a:ext cx="0" cy="37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Прямая со стрелкой 4"/>
          <p:cNvCxnSpPr/>
          <p:nvPr/>
        </p:nvCxnSpPr>
        <p:spPr>
          <a:xfrm>
            <a:off x="5706941" y="3859823"/>
            <a:ext cx="8792" cy="37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Прямая со стрелкой 5"/>
          <p:cNvCxnSpPr/>
          <p:nvPr/>
        </p:nvCxnSpPr>
        <p:spPr>
          <a:xfrm>
            <a:off x="6850675" y="3851032"/>
            <a:ext cx="8792" cy="37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Прямая со стрелкой 6"/>
          <p:cNvCxnSpPr/>
          <p:nvPr/>
        </p:nvCxnSpPr>
        <p:spPr>
          <a:xfrm>
            <a:off x="7663962" y="3859823"/>
            <a:ext cx="8792" cy="37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42243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97877" y="654959"/>
            <a:ext cx="11025553" cy="461665"/>
          </a:xfrm>
          <a:prstGeom prst="rect">
            <a:avLst/>
          </a:prstGeom>
          <a:solidFill>
            <a:schemeClr val="accent4">
              <a:lumMod val="20000"/>
              <a:lumOff val="80000"/>
            </a:schemeClr>
          </a:solid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r>
              <a:rPr lang="ru-RU" sz="2400" b="1" dirty="0">
                <a:ln/>
                <a:solidFill>
                  <a:schemeClr val="accent4"/>
                </a:solidFill>
              </a:rPr>
              <a:t>Неценовые факторы совокупного спроса</a:t>
            </a:r>
            <a:endParaRPr lang="ru-RU" sz="2400" b="1" cap="none" spc="0" dirty="0">
              <a:ln/>
              <a:solidFill>
                <a:schemeClr val="accent4"/>
              </a:solidFill>
              <a:effectLst/>
            </a:endParaRPr>
          </a:p>
        </p:txBody>
      </p:sp>
      <p:sp>
        <p:nvSpPr>
          <p:cNvPr id="3" name="Прямоугольник 2"/>
          <p:cNvSpPr/>
          <p:nvPr/>
        </p:nvSpPr>
        <p:spPr>
          <a:xfrm>
            <a:off x="800099" y="1204546"/>
            <a:ext cx="10621108" cy="5139869"/>
          </a:xfrm>
          <a:prstGeom prst="rect">
            <a:avLst/>
          </a:prstGeom>
        </p:spPr>
        <p:txBody>
          <a:bodyPr wrap="square">
            <a:spAutoFit/>
          </a:bodyPr>
          <a:lstStyle/>
          <a:p>
            <a:pPr algn="just"/>
            <a:r>
              <a:rPr lang="ru-RU" dirty="0"/>
              <a:t>К неценовым факторам изменения совокупного спроса относятся факторы, влияющие на каждый из компонентов совокупных расходов.</a:t>
            </a:r>
          </a:p>
          <a:p>
            <a:pPr algn="just"/>
            <a:r>
              <a:rPr lang="ru-RU" sz="2000" b="1" dirty="0"/>
              <a:t>Факторы, воздействующие на </a:t>
            </a:r>
            <a:r>
              <a:rPr lang="ru-RU" sz="2000" b="1" i="1" u="sng" dirty="0">
                <a:solidFill>
                  <a:srgbClr val="C00000"/>
                </a:solidFill>
              </a:rPr>
              <a:t>совокупные потребительские расходы</a:t>
            </a:r>
            <a:r>
              <a:rPr lang="ru-RU" sz="2000" b="1" i="1" dirty="0">
                <a:solidFill>
                  <a:srgbClr val="C00000"/>
                </a:solidFill>
              </a:rPr>
              <a:t> </a:t>
            </a:r>
            <a:r>
              <a:rPr lang="ru-RU" b="1" i="1" dirty="0"/>
              <a:t>((+)-прямая зависимость,(-)-обратная зависимость)</a:t>
            </a:r>
            <a:r>
              <a:rPr lang="ru-RU" b="1" dirty="0"/>
              <a:t>:</a:t>
            </a:r>
            <a:endParaRPr lang="ru-RU" dirty="0"/>
          </a:p>
          <a:p>
            <a:pPr marL="285750" indent="-285750" algn="just">
              <a:buFont typeface="Arial" panose="020B0604020202020204" pitchFamily="34" charset="0"/>
              <a:buChar char="•"/>
            </a:pPr>
            <a:r>
              <a:rPr lang="ru-RU" b="1" u="sng" dirty="0"/>
              <a:t>уровень благосостояния, или величина богатства (</a:t>
            </a:r>
            <a:r>
              <a:rPr lang="ru-RU" b="1" u="sng" dirty="0" err="1"/>
              <a:t>wealth</a:t>
            </a:r>
            <a:r>
              <a:rPr lang="ru-RU" b="1" u="sng" dirty="0"/>
              <a:t> — Q(+)). </a:t>
            </a:r>
            <a:r>
              <a:rPr lang="ru-RU" dirty="0"/>
              <a:t>Чем выше уровень благосостояния, т.е. величина богатства (изменение которой в данном случае не должно обусловливаться изменением уровня цен), тем больше потребительские расходы и тем больше совокупный спрос — кривая AD сдвигается </a:t>
            </a:r>
            <a:r>
              <a:rPr lang="ru-RU" b="1" i="1" dirty="0"/>
              <a:t>вправо.</a:t>
            </a:r>
            <a:r>
              <a:rPr lang="ru-RU" dirty="0"/>
              <a:t> В противоположном случае она сдвигается </a:t>
            </a:r>
            <a:r>
              <a:rPr lang="ru-RU" b="1" i="1" dirty="0"/>
              <a:t>влево</a:t>
            </a:r>
            <a:r>
              <a:rPr lang="ru-RU" dirty="0"/>
              <a:t>.</a:t>
            </a:r>
          </a:p>
          <a:p>
            <a:pPr marL="285750" indent="-285750" algn="just">
              <a:buFont typeface="Arial" panose="020B0604020202020204" pitchFamily="34" charset="0"/>
              <a:buChar char="•"/>
            </a:pPr>
            <a:r>
              <a:rPr lang="ru-RU" b="1" u="sng" dirty="0"/>
              <a:t>уровень текущего дохода (</a:t>
            </a:r>
            <a:r>
              <a:rPr lang="ru-RU" b="1" u="sng" dirty="0" err="1"/>
              <a:t>yield</a:t>
            </a:r>
            <a:r>
              <a:rPr lang="ru-RU" b="1" u="sng" dirty="0"/>
              <a:t>, </a:t>
            </a:r>
            <a:r>
              <a:rPr lang="ru-RU" b="1" u="sng" dirty="0" err="1"/>
              <a:t>income</a:t>
            </a:r>
            <a:r>
              <a:rPr lang="ru-RU" b="1" u="sng" dirty="0"/>
              <a:t> — Y(+)). </a:t>
            </a:r>
            <a:r>
              <a:rPr lang="ru-RU" dirty="0"/>
              <a:t>Рост уровня дохода ведет к росту потребления и поэтому к увеличению совокупного спроса (сдвиг кривой AD вправо);</a:t>
            </a:r>
          </a:p>
          <a:p>
            <a:pPr algn="just"/>
            <a:r>
              <a:rPr lang="ru-RU" dirty="0"/>
              <a:t>Ожидания потребителей, которые включают:</a:t>
            </a:r>
          </a:p>
          <a:p>
            <a:pPr marL="285750" indent="-285750" algn="just">
              <a:buFont typeface="Wingdings" panose="05000000000000000000" pitchFamily="2" charset="2"/>
              <a:buChar char="ü"/>
            </a:pPr>
            <a:r>
              <a:rPr lang="ru-RU" b="1" u="sng" dirty="0"/>
              <a:t>ожидания изменения дохода в будущем (</a:t>
            </a:r>
            <a:r>
              <a:rPr lang="ru-RU" b="1" u="sng" dirty="0" err="1"/>
              <a:t>expected</a:t>
            </a:r>
            <a:r>
              <a:rPr lang="ru-RU" b="1" u="sng" dirty="0"/>
              <a:t> </a:t>
            </a:r>
            <a:r>
              <a:rPr lang="ru-RU" b="1" u="sng" dirty="0" err="1"/>
              <a:t>income</a:t>
            </a:r>
            <a:r>
              <a:rPr lang="ru-RU" b="1" u="sng" dirty="0"/>
              <a:t> — </a:t>
            </a:r>
            <a:r>
              <a:rPr lang="ru-RU" b="1" u="sng" dirty="0" err="1"/>
              <a:t>Ye</a:t>
            </a:r>
            <a:r>
              <a:rPr lang="ru-RU" b="1" u="sng" dirty="0"/>
              <a:t>(+))</a:t>
            </a:r>
            <a:r>
              <a:rPr lang="ru-RU" b="1" dirty="0"/>
              <a:t> </a:t>
            </a:r>
            <a:r>
              <a:rPr lang="ru-RU" dirty="0"/>
              <a:t>— если человек ожидает увеличения дохода в будущем, то он увеличивает потребление уже в настоящем, что ведет к росту совокупного спроса (сдвиг кривой AD вправо)</a:t>
            </a:r>
          </a:p>
          <a:p>
            <a:pPr marL="285750" indent="-285750" algn="just">
              <a:buFont typeface="Wingdings" panose="05000000000000000000" pitchFamily="2" charset="2"/>
              <a:buChar char="ü"/>
            </a:pPr>
            <a:r>
              <a:rPr lang="ru-RU" b="1" u="sng" dirty="0"/>
              <a:t>ожидания изменения уровня цен (</a:t>
            </a:r>
            <a:r>
              <a:rPr lang="ru-RU" b="1" u="sng" dirty="0" err="1"/>
              <a:t>expected</a:t>
            </a:r>
            <a:r>
              <a:rPr lang="ru-RU" b="1" u="sng" dirty="0"/>
              <a:t> </a:t>
            </a:r>
            <a:r>
              <a:rPr lang="ru-RU" b="1" u="sng" dirty="0" err="1"/>
              <a:t>inflation</a:t>
            </a:r>
            <a:r>
              <a:rPr lang="ru-RU" b="1" u="sng" dirty="0"/>
              <a:t> — </a:t>
            </a:r>
            <a:r>
              <a:rPr lang="ru-RU" b="1" u="sng" dirty="0" err="1"/>
              <a:t>пе</a:t>
            </a:r>
            <a:r>
              <a:rPr lang="ru-RU" b="1" u="sng" dirty="0"/>
              <a:t>(+))</a:t>
            </a:r>
            <a:r>
              <a:rPr lang="ru-RU" dirty="0"/>
              <a:t>— если люди ожидают роста уровня цен, то они увеличивают спрос на товары и услуги, стремясь купить их как можно больше по относительно низким ценам в настоящем (так называемая инфляционная психология), что также ведет к увеличению совокупного спроса.</a:t>
            </a:r>
          </a:p>
        </p:txBody>
      </p:sp>
    </p:spTree>
    <p:extLst>
      <p:ext uri="{BB962C8B-B14F-4D97-AF65-F5344CB8AC3E}">
        <p14:creationId xmlns:p14="http://schemas.microsoft.com/office/powerpoint/2010/main" val="2849366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29761" y="957839"/>
            <a:ext cx="10735408" cy="4801314"/>
          </a:xfrm>
          <a:prstGeom prst="rect">
            <a:avLst/>
          </a:prstGeom>
        </p:spPr>
        <p:txBody>
          <a:bodyPr wrap="square">
            <a:spAutoFit/>
          </a:bodyPr>
          <a:lstStyle/>
          <a:p>
            <a:pPr marL="285750" indent="-285750" algn="just">
              <a:buFont typeface="Arial" panose="020B0604020202020204" pitchFamily="34" charset="0"/>
              <a:buChar char="•"/>
            </a:pPr>
            <a:r>
              <a:rPr lang="ru-RU" b="1" u="sng" dirty="0"/>
              <a:t>налоги (</a:t>
            </a:r>
            <a:r>
              <a:rPr lang="ru-RU" b="1" u="sng" dirty="0" err="1"/>
              <a:t>taxes</a:t>
            </a:r>
            <a:r>
              <a:rPr lang="ru-RU" b="1" u="sng" dirty="0"/>
              <a:t> — </a:t>
            </a:r>
            <a:r>
              <a:rPr lang="ru-RU" b="1" u="sng" dirty="0" err="1"/>
              <a:t>Тх</a:t>
            </a:r>
            <a:r>
              <a:rPr lang="ru-RU" b="1" u="sng" dirty="0"/>
              <a:t>(-)). </a:t>
            </a:r>
            <a:r>
              <a:rPr lang="ru-RU" dirty="0"/>
              <a:t>Рост налогов приводит к сокращению располагаемого дохода (</a:t>
            </a:r>
            <a:r>
              <a:rPr lang="ru-RU" dirty="0" err="1"/>
              <a:t>Yd</a:t>
            </a:r>
            <a:r>
              <a:rPr lang="ru-RU" dirty="0"/>
              <a:t>), частью которого является потребление, и, следовательно, к уменьшению совокупного спроса и сдвигу кривой AD </a:t>
            </a:r>
            <a:r>
              <a:rPr lang="ru-RU" b="1" dirty="0"/>
              <a:t>влево</a:t>
            </a:r>
            <a:r>
              <a:rPr lang="ru-RU" dirty="0"/>
              <a:t>;</a:t>
            </a:r>
          </a:p>
          <a:p>
            <a:pPr algn="just"/>
            <a:endParaRPr lang="ru-RU" dirty="0"/>
          </a:p>
          <a:p>
            <a:pPr marL="285750" indent="-285750" algn="just">
              <a:buFont typeface="Arial" panose="020B0604020202020204" pitchFamily="34" charset="0"/>
              <a:buChar char="•"/>
            </a:pPr>
            <a:r>
              <a:rPr lang="ru-RU" b="1" u="sng" dirty="0"/>
              <a:t>трансферты (</a:t>
            </a:r>
            <a:r>
              <a:rPr lang="ru-RU" b="1" u="sng" dirty="0" err="1"/>
              <a:t>transfers</a:t>
            </a:r>
            <a:r>
              <a:rPr lang="ru-RU" b="1" u="sng" dirty="0"/>
              <a:t> — </a:t>
            </a:r>
            <a:r>
              <a:rPr lang="en-US" b="1" u="sng" dirty="0" err="1"/>
              <a:t>Tr</a:t>
            </a:r>
            <a:r>
              <a:rPr lang="ru-RU" b="1" u="sng" dirty="0"/>
              <a:t> (+)).</a:t>
            </a:r>
            <a:r>
              <a:rPr lang="ru-RU" dirty="0"/>
              <a:t>Увеличение трансфертов означает рост личного, а при неизменных налогах (т.е. при прочих равных условиях) рост располагаемого дохода, поэтому потребительские расходы растут и совокупный спрос увеличивается, обусловливая сдвиг кривой AD </a:t>
            </a:r>
            <a:r>
              <a:rPr lang="ru-RU" b="1" dirty="0"/>
              <a:t>вправо</a:t>
            </a:r>
            <a:r>
              <a:rPr lang="ru-RU" dirty="0"/>
              <a:t>;</a:t>
            </a:r>
          </a:p>
          <a:p>
            <a:pPr algn="just"/>
            <a:endParaRPr lang="ru-RU" dirty="0"/>
          </a:p>
          <a:p>
            <a:pPr marL="285750" indent="-285750" algn="just">
              <a:buFont typeface="Arial" panose="020B0604020202020204" pitchFamily="34" charset="0"/>
              <a:buChar char="•"/>
            </a:pPr>
            <a:r>
              <a:rPr lang="ru-RU" b="1" u="sng" dirty="0"/>
              <a:t>уровень задолженности домохозяйств (</a:t>
            </a:r>
            <a:r>
              <a:rPr lang="ru-RU" b="1" u="sng" dirty="0" err="1"/>
              <a:t>debt</a:t>
            </a:r>
            <a:r>
              <a:rPr lang="ru-RU" b="1" u="sng" dirty="0"/>
              <a:t> — D (-)).</a:t>
            </a:r>
            <a:r>
              <a:rPr lang="ru-RU" dirty="0"/>
              <a:t>Чем выше степень задолженности, тем большую долю дохода домохозяйства вынуждены направлять на выплату долгов в настоящем или откладывать в виде сбережений для выплаты долгов в будущем, что ведет к сокращению потребления и соответственно совокупного спроса (сдвиг кривой AD влево);</a:t>
            </a:r>
          </a:p>
          <a:p>
            <a:pPr algn="just"/>
            <a:endParaRPr lang="ru-RU" dirty="0"/>
          </a:p>
          <a:p>
            <a:pPr marL="285750" indent="-285750" algn="just">
              <a:buFont typeface="Arial" panose="020B0604020202020204" pitchFamily="34" charset="0"/>
              <a:buChar char="•"/>
            </a:pPr>
            <a:r>
              <a:rPr lang="ru-RU" b="1" u="sng" dirty="0"/>
              <a:t>ставка процента по потребительскому кредиту (</a:t>
            </a:r>
            <a:r>
              <a:rPr lang="ru-RU" b="1" u="sng" dirty="0" err="1"/>
              <a:t>interest</a:t>
            </a:r>
            <a:r>
              <a:rPr lang="ru-RU" b="1" u="sng" dirty="0"/>
              <a:t> </a:t>
            </a:r>
            <a:r>
              <a:rPr lang="ru-RU" b="1" u="sng" dirty="0" err="1"/>
              <a:t>rate</a:t>
            </a:r>
            <a:r>
              <a:rPr lang="ru-RU" b="1" u="sng" dirty="0"/>
              <a:t> — </a:t>
            </a:r>
            <a:r>
              <a:rPr lang="en-US" b="1" u="sng" dirty="0"/>
              <a:t>R</a:t>
            </a:r>
            <a:r>
              <a:rPr lang="ru-RU" b="1" u="sng" dirty="0"/>
              <a:t> (-))</a:t>
            </a:r>
            <a:r>
              <a:rPr lang="ru-RU" dirty="0"/>
              <a:t>— чем выше ставка процента по потребительскому кредиту (при этом изменение ставки не должно быть обусловлено изменением уровня цен), который домохозяйства берут на покупку дорогостоящих товаров длительного пользования, тем меньше потребительские расходы (сдвиг кривой AD влево).</a:t>
            </a:r>
          </a:p>
        </p:txBody>
      </p:sp>
    </p:spTree>
    <p:extLst>
      <p:ext uri="{BB962C8B-B14F-4D97-AF65-F5344CB8AC3E}">
        <p14:creationId xmlns:p14="http://schemas.microsoft.com/office/powerpoint/2010/main" val="47761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808892" y="740128"/>
            <a:ext cx="10638693" cy="5109091"/>
          </a:xfrm>
          <a:prstGeom prst="rect">
            <a:avLst/>
          </a:prstGeom>
        </p:spPr>
        <p:txBody>
          <a:bodyPr wrap="square">
            <a:spAutoFit/>
          </a:bodyPr>
          <a:lstStyle/>
          <a:p>
            <a:r>
              <a:rPr lang="ru-RU" sz="2000" b="1" dirty="0"/>
              <a:t>Факторы, воздействующие на </a:t>
            </a:r>
            <a:r>
              <a:rPr lang="ru-RU" sz="2000" b="1" i="1" u="sng" dirty="0">
                <a:solidFill>
                  <a:srgbClr val="C00000"/>
                </a:solidFill>
              </a:rPr>
              <a:t>совокупные инвестиционные расходы</a:t>
            </a:r>
            <a:r>
              <a:rPr lang="ru-RU" sz="2000" dirty="0"/>
              <a:t>:</a:t>
            </a:r>
          </a:p>
          <a:p>
            <a:endParaRPr lang="ru-RU" dirty="0"/>
          </a:p>
          <a:p>
            <a:pPr marL="285750" indent="-285750">
              <a:buFont typeface="Wingdings" panose="05000000000000000000" pitchFamily="2" charset="2"/>
              <a:buChar char="§"/>
            </a:pPr>
            <a:r>
              <a:rPr lang="ru-RU" b="1" u="sng" dirty="0"/>
              <a:t>ожидания инвесторов (фирм)</a:t>
            </a:r>
            <a:r>
              <a:rPr lang="en-US" b="1" u="sng" dirty="0"/>
              <a:t> (+)</a:t>
            </a:r>
            <a:r>
              <a:rPr lang="ru-RU" b="1" u="sng" dirty="0"/>
              <a:t>, </a:t>
            </a:r>
            <a:r>
              <a:rPr lang="ru-RU" dirty="0"/>
              <a:t>которые связаны прежде всего с ожидаемой внутренней нормой отдачи от инвестиций (</a:t>
            </a:r>
            <a:r>
              <a:rPr lang="ru-RU" dirty="0" err="1"/>
              <a:t>internal</a:t>
            </a:r>
            <a:r>
              <a:rPr lang="ru-RU" dirty="0"/>
              <a:t> </a:t>
            </a:r>
            <a:r>
              <a:rPr lang="ru-RU" dirty="0" err="1"/>
              <a:t>rate</a:t>
            </a:r>
            <a:r>
              <a:rPr lang="ru-RU" dirty="0"/>
              <a:t> </a:t>
            </a:r>
            <a:r>
              <a:rPr lang="ru-RU" dirty="0" err="1"/>
              <a:t>of</a:t>
            </a:r>
            <a:r>
              <a:rPr lang="ru-RU" dirty="0"/>
              <a:t> </a:t>
            </a:r>
            <a:r>
              <a:rPr lang="ru-RU" dirty="0" err="1"/>
              <a:t>return</a:t>
            </a:r>
            <a:r>
              <a:rPr lang="ru-RU" dirty="0"/>
              <a:t> — IRR), т.е. ожидаемой нормой прибыли. Если инвесторы ожидают высокой нормы отдачи от инвестиций, они будут финансировать инвестиционные проекты. Инвестиционный спрос увеличится, и кривая совокупного спроса сдвинется вправо. Если инвесторы настроены пессимистично в отношении своих будущих доходов, инвестиционные расходы сокращаются;</a:t>
            </a:r>
          </a:p>
          <a:p>
            <a:pPr marL="285750" indent="-285750">
              <a:buFont typeface="Wingdings" panose="05000000000000000000" pitchFamily="2" charset="2"/>
              <a:buChar char="§"/>
            </a:pPr>
            <a:r>
              <a:rPr lang="ru-RU" b="1" u="sng" dirty="0"/>
              <a:t>ставка процента (</a:t>
            </a:r>
            <a:r>
              <a:rPr lang="ru-RU" b="1" u="sng" dirty="0" err="1"/>
              <a:t>interest</a:t>
            </a:r>
            <a:r>
              <a:rPr lang="ru-RU" b="1" u="sng" dirty="0"/>
              <a:t> </a:t>
            </a:r>
            <a:r>
              <a:rPr lang="ru-RU" b="1" u="sng" dirty="0" err="1"/>
              <a:t>rate</a:t>
            </a:r>
            <a:r>
              <a:rPr lang="ru-RU" b="1" u="sng" dirty="0"/>
              <a:t> — R</a:t>
            </a:r>
            <a:r>
              <a:rPr lang="en-US" b="1" u="sng" dirty="0"/>
              <a:t> (-)</a:t>
            </a:r>
            <a:r>
              <a:rPr lang="ru-RU" b="1" u="sng" dirty="0"/>
              <a:t>) </a:t>
            </a:r>
            <a:r>
              <a:rPr lang="ru-RU" dirty="0"/>
              <a:t>— чем выше ставка процента, т.е. чем дороже кредитные ресурсы, тем меньше кредитов будут брать инвесторы и тем меньше инвестиционные расходы, кривая AD сдвигается влево. И наоборот.</a:t>
            </a:r>
          </a:p>
          <a:p>
            <a:pPr marL="285750" indent="-285750">
              <a:buFont typeface="Wingdings" panose="05000000000000000000" pitchFamily="2" charset="2"/>
              <a:buChar char="§"/>
            </a:pPr>
            <a:r>
              <a:rPr lang="ru-RU" b="1" u="sng" dirty="0"/>
              <a:t>величина дохода (</a:t>
            </a:r>
            <a:r>
              <a:rPr lang="ru-RU" b="1" u="sng" dirty="0" err="1"/>
              <a:t>yield</a:t>
            </a:r>
            <a:r>
              <a:rPr lang="ru-RU" b="1" u="sng" dirty="0"/>
              <a:t> — Y</a:t>
            </a:r>
            <a:r>
              <a:rPr lang="en-US" b="1" u="sng" dirty="0"/>
              <a:t> (+)</a:t>
            </a:r>
            <a:r>
              <a:rPr lang="ru-RU" b="1" u="sng" dirty="0"/>
              <a:t>)</a:t>
            </a:r>
            <a:r>
              <a:rPr lang="ru-RU" dirty="0"/>
              <a:t> — поскольку часть своего дохода фирмы могут использовать на покупку инвестиционных товаров с целью расширения производства, то чем выше уровень дохода фирм, тем больше совокупные инвестиционные расходы. Инвестиции, которые зависят от величины совокупного дохода, называются индуцированными инвестициями (</a:t>
            </a:r>
            <a:r>
              <a:rPr lang="ru-RU" dirty="0" err="1"/>
              <a:t>induced</a:t>
            </a:r>
            <a:r>
              <a:rPr lang="ru-RU" dirty="0"/>
              <a:t> </a:t>
            </a:r>
            <a:r>
              <a:rPr lang="ru-RU" dirty="0" err="1"/>
              <a:t>investment</a:t>
            </a:r>
            <a:r>
              <a:rPr lang="ru-RU" dirty="0"/>
              <a:t>);</a:t>
            </a:r>
          </a:p>
          <a:p>
            <a:pPr marL="285750" indent="-285750">
              <a:buFont typeface="Wingdings" panose="05000000000000000000" pitchFamily="2" charset="2"/>
              <a:buChar char="§"/>
            </a:pPr>
            <a:r>
              <a:rPr lang="ru-RU" b="1" u="sng" dirty="0"/>
              <a:t>налоги (</a:t>
            </a:r>
            <a:r>
              <a:rPr lang="ru-RU" b="1" u="sng" dirty="0" err="1"/>
              <a:t>taxes</a:t>
            </a:r>
            <a:r>
              <a:rPr lang="ru-RU" b="1" u="sng" dirty="0"/>
              <a:t> — </a:t>
            </a:r>
            <a:r>
              <a:rPr lang="en-US" b="1" u="sng" dirty="0" err="1"/>
              <a:t>Tx</a:t>
            </a:r>
            <a:r>
              <a:rPr lang="en-US" b="1" u="sng" dirty="0"/>
              <a:t> (-)</a:t>
            </a:r>
            <a:r>
              <a:rPr lang="ru-RU" b="1" u="sng" dirty="0"/>
              <a:t>) </a:t>
            </a:r>
            <a:r>
              <a:rPr lang="ru-RU" dirty="0"/>
              <a:t>— рост налогов снижает доходы (прибыль) инвесторов, что является внутренним источником финансирования фирм и основой чистых инвестиций. Следовательно, инвестиционные расходы уменьшаются, сдвигая кривую AD влево;</a:t>
            </a:r>
          </a:p>
          <a:p>
            <a:endParaRPr lang="ru-RU" dirty="0"/>
          </a:p>
        </p:txBody>
      </p:sp>
    </p:spTree>
    <p:extLst>
      <p:ext uri="{BB962C8B-B14F-4D97-AF65-F5344CB8AC3E}">
        <p14:creationId xmlns:p14="http://schemas.microsoft.com/office/powerpoint/2010/main" val="3043499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160586" y="1309613"/>
            <a:ext cx="10084776" cy="3970318"/>
          </a:xfrm>
          <a:prstGeom prst="rect">
            <a:avLst/>
          </a:prstGeom>
        </p:spPr>
        <p:txBody>
          <a:bodyPr wrap="square">
            <a:spAutoFit/>
          </a:bodyPr>
          <a:lstStyle/>
          <a:p>
            <a:pPr marL="285750" indent="-285750" algn="just">
              <a:buFont typeface="Wingdings" panose="05000000000000000000" pitchFamily="2" charset="2"/>
              <a:buChar char="§"/>
            </a:pPr>
            <a:r>
              <a:rPr lang="ru-RU" b="1" u="sng" dirty="0"/>
              <a:t>трансферты фирмам (</a:t>
            </a:r>
            <a:r>
              <a:rPr lang="ru-RU" b="1" u="sng" dirty="0" err="1"/>
              <a:t>transfers</a:t>
            </a:r>
            <a:r>
              <a:rPr lang="ru-RU" b="1" u="sng" dirty="0"/>
              <a:t> — Т</a:t>
            </a:r>
            <a:r>
              <a:rPr lang="en-US" b="1" u="sng" dirty="0"/>
              <a:t>r (+)</a:t>
            </a:r>
            <a:r>
              <a:rPr lang="ru-RU" dirty="0"/>
              <a:t>) — они выступают в виде субсидий, субвенций и льготного налогового кредита и стимулируют инвестиционный спрос;</a:t>
            </a:r>
          </a:p>
          <a:p>
            <a:pPr algn="just"/>
            <a:endParaRPr lang="ru-RU" dirty="0"/>
          </a:p>
          <a:p>
            <a:pPr marL="285750" indent="-285750" algn="just">
              <a:buFont typeface="Wingdings" panose="05000000000000000000" pitchFamily="2" charset="2"/>
              <a:buChar char="§"/>
            </a:pPr>
            <a:r>
              <a:rPr lang="ru-RU" b="1" u="sng" dirty="0"/>
              <a:t>технологии (</a:t>
            </a:r>
            <a:r>
              <a:rPr lang="ru-RU" b="1" u="sng" dirty="0" err="1"/>
              <a:t>technological</a:t>
            </a:r>
            <a:r>
              <a:rPr lang="ru-RU" b="1" u="sng" dirty="0"/>
              <a:t> </a:t>
            </a:r>
            <a:r>
              <a:rPr lang="ru-RU" b="1" u="sng" dirty="0" err="1"/>
              <a:t>progress</a:t>
            </a:r>
            <a:r>
              <a:rPr lang="ru-RU" b="1" u="sng" dirty="0"/>
              <a:t> — т</a:t>
            </a:r>
            <a:r>
              <a:rPr lang="en-US" b="1" u="sng" dirty="0"/>
              <a:t> (+)</a:t>
            </a:r>
            <a:r>
              <a:rPr lang="ru-RU" b="1" u="sng" dirty="0"/>
              <a:t>) </a:t>
            </a:r>
            <a:r>
              <a:rPr lang="ru-RU" dirty="0"/>
              <a:t>— появление более производительных технологий, обеспечивающих снижение издержек на единицу продукции и эффект масштаба, увеличивает прибыль фирм и ведет к росту инвестиционных расходов и сдвигу кривой AD вправо;</a:t>
            </a:r>
          </a:p>
          <a:p>
            <a:pPr algn="just"/>
            <a:endParaRPr lang="ru-RU" dirty="0"/>
          </a:p>
          <a:p>
            <a:pPr marL="285750" indent="-285750" algn="just">
              <a:buFont typeface="Wingdings" panose="05000000000000000000" pitchFamily="2" charset="2"/>
              <a:buChar char="§"/>
            </a:pPr>
            <a:r>
              <a:rPr lang="ru-RU" b="1" u="sng" dirty="0"/>
              <a:t>избыточные производственные мощности (K</a:t>
            </a:r>
            <a:r>
              <a:rPr lang="en-US" sz="1050" b="1" u="sng" dirty="0"/>
              <a:t>excess </a:t>
            </a:r>
            <a:r>
              <a:rPr lang="en-US" b="1" u="sng" dirty="0"/>
              <a:t>(-)</a:t>
            </a:r>
            <a:r>
              <a:rPr lang="ru-RU" b="1" u="sng" dirty="0"/>
              <a:t>) </a:t>
            </a:r>
            <a:r>
              <a:rPr lang="ru-RU" dirty="0"/>
              <a:t>— их наличие снижает инвестиционный спрос фирм, поскольку увеличение запаса капитала в условиях недоиспользования уже имеющегося у фирм количества оборудования бессмысленно;</a:t>
            </a:r>
          </a:p>
          <a:p>
            <a:pPr algn="just"/>
            <a:endParaRPr lang="ru-RU" b="1" u="sng" dirty="0"/>
          </a:p>
          <a:p>
            <a:pPr marL="285750" indent="-285750" algn="just">
              <a:buFont typeface="Wingdings" panose="05000000000000000000" pitchFamily="2" charset="2"/>
              <a:buChar char="§"/>
            </a:pPr>
            <a:r>
              <a:rPr lang="ru-RU" b="1" u="sng" dirty="0"/>
              <a:t>величина запаса капитала фирм (К0</a:t>
            </a:r>
            <a:r>
              <a:rPr lang="en-US" b="1" u="sng" dirty="0"/>
              <a:t> (-)</a:t>
            </a:r>
            <a:r>
              <a:rPr lang="ru-RU" b="1" u="sng" dirty="0"/>
              <a:t>) </a:t>
            </a:r>
            <a:r>
              <a:rPr lang="ru-RU" dirty="0"/>
              <a:t>— если фирмы имеют оптимальный запас капитала, при котором их прибыль максимальна, то они не будут делать инвестиции. Чем меньше изменится у фирм запас капитала по сравнению с оптимальным, тем больше инвестиционный спрос.</a:t>
            </a:r>
          </a:p>
        </p:txBody>
      </p:sp>
    </p:spTree>
    <p:extLst>
      <p:ext uri="{BB962C8B-B14F-4D97-AF65-F5344CB8AC3E}">
        <p14:creationId xmlns:p14="http://schemas.microsoft.com/office/powerpoint/2010/main" val="2587779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134207" y="1353658"/>
            <a:ext cx="10216662" cy="3693319"/>
          </a:xfrm>
          <a:prstGeom prst="rect">
            <a:avLst/>
          </a:prstGeom>
        </p:spPr>
        <p:txBody>
          <a:bodyPr wrap="square">
            <a:spAutoFit/>
          </a:bodyPr>
          <a:lstStyle/>
          <a:p>
            <a:pPr algn="just"/>
            <a:r>
              <a:rPr lang="ru-RU" sz="2000" b="1" dirty="0"/>
              <a:t>Факторы, воздействующие на </a:t>
            </a:r>
            <a:r>
              <a:rPr lang="ru-RU" sz="2000" b="1" i="1" u="sng" dirty="0">
                <a:solidFill>
                  <a:srgbClr val="C00000"/>
                </a:solidFill>
              </a:rPr>
              <a:t>государственные закупки товаров и услуг</a:t>
            </a:r>
            <a:r>
              <a:rPr lang="en-US" sz="2000" b="1" i="1" u="sng" dirty="0">
                <a:solidFill>
                  <a:srgbClr val="C00000"/>
                </a:solidFill>
              </a:rPr>
              <a:t> </a:t>
            </a:r>
            <a:r>
              <a:rPr lang="en-US" sz="2000" b="1" dirty="0"/>
              <a:t>:</a:t>
            </a:r>
          </a:p>
          <a:p>
            <a:pPr algn="just"/>
            <a:endParaRPr lang="en-US" dirty="0"/>
          </a:p>
          <a:p>
            <a:pPr algn="just"/>
            <a:r>
              <a:rPr lang="ru-RU" dirty="0"/>
              <a:t>Величина государственных закупок товаров и услуг (G) является, как правило, экзогенной переменной, параметром управления и определяется государственными законодательными органами (Государственной Думой, Парламентом, Конгрессом и т.п.) при разработке государственного бюджета на очередной финансовый год:</a:t>
            </a:r>
          </a:p>
          <a:p>
            <a:pPr algn="just"/>
            <a:endParaRPr lang="ru-RU" dirty="0"/>
          </a:p>
          <a:p>
            <a:pPr algn="just"/>
            <a:r>
              <a:rPr lang="ru-RU" dirty="0"/>
              <a:t>G = G.</a:t>
            </a:r>
          </a:p>
          <a:p>
            <a:pPr algn="just"/>
            <a:endParaRPr lang="ru-RU" dirty="0"/>
          </a:p>
          <a:p>
            <a:pPr algn="just"/>
            <a:r>
              <a:rPr lang="ru-RU" dirty="0"/>
              <a:t>Рост государственных закупок увеличивает совокупный спрос (сдвиг кривой AD вправо), а их снижение сокращает. Изменение величины государственных закупок выступает важным инструментом стабилизации экономики (инструментом фискальной политики), который используется для воздействия на совокупный спрос с целью поддержания полной занятости и стабильного уровня цен.</a:t>
            </a:r>
          </a:p>
        </p:txBody>
      </p:sp>
      <p:cxnSp>
        <p:nvCxnSpPr>
          <p:cNvPr id="4" name="Прямая соединительная линия 3"/>
          <p:cNvCxnSpPr/>
          <p:nvPr/>
        </p:nvCxnSpPr>
        <p:spPr>
          <a:xfrm>
            <a:off x="1573823" y="3033346"/>
            <a:ext cx="193431" cy="0"/>
          </a:xfrm>
          <a:prstGeom prst="line">
            <a:avLst/>
          </a:prstGeom>
        </p:spPr>
        <p:style>
          <a:lnRef idx="1">
            <a:schemeClr val="dk1"/>
          </a:lnRef>
          <a:fillRef idx="0">
            <a:schemeClr val="dk1"/>
          </a:fillRef>
          <a:effectRef idx="0">
            <a:schemeClr val="dk1"/>
          </a:effectRef>
          <a:fontRef idx="minor">
            <a:schemeClr val="tx1"/>
          </a:fontRef>
        </p:style>
      </p:cxnSp>
      <p:cxnSp>
        <p:nvCxnSpPr>
          <p:cNvPr id="5" name="Прямая соединительная линия 4"/>
          <p:cNvCxnSpPr/>
          <p:nvPr/>
        </p:nvCxnSpPr>
        <p:spPr>
          <a:xfrm>
            <a:off x="1652954" y="3358662"/>
            <a:ext cx="175846"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70469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116623" y="1166843"/>
            <a:ext cx="10287000" cy="4524315"/>
          </a:xfrm>
          <a:prstGeom prst="rect">
            <a:avLst/>
          </a:prstGeom>
        </p:spPr>
        <p:txBody>
          <a:bodyPr wrap="square">
            <a:spAutoFit/>
          </a:bodyPr>
          <a:lstStyle/>
          <a:p>
            <a:r>
              <a:rPr lang="ru-RU" b="1" dirty="0"/>
              <a:t>Факторы, воздействующие на </a:t>
            </a:r>
            <a:r>
              <a:rPr lang="ru-RU" b="1" i="1" u="sng" dirty="0">
                <a:solidFill>
                  <a:srgbClr val="C00000"/>
                </a:solidFill>
              </a:rPr>
              <a:t>чистый экспорт</a:t>
            </a:r>
            <a:r>
              <a:rPr lang="ru-RU" b="1" dirty="0"/>
              <a:t>:</a:t>
            </a:r>
          </a:p>
          <a:p>
            <a:endParaRPr lang="ru-RU" dirty="0"/>
          </a:p>
          <a:p>
            <a:pPr marL="285750" indent="-285750">
              <a:buFont typeface="Wingdings" panose="05000000000000000000" pitchFamily="2" charset="2"/>
              <a:buChar char="Ø"/>
            </a:pPr>
            <a:r>
              <a:rPr lang="ru-RU" b="1" u="sng" dirty="0"/>
              <a:t>величина валового внутреннего продукта и национального дохода в других странах (YF</a:t>
            </a:r>
            <a:r>
              <a:rPr lang="en-US" b="1" u="sng" dirty="0"/>
              <a:t> (+)</a:t>
            </a:r>
            <a:r>
              <a:rPr lang="ru-RU" b="1" u="sng" dirty="0"/>
              <a:t>). </a:t>
            </a:r>
            <a:r>
              <a:rPr lang="ru-RU" dirty="0"/>
              <a:t>Рост ВВП и НД в иностранном секторе ведет к росту спроса на товары и услуги данной страны и, следовательно, к увеличению ее экспорта и в результате к росту чистого экспорта, что увеличивает совокупный спрос;</a:t>
            </a:r>
          </a:p>
          <a:p>
            <a:endParaRPr lang="ru-RU" dirty="0"/>
          </a:p>
          <a:p>
            <a:pPr marL="285750" indent="-285750">
              <a:buFont typeface="Wingdings" panose="05000000000000000000" pitchFamily="2" charset="2"/>
              <a:buChar char="Ø"/>
            </a:pPr>
            <a:r>
              <a:rPr lang="ru-RU" b="1" u="sng" dirty="0"/>
              <a:t>величина валового внутреннего продукта и национального дохода в данной стране (Y</a:t>
            </a:r>
            <a:r>
              <a:rPr lang="en-US" b="1" u="sng" dirty="0"/>
              <a:t> (-)</a:t>
            </a:r>
            <a:r>
              <a:rPr lang="ru-RU" b="1" u="sng" dirty="0"/>
              <a:t>). </a:t>
            </a:r>
            <a:r>
              <a:rPr lang="ru-RU" dirty="0"/>
              <a:t>Если ВВП и НД в стране увеличиваются, то ее экономические агенты увеличивают спрос на товары и услуги других стран (иностранного сектора), что ведет к росту импорта, сокращению чистого экспорта и, следовательно, сокращению совокупного спроса в данной стране. Кривая AD сдвигается влево;</a:t>
            </a:r>
            <a:endParaRPr lang="en-US" dirty="0"/>
          </a:p>
          <a:p>
            <a:endParaRPr lang="en-US" dirty="0"/>
          </a:p>
          <a:p>
            <a:pPr marL="285750" indent="-285750">
              <a:buFont typeface="Wingdings" panose="05000000000000000000" pitchFamily="2" charset="2"/>
              <a:buChar char="Ø"/>
            </a:pPr>
            <a:r>
              <a:rPr lang="ru-RU" b="1" u="sng" dirty="0"/>
              <a:t>валютный курс национальной денежной единицы (</a:t>
            </a:r>
            <a:r>
              <a:rPr lang="ru-RU" b="1" u="sng" dirty="0" err="1"/>
              <a:t>exchange</a:t>
            </a:r>
            <a:r>
              <a:rPr lang="ru-RU" b="1" u="sng" dirty="0"/>
              <a:t> </a:t>
            </a:r>
            <a:r>
              <a:rPr lang="ru-RU" b="1" u="sng" dirty="0" err="1"/>
              <a:t>rate</a:t>
            </a:r>
            <a:r>
              <a:rPr lang="ru-RU" b="1" u="sng" dirty="0"/>
              <a:t> — е</a:t>
            </a:r>
            <a:r>
              <a:rPr lang="en-US" b="1" u="sng" dirty="0"/>
              <a:t> (-)</a:t>
            </a:r>
            <a:r>
              <a:rPr lang="ru-RU" b="1" u="sng" dirty="0"/>
              <a:t>). </a:t>
            </a:r>
            <a:r>
              <a:rPr lang="ru-RU" dirty="0"/>
              <a:t>Валютный курс — это цена национальной денежной единицы, выраженная в определенном количестве денежных единиц другой страны, т.е. это то количество иностранной валюты, которое можно получить за одну денежную единицу данной страны (например, 1 фунт стерлингов = 2 дол</a:t>
            </a:r>
            <a:r>
              <a:rPr lang="en-US" dirty="0"/>
              <a:t>)</a:t>
            </a:r>
            <a:endParaRPr lang="ru-RU" dirty="0"/>
          </a:p>
        </p:txBody>
      </p:sp>
    </p:spTree>
    <p:extLst>
      <p:ext uri="{BB962C8B-B14F-4D97-AF65-F5344CB8AC3E}">
        <p14:creationId xmlns:p14="http://schemas.microsoft.com/office/powerpoint/2010/main" val="1722404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826477" y="553915"/>
            <a:ext cx="10594731" cy="5909310"/>
          </a:xfrm>
          <a:prstGeom prst="rect">
            <a:avLst/>
          </a:prstGeom>
        </p:spPr>
        <p:txBody>
          <a:bodyPr wrap="square">
            <a:spAutoFit/>
          </a:bodyPr>
          <a:lstStyle/>
          <a:p>
            <a:pPr algn="ctr"/>
            <a:r>
              <a:rPr lang="ru-RU" b="1" i="1" u="sng" dirty="0">
                <a:solidFill>
                  <a:schemeClr val="accent4">
                    <a:lumMod val="75000"/>
                  </a:schemeClr>
                </a:solidFill>
              </a:rPr>
              <a:t>Денежные факторы </a:t>
            </a:r>
            <a:r>
              <a:rPr lang="ru-RU" dirty="0"/>
              <a:t>(также неценовые). Кривая AD может быть получена из уравнения </a:t>
            </a:r>
            <a:r>
              <a:rPr lang="ru-RU" b="1" dirty="0"/>
              <a:t>количественной теории денег:</a:t>
            </a:r>
          </a:p>
          <a:p>
            <a:pPr algn="just"/>
            <a:endParaRPr lang="ru-RU" dirty="0"/>
          </a:p>
          <a:p>
            <a:pPr algn="just"/>
            <a:r>
              <a:rPr lang="ru-RU" b="1" dirty="0">
                <a:solidFill>
                  <a:srgbClr val="C00000"/>
                </a:solidFill>
              </a:rPr>
              <a:t>MV=PY</a:t>
            </a:r>
            <a:endParaRPr lang="ru-RU" dirty="0"/>
          </a:p>
          <a:p>
            <a:pPr algn="just"/>
            <a:r>
              <a:rPr lang="ru-RU" dirty="0"/>
              <a:t>где </a:t>
            </a:r>
            <a:r>
              <a:rPr lang="ru-RU" b="1" dirty="0"/>
              <a:t>М</a:t>
            </a:r>
            <a:r>
              <a:rPr lang="ru-RU" dirty="0"/>
              <a:t> масса (количество) денег в обращении, </a:t>
            </a:r>
            <a:r>
              <a:rPr lang="en-US" b="1" dirty="0"/>
              <a:t>V</a:t>
            </a:r>
            <a:r>
              <a:rPr lang="en-US" dirty="0"/>
              <a:t>-</a:t>
            </a:r>
            <a:r>
              <a:rPr lang="ru-RU" dirty="0"/>
              <a:t>скорость обращения денег (величина, показывающая количество оборотов, которое в среднем совершает за год одна денежная единица, или количество сделок, которое в среднем обслуживает в год одна денежная единица), </a:t>
            </a:r>
            <a:r>
              <a:rPr lang="ru-RU" b="1" dirty="0"/>
              <a:t>Р </a:t>
            </a:r>
            <a:r>
              <a:rPr lang="ru-RU" dirty="0"/>
              <a:t>— уровень цен в экономике, </a:t>
            </a:r>
            <a:r>
              <a:rPr lang="en-US" b="1" dirty="0"/>
              <a:t>Y</a:t>
            </a:r>
            <a:r>
              <a:rPr lang="en-US" dirty="0"/>
              <a:t> - </a:t>
            </a:r>
            <a:r>
              <a:rPr lang="ru-RU" dirty="0"/>
              <a:t>реальный ВВП.</a:t>
            </a:r>
          </a:p>
          <a:p>
            <a:pPr algn="just"/>
            <a:endParaRPr lang="ru-RU" dirty="0"/>
          </a:p>
          <a:p>
            <a:pPr algn="just"/>
            <a:r>
              <a:rPr lang="ru-RU" dirty="0"/>
              <a:t>Из уравнения количественной теории денег при заданных М и V (т.е. при прочих равных условиях) получаем обратную зависимость между величиной ВВП и уровнем цен:</a:t>
            </a:r>
            <a:endParaRPr lang="en-US" dirty="0"/>
          </a:p>
          <a:p>
            <a:pPr algn="just"/>
            <a:endParaRPr lang="ru-RU" dirty="0"/>
          </a:p>
          <a:p>
            <a:pPr algn="just"/>
            <a:r>
              <a:rPr lang="en-US" b="1" dirty="0">
                <a:solidFill>
                  <a:srgbClr val="C00000"/>
                </a:solidFill>
              </a:rPr>
              <a:t>Y=MV/P</a:t>
            </a:r>
            <a:endParaRPr lang="ru-RU" dirty="0"/>
          </a:p>
          <a:p>
            <a:pPr algn="just"/>
            <a:r>
              <a:rPr lang="ru-RU" dirty="0"/>
              <a:t>Это означает, что ценовой фактор (изменение уровня цен) влияет на величину совокупного спроса, обусловливая движение вдоль кривой AD.</a:t>
            </a:r>
          </a:p>
          <a:p>
            <a:pPr algn="just"/>
            <a:endParaRPr lang="ru-RU" dirty="0"/>
          </a:p>
          <a:p>
            <a:pPr algn="just"/>
            <a:r>
              <a:rPr lang="ru-RU" dirty="0"/>
              <a:t>Из уравнения также получаем два </a:t>
            </a:r>
            <a:r>
              <a:rPr lang="ru-RU" b="1" dirty="0"/>
              <a:t>неценовых фактора </a:t>
            </a:r>
            <a:r>
              <a:rPr lang="ru-RU" dirty="0"/>
              <a:t>совокупного спроса, изменение которых меняет сам совокупный спрос, т.е. величину совокупного спроса при каждом уровне цен, сдвигая кривую AD:</a:t>
            </a:r>
          </a:p>
          <a:p>
            <a:pPr algn="just"/>
            <a:r>
              <a:rPr lang="ru-RU" dirty="0"/>
              <a:t>-масса денег в обращении</a:t>
            </a:r>
          </a:p>
          <a:p>
            <a:pPr algn="just"/>
            <a:r>
              <a:rPr lang="ru-RU" dirty="0"/>
              <a:t>-скорость обращения денег</a:t>
            </a:r>
          </a:p>
          <a:p>
            <a:pPr algn="just"/>
            <a:endParaRPr lang="ru-RU" dirty="0"/>
          </a:p>
        </p:txBody>
      </p:sp>
    </p:spTree>
    <p:extLst>
      <p:ext uri="{BB962C8B-B14F-4D97-AF65-F5344CB8AC3E}">
        <p14:creationId xmlns:p14="http://schemas.microsoft.com/office/powerpoint/2010/main" val="3252907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26141" y="708229"/>
            <a:ext cx="10712824" cy="1323439"/>
          </a:xfrm>
          <a:prstGeom prst="rect">
            <a:avLst/>
          </a:prstGeom>
          <a:blipFill>
            <a:blip r:embed="rId2"/>
            <a:tile tx="0" ty="0" sx="100000" sy="100000" flip="none" algn="tl"/>
          </a:blipFill>
        </p:spPr>
        <p:style>
          <a:lnRef idx="2">
            <a:schemeClr val="accent4"/>
          </a:lnRef>
          <a:fillRef idx="1">
            <a:schemeClr val="lt1"/>
          </a:fillRef>
          <a:effectRef idx="0">
            <a:schemeClr val="accent4"/>
          </a:effectRef>
          <a:fontRef idx="minor">
            <a:schemeClr val="dk1"/>
          </a:fontRef>
        </p:style>
        <p:txBody>
          <a:bodyPr wrap="square" lIns="91440" tIns="45720" rIns="91440" bIns="45720">
            <a:spAutoFit/>
          </a:bodyPr>
          <a:lstStyle/>
          <a:p>
            <a:pPr algn="ctr"/>
            <a:r>
              <a:rPr lang="ru-RU" sz="4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Совокупное предложение в классической и </a:t>
            </a:r>
            <a:r>
              <a:rPr lang="ru-RU" sz="4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к</a:t>
            </a:r>
            <a:r>
              <a:rPr lang="ru-RU" sz="4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ейнсианской моделях</a:t>
            </a:r>
          </a:p>
        </p:txBody>
      </p:sp>
      <p:sp>
        <p:nvSpPr>
          <p:cNvPr id="3" name="Прямоугольник 2"/>
          <p:cNvSpPr/>
          <p:nvPr/>
        </p:nvSpPr>
        <p:spPr>
          <a:xfrm>
            <a:off x="6277708" y="2103346"/>
            <a:ext cx="4798875" cy="3970318"/>
          </a:xfrm>
          <a:prstGeom prst="rect">
            <a:avLst/>
          </a:prstGeom>
        </p:spPr>
        <p:txBody>
          <a:bodyPr wrap="square">
            <a:spAutoFit/>
          </a:bodyPr>
          <a:lstStyle/>
          <a:p>
            <a:pPr algn="just"/>
            <a:r>
              <a:rPr lang="ru-RU" b="1" i="1" u="sng" dirty="0"/>
              <a:t>Совокупное предложение </a:t>
            </a:r>
            <a:r>
              <a:rPr lang="ru-RU" b="1" dirty="0"/>
              <a:t>(</a:t>
            </a:r>
            <a:r>
              <a:rPr lang="ru-RU" b="1" dirty="0" err="1"/>
              <a:t>aggregate</a:t>
            </a:r>
            <a:r>
              <a:rPr lang="ru-RU" b="1" dirty="0"/>
              <a:t> </a:t>
            </a:r>
            <a:r>
              <a:rPr lang="ru-RU" b="1" dirty="0" err="1"/>
              <a:t>supply</a:t>
            </a:r>
            <a:r>
              <a:rPr lang="ru-RU" b="1" dirty="0"/>
              <a:t> — AS) </a:t>
            </a:r>
            <a:r>
              <a:rPr lang="ru-RU" dirty="0"/>
              <a:t>— это стоимость того количества конечных товаров и услуг, которые предлагают на рынок к продаже все производители (частные фирмы и государственные предприятия). Величина совокупного предложения представляет собой объем выпуска, который все производители </a:t>
            </a:r>
            <a:r>
              <a:rPr lang="ru-RU" b="1" dirty="0"/>
              <a:t>готовы (намерены) произвести и предложить к продаже на рынке </a:t>
            </a:r>
            <a:r>
              <a:rPr lang="ru-RU" dirty="0"/>
              <a:t>при каждом возможном уровне цен. Поэтому можно построить кривую совокупного предложения (кривую AS) у показывающую зависимость величины совокупного предложения от уровня цен.</a:t>
            </a:r>
          </a:p>
        </p:txBody>
      </p:sp>
      <p:pic>
        <p:nvPicPr>
          <p:cNvPr id="1026" name="Picture 2" descr="https://cf.ppt-online.org/files1/slide/u/UYcCX4HoKgGwjiEes61q0PuxzF5Ak9faS2VRJQvLZm/slide-3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193" y="2255639"/>
            <a:ext cx="4923692" cy="3687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7719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97877" y="637373"/>
            <a:ext cx="10990385" cy="769441"/>
          </a:xfrm>
          <a:prstGeom prst="rect">
            <a:avLst/>
          </a:prstGeom>
        </p:spPr>
        <p:style>
          <a:lnRef idx="1">
            <a:schemeClr val="dk1"/>
          </a:lnRef>
          <a:fillRef idx="3">
            <a:schemeClr val="dk1"/>
          </a:fillRef>
          <a:effectRef idx="2">
            <a:schemeClr val="dk1"/>
          </a:effectRef>
          <a:fontRef idx="minor">
            <a:schemeClr val="lt1"/>
          </a:fontRef>
        </p:style>
        <p:txBody>
          <a:bodyPr wrap="square" lIns="91440" tIns="45720" rIns="91440" bIns="45720">
            <a:spAutoFit/>
          </a:bodyPr>
          <a:lstStyle/>
          <a:p>
            <a:pPr algn="ctr"/>
            <a:r>
              <a:rPr lang="ru-RU" sz="4400" b="1" dirty="0">
                <a:ln w="9525">
                  <a:solidFill>
                    <a:schemeClr val="bg1"/>
                  </a:solidFill>
                  <a:prstDash val="solid"/>
                </a:ln>
                <a:effectLst>
                  <a:outerShdw blurRad="12700" dist="38100" dir="2700000" algn="tl" rotWithShape="0">
                    <a:schemeClr val="bg1">
                      <a:lumMod val="50000"/>
                    </a:schemeClr>
                  </a:outerShdw>
                </a:effectLst>
              </a:rPr>
              <a:t>Классическая макроэкономическая модель </a:t>
            </a:r>
          </a:p>
        </p:txBody>
      </p:sp>
      <p:sp>
        <p:nvSpPr>
          <p:cNvPr id="3" name="Прямоугольник 2"/>
          <p:cNvSpPr/>
          <p:nvPr/>
        </p:nvSpPr>
        <p:spPr>
          <a:xfrm>
            <a:off x="914400" y="1588874"/>
            <a:ext cx="10357338" cy="4247317"/>
          </a:xfrm>
          <a:prstGeom prst="rect">
            <a:avLst/>
          </a:prstGeom>
        </p:spPr>
        <p:txBody>
          <a:bodyPr wrap="square">
            <a:spAutoFit/>
          </a:bodyPr>
          <a:lstStyle/>
          <a:p>
            <a:r>
              <a:rPr lang="ru-RU" b="1" i="1" u="sng" dirty="0">
                <a:solidFill>
                  <a:schemeClr val="accent4"/>
                </a:solidFill>
              </a:rPr>
              <a:t>Основные положения классической модели следующие:</a:t>
            </a:r>
          </a:p>
          <a:p>
            <a:endParaRPr lang="ru-RU" dirty="0"/>
          </a:p>
          <a:p>
            <a:pPr marL="285750" indent="-285750" algn="just">
              <a:buFont typeface="Courier New" panose="02070309020205020404" pitchFamily="49" charset="0"/>
              <a:buChar char="o"/>
            </a:pPr>
            <a:r>
              <a:rPr lang="ru-RU" dirty="0"/>
              <a:t>Экономика делится на два независимых сектора: </a:t>
            </a:r>
            <a:r>
              <a:rPr lang="ru-RU" b="1" dirty="0"/>
              <a:t>реальный и денежный</a:t>
            </a:r>
            <a:r>
              <a:rPr lang="ru-RU" dirty="0"/>
              <a:t>. Такое деление называется принципом классической дихотомии (</a:t>
            </a:r>
            <a:r>
              <a:rPr lang="ru-RU" dirty="0" err="1"/>
              <a:t>classical</a:t>
            </a:r>
            <a:r>
              <a:rPr lang="ru-RU" dirty="0"/>
              <a:t> </a:t>
            </a:r>
            <a:r>
              <a:rPr lang="ru-RU" dirty="0" err="1"/>
              <a:t>dichotomy</a:t>
            </a:r>
            <a:r>
              <a:rPr lang="ru-RU" dirty="0"/>
              <a:t>). Изменения в денежном секторе не влияют на ситуацию в реальном секторе экономики, они лишь приводят к отклонению номинальных показателей от реальных, что в макроэкономике получило название принципа нейтральности денег (</a:t>
            </a:r>
            <a:r>
              <a:rPr lang="ru-RU" dirty="0" err="1"/>
              <a:t>neutrality</a:t>
            </a:r>
            <a:r>
              <a:rPr lang="ru-RU" dirty="0"/>
              <a:t> </a:t>
            </a:r>
            <a:r>
              <a:rPr lang="ru-RU" dirty="0" err="1"/>
              <a:t>of</a:t>
            </a:r>
            <a:r>
              <a:rPr lang="ru-RU" dirty="0"/>
              <a:t> </a:t>
            </a:r>
            <a:r>
              <a:rPr lang="ru-RU" dirty="0" err="1"/>
              <a:t>money</a:t>
            </a:r>
            <a:r>
              <a:rPr lang="ru-RU" dirty="0"/>
              <a:t>). Нейтральность денег означает, что изменение предложения денег не оказывает воздействия на реальные показатели (реальный объем выпуска, реальные доходы), а влияет только на номинальные (номинальный объем выпуска, номинальные доходы). Поэтому в классической модели денежный рынок отсутствует, а </a:t>
            </a:r>
            <a:r>
              <a:rPr lang="ru-RU" b="1" dirty="0"/>
              <a:t>реальный сектор состоит из трех рынков</a:t>
            </a:r>
            <a:r>
              <a:rPr lang="ru-RU" dirty="0"/>
              <a:t>: </a:t>
            </a:r>
            <a:r>
              <a:rPr lang="ru-RU" dirty="0">
                <a:solidFill>
                  <a:schemeClr val="accent4"/>
                </a:solidFill>
              </a:rPr>
              <a:t>рынка труда, рынка капитала (заемных средств) и товарного рынка.</a:t>
            </a:r>
          </a:p>
          <a:p>
            <a:pPr marL="285750" indent="-285750" algn="just">
              <a:buFont typeface="Courier New" panose="02070309020205020404" pitchFamily="49" charset="0"/>
              <a:buChar char="o"/>
            </a:pPr>
            <a:r>
              <a:rPr lang="ru-RU" dirty="0"/>
              <a:t>На всех рынках в реальном секторе действует </a:t>
            </a:r>
            <a:r>
              <a:rPr lang="ru-RU" b="1" dirty="0"/>
              <a:t>совершенная конкуренция</a:t>
            </a:r>
            <a:r>
              <a:rPr lang="ru-RU" dirty="0"/>
              <a:t>, что соответствовало экономической ситуации конца XVIII в. и всего XIX в. Экономические агенты являются поэтому </a:t>
            </a:r>
            <a:r>
              <a:rPr lang="ru-RU" b="1" dirty="0" err="1"/>
              <a:t>ценополучателями</a:t>
            </a:r>
            <a:r>
              <a:rPr lang="ru-RU" dirty="0"/>
              <a:t> (</a:t>
            </a:r>
            <a:r>
              <a:rPr lang="ru-RU" dirty="0" err="1"/>
              <a:t>price</a:t>
            </a:r>
            <a:r>
              <a:rPr lang="ru-RU" dirty="0"/>
              <a:t> </a:t>
            </a:r>
            <a:r>
              <a:rPr lang="ru-RU" dirty="0" err="1"/>
              <a:t>takers</a:t>
            </a:r>
            <a:r>
              <a:rPr lang="ru-RU" dirty="0"/>
              <a:t>), т.е. не могут воздействовать на рыночную ситуацию и ориентируются на тот уровень цен, который сложился на рынке.</a:t>
            </a:r>
            <a:endParaRPr lang="ru-RU" b="1" dirty="0">
              <a:solidFill>
                <a:schemeClr val="accent4"/>
              </a:solidFill>
            </a:endParaRPr>
          </a:p>
        </p:txBody>
      </p:sp>
    </p:spTree>
    <p:extLst>
      <p:ext uri="{BB962C8B-B14F-4D97-AF65-F5344CB8AC3E}">
        <p14:creationId xmlns:p14="http://schemas.microsoft.com/office/powerpoint/2010/main" val="1390125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20969" y="615271"/>
            <a:ext cx="10691446" cy="5632311"/>
          </a:xfrm>
          <a:prstGeom prst="rect">
            <a:avLst/>
          </a:prstGeom>
        </p:spPr>
        <p:txBody>
          <a:bodyPr wrap="square">
            <a:spAutoFit/>
          </a:bodyPr>
          <a:lstStyle/>
          <a:p>
            <a:pPr marL="285750" indent="-285750" algn="just">
              <a:buFont typeface="Courier New" panose="02070309020205020404" pitchFamily="49" charset="0"/>
              <a:buChar char="o"/>
            </a:pPr>
            <a:r>
              <a:rPr lang="ru-RU" dirty="0"/>
              <a:t>Все </a:t>
            </a:r>
            <a:r>
              <a:rPr lang="ru-RU" b="1" dirty="0"/>
              <a:t>цены </a:t>
            </a:r>
            <a:r>
              <a:rPr lang="ru-RU" dirty="0"/>
              <a:t>(номинальные показатели) в условиях совершенной конкуренции </a:t>
            </a:r>
            <a:r>
              <a:rPr lang="ru-RU" b="1" dirty="0"/>
              <a:t>гибкие (</a:t>
            </a:r>
            <a:r>
              <a:rPr lang="ru-RU" b="1" dirty="0" err="1"/>
              <a:t>flexible</a:t>
            </a:r>
            <a:r>
              <a:rPr lang="ru-RU" b="1" dirty="0"/>
              <a:t>), </a:t>
            </a:r>
            <a:r>
              <a:rPr lang="ru-RU" dirty="0"/>
              <a:t>они меняются, приспосабливаясь к изменениям соотношения спроса и предложения (рыночной конъюнктуры), и обеспечивают автоматическое восстановление нарушенного равновесия на любом из рынков и в экономике в целом. Это относится и к цене труда номинальной ставке заработной платы, и к цене капитала (заемных средств) ставке процента, и к ценам товаров.</a:t>
            </a:r>
          </a:p>
          <a:p>
            <a:pPr marL="285750" indent="-285750" algn="just">
              <a:buFont typeface="Courier New" panose="02070309020205020404" pitchFamily="49" charset="0"/>
              <a:buChar char="o"/>
            </a:pPr>
            <a:r>
              <a:rPr lang="ru-RU" dirty="0"/>
              <a:t>Автоматическое обеспечение равновесия рыночным механизмом (механизмом изменения цен) означает, что внешняя сила, внешний агент не должны вмешиваться в процесс регулирования, а тем более в функционирование экономики. Так обосновывался принцип </a:t>
            </a:r>
            <a:r>
              <a:rPr lang="ru-RU" b="1" dirty="0"/>
              <a:t>государственного невмешательства.</a:t>
            </a:r>
          </a:p>
          <a:p>
            <a:pPr marL="285750" indent="-285750" algn="just">
              <a:buFont typeface="Courier New" panose="02070309020205020404" pitchFamily="49" charset="0"/>
              <a:buChar char="o"/>
            </a:pPr>
            <a:r>
              <a:rPr lang="ru-RU" dirty="0"/>
              <a:t>Основная проблема в экономике — </a:t>
            </a:r>
            <a:r>
              <a:rPr lang="ru-RU" b="1" dirty="0"/>
              <a:t>ограниченность ресурсов</a:t>
            </a:r>
            <a:r>
              <a:rPr lang="ru-RU" dirty="0"/>
              <a:t>,</a:t>
            </a:r>
            <a:r>
              <a:rPr lang="ru-RU" b="1" dirty="0"/>
              <a:t> </a:t>
            </a:r>
            <a:r>
              <a:rPr lang="ru-RU" dirty="0"/>
              <a:t>следовательно, они должны использоваться полностью. Поэтому объем выпуска всегда находится на своем потенциальном, или естественном, уровне (</a:t>
            </a:r>
            <a:r>
              <a:rPr lang="ru-RU" dirty="0" err="1"/>
              <a:t>natural</a:t>
            </a:r>
            <a:r>
              <a:rPr lang="ru-RU" dirty="0"/>
              <a:t> </a:t>
            </a:r>
            <a:r>
              <a:rPr lang="ru-RU" dirty="0" err="1"/>
              <a:t>output</a:t>
            </a:r>
            <a:r>
              <a:rPr lang="ru-RU" dirty="0"/>
              <a:t>), который соответствует объему выпуска при полной занятости всех экономических ресурсов.</a:t>
            </a:r>
          </a:p>
          <a:p>
            <a:pPr marL="285750" indent="-285750" algn="just">
              <a:buFont typeface="Courier New" panose="02070309020205020404" pitchFamily="49" charset="0"/>
              <a:buChar char="o"/>
            </a:pPr>
            <a:r>
              <a:rPr lang="ru-RU" dirty="0"/>
              <a:t>Ограниченность ресурсов выдвигает на первый план </a:t>
            </a:r>
            <a:r>
              <a:rPr lang="ru-RU" b="1" dirty="0"/>
              <a:t>проблему производства</a:t>
            </a:r>
            <a:r>
              <a:rPr lang="ru-RU" dirty="0"/>
              <a:t>, т.е. совокупного предложения. Поэтому классическая модель это модель, изучающая экономику со стороны совокупного предложения (модель "</a:t>
            </a:r>
            <a:r>
              <a:rPr lang="ru-RU" dirty="0" err="1"/>
              <a:t>supply-side</a:t>
            </a:r>
            <a:r>
              <a:rPr lang="ru-RU" dirty="0"/>
              <a:t>"). </a:t>
            </a:r>
            <a:r>
              <a:rPr lang="ru-RU" b="1" dirty="0"/>
              <a:t>Совокупный спрос</a:t>
            </a:r>
            <a:r>
              <a:rPr lang="ru-RU" dirty="0"/>
              <a:t>, по мнению представителей классической школы, </a:t>
            </a:r>
            <a:r>
              <a:rPr lang="ru-RU" b="1" dirty="0"/>
              <a:t>всегда соответствует совокупному предложению.</a:t>
            </a:r>
          </a:p>
          <a:p>
            <a:pPr marL="285750" indent="-285750" algn="just">
              <a:buFont typeface="Courier New" panose="02070309020205020404" pitchFamily="49" charset="0"/>
              <a:buChar char="o"/>
            </a:pPr>
            <a:r>
              <a:rPr lang="ru-RU" dirty="0"/>
              <a:t>Проблема ограниченности ресурсов (увеличение количества и улучшение качества) решается медленно. Взаимное уравновешивание рынков и адаптация цен к изменению соотношения между спросом и предложением также происходят в течение длительного периода времени. Поэтому классическая модель описывает поведение экономики в долгосрочном периоде (модель "</a:t>
            </a:r>
            <a:r>
              <a:rPr lang="ru-RU" dirty="0" err="1"/>
              <a:t>long-run</a:t>
            </a:r>
            <a:r>
              <a:rPr lang="ru-RU" dirty="0"/>
              <a:t>")</a:t>
            </a:r>
            <a:endParaRPr lang="ru-RU" b="1" dirty="0"/>
          </a:p>
        </p:txBody>
      </p:sp>
    </p:spTree>
    <p:extLst>
      <p:ext uri="{BB962C8B-B14F-4D97-AF65-F5344CB8AC3E}">
        <p14:creationId xmlns:p14="http://schemas.microsoft.com/office/powerpoint/2010/main" val="3167505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91670" y="618582"/>
            <a:ext cx="11026589" cy="1323439"/>
          </a:xfrm>
          <a:prstGeom prst="rect">
            <a:avLst/>
          </a:prstGeom>
          <a:noFill/>
        </p:spPr>
        <p:txBody>
          <a:bodyPr wrap="square" lIns="91440" tIns="45720" rIns="91440" bIns="45720">
            <a:spAutoFit/>
          </a:bodyPr>
          <a:lstStyle/>
          <a:p>
            <a:pPr algn="ctr"/>
            <a:r>
              <a:rPr lang="ru-RU" sz="4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Кривая совокупного предложения в классической модели </a:t>
            </a:r>
          </a:p>
        </p:txBody>
      </p:sp>
      <p:cxnSp>
        <p:nvCxnSpPr>
          <p:cNvPr id="4" name="Прямая со стрелкой 3"/>
          <p:cNvCxnSpPr/>
          <p:nvPr/>
        </p:nvCxnSpPr>
        <p:spPr>
          <a:xfrm flipV="1">
            <a:off x="1389529" y="2268071"/>
            <a:ext cx="17930" cy="31824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Прямая со стрелкой 6"/>
          <p:cNvCxnSpPr/>
          <p:nvPr/>
        </p:nvCxnSpPr>
        <p:spPr>
          <a:xfrm>
            <a:off x="1264024" y="5298141"/>
            <a:ext cx="369345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012267" y="2083405"/>
            <a:ext cx="314510" cy="369332"/>
          </a:xfrm>
          <a:prstGeom prst="rect">
            <a:avLst/>
          </a:prstGeom>
          <a:noFill/>
        </p:spPr>
        <p:txBody>
          <a:bodyPr wrap="none" rtlCol="0">
            <a:spAutoFit/>
          </a:bodyPr>
          <a:lstStyle/>
          <a:p>
            <a:r>
              <a:rPr lang="en-US" dirty="0"/>
              <a:t>P</a:t>
            </a:r>
            <a:endParaRPr lang="ru-RU" dirty="0"/>
          </a:p>
        </p:txBody>
      </p:sp>
      <p:sp>
        <p:nvSpPr>
          <p:cNvPr id="11" name="TextBox 10"/>
          <p:cNvSpPr txBox="1"/>
          <p:nvPr/>
        </p:nvSpPr>
        <p:spPr>
          <a:xfrm>
            <a:off x="5082987" y="5081209"/>
            <a:ext cx="336952" cy="369332"/>
          </a:xfrm>
          <a:prstGeom prst="rect">
            <a:avLst/>
          </a:prstGeom>
          <a:noFill/>
        </p:spPr>
        <p:txBody>
          <a:bodyPr wrap="none" rtlCol="0">
            <a:spAutoFit/>
          </a:bodyPr>
          <a:lstStyle/>
          <a:p>
            <a:r>
              <a:rPr lang="en-US" dirty="0"/>
              <a:t>Y</a:t>
            </a:r>
            <a:endParaRPr lang="ru-RU" dirty="0"/>
          </a:p>
        </p:txBody>
      </p:sp>
      <p:cxnSp>
        <p:nvCxnSpPr>
          <p:cNvPr id="13" name="Прямая соединительная линия 12"/>
          <p:cNvCxnSpPr/>
          <p:nvPr/>
        </p:nvCxnSpPr>
        <p:spPr>
          <a:xfrm>
            <a:off x="3110753" y="2268071"/>
            <a:ext cx="0" cy="3030070"/>
          </a:xfrm>
          <a:prstGeom prst="line">
            <a:avLst/>
          </a:prstGeom>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2323427" y="2268071"/>
            <a:ext cx="728084" cy="369332"/>
          </a:xfrm>
          <a:prstGeom prst="rect">
            <a:avLst/>
          </a:prstGeom>
          <a:noFill/>
        </p:spPr>
        <p:txBody>
          <a:bodyPr wrap="none" rtlCol="0">
            <a:spAutoFit/>
          </a:bodyPr>
          <a:lstStyle/>
          <a:p>
            <a:r>
              <a:rPr lang="en-US" dirty="0"/>
              <a:t>LRAS</a:t>
            </a:r>
            <a:endParaRPr lang="ru-RU" dirty="0"/>
          </a:p>
        </p:txBody>
      </p:sp>
      <p:sp>
        <p:nvSpPr>
          <p:cNvPr id="15" name="TextBox 14"/>
          <p:cNvSpPr txBox="1"/>
          <p:nvPr/>
        </p:nvSpPr>
        <p:spPr>
          <a:xfrm>
            <a:off x="2953498" y="5310427"/>
            <a:ext cx="402674" cy="369332"/>
          </a:xfrm>
          <a:prstGeom prst="rect">
            <a:avLst/>
          </a:prstGeom>
          <a:noFill/>
        </p:spPr>
        <p:txBody>
          <a:bodyPr wrap="none" rtlCol="0">
            <a:spAutoFit/>
          </a:bodyPr>
          <a:lstStyle/>
          <a:p>
            <a:r>
              <a:rPr lang="en-US" dirty="0"/>
              <a:t>Y</a:t>
            </a:r>
            <a:r>
              <a:rPr lang="en-US" baseline="30000" dirty="0"/>
              <a:t>*</a:t>
            </a:r>
            <a:endParaRPr lang="ru-RU" dirty="0"/>
          </a:p>
        </p:txBody>
      </p:sp>
      <p:sp>
        <p:nvSpPr>
          <p:cNvPr id="16" name="Прямоугольник 15"/>
          <p:cNvSpPr/>
          <p:nvPr/>
        </p:nvSpPr>
        <p:spPr>
          <a:xfrm>
            <a:off x="6553201" y="2218953"/>
            <a:ext cx="4222376" cy="2585323"/>
          </a:xfrm>
          <a:prstGeom prst="rect">
            <a:avLst/>
          </a:prstGeom>
        </p:spPr>
        <p:txBody>
          <a:bodyPr wrap="square">
            <a:spAutoFit/>
          </a:bodyPr>
          <a:lstStyle/>
          <a:p>
            <a:pPr algn="just"/>
            <a:r>
              <a:rPr lang="ru-RU" dirty="0"/>
              <a:t>Поскольку в экономике благодаря гибкости цен всегда существует полная занятость ресурсов и объем производства находится на уровне потенциального объема выпуска (</a:t>
            </a:r>
            <a:r>
              <a:rPr lang="en-US" dirty="0"/>
              <a:t>Y</a:t>
            </a:r>
            <a:r>
              <a:rPr lang="ru-RU" dirty="0"/>
              <a:t>*), то кривая совокупного предложения вертикальна, отражает равновесие в долгосрочном периоде и обозначается LRAS (</a:t>
            </a:r>
            <a:r>
              <a:rPr lang="ru-RU" dirty="0" err="1"/>
              <a:t>long-run</a:t>
            </a:r>
            <a:r>
              <a:rPr lang="ru-RU" dirty="0"/>
              <a:t> </a:t>
            </a:r>
            <a:r>
              <a:rPr lang="ru-RU" dirty="0" err="1"/>
              <a:t>aggregate</a:t>
            </a:r>
            <a:r>
              <a:rPr lang="ru-RU" dirty="0"/>
              <a:t> </a:t>
            </a:r>
            <a:r>
              <a:rPr lang="ru-RU" dirty="0" err="1"/>
              <a:t>supply</a:t>
            </a:r>
            <a:endParaRPr lang="ru-RU" dirty="0"/>
          </a:p>
        </p:txBody>
      </p:sp>
    </p:spTree>
    <p:extLst>
      <p:ext uri="{BB962C8B-B14F-4D97-AF65-F5344CB8AC3E}">
        <p14:creationId xmlns:p14="http://schemas.microsoft.com/office/powerpoint/2010/main" val="3659296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210235" y="673278"/>
            <a:ext cx="9663953" cy="1569660"/>
          </a:xfrm>
          <a:prstGeom prst="rect">
            <a:avLst/>
          </a:prstGeom>
        </p:spPr>
        <p:txBody>
          <a:bodyPr wrap="square">
            <a:spAutoFit/>
          </a:bodyPr>
          <a:lstStyle/>
          <a:p>
            <a:pPr algn="just"/>
            <a:r>
              <a:rPr lang="ru-RU" sz="2400" dirty="0"/>
              <a:t>Рассмотрим, как согласно </a:t>
            </a:r>
            <a:r>
              <a:rPr lang="ru-RU" sz="2400" b="1" dirty="0"/>
              <a:t>классической модели устанавливается равновесие в реальном секторе экономики</a:t>
            </a:r>
            <a:r>
              <a:rPr lang="ru-RU" sz="2400" dirty="0"/>
              <a:t>, включающем рынок труда, рынок капитала (заемных средств) и рынок товаров, и как взаимодействуют эти рынки между собой</a:t>
            </a:r>
            <a:r>
              <a:rPr lang="en-US" sz="2400" dirty="0"/>
              <a:t>.</a:t>
            </a:r>
            <a:endParaRPr lang="ru-RU" sz="2400" dirty="0"/>
          </a:p>
        </p:txBody>
      </p:sp>
      <p:pic>
        <p:nvPicPr>
          <p:cNvPr id="2050" name="Picture 2" descr="https://uchebnik.biz/pictures/books/2012-vvedenie-v-makroyekonomiku_matveeva_2007.files/image01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0235" y="2707341"/>
            <a:ext cx="9866007" cy="3234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3805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2"/>
          <a:srcRect t="968" r="71542" b="18700"/>
          <a:stretch/>
        </p:blipFill>
        <p:spPr>
          <a:xfrm>
            <a:off x="8303576" y="568223"/>
            <a:ext cx="3253140" cy="3528993"/>
          </a:xfrm>
          <a:prstGeom prst="rect">
            <a:avLst/>
          </a:prstGeom>
        </p:spPr>
      </p:pic>
      <p:sp>
        <p:nvSpPr>
          <p:cNvPr id="3" name="Прямоугольник 2"/>
          <p:cNvSpPr/>
          <p:nvPr/>
        </p:nvSpPr>
        <p:spPr>
          <a:xfrm>
            <a:off x="738554" y="633046"/>
            <a:ext cx="7565022" cy="5632311"/>
          </a:xfrm>
          <a:prstGeom prst="rect">
            <a:avLst/>
          </a:prstGeom>
        </p:spPr>
        <p:txBody>
          <a:bodyPr wrap="square">
            <a:spAutoFit/>
          </a:bodyPr>
          <a:lstStyle/>
          <a:p>
            <a:pPr algn="just"/>
            <a:r>
              <a:rPr lang="ru-RU" dirty="0"/>
              <a:t>Так как полной занятость, кривая предложения труда </a:t>
            </a:r>
            <a:r>
              <a:rPr lang="ru-RU" b="1" dirty="0"/>
              <a:t>(</a:t>
            </a:r>
            <a:r>
              <a:rPr lang="ru-RU" b="1" dirty="0" err="1"/>
              <a:t>Ls</a:t>
            </a:r>
            <a:r>
              <a:rPr lang="ru-RU" b="1" dirty="0"/>
              <a:t>) </a:t>
            </a:r>
            <a:r>
              <a:rPr lang="ru-RU" dirty="0"/>
              <a:t>вертикальна и объем предлагаемого </a:t>
            </a:r>
            <a:r>
              <a:rPr lang="ru-RU" b="1" dirty="0"/>
              <a:t>труда</a:t>
            </a:r>
            <a:r>
              <a:rPr lang="ru-RU" dirty="0"/>
              <a:t> равен </a:t>
            </a:r>
            <a:r>
              <a:rPr lang="ru-RU" b="1" dirty="0"/>
              <a:t>L</a:t>
            </a:r>
            <a:r>
              <a:rPr lang="ru-RU" sz="1200" b="1" dirty="0"/>
              <a:t>F</a:t>
            </a:r>
            <a:r>
              <a:rPr lang="ru-RU" b="1" dirty="0"/>
              <a:t> (</a:t>
            </a:r>
            <a:r>
              <a:rPr lang="ru-RU" b="1" dirty="0" err="1"/>
              <a:t>full</a:t>
            </a:r>
            <a:r>
              <a:rPr lang="ru-RU" b="1" dirty="0"/>
              <a:t> </a:t>
            </a:r>
            <a:r>
              <a:rPr lang="ru-RU" b="1" dirty="0" err="1"/>
              <a:t>employment</a:t>
            </a:r>
            <a:r>
              <a:rPr lang="ru-RU" b="1" dirty="0"/>
              <a:t>). </a:t>
            </a:r>
            <a:r>
              <a:rPr lang="ru-RU" dirty="0"/>
              <a:t>Величина спроса на труд находится в зависимости от номинальной ставки заработной платы </a:t>
            </a:r>
            <a:r>
              <a:rPr lang="ru-RU" b="1" dirty="0"/>
              <a:t>(W)</a:t>
            </a:r>
            <a:r>
              <a:rPr lang="ru-RU" dirty="0"/>
              <a:t>, причем зависимость обратная (чем выше ставка заработной платы, тем выше издержки фирм и тем меньше рабочих они нанимают). Поэтому кривая спроса на труд </a:t>
            </a:r>
            <a:r>
              <a:rPr lang="ru-RU" b="1" dirty="0"/>
              <a:t>(L</a:t>
            </a:r>
            <a:r>
              <a:rPr lang="ru-RU" b="1" baseline="30000" dirty="0"/>
              <a:t>D</a:t>
            </a:r>
            <a:r>
              <a:rPr lang="ru-RU" b="1" dirty="0"/>
              <a:t>) </a:t>
            </a:r>
            <a:r>
              <a:rPr lang="ru-RU" dirty="0"/>
              <a:t>имеет отрицательный наклон. Первоначально равновесие устанавливается в точке А, что соответствует равновесной ставке номинальной заработной платы W</a:t>
            </a:r>
            <a:r>
              <a:rPr lang="en-US" dirty="0"/>
              <a:t>1</a:t>
            </a:r>
            <a:r>
              <a:rPr lang="ru-RU" dirty="0"/>
              <a:t> и количеству занятых L</a:t>
            </a:r>
            <a:r>
              <a:rPr lang="ru-RU" baseline="-25000" dirty="0"/>
              <a:t>F</a:t>
            </a:r>
            <a:r>
              <a:rPr lang="ru-RU" dirty="0"/>
              <a:t> (точка пересечения кривой предложения труда </a:t>
            </a:r>
            <a:r>
              <a:rPr lang="ru-RU" dirty="0" err="1"/>
              <a:t>Ls</a:t>
            </a:r>
            <a:r>
              <a:rPr lang="ru-RU" dirty="0"/>
              <a:t> и кривой спроса на труд </a:t>
            </a:r>
            <a:r>
              <a:rPr lang="ru-RU" b="1" dirty="0"/>
              <a:t>L</a:t>
            </a:r>
            <a:r>
              <a:rPr lang="en-US" b="1" baseline="30000" dirty="0"/>
              <a:t>D</a:t>
            </a:r>
            <a:r>
              <a:rPr lang="en-US" b="1" baseline="-25000" dirty="0"/>
              <a:t>1</a:t>
            </a:r>
            <a:r>
              <a:rPr lang="ru-RU" dirty="0"/>
              <a:t>). Предположим, что спрос на труд уменьшился (сдвиг влево кривой спроса на труд от </a:t>
            </a:r>
            <a:r>
              <a:rPr lang="ru-RU" b="1" dirty="0"/>
              <a:t>L</a:t>
            </a:r>
            <a:r>
              <a:rPr lang="en-US" b="1" dirty="0"/>
              <a:t>D1</a:t>
            </a:r>
            <a:r>
              <a:rPr lang="ru-RU" b="1" dirty="0"/>
              <a:t> до LD2</a:t>
            </a:r>
            <a:r>
              <a:rPr lang="ru-RU" dirty="0"/>
              <a:t>). Равновесная ставка заработной платы снизится до W</a:t>
            </a:r>
            <a:r>
              <a:rPr lang="en-US" dirty="0"/>
              <a:t>2</a:t>
            </a:r>
            <a:r>
              <a:rPr lang="ru-RU" dirty="0"/>
              <a:t> При номинальной ставке заработной платы W</a:t>
            </a:r>
            <a:r>
              <a:rPr lang="en-US" dirty="0"/>
              <a:t>1</a:t>
            </a:r>
            <a:r>
              <a:rPr lang="ru-RU" dirty="0"/>
              <a:t> (точка В) предприниматели захотят нанять количество рабочих L</a:t>
            </a:r>
            <a:r>
              <a:rPr lang="en-US" dirty="0"/>
              <a:t>2</a:t>
            </a:r>
            <a:r>
              <a:rPr lang="ru-RU" dirty="0"/>
              <a:t> Разница между L</a:t>
            </a:r>
            <a:r>
              <a:rPr lang="en-US" dirty="0"/>
              <a:t>F </a:t>
            </a:r>
            <a:r>
              <a:rPr lang="ru-RU" dirty="0"/>
              <a:t>и L2 -</a:t>
            </a:r>
            <a:r>
              <a:rPr lang="ru-RU" b="1" dirty="0"/>
              <a:t>это безработица</a:t>
            </a:r>
            <a:r>
              <a:rPr lang="ru-RU" dirty="0"/>
              <a:t>. В XIX в. не существовало пособий по безработице, поэтому, по мнению представителей классической школы, рабочие предпочтут получать более низкий доход, чем не получать никакого. На рынке труда вновь восстановится полная занятость LF. </a:t>
            </a:r>
            <a:r>
              <a:rPr lang="ru-RU" b="1" dirty="0"/>
              <a:t>Безработица в классической модели имеет добровольный характер</a:t>
            </a:r>
            <a:r>
              <a:rPr lang="ru-RU" dirty="0"/>
              <a:t>, поскольку ее причиной выступает отказ рабочего трудиться за данную ставку номинальной заработной платы (</a:t>
            </a:r>
            <a:r>
              <a:rPr lang="en-US" dirty="0"/>
              <a:t>W2</a:t>
            </a:r>
            <a:r>
              <a:rPr lang="ru-RU" dirty="0"/>
              <a:t>)</a:t>
            </a:r>
          </a:p>
        </p:txBody>
      </p:sp>
      <p:sp>
        <p:nvSpPr>
          <p:cNvPr id="4" name="TextBox 3"/>
          <p:cNvSpPr txBox="1"/>
          <p:nvPr/>
        </p:nvSpPr>
        <p:spPr>
          <a:xfrm>
            <a:off x="9012115" y="4097216"/>
            <a:ext cx="402674" cy="369332"/>
          </a:xfrm>
          <a:prstGeom prst="rect">
            <a:avLst/>
          </a:prstGeom>
          <a:noFill/>
        </p:spPr>
        <p:txBody>
          <a:bodyPr wrap="none" rtlCol="0">
            <a:spAutoFit/>
          </a:bodyPr>
          <a:lstStyle/>
          <a:p>
            <a:r>
              <a:rPr lang="en-US" b="1" dirty="0"/>
              <a:t>L</a:t>
            </a:r>
            <a:r>
              <a:rPr lang="en-US" b="1" baseline="-25000" dirty="0"/>
              <a:t>2</a:t>
            </a:r>
            <a:endParaRPr lang="ru-RU" b="1" baseline="-25000" dirty="0"/>
          </a:p>
        </p:txBody>
      </p:sp>
      <p:sp>
        <p:nvSpPr>
          <p:cNvPr id="7" name="TextBox 6"/>
          <p:cNvSpPr txBox="1"/>
          <p:nvPr/>
        </p:nvSpPr>
        <p:spPr>
          <a:xfrm>
            <a:off x="9837513" y="4097216"/>
            <a:ext cx="425116" cy="369332"/>
          </a:xfrm>
          <a:prstGeom prst="rect">
            <a:avLst/>
          </a:prstGeom>
          <a:noFill/>
        </p:spPr>
        <p:txBody>
          <a:bodyPr wrap="none" rtlCol="0">
            <a:spAutoFit/>
          </a:bodyPr>
          <a:lstStyle/>
          <a:p>
            <a:r>
              <a:rPr lang="en-US" b="1" dirty="0"/>
              <a:t>L</a:t>
            </a:r>
            <a:r>
              <a:rPr lang="en-US" b="1" baseline="-25000" dirty="0"/>
              <a:t>F</a:t>
            </a:r>
            <a:endParaRPr lang="ru-RU" b="1" baseline="-25000" dirty="0"/>
          </a:p>
        </p:txBody>
      </p:sp>
    </p:spTree>
    <p:extLst>
      <p:ext uri="{BB962C8B-B14F-4D97-AF65-F5344CB8AC3E}">
        <p14:creationId xmlns:p14="http://schemas.microsoft.com/office/powerpoint/2010/main" val="3556718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uchebnik.biz/pictures/books/2012-vvedenie-v-makroyekonomiku_matveeva_2007.files/image014.gif"/>
          <p:cNvPicPr>
            <a:picLocks noChangeAspect="1" noChangeArrowheads="1"/>
          </p:cNvPicPr>
          <p:nvPr/>
        </p:nvPicPr>
        <p:blipFill rotWithShape="1">
          <a:blip r:embed="rId2">
            <a:extLst>
              <a:ext uri="{28A0092B-C50C-407E-A947-70E740481C1C}">
                <a14:useLocalDpi xmlns:a14="http://schemas.microsoft.com/office/drawing/2010/main" val="0"/>
              </a:ext>
            </a:extLst>
          </a:blip>
          <a:srcRect l="33615" t="774" r="32235" b="15347"/>
          <a:stretch/>
        </p:blipFill>
        <p:spPr bwMode="auto">
          <a:xfrm>
            <a:off x="733401" y="679213"/>
            <a:ext cx="3663604" cy="34581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922671" y="3768050"/>
            <a:ext cx="748923" cy="369332"/>
          </a:xfrm>
          <a:prstGeom prst="rect">
            <a:avLst/>
          </a:prstGeom>
          <a:noFill/>
        </p:spPr>
        <p:txBody>
          <a:bodyPr wrap="none" rtlCol="0">
            <a:spAutoFit/>
          </a:bodyPr>
          <a:lstStyle/>
          <a:p>
            <a:r>
              <a:rPr lang="en-US" dirty="0"/>
              <a:t>I1=S1</a:t>
            </a:r>
            <a:endParaRPr lang="ru-RU" baseline="-25000" dirty="0"/>
          </a:p>
        </p:txBody>
      </p:sp>
      <p:sp>
        <p:nvSpPr>
          <p:cNvPr id="4" name="TextBox 3"/>
          <p:cNvSpPr txBox="1"/>
          <p:nvPr/>
        </p:nvSpPr>
        <p:spPr>
          <a:xfrm>
            <a:off x="2671594" y="3768050"/>
            <a:ext cx="748923" cy="369332"/>
          </a:xfrm>
          <a:prstGeom prst="rect">
            <a:avLst/>
          </a:prstGeom>
          <a:noFill/>
        </p:spPr>
        <p:txBody>
          <a:bodyPr wrap="none" rtlCol="0">
            <a:spAutoFit/>
          </a:bodyPr>
          <a:lstStyle/>
          <a:p>
            <a:r>
              <a:rPr lang="en-US" dirty="0"/>
              <a:t>I2=S2</a:t>
            </a:r>
            <a:endParaRPr lang="ru-RU" baseline="-25000" dirty="0"/>
          </a:p>
        </p:txBody>
      </p:sp>
      <p:sp>
        <p:nvSpPr>
          <p:cNvPr id="5" name="Прямоугольник 4"/>
          <p:cNvSpPr/>
          <p:nvPr/>
        </p:nvSpPr>
        <p:spPr>
          <a:xfrm>
            <a:off x="4809392" y="1856749"/>
            <a:ext cx="6137030" cy="3970318"/>
          </a:xfrm>
          <a:prstGeom prst="rect">
            <a:avLst/>
          </a:prstGeom>
        </p:spPr>
        <p:txBody>
          <a:bodyPr wrap="square">
            <a:spAutoFit/>
          </a:bodyPr>
          <a:lstStyle/>
          <a:p>
            <a:pPr algn="just"/>
            <a:r>
              <a:rPr lang="ru-RU" dirty="0"/>
              <a:t>На </a:t>
            </a:r>
            <a:r>
              <a:rPr lang="ru-RU" b="1" dirty="0"/>
              <a:t>рынке капитала </a:t>
            </a:r>
            <a:r>
              <a:rPr lang="ru-RU" dirty="0"/>
              <a:t>(заемных средств) "встречаются" инвестиции (</a:t>
            </a:r>
            <a:r>
              <a:rPr lang="en-US" dirty="0"/>
              <a:t>I</a:t>
            </a:r>
            <a:r>
              <a:rPr lang="ru-RU" dirty="0"/>
              <a:t>) и сбережения (S) и устанавливается равновесная ставка процента (R). Спрос на заемные средства </a:t>
            </a:r>
            <a:r>
              <a:rPr lang="en-US" dirty="0"/>
              <a:t>-</a:t>
            </a:r>
            <a:r>
              <a:rPr lang="ru-RU" dirty="0"/>
              <a:t> от фирм (используют для покупки инвестиционных товаров). Чем выше цена заемных средств (ставка процента), тем меньше величина инвестиционных расходов фирм, т.е. инвестиции находятся в обратной зависимости от ставки процента, поэтому кривая инвестиций имеет отрицательный наклон. Предложение кредитных ресурсов осуществляют домохозяйства, предоставляя взаймы свои сбережения. Чем выше ставка процента, тем больший доход получают домохозяйства по сбережениям, т.е. зависимость прямая, поэтому кривая сбережений имеет положительный наклон.</a:t>
            </a:r>
          </a:p>
          <a:p>
            <a:pPr algn="just"/>
            <a:endParaRPr lang="ru-RU" dirty="0"/>
          </a:p>
        </p:txBody>
      </p:sp>
    </p:spTree>
    <p:extLst>
      <p:ext uri="{BB962C8B-B14F-4D97-AF65-F5344CB8AC3E}">
        <p14:creationId xmlns:p14="http://schemas.microsoft.com/office/powerpoint/2010/main" val="103441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https://uchebnik.biz/pictures/books/2012-vvedenie-v-makroyekonomiku_matveeva_2007.files/image014.gif"/>
          <p:cNvPicPr>
            <a:picLocks noChangeAspect="1" noChangeArrowheads="1"/>
          </p:cNvPicPr>
          <p:nvPr/>
        </p:nvPicPr>
        <p:blipFill rotWithShape="1">
          <a:blip r:embed="rId2">
            <a:extLst>
              <a:ext uri="{28A0092B-C50C-407E-A947-70E740481C1C}">
                <a14:useLocalDpi xmlns:a14="http://schemas.microsoft.com/office/drawing/2010/main" val="0"/>
              </a:ext>
            </a:extLst>
          </a:blip>
          <a:srcRect l="73805" t="754" b="15706"/>
          <a:stretch/>
        </p:blipFill>
        <p:spPr bwMode="auto">
          <a:xfrm>
            <a:off x="7434693" y="489753"/>
            <a:ext cx="3646449" cy="4469109"/>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920262" y="604053"/>
            <a:ext cx="6280638" cy="5632311"/>
          </a:xfrm>
          <a:prstGeom prst="rect">
            <a:avLst/>
          </a:prstGeom>
        </p:spPr>
        <p:txBody>
          <a:bodyPr wrap="square">
            <a:spAutoFit/>
          </a:bodyPr>
          <a:lstStyle/>
          <a:p>
            <a:pPr algn="just"/>
            <a:r>
              <a:rPr lang="ru-RU" dirty="0"/>
              <a:t>На </a:t>
            </a:r>
            <a:r>
              <a:rPr lang="ru-RU" b="1" dirty="0"/>
              <a:t>рынке товаров</a:t>
            </a:r>
            <a:r>
              <a:rPr lang="ru-RU" dirty="0"/>
              <a:t> первоначально равновесие находится в точке А на уровне выпуска </a:t>
            </a:r>
            <a:r>
              <a:rPr lang="en-US" dirty="0"/>
              <a:t>Y</a:t>
            </a:r>
            <a:r>
              <a:rPr lang="ru-RU" dirty="0"/>
              <a:t>*, являющегося потенциальным объемом выпуска, т.е. объемом выпуска при полной занятости ресурсов. При уровне цен Р</a:t>
            </a:r>
            <a:r>
              <a:rPr lang="en-US" dirty="0"/>
              <a:t>1</a:t>
            </a:r>
            <a:r>
              <a:rPr lang="ru-RU" dirty="0"/>
              <a:t> величина совокупного предложения AS равна величине совокупного спроса AD</a:t>
            </a:r>
            <a:r>
              <a:rPr lang="en-US" dirty="0"/>
              <a:t>1</a:t>
            </a:r>
            <a:r>
              <a:rPr lang="ru-RU" dirty="0"/>
              <a:t> Поскольку все рынки связаны друг с другом, то снижение номинальной ставки заработной платы на рынке труда (W</a:t>
            </a:r>
            <a:r>
              <a:rPr lang="en-US" dirty="0"/>
              <a:t>1</a:t>
            </a:r>
            <a:r>
              <a:rPr lang="ru-RU" dirty="0"/>
              <a:t> &lt; W2), т.е. уменьшение доходов домохозяйств, с одной стороны, и рост сбережений на рынке капитала, с другой стороны, обусловливают сокращение потребительских расходов, что, в свою очередь, уменьшает совокупный спрос. Кривая AD</a:t>
            </a:r>
            <a:r>
              <a:rPr lang="en-US" dirty="0"/>
              <a:t>1</a:t>
            </a:r>
            <a:r>
              <a:rPr lang="ru-RU" dirty="0"/>
              <a:t> сдвигается влево до AD</a:t>
            </a:r>
            <a:r>
              <a:rPr lang="en-US" dirty="0"/>
              <a:t>2</a:t>
            </a:r>
            <a:r>
              <a:rPr lang="ru-RU" dirty="0"/>
              <a:t> и уровень цен падает до Р2. При уровне цен Р</a:t>
            </a:r>
            <a:r>
              <a:rPr lang="en-US" dirty="0"/>
              <a:t>1</a:t>
            </a:r>
            <a:r>
              <a:rPr lang="ru-RU" dirty="0"/>
              <a:t> (точка В) фирмы смогут продать не всю продукцию, а только ее часть, равную Y</a:t>
            </a:r>
            <a:r>
              <a:rPr lang="en-US" dirty="0"/>
              <a:t>2</a:t>
            </a:r>
            <a:r>
              <a:rPr lang="ru-RU" dirty="0"/>
              <a:t> Однако в условиях совершенной конкуренции, являясь </a:t>
            </a:r>
            <a:r>
              <a:rPr lang="ru-RU" dirty="0" err="1"/>
              <a:t>ценополучателями</a:t>
            </a:r>
            <a:r>
              <a:rPr lang="ru-RU" dirty="0"/>
              <a:t> и рационально действующими экономическими агентами, они предпочтут продать весь произведенный объем производства по более низким ценам (Р2). В результате рынок товаров вернется к равновесию на уровне потенциального выпуска У* (точка С).</a:t>
            </a:r>
          </a:p>
        </p:txBody>
      </p:sp>
      <p:sp>
        <p:nvSpPr>
          <p:cNvPr id="4" name="TextBox 3"/>
          <p:cNvSpPr txBox="1"/>
          <p:nvPr/>
        </p:nvSpPr>
        <p:spPr>
          <a:xfrm>
            <a:off x="9056580" y="4589530"/>
            <a:ext cx="402674" cy="369332"/>
          </a:xfrm>
          <a:prstGeom prst="rect">
            <a:avLst/>
          </a:prstGeom>
          <a:noFill/>
        </p:spPr>
        <p:txBody>
          <a:bodyPr wrap="none" rtlCol="0">
            <a:spAutoFit/>
          </a:bodyPr>
          <a:lstStyle/>
          <a:p>
            <a:r>
              <a:rPr lang="en-US" dirty="0"/>
              <a:t>Y</a:t>
            </a:r>
            <a:r>
              <a:rPr lang="en-US" baseline="30000" dirty="0"/>
              <a:t>*</a:t>
            </a:r>
            <a:endParaRPr lang="ru-RU" dirty="0"/>
          </a:p>
        </p:txBody>
      </p:sp>
      <p:sp>
        <p:nvSpPr>
          <p:cNvPr id="5" name="TextBox 4"/>
          <p:cNvSpPr txBox="1"/>
          <p:nvPr/>
        </p:nvSpPr>
        <p:spPr>
          <a:xfrm>
            <a:off x="8309089" y="4589530"/>
            <a:ext cx="445956" cy="369332"/>
          </a:xfrm>
          <a:prstGeom prst="rect">
            <a:avLst/>
          </a:prstGeom>
          <a:noFill/>
        </p:spPr>
        <p:txBody>
          <a:bodyPr wrap="none" rtlCol="0">
            <a:spAutoFit/>
          </a:bodyPr>
          <a:lstStyle/>
          <a:p>
            <a:r>
              <a:rPr lang="en-US" dirty="0"/>
              <a:t>Y2</a:t>
            </a:r>
            <a:endParaRPr lang="ru-RU" dirty="0"/>
          </a:p>
        </p:txBody>
      </p:sp>
    </p:spTree>
    <p:extLst>
      <p:ext uri="{BB962C8B-B14F-4D97-AF65-F5344CB8AC3E}">
        <p14:creationId xmlns:p14="http://schemas.microsoft.com/office/powerpoint/2010/main" val="3865543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641838" y="602204"/>
            <a:ext cx="10665069" cy="1754326"/>
          </a:xfrm>
          <a:prstGeom prst="rect">
            <a:avLst/>
          </a:prstGeom>
          <a:noFill/>
        </p:spPr>
        <p:txBody>
          <a:bodyPr wrap="square" lIns="91440" tIns="45720" rIns="91440" bIns="45720">
            <a:spAutoFit/>
          </a:bodyPr>
          <a:lstStyle/>
          <a:p>
            <a:pPr algn="ctr"/>
            <a:r>
              <a:rPr lang="ru-RU"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Кейнсианская макроэкономическая модель</a:t>
            </a:r>
          </a:p>
        </p:txBody>
      </p:sp>
      <p:sp>
        <p:nvSpPr>
          <p:cNvPr id="4" name="Прямоугольник 3"/>
          <p:cNvSpPr/>
          <p:nvPr/>
        </p:nvSpPr>
        <p:spPr>
          <a:xfrm>
            <a:off x="791307" y="2356530"/>
            <a:ext cx="11157439" cy="4524315"/>
          </a:xfrm>
          <a:prstGeom prst="rect">
            <a:avLst/>
          </a:prstGeom>
        </p:spPr>
        <p:txBody>
          <a:bodyPr wrap="square">
            <a:spAutoFit/>
          </a:bodyPr>
          <a:lstStyle/>
          <a:p>
            <a:r>
              <a:rPr lang="ru-RU" b="1" i="1" u="sng" dirty="0">
                <a:solidFill>
                  <a:schemeClr val="accent4"/>
                </a:solidFill>
              </a:rPr>
              <a:t>Основные положения:</a:t>
            </a:r>
          </a:p>
          <a:p>
            <a:pPr marL="285750" indent="-285750">
              <a:buFont typeface="Wingdings" panose="05000000000000000000" pitchFamily="2" charset="2"/>
              <a:buChar char="§"/>
            </a:pPr>
            <a:r>
              <a:rPr lang="ru-RU" dirty="0"/>
              <a:t>Реальный и денежный секторы тесно взаимосвязаны. Принцип нейтральности денег был заменен принципом "деньги имеют значение" ("</a:t>
            </a:r>
            <a:r>
              <a:rPr lang="ru-RU" dirty="0" err="1"/>
              <a:t>money</a:t>
            </a:r>
            <a:r>
              <a:rPr lang="ru-RU" dirty="0"/>
              <a:t> </a:t>
            </a:r>
            <a:r>
              <a:rPr lang="ru-RU" dirty="0" err="1"/>
              <a:t>matters</a:t>
            </a:r>
            <a:r>
              <a:rPr lang="ru-RU" dirty="0"/>
              <a:t>"). Это означает, что деньги влияют на реальные показатели. Денежный рынок стал макроэкономическим рынком, сегментом финансового рынка наряду с рынком ценных бумаг (заемных средств).</a:t>
            </a:r>
          </a:p>
          <a:p>
            <a:pPr marL="285750" indent="-285750">
              <a:buFont typeface="Wingdings" panose="05000000000000000000" pitchFamily="2" charset="2"/>
              <a:buChar char="§"/>
            </a:pPr>
            <a:r>
              <a:rPr lang="ru-RU" dirty="0"/>
              <a:t>На рынках труда и товаров действует несовершенная конкуренция.</a:t>
            </a:r>
          </a:p>
          <a:p>
            <a:pPr marL="285750" indent="-285750">
              <a:buFont typeface="Wingdings" panose="05000000000000000000" pitchFamily="2" charset="2"/>
              <a:buChar char="§"/>
            </a:pPr>
            <a:r>
              <a:rPr lang="ru-RU" dirty="0"/>
              <a:t>Цены (номинальные показатели) жесткие (</a:t>
            </a:r>
            <a:r>
              <a:rPr lang="ru-RU" dirty="0" err="1"/>
              <a:t>rigid</a:t>
            </a:r>
            <a:r>
              <a:rPr lang="ru-RU" dirty="0"/>
              <a:t>) или, по терминологии </a:t>
            </a:r>
            <a:r>
              <a:rPr lang="ru-RU" dirty="0" err="1"/>
              <a:t>Кейнса</a:t>
            </a:r>
            <a:r>
              <a:rPr lang="ru-RU" dirty="0"/>
              <a:t>, липкие (</a:t>
            </a:r>
            <a:r>
              <a:rPr lang="ru-RU" dirty="0" err="1"/>
              <a:t>sticky</a:t>
            </a:r>
            <a:r>
              <a:rPr lang="ru-RU" dirty="0"/>
              <a:t>).</a:t>
            </a:r>
          </a:p>
          <a:p>
            <a:pPr marL="285750" indent="-285750">
              <a:buFont typeface="Wingdings" panose="05000000000000000000" pitchFamily="2" charset="2"/>
              <a:buChar char="§"/>
            </a:pPr>
            <a:r>
              <a:rPr lang="ru-RU" dirty="0"/>
              <a:t>Ставка процента, по мнению </a:t>
            </a:r>
            <a:r>
              <a:rPr lang="ru-RU" dirty="0" err="1"/>
              <a:t>Кейнса</a:t>
            </a:r>
            <a:r>
              <a:rPr lang="ru-RU" dirty="0"/>
              <a:t>, формируется не на рынке капитала (заемных средств) в результате соотношения инвестиций и сбережений, а на денежном рынке по соотношению спроса на деньги и предложения денег.</a:t>
            </a:r>
          </a:p>
          <a:p>
            <a:pPr marL="285750" indent="-285750">
              <a:buFont typeface="Wingdings" panose="05000000000000000000" pitchFamily="2" charset="2"/>
              <a:buChar char="§"/>
            </a:pPr>
            <a:r>
              <a:rPr lang="ru-RU" dirty="0"/>
              <a:t>Основным фактором, определяющим величину инвестиционных расходов, по мнению </a:t>
            </a:r>
            <a:r>
              <a:rPr lang="ru-RU" dirty="0" err="1"/>
              <a:t>Кейнса</a:t>
            </a:r>
            <a:r>
              <a:rPr lang="ru-RU" dirty="0"/>
              <a:t>, является не уровень ставки процента, а ожидаемая внутренняя норма отдачи от инвестиций (</a:t>
            </a:r>
            <a:r>
              <a:rPr lang="ru-RU" dirty="0" err="1"/>
              <a:t>internal</a:t>
            </a:r>
            <a:r>
              <a:rPr lang="ru-RU" dirty="0"/>
              <a:t> </a:t>
            </a:r>
            <a:r>
              <a:rPr lang="ru-RU" dirty="0" err="1"/>
              <a:t>rate</a:t>
            </a:r>
            <a:r>
              <a:rPr lang="ru-RU" dirty="0"/>
              <a:t> </a:t>
            </a:r>
            <a:r>
              <a:rPr lang="ru-RU" dirty="0" err="1"/>
              <a:t>of</a:t>
            </a:r>
            <a:r>
              <a:rPr lang="ru-RU" dirty="0"/>
              <a:t> </a:t>
            </a:r>
            <a:r>
              <a:rPr lang="ru-RU" dirty="0" err="1"/>
              <a:t>return</a:t>
            </a:r>
            <a:r>
              <a:rPr lang="ru-RU" dirty="0"/>
              <a:t> — IR</a:t>
            </a:r>
            <a:r>
              <a:rPr lang="en-US" dirty="0"/>
              <a:t>R</a:t>
            </a:r>
            <a:r>
              <a:rPr lang="ru-RU" dirty="0"/>
              <a:t>), которую </a:t>
            </a:r>
            <a:r>
              <a:rPr lang="ru-RU" dirty="0" err="1"/>
              <a:t>Кейнс</a:t>
            </a:r>
            <a:r>
              <a:rPr lang="ru-RU" dirty="0"/>
              <a:t> называл предельной эффективностью капитала (</a:t>
            </a:r>
            <a:r>
              <a:rPr lang="ru-RU" dirty="0" err="1"/>
              <a:t>marginal</a:t>
            </a:r>
            <a:r>
              <a:rPr lang="ru-RU" dirty="0"/>
              <a:t> </a:t>
            </a:r>
            <a:r>
              <a:rPr lang="ru-RU" dirty="0" err="1"/>
              <a:t>efficiency</a:t>
            </a:r>
            <a:r>
              <a:rPr lang="ru-RU" dirty="0"/>
              <a:t> </a:t>
            </a:r>
            <a:r>
              <a:rPr lang="ru-RU" dirty="0" err="1"/>
              <a:t>of</a:t>
            </a:r>
            <a:r>
              <a:rPr lang="ru-RU" dirty="0"/>
              <a:t> </a:t>
            </a:r>
            <a:r>
              <a:rPr lang="ru-RU" dirty="0" err="1"/>
              <a:t>capital</a:t>
            </a:r>
            <a:r>
              <a:rPr lang="ru-RU" dirty="0"/>
              <a:t>), понимая под ней субъективную оценку инвестором будущей доходности инвестиционного проекта</a:t>
            </a:r>
            <a:r>
              <a:rPr lang="en-US" dirty="0"/>
              <a:t>.</a:t>
            </a:r>
            <a:endParaRPr lang="ru-RU" dirty="0"/>
          </a:p>
          <a:p>
            <a:endParaRPr lang="ru-RU" dirty="0"/>
          </a:p>
          <a:p>
            <a:endParaRPr lang="ru-RU" dirty="0"/>
          </a:p>
        </p:txBody>
      </p:sp>
    </p:spTree>
    <p:extLst>
      <p:ext uri="{BB962C8B-B14F-4D97-AF65-F5344CB8AC3E}">
        <p14:creationId xmlns:p14="http://schemas.microsoft.com/office/powerpoint/2010/main" val="601170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90283" y="663406"/>
            <a:ext cx="10793506" cy="1754326"/>
          </a:xfrm>
          <a:prstGeom prst="rect">
            <a:avLst/>
          </a:prstGeom>
          <a:noFill/>
        </p:spPr>
        <p:txBody>
          <a:bodyPr wrap="square" lIns="91440" tIns="45720" rIns="91440" bIns="45720">
            <a:spAutoFit/>
          </a:bodyPr>
          <a:lstStyle/>
          <a:p>
            <a:pPr algn="ctr"/>
            <a:r>
              <a:rPr lang="ru-RU"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Инвестиции и сбережения в кейнсианской модели</a:t>
            </a:r>
          </a:p>
        </p:txBody>
      </p:sp>
      <p:cxnSp>
        <p:nvCxnSpPr>
          <p:cNvPr id="4" name="Прямая со стрелкой 3"/>
          <p:cNvCxnSpPr/>
          <p:nvPr/>
        </p:nvCxnSpPr>
        <p:spPr>
          <a:xfrm flipH="1" flipV="1">
            <a:off x="1380565" y="2250141"/>
            <a:ext cx="17929" cy="30569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Прямая со стрелкой 5"/>
          <p:cNvCxnSpPr/>
          <p:nvPr/>
        </p:nvCxnSpPr>
        <p:spPr>
          <a:xfrm flipV="1">
            <a:off x="1219200" y="5145741"/>
            <a:ext cx="3343835" cy="268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Прямая соединительная линия 7"/>
          <p:cNvCxnSpPr/>
          <p:nvPr/>
        </p:nvCxnSpPr>
        <p:spPr>
          <a:xfrm>
            <a:off x="2232212" y="2617694"/>
            <a:ext cx="17929" cy="2537012"/>
          </a:xfrm>
          <a:prstGeom prst="line">
            <a:avLst/>
          </a:prstGeom>
        </p:spPr>
        <p:style>
          <a:lnRef idx="1">
            <a:schemeClr val="dk1"/>
          </a:lnRef>
          <a:fillRef idx="0">
            <a:schemeClr val="dk1"/>
          </a:fillRef>
          <a:effectRef idx="0">
            <a:schemeClr val="dk1"/>
          </a:effectRef>
          <a:fontRef idx="minor">
            <a:schemeClr val="tx1"/>
          </a:fontRef>
        </p:style>
      </p:cxnSp>
      <p:cxnSp>
        <p:nvCxnSpPr>
          <p:cNvPr id="11" name="Прямая соединительная линия 10"/>
          <p:cNvCxnSpPr/>
          <p:nvPr/>
        </p:nvCxnSpPr>
        <p:spPr>
          <a:xfrm>
            <a:off x="2891117" y="2617694"/>
            <a:ext cx="0" cy="2541494"/>
          </a:xfrm>
          <a:prstGeom prst="line">
            <a:avLst/>
          </a:prstGeom>
        </p:spPr>
        <p:style>
          <a:lnRef idx="1">
            <a:schemeClr val="dk1"/>
          </a:lnRef>
          <a:fillRef idx="0">
            <a:schemeClr val="dk1"/>
          </a:fillRef>
          <a:effectRef idx="0">
            <a:schemeClr val="dk1"/>
          </a:effectRef>
          <a:fontRef idx="minor">
            <a:schemeClr val="tx1"/>
          </a:fontRef>
        </p:style>
      </p:cxnSp>
      <p:cxnSp>
        <p:nvCxnSpPr>
          <p:cNvPr id="14" name="Прямая соединительная линия 13"/>
          <p:cNvCxnSpPr/>
          <p:nvPr/>
        </p:nvCxnSpPr>
        <p:spPr>
          <a:xfrm>
            <a:off x="1981200" y="2617694"/>
            <a:ext cx="493059" cy="2339788"/>
          </a:xfrm>
          <a:prstGeom prst="line">
            <a:avLst/>
          </a:prstGeom>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455201" y="5122440"/>
            <a:ext cx="428322" cy="369332"/>
          </a:xfrm>
          <a:prstGeom prst="rect">
            <a:avLst/>
          </a:prstGeom>
          <a:noFill/>
        </p:spPr>
        <p:txBody>
          <a:bodyPr wrap="none" rtlCol="0">
            <a:spAutoFit/>
          </a:bodyPr>
          <a:lstStyle/>
          <a:p>
            <a:r>
              <a:rPr lang="en-US" dirty="0"/>
              <a:t>I,S</a:t>
            </a:r>
            <a:endParaRPr lang="ru-RU" dirty="0"/>
          </a:p>
        </p:txBody>
      </p:sp>
      <p:sp>
        <p:nvSpPr>
          <p:cNvPr id="16" name="TextBox 15"/>
          <p:cNvSpPr txBox="1"/>
          <p:nvPr/>
        </p:nvSpPr>
        <p:spPr>
          <a:xfrm>
            <a:off x="924098" y="2048400"/>
            <a:ext cx="328936" cy="369332"/>
          </a:xfrm>
          <a:prstGeom prst="rect">
            <a:avLst/>
          </a:prstGeom>
          <a:noFill/>
        </p:spPr>
        <p:txBody>
          <a:bodyPr wrap="none" rtlCol="0">
            <a:spAutoFit/>
          </a:bodyPr>
          <a:lstStyle/>
          <a:p>
            <a:r>
              <a:rPr lang="en-US" dirty="0"/>
              <a:t>R</a:t>
            </a:r>
            <a:endParaRPr lang="ru-RU" dirty="0"/>
          </a:p>
        </p:txBody>
      </p:sp>
      <p:sp>
        <p:nvSpPr>
          <p:cNvPr id="17" name="TextBox 16"/>
          <p:cNvSpPr txBox="1"/>
          <p:nvPr/>
        </p:nvSpPr>
        <p:spPr>
          <a:xfrm>
            <a:off x="2231441" y="2428494"/>
            <a:ext cx="404278" cy="369332"/>
          </a:xfrm>
          <a:prstGeom prst="rect">
            <a:avLst/>
          </a:prstGeom>
          <a:noFill/>
        </p:spPr>
        <p:txBody>
          <a:bodyPr wrap="none" rtlCol="0">
            <a:spAutoFit/>
          </a:bodyPr>
          <a:lstStyle/>
          <a:p>
            <a:r>
              <a:rPr lang="en-US" dirty="0"/>
              <a:t>S1</a:t>
            </a:r>
            <a:endParaRPr lang="ru-RU" dirty="0"/>
          </a:p>
        </p:txBody>
      </p:sp>
      <p:sp>
        <p:nvSpPr>
          <p:cNvPr id="18" name="TextBox 17"/>
          <p:cNvSpPr txBox="1"/>
          <p:nvPr/>
        </p:nvSpPr>
        <p:spPr>
          <a:xfrm>
            <a:off x="2879655" y="2428494"/>
            <a:ext cx="404278" cy="369332"/>
          </a:xfrm>
          <a:prstGeom prst="rect">
            <a:avLst/>
          </a:prstGeom>
          <a:noFill/>
        </p:spPr>
        <p:txBody>
          <a:bodyPr wrap="none" rtlCol="0">
            <a:spAutoFit/>
          </a:bodyPr>
          <a:lstStyle/>
          <a:p>
            <a:r>
              <a:rPr lang="en-US" dirty="0"/>
              <a:t>S2</a:t>
            </a:r>
            <a:endParaRPr lang="ru-RU" dirty="0"/>
          </a:p>
        </p:txBody>
      </p:sp>
      <p:sp>
        <p:nvSpPr>
          <p:cNvPr id="19" name="TextBox 18"/>
          <p:cNvSpPr txBox="1"/>
          <p:nvPr/>
        </p:nvSpPr>
        <p:spPr>
          <a:xfrm>
            <a:off x="1700119" y="2581730"/>
            <a:ext cx="266420" cy="369332"/>
          </a:xfrm>
          <a:prstGeom prst="rect">
            <a:avLst/>
          </a:prstGeom>
          <a:noFill/>
        </p:spPr>
        <p:txBody>
          <a:bodyPr wrap="none" rtlCol="0">
            <a:spAutoFit/>
          </a:bodyPr>
          <a:lstStyle/>
          <a:p>
            <a:r>
              <a:rPr lang="en-US" dirty="0"/>
              <a:t>I</a:t>
            </a:r>
            <a:endParaRPr lang="ru-RU" dirty="0"/>
          </a:p>
        </p:txBody>
      </p:sp>
      <p:sp>
        <p:nvSpPr>
          <p:cNvPr id="20" name="Прямоугольник 19"/>
          <p:cNvSpPr/>
          <p:nvPr/>
        </p:nvSpPr>
        <p:spPr>
          <a:xfrm>
            <a:off x="5126179" y="2417732"/>
            <a:ext cx="6096000" cy="2862322"/>
          </a:xfrm>
          <a:prstGeom prst="rect">
            <a:avLst/>
          </a:prstGeom>
        </p:spPr>
        <p:txBody>
          <a:bodyPr>
            <a:spAutoFit/>
          </a:bodyPr>
          <a:lstStyle/>
          <a:p>
            <a:pPr algn="just"/>
            <a:r>
              <a:rPr lang="ru-RU" dirty="0"/>
              <a:t>Графически соотношение инвестиций и сбережений в кейнсианской модели показано. Поскольку сбережения не зависят от ставки процента, то их график представлен вертикальной линией. Инвестиции слабо зависят от ставки процента, поэтому изображены линией, имеющей небольшой отрицательный наклон. Если сбережения увеличиваются до S2 то равновесную ставку процента определить невозможно, так как график инвестиций </a:t>
            </a:r>
            <a:r>
              <a:rPr lang="en-US" dirty="0"/>
              <a:t>(I)</a:t>
            </a:r>
            <a:r>
              <a:rPr lang="ru-RU" dirty="0"/>
              <a:t> и новая линия сбережений S2 не имеют точки пересечения в первом квадранте. </a:t>
            </a:r>
          </a:p>
        </p:txBody>
      </p:sp>
    </p:spTree>
    <p:extLst>
      <p:ext uri="{BB962C8B-B14F-4D97-AF65-F5344CB8AC3E}">
        <p14:creationId xmlns:p14="http://schemas.microsoft.com/office/powerpoint/2010/main" val="3759185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60143" y="531867"/>
            <a:ext cx="3940502" cy="646331"/>
          </a:xfrm>
          <a:prstGeom prst="rect">
            <a:avLst/>
          </a:prstGeom>
          <a:noFill/>
        </p:spPr>
        <p:txBody>
          <a:bodyPr wrap="none" lIns="91440" tIns="45720" rIns="91440" bIns="45720">
            <a:spAutoFit/>
          </a:bodyPr>
          <a:lstStyle/>
          <a:p>
            <a:pPr algn="ctr"/>
            <a:r>
              <a:rPr lang="ru-RU" sz="3600" b="1" dirty="0">
                <a:ln w="12700">
                  <a:solidFill>
                    <a:schemeClr val="accent5"/>
                  </a:solidFill>
                  <a:prstDash val="solid"/>
                </a:ln>
                <a:pattFill prst="ltDnDiag">
                  <a:fgClr>
                    <a:schemeClr val="accent5">
                      <a:lumMod val="60000"/>
                      <a:lumOff val="40000"/>
                    </a:schemeClr>
                  </a:fgClr>
                  <a:bgClr>
                    <a:schemeClr val="bg1"/>
                  </a:bgClr>
                </a:pattFill>
              </a:rPr>
              <a:t>Денежный рынок</a:t>
            </a:r>
            <a:endParaRPr lang="ru-RU" sz="3600" b="1" cap="none" spc="0" dirty="0">
              <a:ln w="12700">
                <a:solidFill>
                  <a:schemeClr val="accent5"/>
                </a:solidFill>
                <a:prstDash val="solid"/>
              </a:ln>
              <a:pattFill prst="ltDnDiag">
                <a:fgClr>
                  <a:schemeClr val="accent5">
                    <a:lumMod val="60000"/>
                    <a:lumOff val="40000"/>
                  </a:schemeClr>
                </a:fgClr>
                <a:bgClr>
                  <a:schemeClr val="bg1"/>
                </a:bgClr>
              </a:pattFill>
              <a:effectLst/>
            </a:endParaRPr>
          </a:p>
        </p:txBody>
      </p:sp>
      <p:pic>
        <p:nvPicPr>
          <p:cNvPr id="3" name="Рисунок 2"/>
          <p:cNvPicPr>
            <a:picLocks noChangeAspect="1"/>
          </p:cNvPicPr>
          <p:nvPr/>
        </p:nvPicPr>
        <p:blipFill>
          <a:blip r:embed="rId2"/>
          <a:stretch>
            <a:fillRect/>
          </a:stretch>
        </p:blipFill>
        <p:spPr>
          <a:xfrm>
            <a:off x="762366" y="1488097"/>
            <a:ext cx="3317265" cy="3655761"/>
          </a:xfrm>
          <a:prstGeom prst="rect">
            <a:avLst/>
          </a:prstGeom>
        </p:spPr>
      </p:pic>
      <p:sp>
        <p:nvSpPr>
          <p:cNvPr id="4" name="Прямоугольник 3"/>
          <p:cNvSpPr/>
          <p:nvPr/>
        </p:nvSpPr>
        <p:spPr>
          <a:xfrm>
            <a:off x="4500645" y="806607"/>
            <a:ext cx="6850223" cy="5632311"/>
          </a:xfrm>
          <a:prstGeom prst="rect">
            <a:avLst/>
          </a:prstGeom>
        </p:spPr>
        <p:txBody>
          <a:bodyPr wrap="square">
            <a:spAutoFit/>
          </a:bodyPr>
          <a:lstStyle/>
          <a:p>
            <a:pPr algn="just"/>
            <a:r>
              <a:rPr lang="ru-RU" dirty="0"/>
              <a:t>По мнению </a:t>
            </a:r>
            <a:r>
              <a:rPr lang="ru-RU" dirty="0" err="1"/>
              <a:t>Кейнса</a:t>
            </a:r>
            <a:r>
              <a:rPr lang="ru-RU" dirty="0"/>
              <a:t>, равновесную ставку процента (</a:t>
            </a:r>
            <a:r>
              <a:rPr lang="en-US" dirty="0"/>
              <a:t>R</a:t>
            </a:r>
            <a:r>
              <a:rPr lang="ru-RU" dirty="0"/>
              <a:t>) следует искать на другом, а именно денежном рынке — по соотношению спроса на деньги MD и предложения денег M</a:t>
            </a:r>
            <a:r>
              <a:rPr lang="en-US" dirty="0"/>
              <a:t>S.</a:t>
            </a:r>
          </a:p>
          <a:p>
            <a:pPr algn="just"/>
            <a:r>
              <a:rPr lang="ru-RU" dirty="0"/>
              <a:t>Жесткость цен ведет к тому, что равновесие на рынках устанавливается, но не на уровне полной занятости ресурсов</a:t>
            </a:r>
            <a:r>
              <a:rPr lang="en-US" dirty="0"/>
              <a:t>.</a:t>
            </a:r>
          </a:p>
          <a:p>
            <a:pPr algn="just"/>
            <a:r>
              <a:rPr lang="ru-RU" dirty="0" err="1"/>
              <a:t>Кейнс</a:t>
            </a:r>
            <a:r>
              <a:rPr lang="ru-RU" dirty="0"/>
              <a:t> обосновывал необходимость государственного вмешательства и государственного регулирования экономики.</a:t>
            </a:r>
            <a:endParaRPr lang="en-US" dirty="0"/>
          </a:p>
          <a:p>
            <a:pPr algn="just"/>
            <a:r>
              <a:rPr lang="ru-RU" dirty="0"/>
              <a:t>Основной экономической проблемой в условиях неполной занятости ресурсов становится проблема совокупного спроса, а не совокупного предложения, так как фирмы готовы произвести столько товаров, сколько у них захотят купить. Главным рынком становится товарный рынок. Кейнсианская модель это модель, изучающая экономику со стороны совокупного спроса (модель "</a:t>
            </a:r>
            <a:r>
              <a:rPr lang="ru-RU" dirty="0" err="1"/>
              <a:t>demand-side</a:t>
            </a:r>
            <a:r>
              <a:rPr lang="ru-RU" dirty="0"/>
              <a:t>").</a:t>
            </a:r>
          </a:p>
          <a:p>
            <a:pPr algn="just"/>
            <a:r>
              <a:rPr lang="ru-RU" dirty="0"/>
              <a:t>Поскольку стабилизационная политика государства, прежде всего политика по регулированию совокупного спроса, воздействует на экономику в краткосрочном периоде и жесткость цен существует относительно недолго, то кейнсианская модель представляет собой модель, описывающую поведение экономики в краткосрочном периоде (модель "</a:t>
            </a:r>
            <a:r>
              <a:rPr lang="ru-RU" dirty="0" err="1"/>
              <a:t>short-run</a:t>
            </a:r>
            <a:r>
              <a:rPr lang="ru-RU" dirty="0"/>
              <a:t>")</a:t>
            </a:r>
          </a:p>
          <a:p>
            <a:pPr algn="just"/>
            <a:endParaRPr lang="ru-RU" dirty="0"/>
          </a:p>
        </p:txBody>
      </p:sp>
    </p:spTree>
    <p:extLst>
      <p:ext uri="{BB962C8B-B14F-4D97-AF65-F5344CB8AC3E}">
        <p14:creationId xmlns:p14="http://schemas.microsoft.com/office/powerpoint/2010/main" val="4192251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45459" y="654440"/>
            <a:ext cx="10972800" cy="1323439"/>
          </a:xfrm>
          <a:prstGeom prst="rect">
            <a:avLst/>
          </a:prstGeom>
          <a:noFill/>
        </p:spPr>
        <p:txBody>
          <a:bodyPr wrap="square" lIns="91440" tIns="45720" rIns="91440" bIns="45720">
            <a:spAutoFit/>
          </a:bodyPr>
          <a:lstStyle/>
          <a:p>
            <a:pPr algn="ctr"/>
            <a:r>
              <a:rPr lang="ru-RU" sz="40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Кривая совокупного предложения в кейнсианской модели</a:t>
            </a:r>
          </a:p>
        </p:txBody>
      </p:sp>
      <p:sp>
        <p:nvSpPr>
          <p:cNvPr id="3" name="Прямоугольник 2"/>
          <p:cNvSpPr/>
          <p:nvPr/>
        </p:nvSpPr>
        <p:spPr>
          <a:xfrm>
            <a:off x="4859302" y="1891553"/>
            <a:ext cx="6268184" cy="4247317"/>
          </a:xfrm>
          <a:prstGeom prst="rect">
            <a:avLst/>
          </a:prstGeom>
        </p:spPr>
        <p:txBody>
          <a:bodyPr wrap="square">
            <a:spAutoFit/>
          </a:bodyPr>
          <a:lstStyle/>
          <a:p>
            <a:pPr algn="just"/>
            <a:r>
              <a:rPr lang="ru-RU" dirty="0"/>
              <a:t>Так как, по мнению </a:t>
            </a:r>
            <a:r>
              <a:rPr lang="ru-RU" dirty="0" err="1"/>
              <a:t>Кейнса</a:t>
            </a:r>
            <a:r>
              <a:rPr lang="ru-RU" dirty="0"/>
              <a:t>, в краткосрочном периоде все цены (номинальная заработная плата и цены на товары) жесткие, что соответствует ситуации, когда в экономике имеется большое количество безработных (как было в период Великой депрессии, на исследовании которой строил свою теорию </a:t>
            </a:r>
            <a:r>
              <a:rPr lang="ru-RU" dirty="0" err="1"/>
              <a:t>Кейнс</a:t>
            </a:r>
            <a:r>
              <a:rPr lang="ru-RU" dirty="0"/>
              <a:t>), кривая краткосрочного совокупного предложения SRAS (</a:t>
            </a:r>
            <a:r>
              <a:rPr lang="ru-RU" dirty="0" err="1"/>
              <a:t>short-run</a:t>
            </a:r>
            <a:r>
              <a:rPr lang="ru-RU" dirty="0"/>
              <a:t> </a:t>
            </a:r>
            <a:r>
              <a:rPr lang="ru-RU" dirty="0" err="1"/>
              <a:t>aggregate</a:t>
            </a:r>
            <a:r>
              <a:rPr lang="ru-RU" dirty="0"/>
              <a:t> </a:t>
            </a:r>
            <a:r>
              <a:rPr lang="ru-RU" dirty="0" err="1"/>
              <a:t>supply</a:t>
            </a:r>
            <a:r>
              <a:rPr lang="ru-RU" dirty="0"/>
              <a:t> </a:t>
            </a:r>
            <a:r>
              <a:rPr lang="ru-RU" dirty="0" err="1"/>
              <a:t>curve</a:t>
            </a:r>
            <a:r>
              <a:rPr lang="ru-RU" dirty="0"/>
              <a:t>) имеет горизонтальный вид.</a:t>
            </a:r>
            <a:endParaRPr lang="en-US" dirty="0"/>
          </a:p>
          <a:p>
            <a:pPr algn="just"/>
            <a:r>
              <a:rPr lang="ru-RU" dirty="0"/>
              <a:t>Цены на товары остаются на постоянном уровне Р, при котором фирмы готовы произвести любое количество продукции, которое они смогут продать. Таким образом, объем выпуска в этой ситуации определяется только тем, сколько товаров захотят приобрести покупатели. Поэтому главным фактором, определяющим величину совокупного предложения, по мнению </a:t>
            </a:r>
            <a:r>
              <a:rPr lang="ru-RU" dirty="0" err="1"/>
              <a:t>Кейнса</a:t>
            </a:r>
            <a:r>
              <a:rPr lang="ru-RU" dirty="0"/>
              <a:t>, является совокупный спрос, т.е. совокупные расходы.</a:t>
            </a:r>
          </a:p>
        </p:txBody>
      </p:sp>
      <p:cxnSp>
        <p:nvCxnSpPr>
          <p:cNvPr id="5" name="Прямая со стрелкой 4"/>
          <p:cNvCxnSpPr/>
          <p:nvPr/>
        </p:nvCxnSpPr>
        <p:spPr>
          <a:xfrm flipH="1" flipV="1">
            <a:off x="1308847" y="1891553"/>
            <a:ext cx="8965" cy="31107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Прямая со стрелкой 6"/>
          <p:cNvCxnSpPr/>
          <p:nvPr/>
        </p:nvCxnSpPr>
        <p:spPr>
          <a:xfrm>
            <a:off x="1129553" y="4779478"/>
            <a:ext cx="332590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Прямая соединительная линия 8"/>
          <p:cNvCxnSpPr/>
          <p:nvPr/>
        </p:nvCxnSpPr>
        <p:spPr>
          <a:xfrm>
            <a:off x="1317812" y="3446929"/>
            <a:ext cx="2850776" cy="0"/>
          </a:xfrm>
          <a:prstGeom prst="line">
            <a:avLst/>
          </a:prstGeom>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992238" y="1706887"/>
            <a:ext cx="274630" cy="369332"/>
          </a:xfrm>
          <a:prstGeom prst="rect">
            <a:avLst/>
          </a:prstGeom>
          <a:noFill/>
        </p:spPr>
        <p:txBody>
          <a:bodyPr wrap="square" rtlCol="0">
            <a:spAutoFit/>
          </a:bodyPr>
          <a:lstStyle/>
          <a:p>
            <a:r>
              <a:rPr lang="en-US" dirty="0"/>
              <a:t>P</a:t>
            </a:r>
            <a:endParaRPr lang="ru-RU" dirty="0"/>
          </a:p>
        </p:txBody>
      </p:sp>
      <p:sp>
        <p:nvSpPr>
          <p:cNvPr id="12" name="TextBox 11"/>
          <p:cNvSpPr txBox="1"/>
          <p:nvPr/>
        </p:nvSpPr>
        <p:spPr>
          <a:xfrm>
            <a:off x="4522350" y="4632974"/>
            <a:ext cx="336952" cy="369332"/>
          </a:xfrm>
          <a:prstGeom prst="rect">
            <a:avLst/>
          </a:prstGeom>
          <a:noFill/>
        </p:spPr>
        <p:txBody>
          <a:bodyPr wrap="none" rtlCol="0">
            <a:spAutoFit/>
          </a:bodyPr>
          <a:lstStyle/>
          <a:p>
            <a:r>
              <a:rPr lang="en-US" dirty="0"/>
              <a:t>Y</a:t>
            </a:r>
            <a:endParaRPr lang="ru-RU" dirty="0"/>
          </a:p>
        </p:txBody>
      </p:sp>
      <p:sp>
        <p:nvSpPr>
          <p:cNvPr id="13" name="TextBox 12"/>
          <p:cNvSpPr txBox="1"/>
          <p:nvPr/>
        </p:nvSpPr>
        <p:spPr>
          <a:xfrm>
            <a:off x="937932" y="3262263"/>
            <a:ext cx="314510" cy="369332"/>
          </a:xfrm>
          <a:prstGeom prst="rect">
            <a:avLst/>
          </a:prstGeom>
          <a:noFill/>
        </p:spPr>
        <p:txBody>
          <a:bodyPr wrap="none" rtlCol="0">
            <a:spAutoFit/>
          </a:bodyPr>
          <a:lstStyle/>
          <a:p>
            <a:r>
              <a:rPr lang="en-US" dirty="0"/>
              <a:t>P</a:t>
            </a:r>
            <a:endParaRPr lang="ru-RU" dirty="0"/>
          </a:p>
        </p:txBody>
      </p:sp>
      <p:sp>
        <p:nvSpPr>
          <p:cNvPr id="14" name="TextBox 13"/>
          <p:cNvSpPr txBox="1"/>
          <p:nvPr/>
        </p:nvSpPr>
        <p:spPr>
          <a:xfrm>
            <a:off x="3236743" y="2892931"/>
            <a:ext cx="707245" cy="369332"/>
          </a:xfrm>
          <a:prstGeom prst="rect">
            <a:avLst/>
          </a:prstGeom>
          <a:noFill/>
        </p:spPr>
        <p:txBody>
          <a:bodyPr wrap="none" rtlCol="0">
            <a:spAutoFit/>
          </a:bodyPr>
          <a:lstStyle/>
          <a:p>
            <a:r>
              <a:rPr lang="en-US" dirty="0"/>
              <a:t>SRAS</a:t>
            </a:r>
            <a:endParaRPr lang="ru-RU" dirty="0"/>
          </a:p>
        </p:txBody>
      </p:sp>
      <p:cxnSp>
        <p:nvCxnSpPr>
          <p:cNvPr id="19" name="Прямая соединительная линия 18"/>
          <p:cNvCxnSpPr/>
          <p:nvPr/>
        </p:nvCxnSpPr>
        <p:spPr>
          <a:xfrm flipV="1">
            <a:off x="937932" y="3224102"/>
            <a:ext cx="314510" cy="879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722658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6625" y="690300"/>
            <a:ext cx="9529964" cy="1754326"/>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ru-RU" sz="5400" b="1" cap="none" spc="0" dirty="0">
                <a:ln/>
                <a:solidFill>
                  <a:schemeClr val="accent3"/>
                </a:solidFill>
                <a:effectLst/>
              </a:rPr>
              <a:t>Факторы долгосрочного совокупного предложения</a:t>
            </a:r>
          </a:p>
        </p:txBody>
      </p:sp>
      <p:sp>
        <p:nvSpPr>
          <p:cNvPr id="3" name="Прямоугольник 2"/>
          <p:cNvSpPr/>
          <p:nvPr/>
        </p:nvSpPr>
        <p:spPr>
          <a:xfrm>
            <a:off x="1362155" y="2921205"/>
            <a:ext cx="9664434" cy="2031325"/>
          </a:xfrm>
          <a:prstGeom prst="rect">
            <a:avLst/>
          </a:prstGeom>
        </p:spPr>
        <p:txBody>
          <a:bodyPr wrap="square">
            <a:spAutoFit/>
          </a:bodyPr>
          <a:lstStyle/>
          <a:p>
            <a:pPr algn="just"/>
            <a:r>
              <a:rPr lang="ru-RU" dirty="0"/>
              <a:t>В долгосрочном периоде меняются и цены на товары, и цены на ресурсы (прежде всего номинальная заработная плата), все цены совершенно гибкие и изменяются пропорционально друг другу, и все рынки приходят во взаимное равновесие. Поэтому величина совокупного предложения не зависит от уровня цен. При любом уровне цен фирмы могут произвести ровно столько продукции, сколько позволяют имеющиеся в экономике ресурсы. Кривая долгосрочного совокупного предложения LRAS (</a:t>
            </a:r>
            <a:r>
              <a:rPr lang="ru-RU" dirty="0" err="1"/>
              <a:t>long-run</a:t>
            </a:r>
            <a:r>
              <a:rPr lang="ru-RU" dirty="0"/>
              <a:t> </a:t>
            </a:r>
            <a:r>
              <a:rPr lang="ru-RU" dirty="0" err="1"/>
              <a:t>aggregate</a:t>
            </a:r>
            <a:r>
              <a:rPr lang="ru-RU" dirty="0"/>
              <a:t> </a:t>
            </a:r>
            <a:r>
              <a:rPr lang="ru-RU" dirty="0" err="1"/>
              <a:t>supply</a:t>
            </a:r>
            <a:r>
              <a:rPr lang="ru-RU" dirty="0"/>
              <a:t> </a:t>
            </a:r>
            <a:r>
              <a:rPr lang="ru-RU" dirty="0" err="1"/>
              <a:t>curve</a:t>
            </a:r>
            <a:r>
              <a:rPr lang="ru-RU" dirty="0"/>
              <a:t>) имеет вертикальный вид, как в классической модели.</a:t>
            </a:r>
          </a:p>
        </p:txBody>
      </p:sp>
    </p:spTree>
    <p:extLst>
      <p:ext uri="{BB962C8B-B14F-4D97-AF65-F5344CB8AC3E}">
        <p14:creationId xmlns:p14="http://schemas.microsoft.com/office/powerpoint/2010/main" val="1506751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150857" y="618582"/>
            <a:ext cx="6051657" cy="923330"/>
          </a:xfrm>
          <a:prstGeom prst="rect">
            <a:avLst/>
          </a:prstGeom>
          <a:noFill/>
        </p:spPr>
        <p:txBody>
          <a:bodyPr wrap="none" lIns="91440" tIns="45720" rIns="91440" bIns="45720">
            <a:spAutoFit/>
          </a:bodyPr>
          <a:lstStyle/>
          <a:p>
            <a:pPr algn="ctr"/>
            <a:r>
              <a:rPr lang="ru-RU" sz="5400" b="1" cap="none" spc="0" dirty="0">
                <a:ln w="22225">
                  <a:solidFill>
                    <a:schemeClr val="accent2"/>
                  </a:solidFill>
                  <a:prstDash val="solid"/>
                </a:ln>
                <a:solidFill>
                  <a:schemeClr val="accent2">
                    <a:lumMod val="40000"/>
                    <a:lumOff val="60000"/>
                  </a:schemeClr>
                </a:solidFill>
                <a:effectLst/>
              </a:rPr>
              <a:t>Ценовые факторы</a:t>
            </a:r>
          </a:p>
        </p:txBody>
      </p:sp>
      <p:cxnSp>
        <p:nvCxnSpPr>
          <p:cNvPr id="4" name="Прямая со стрелкой 3"/>
          <p:cNvCxnSpPr/>
          <p:nvPr/>
        </p:nvCxnSpPr>
        <p:spPr>
          <a:xfrm flipH="1" flipV="1">
            <a:off x="1488141" y="1873624"/>
            <a:ext cx="44824" cy="33976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Прямая со стрелкой 5"/>
          <p:cNvCxnSpPr/>
          <p:nvPr/>
        </p:nvCxnSpPr>
        <p:spPr>
          <a:xfrm flipV="1">
            <a:off x="1317812" y="5047129"/>
            <a:ext cx="3550023" cy="17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Прямая соединительная линия 8"/>
          <p:cNvCxnSpPr/>
          <p:nvPr/>
        </p:nvCxnSpPr>
        <p:spPr>
          <a:xfrm>
            <a:off x="3056965" y="2196353"/>
            <a:ext cx="26894" cy="2859741"/>
          </a:xfrm>
          <a:prstGeom prst="line">
            <a:avLst/>
          </a:prstGeom>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992238" y="1706887"/>
            <a:ext cx="274630" cy="369332"/>
          </a:xfrm>
          <a:prstGeom prst="rect">
            <a:avLst/>
          </a:prstGeom>
          <a:noFill/>
        </p:spPr>
        <p:txBody>
          <a:bodyPr wrap="square" rtlCol="0">
            <a:spAutoFit/>
          </a:bodyPr>
          <a:lstStyle/>
          <a:p>
            <a:r>
              <a:rPr lang="en-US" dirty="0"/>
              <a:t>P</a:t>
            </a:r>
            <a:endParaRPr lang="ru-RU" dirty="0"/>
          </a:p>
        </p:txBody>
      </p:sp>
      <p:sp>
        <p:nvSpPr>
          <p:cNvPr id="13" name="TextBox 12"/>
          <p:cNvSpPr txBox="1"/>
          <p:nvPr/>
        </p:nvSpPr>
        <p:spPr>
          <a:xfrm>
            <a:off x="952861" y="3392251"/>
            <a:ext cx="477974" cy="369332"/>
          </a:xfrm>
          <a:prstGeom prst="rect">
            <a:avLst/>
          </a:prstGeom>
          <a:noFill/>
        </p:spPr>
        <p:txBody>
          <a:bodyPr wrap="square" rtlCol="0">
            <a:spAutoFit/>
          </a:bodyPr>
          <a:lstStyle/>
          <a:p>
            <a:r>
              <a:rPr lang="en-US" dirty="0"/>
              <a:t>P1</a:t>
            </a:r>
            <a:endParaRPr lang="ru-RU" dirty="0"/>
          </a:p>
        </p:txBody>
      </p:sp>
      <p:sp>
        <p:nvSpPr>
          <p:cNvPr id="14" name="TextBox 13"/>
          <p:cNvSpPr txBox="1"/>
          <p:nvPr/>
        </p:nvSpPr>
        <p:spPr>
          <a:xfrm>
            <a:off x="941510" y="2771899"/>
            <a:ext cx="477974" cy="369332"/>
          </a:xfrm>
          <a:prstGeom prst="rect">
            <a:avLst/>
          </a:prstGeom>
          <a:noFill/>
        </p:spPr>
        <p:txBody>
          <a:bodyPr wrap="square" rtlCol="0">
            <a:spAutoFit/>
          </a:bodyPr>
          <a:lstStyle/>
          <a:p>
            <a:r>
              <a:rPr lang="en-US" dirty="0"/>
              <a:t>P2</a:t>
            </a:r>
            <a:endParaRPr lang="ru-RU" dirty="0"/>
          </a:p>
        </p:txBody>
      </p:sp>
      <p:sp>
        <p:nvSpPr>
          <p:cNvPr id="15" name="TextBox 14"/>
          <p:cNvSpPr txBox="1"/>
          <p:nvPr/>
        </p:nvSpPr>
        <p:spPr>
          <a:xfrm>
            <a:off x="3198472" y="3387769"/>
            <a:ext cx="274630" cy="369332"/>
          </a:xfrm>
          <a:prstGeom prst="rect">
            <a:avLst/>
          </a:prstGeom>
          <a:noFill/>
        </p:spPr>
        <p:txBody>
          <a:bodyPr wrap="square" rtlCol="0">
            <a:spAutoFit/>
          </a:bodyPr>
          <a:lstStyle/>
          <a:p>
            <a:r>
              <a:rPr lang="en-US" dirty="0"/>
              <a:t>A</a:t>
            </a:r>
            <a:endParaRPr lang="ru-RU" dirty="0"/>
          </a:p>
        </p:txBody>
      </p:sp>
      <p:sp>
        <p:nvSpPr>
          <p:cNvPr id="16" name="Овал 15"/>
          <p:cNvSpPr/>
          <p:nvPr/>
        </p:nvSpPr>
        <p:spPr>
          <a:xfrm>
            <a:off x="2976283" y="2864232"/>
            <a:ext cx="161364" cy="18466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17" name="Овал 16"/>
          <p:cNvSpPr/>
          <p:nvPr/>
        </p:nvSpPr>
        <p:spPr>
          <a:xfrm>
            <a:off x="2989493" y="3480102"/>
            <a:ext cx="161364" cy="18466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18" name="TextBox 17"/>
          <p:cNvSpPr txBox="1"/>
          <p:nvPr/>
        </p:nvSpPr>
        <p:spPr>
          <a:xfrm>
            <a:off x="3218329" y="2771899"/>
            <a:ext cx="274630" cy="369332"/>
          </a:xfrm>
          <a:prstGeom prst="rect">
            <a:avLst/>
          </a:prstGeom>
          <a:noFill/>
        </p:spPr>
        <p:txBody>
          <a:bodyPr wrap="square" rtlCol="0">
            <a:spAutoFit/>
          </a:bodyPr>
          <a:lstStyle/>
          <a:p>
            <a:r>
              <a:rPr lang="en-US" dirty="0"/>
              <a:t>B</a:t>
            </a:r>
            <a:endParaRPr lang="ru-RU" dirty="0"/>
          </a:p>
        </p:txBody>
      </p:sp>
      <p:sp>
        <p:nvSpPr>
          <p:cNvPr id="19" name="TextBox 18"/>
          <p:cNvSpPr txBox="1"/>
          <p:nvPr/>
        </p:nvSpPr>
        <p:spPr>
          <a:xfrm>
            <a:off x="2919649" y="5056094"/>
            <a:ext cx="573310" cy="369332"/>
          </a:xfrm>
          <a:prstGeom prst="rect">
            <a:avLst/>
          </a:prstGeom>
          <a:noFill/>
        </p:spPr>
        <p:txBody>
          <a:bodyPr wrap="square" rtlCol="0">
            <a:spAutoFit/>
          </a:bodyPr>
          <a:lstStyle/>
          <a:p>
            <a:r>
              <a:rPr lang="en-US" dirty="0"/>
              <a:t>Y*</a:t>
            </a:r>
            <a:endParaRPr lang="ru-RU" dirty="0"/>
          </a:p>
        </p:txBody>
      </p:sp>
      <p:sp>
        <p:nvSpPr>
          <p:cNvPr id="20" name="TextBox 19"/>
          <p:cNvSpPr txBox="1"/>
          <p:nvPr/>
        </p:nvSpPr>
        <p:spPr>
          <a:xfrm>
            <a:off x="4867835" y="4912685"/>
            <a:ext cx="274630" cy="369332"/>
          </a:xfrm>
          <a:prstGeom prst="rect">
            <a:avLst/>
          </a:prstGeom>
          <a:noFill/>
        </p:spPr>
        <p:txBody>
          <a:bodyPr wrap="square" rtlCol="0">
            <a:spAutoFit/>
          </a:bodyPr>
          <a:lstStyle/>
          <a:p>
            <a:r>
              <a:rPr lang="en-US" dirty="0"/>
              <a:t>Y</a:t>
            </a:r>
            <a:endParaRPr lang="ru-RU" dirty="0"/>
          </a:p>
        </p:txBody>
      </p:sp>
      <p:sp>
        <p:nvSpPr>
          <p:cNvPr id="21" name="Прямоугольник 20"/>
          <p:cNvSpPr/>
          <p:nvPr/>
        </p:nvSpPr>
        <p:spPr>
          <a:xfrm>
            <a:off x="5325035" y="2233607"/>
            <a:ext cx="5468471" cy="2585323"/>
          </a:xfrm>
          <a:prstGeom prst="rect">
            <a:avLst/>
          </a:prstGeom>
        </p:spPr>
        <p:txBody>
          <a:bodyPr wrap="square">
            <a:spAutoFit/>
          </a:bodyPr>
          <a:lstStyle/>
          <a:p>
            <a:pPr algn="just"/>
            <a:r>
              <a:rPr lang="ru-RU" dirty="0"/>
              <a:t>Ценовые факторы (изменение общею уровня цен) не влияют на величину совокупного предложения (движение вдоль вертикальной кривой долгосрочного совокупного предложения из точки А в точку </a:t>
            </a:r>
            <a:r>
              <a:rPr lang="en-US" dirty="0"/>
              <a:t>B.</a:t>
            </a:r>
            <a:r>
              <a:rPr lang="ru-RU" dirty="0"/>
              <a:t> Величина выпуска остается на своем потенциальном уровне У*, но уровень цен растет от Р</a:t>
            </a:r>
            <a:r>
              <a:rPr lang="en-US" dirty="0"/>
              <a:t>1</a:t>
            </a:r>
            <a:r>
              <a:rPr lang="ru-RU" dirty="0"/>
              <a:t> до Р2 . Таким образом, величина совокупного предложения в долгосрочном периоде абсолютно неэластична к уровню цен</a:t>
            </a:r>
            <a:r>
              <a:rPr lang="en-US" dirty="0"/>
              <a:t>.</a:t>
            </a:r>
            <a:endParaRPr lang="ru-RU" dirty="0"/>
          </a:p>
        </p:txBody>
      </p:sp>
    </p:spTree>
    <p:extLst>
      <p:ext uri="{BB962C8B-B14F-4D97-AF65-F5344CB8AC3E}">
        <p14:creationId xmlns:p14="http://schemas.microsoft.com/office/powerpoint/2010/main" val="2011497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789485" y="634784"/>
            <a:ext cx="7728438" cy="5078313"/>
          </a:xfrm>
          <a:prstGeom prst="rect">
            <a:avLst/>
          </a:prstGeom>
        </p:spPr>
        <p:txBody>
          <a:bodyPr wrap="square">
            <a:spAutoFit/>
          </a:bodyPr>
          <a:lstStyle/>
          <a:p>
            <a:pPr algn="just"/>
            <a:r>
              <a:rPr lang="ru-RU" b="1" dirty="0"/>
              <a:t>Неценовым фактором</a:t>
            </a:r>
            <a:r>
              <a:rPr lang="ru-RU" dirty="0"/>
              <a:t>, который воздействует на само совокупное предложение в долгосрочном периоде и обусловливает сдвиг кривой LJRAS, является изменение количества и(или) качества (производительности) экономических ресурсов (труда — L, физического капитала — К, человеческого капитала — </a:t>
            </a:r>
            <a:r>
              <a:rPr lang="en-US" dirty="0"/>
              <a:t>H</a:t>
            </a:r>
            <a:r>
              <a:rPr lang="ru-RU" dirty="0"/>
              <a:t>, природных ресурсов — N, технологических знаний — т), что лежит в основе изменения производственного потенциала экономики и поэтому изменения величины потенциального объема выпуска (от </a:t>
            </a:r>
            <a:r>
              <a:rPr lang="en-US" dirty="0"/>
              <a:t>Y1</a:t>
            </a:r>
            <a:r>
              <a:rPr lang="ru-RU" dirty="0"/>
              <a:t>*до Y2*) при каждом уровне цен. Увеличение количества и(или) совершенствование качества экономических ресурсов сдвигает кривую долгосрочного совокупного предложения вправо от </a:t>
            </a:r>
            <a:r>
              <a:rPr lang="ru-RU" dirty="0" err="1"/>
              <a:t>LRASl</a:t>
            </a:r>
            <a:r>
              <a:rPr lang="ru-RU" dirty="0"/>
              <a:t> до LRAS</a:t>
            </a:r>
            <a:r>
              <a:rPr lang="en-US" dirty="0"/>
              <a:t>2,</a:t>
            </a:r>
            <a:r>
              <a:rPr lang="ru-RU" dirty="0"/>
              <a:t> что означает экономический рост. Соответственно уменьшение количества и(или) ухудшение качества экономических ресурсов обусловливает сокращение производственного потенциала экономики и уменьшение величины потенциального объема выпуска (сдвиг кривой LRAS влево).</a:t>
            </a:r>
          </a:p>
          <a:p>
            <a:pPr algn="just"/>
            <a:endParaRPr lang="ru-RU" dirty="0"/>
          </a:p>
          <a:p>
            <a:pPr algn="just"/>
            <a:r>
              <a:rPr lang="ru-RU" dirty="0"/>
              <a:t>Функция долгосрочного совокупного предложения имеет вид</a:t>
            </a:r>
            <a:r>
              <a:rPr lang="en-US" dirty="0"/>
              <a:t>:</a:t>
            </a:r>
            <a:endParaRPr lang="ru-RU" dirty="0"/>
          </a:p>
          <a:p>
            <a:pPr algn="just"/>
            <a:endParaRPr lang="ru-RU" dirty="0"/>
          </a:p>
          <a:p>
            <a:pPr algn="just"/>
            <a:r>
              <a:rPr lang="ru-RU" b="1" dirty="0">
                <a:solidFill>
                  <a:schemeClr val="accent4"/>
                </a:solidFill>
              </a:rPr>
              <a:t>AS = AS(L</a:t>
            </a:r>
            <a:r>
              <a:rPr lang="en-US" b="1" dirty="0">
                <a:solidFill>
                  <a:schemeClr val="accent4"/>
                </a:solidFill>
              </a:rPr>
              <a:t>(+)</a:t>
            </a:r>
            <a:r>
              <a:rPr lang="ru-RU" b="1" dirty="0">
                <a:solidFill>
                  <a:schemeClr val="accent4"/>
                </a:solidFill>
              </a:rPr>
              <a:t>, К</a:t>
            </a:r>
            <a:r>
              <a:rPr lang="en-US" b="1" dirty="0">
                <a:solidFill>
                  <a:schemeClr val="accent4"/>
                </a:solidFill>
              </a:rPr>
              <a:t>(+)</a:t>
            </a:r>
            <a:r>
              <a:rPr lang="ru-RU" b="1" dirty="0">
                <a:solidFill>
                  <a:schemeClr val="accent4"/>
                </a:solidFill>
              </a:rPr>
              <a:t>, </a:t>
            </a:r>
            <a:r>
              <a:rPr lang="en-US" b="1" dirty="0">
                <a:solidFill>
                  <a:schemeClr val="accent4"/>
                </a:solidFill>
              </a:rPr>
              <a:t>H(+)</a:t>
            </a:r>
            <a:r>
              <a:rPr lang="ru-RU" b="1" dirty="0">
                <a:solidFill>
                  <a:schemeClr val="accent4"/>
                </a:solidFill>
              </a:rPr>
              <a:t>, N</a:t>
            </a:r>
            <a:r>
              <a:rPr lang="en-US" b="1" dirty="0">
                <a:solidFill>
                  <a:schemeClr val="accent4"/>
                </a:solidFill>
              </a:rPr>
              <a:t>(+)</a:t>
            </a:r>
            <a:r>
              <a:rPr lang="ru-RU" b="1" dirty="0">
                <a:solidFill>
                  <a:schemeClr val="accent4"/>
                </a:solidFill>
              </a:rPr>
              <a:t>, т</a:t>
            </a:r>
            <a:r>
              <a:rPr lang="en-US" b="1" dirty="0">
                <a:solidFill>
                  <a:schemeClr val="accent4"/>
                </a:solidFill>
              </a:rPr>
              <a:t>(+)</a:t>
            </a:r>
            <a:r>
              <a:rPr lang="ru-RU" b="1" dirty="0">
                <a:solidFill>
                  <a:schemeClr val="accent4"/>
                </a:solidFill>
              </a:rPr>
              <a:t>).</a:t>
            </a:r>
          </a:p>
        </p:txBody>
      </p:sp>
      <p:cxnSp>
        <p:nvCxnSpPr>
          <p:cNvPr id="4" name="Прямая со стрелкой 3"/>
          <p:cNvCxnSpPr/>
          <p:nvPr/>
        </p:nvCxnSpPr>
        <p:spPr>
          <a:xfrm flipH="1" flipV="1">
            <a:off x="967154" y="967154"/>
            <a:ext cx="17584" cy="3130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Прямая со стрелкой 5"/>
          <p:cNvCxnSpPr/>
          <p:nvPr/>
        </p:nvCxnSpPr>
        <p:spPr>
          <a:xfrm flipV="1">
            <a:off x="852854" y="3903785"/>
            <a:ext cx="2708031" cy="175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Прямая соединительная линия 7"/>
          <p:cNvCxnSpPr/>
          <p:nvPr/>
        </p:nvCxnSpPr>
        <p:spPr>
          <a:xfrm>
            <a:off x="1714500" y="1529862"/>
            <a:ext cx="52754" cy="2391507"/>
          </a:xfrm>
          <a:prstGeom prst="line">
            <a:avLst/>
          </a:prstGeom>
        </p:spPr>
        <p:style>
          <a:lnRef idx="1">
            <a:schemeClr val="dk1"/>
          </a:lnRef>
          <a:fillRef idx="0">
            <a:schemeClr val="dk1"/>
          </a:fillRef>
          <a:effectRef idx="0">
            <a:schemeClr val="dk1"/>
          </a:effectRef>
          <a:fontRef idx="minor">
            <a:schemeClr val="tx1"/>
          </a:fontRef>
        </p:style>
      </p:cxnSp>
      <p:cxnSp>
        <p:nvCxnSpPr>
          <p:cNvPr id="10" name="Прямая соединительная линия 9"/>
          <p:cNvCxnSpPr/>
          <p:nvPr/>
        </p:nvCxnSpPr>
        <p:spPr>
          <a:xfrm>
            <a:off x="2532185" y="1512277"/>
            <a:ext cx="43961" cy="2391508"/>
          </a:xfrm>
          <a:prstGeom prst="line">
            <a:avLst/>
          </a:prstGeom>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692524" y="782488"/>
            <a:ext cx="274630" cy="369332"/>
          </a:xfrm>
          <a:prstGeom prst="rect">
            <a:avLst/>
          </a:prstGeom>
          <a:noFill/>
        </p:spPr>
        <p:txBody>
          <a:bodyPr wrap="square" rtlCol="0">
            <a:spAutoFit/>
          </a:bodyPr>
          <a:lstStyle/>
          <a:p>
            <a:r>
              <a:rPr lang="en-US" dirty="0"/>
              <a:t>P</a:t>
            </a:r>
            <a:endParaRPr lang="ru-RU" dirty="0"/>
          </a:p>
        </p:txBody>
      </p:sp>
      <p:sp>
        <p:nvSpPr>
          <p:cNvPr id="12" name="TextBox 11"/>
          <p:cNvSpPr txBox="1"/>
          <p:nvPr/>
        </p:nvSpPr>
        <p:spPr>
          <a:xfrm>
            <a:off x="3305090" y="3921369"/>
            <a:ext cx="274630" cy="369332"/>
          </a:xfrm>
          <a:prstGeom prst="rect">
            <a:avLst/>
          </a:prstGeom>
          <a:noFill/>
        </p:spPr>
        <p:txBody>
          <a:bodyPr wrap="square" rtlCol="0">
            <a:spAutoFit/>
          </a:bodyPr>
          <a:lstStyle/>
          <a:p>
            <a:r>
              <a:rPr lang="en-US" dirty="0"/>
              <a:t>P</a:t>
            </a:r>
            <a:endParaRPr lang="ru-RU" dirty="0"/>
          </a:p>
        </p:txBody>
      </p:sp>
      <p:sp>
        <p:nvSpPr>
          <p:cNvPr id="13" name="TextBox 12"/>
          <p:cNvSpPr txBox="1"/>
          <p:nvPr/>
        </p:nvSpPr>
        <p:spPr>
          <a:xfrm>
            <a:off x="1523333" y="3921369"/>
            <a:ext cx="569991" cy="369332"/>
          </a:xfrm>
          <a:prstGeom prst="rect">
            <a:avLst/>
          </a:prstGeom>
          <a:noFill/>
        </p:spPr>
        <p:txBody>
          <a:bodyPr wrap="square" rtlCol="0">
            <a:spAutoFit/>
          </a:bodyPr>
          <a:lstStyle/>
          <a:p>
            <a:r>
              <a:rPr lang="en-US" dirty="0"/>
              <a:t>Y*1</a:t>
            </a:r>
            <a:endParaRPr lang="ru-RU" dirty="0"/>
          </a:p>
        </p:txBody>
      </p:sp>
      <p:sp>
        <p:nvSpPr>
          <p:cNvPr id="14" name="TextBox 13"/>
          <p:cNvSpPr txBox="1"/>
          <p:nvPr/>
        </p:nvSpPr>
        <p:spPr>
          <a:xfrm>
            <a:off x="2321924" y="3894992"/>
            <a:ext cx="544994" cy="369332"/>
          </a:xfrm>
          <a:prstGeom prst="rect">
            <a:avLst/>
          </a:prstGeom>
          <a:noFill/>
        </p:spPr>
        <p:txBody>
          <a:bodyPr wrap="square" rtlCol="0">
            <a:spAutoFit/>
          </a:bodyPr>
          <a:lstStyle/>
          <a:p>
            <a:r>
              <a:rPr lang="en-US" dirty="0"/>
              <a:t>Y*2</a:t>
            </a:r>
            <a:endParaRPr lang="ru-RU" dirty="0"/>
          </a:p>
        </p:txBody>
      </p:sp>
      <p:sp>
        <p:nvSpPr>
          <p:cNvPr id="15" name="TextBox 14"/>
          <p:cNvSpPr txBox="1"/>
          <p:nvPr/>
        </p:nvSpPr>
        <p:spPr>
          <a:xfrm>
            <a:off x="1109564" y="1160530"/>
            <a:ext cx="915068" cy="369332"/>
          </a:xfrm>
          <a:prstGeom prst="rect">
            <a:avLst/>
          </a:prstGeom>
          <a:noFill/>
        </p:spPr>
        <p:txBody>
          <a:bodyPr wrap="square" rtlCol="0">
            <a:spAutoFit/>
          </a:bodyPr>
          <a:lstStyle/>
          <a:p>
            <a:r>
              <a:rPr lang="en-US" dirty="0"/>
              <a:t>LRAS1</a:t>
            </a:r>
            <a:endParaRPr lang="ru-RU" dirty="0"/>
          </a:p>
        </p:txBody>
      </p:sp>
      <p:sp>
        <p:nvSpPr>
          <p:cNvPr id="16" name="TextBox 15"/>
          <p:cNvSpPr txBox="1"/>
          <p:nvPr/>
        </p:nvSpPr>
        <p:spPr>
          <a:xfrm>
            <a:off x="2150301" y="1151765"/>
            <a:ext cx="888240" cy="369332"/>
          </a:xfrm>
          <a:prstGeom prst="rect">
            <a:avLst/>
          </a:prstGeom>
          <a:noFill/>
        </p:spPr>
        <p:txBody>
          <a:bodyPr wrap="square" rtlCol="0">
            <a:spAutoFit/>
          </a:bodyPr>
          <a:lstStyle/>
          <a:p>
            <a:r>
              <a:rPr lang="en-US" dirty="0"/>
              <a:t>LRAS2</a:t>
            </a:r>
            <a:endParaRPr lang="ru-RU" dirty="0"/>
          </a:p>
        </p:txBody>
      </p:sp>
      <p:cxnSp>
        <p:nvCxnSpPr>
          <p:cNvPr id="18" name="Прямая со стрелкой 17"/>
          <p:cNvCxnSpPr/>
          <p:nvPr/>
        </p:nvCxnSpPr>
        <p:spPr>
          <a:xfrm>
            <a:off x="1808328" y="2532184"/>
            <a:ext cx="6535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94267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29515" y="555829"/>
            <a:ext cx="10763238" cy="1754326"/>
          </a:xfrm>
          <a:prstGeom prst="rect">
            <a:avLst/>
          </a:prstGeom>
          <a:noFill/>
        </p:spPr>
        <p:txBody>
          <a:bodyPr wrap="square" lIns="91440" tIns="45720" rIns="91440" bIns="45720">
            <a:spAutoFit/>
          </a:bodyPr>
          <a:lstStyle/>
          <a:p>
            <a:pPr algn="ctr"/>
            <a:r>
              <a:rPr lang="ru-RU" sz="5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Факторы краткосрочного совокупного предложения</a:t>
            </a:r>
            <a:endParaRPr lang="ru-RU"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4" name="Прямоугольник 3"/>
          <p:cNvSpPr/>
          <p:nvPr/>
        </p:nvSpPr>
        <p:spPr>
          <a:xfrm>
            <a:off x="7480726" y="2725461"/>
            <a:ext cx="4087906" cy="2031325"/>
          </a:xfrm>
          <a:prstGeom prst="rect">
            <a:avLst/>
          </a:prstGeom>
        </p:spPr>
        <p:txBody>
          <a:bodyPr wrap="square">
            <a:spAutoFit/>
          </a:bodyPr>
          <a:lstStyle/>
          <a:p>
            <a:r>
              <a:rPr lang="ru-RU" b="1" dirty="0"/>
              <a:t>Ценовые факторы </a:t>
            </a:r>
            <a:r>
              <a:rPr lang="ru-RU" dirty="0"/>
              <a:t>(изменение общего уровня цен) влияют при прочих равных условиях (неизменных издержках) на величину совокупного предложения в краткосрочном периоде и объясняют движение вдоль кривой SRAS (из точки А в точку В.</a:t>
            </a:r>
          </a:p>
        </p:txBody>
      </p:sp>
      <p:cxnSp>
        <p:nvCxnSpPr>
          <p:cNvPr id="6" name="Прямая со стрелкой 5"/>
          <p:cNvCxnSpPr/>
          <p:nvPr/>
        </p:nvCxnSpPr>
        <p:spPr>
          <a:xfrm flipH="1" flipV="1">
            <a:off x="1631576" y="2310155"/>
            <a:ext cx="44824" cy="25666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Прямая со стрелкой 7"/>
          <p:cNvCxnSpPr/>
          <p:nvPr/>
        </p:nvCxnSpPr>
        <p:spPr>
          <a:xfrm flipV="1">
            <a:off x="1326776" y="4688541"/>
            <a:ext cx="3119718" cy="17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Прямая соединительная линия 9"/>
          <p:cNvCxnSpPr/>
          <p:nvPr/>
        </p:nvCxnSpPr>
        <p:spPr>
          <a:xfrm flipV="1">
            <a:off x="1653988" y="3415553"/>
            <a:ext cx="2362200" cy="1"/>
          </a:xfrm>
          <a:prstGeom prst="line">
            <a:avLst/>
          </a:prstGeom>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1189461" y="2125489"/>
            <a:ext cx="274630" cy="369332"/>
          </a:xfrm>
          <a:prstGeom prst="rect">
            <a:avLst/>
          </a:prstGeom>
          <a:noFill/>
        </p:spPr>
        <p:txBody>
          <a:bodyPr wrap="square" rtlCol="0">
            <a:spAutoFit/>
          </a:bodyPr>
          <a:lstStyle/>
          <a:p>
            <a:r>
              <a:rPr lang="en-US" dirty="0"/>
              <a:t>P</a:t>
            </a:r>
            <a:endParaRPr lang="ru-RU" dirty="0"/>
          </a:p>
        </p:txBody>
      </p:sp>
      <p:sp>
        <p:nvSpPr>
          <p:cNvPr id="13" name="TextBox 12"/>
          <p:cNvSpPr txBox="1"/>
          <p:nvPr/>
        </p:nvSpPr>
        <p:spPr>
          <a:xfrm>
            <a:off x="4441248" y="4615934"/>
            <a:ext cx="274630" cy="369332"/>
          </a:xfrm>
          <a:prstGeom prst="rect">
            <a:avLst/>
          </a:prstGeom>
          <a:noFill/>
        </p:spPr>
        <p:txBody>
          <a:bodyPr wrap="square" rtlCol="0">
            <a:spAutoFit/>
          </a:bodyPr>
          <a:lstStyle/>
          <a:p>
            <a:r>
              <a:rPr lang="en-US" dirty="0"/>
              <a:t>Y</a:t>
            </a:r>
            <a:endParaRPr lang="ru-RU" dirty="0"/>
          </a:p>
        </p:txBody>
      </p:sp>
      <p:sp>
        <p:nvSpPr>
          <p:cNvPr id="14" name="TextBox 13"/>
          <p:cNvSpPr txBox="1"/>
          <p:nvPr/>
        </p:nvSpPr>
        <p:spPr>
          <a:xfrm>
            <a:off x="3271354" y="4688541"/>
            <a:ext cx="456584" cy="369332"/>
          </a:xfrm>
          <a:prstGeom prst="rect">
            <a:avLst/>
          </a:prstGeom>
          <a:noFill/>
        </p:spPr>
        <p:txBody>
          <a:bodyPr wrap="square" rtlCol="0">
            <a:spAutoFit/>
          </a:bodyPr>
          <a:lstStyle/>
          <a:p>
            <a:r>
              <a:rPr lang="en-US" dirty="0"/>
              <a:t>Y2</a:t>
            </a:r>
            <a:endParaRPr lang="ru-RU" dirty="0"/>
          </a:p>
        </p:txBody>
      </p:sp>
      <p:sp>
        <p:nvSpPr>
          <p:cNvPr id="15" name="TextBox 14"/>
          <p:cNvSpPr txBox="1"/>
          <p:nvPr/>
        </p:nvSpPr>
        <p:spPr>
          <a:xfrm>
            <a:off x="2434348" y="4688541"/>
            <a:ext cx="467113" cy="369332"/>
          </a:xfrm>
          <a:prstGeom prst="rect">
            <a:avLst/>
          </a:prstGeom>
          <a:noFill/>
        </p:spPr>
        <p:txBody>
          <a:bodyPr wrap="square" rtlCol="0">
            <a:spAutoFit/>
          </a:bodyPr>
          <a:lstStyle/>
          <a:p>
            <a:r>
              <a:rPr lang="en-US" dirty="0"/>
              <a:t>Y1</a:t>
            </a:r>
            <a:endParaRPr lang="ru-RU" dirty="0"/>
          </a:p>
        </p:txBody>
      </p:sp>
      <p:sp>
        <p:nvSpPr>
          <p:cNvPr id="16" name="TextBox 15"/>
          <p:cNvSpPr txBox="1"/>
          <p:nvPr/>
        </p:nvSpPr>
        <p:spPr>
          <a:xfrm>
            <a:off x="3271354" y="3000954"/>
            <a:ext cx="274630" cy="369332"/>
          </a:xfrm>
          <a:prstGeom prst="rect">
            <a:avLst/>
          </a:prstGeom>
          <a:noFill/>
        </p:spPr>
        <p:txBody>
          <a:bodyPr wrap="square" rtlCol="0">
            <a:spAutoFit/>
          </a:bodyPr>
          <a:lstStyle/>
          <a:p>
            <a:r>
              <a:rPr lang="en-US" dirty="0"/>
              <a:t>B</a:t>
            </a:r>
            <a:endParaRPr lang="ru-RU" dirty="0"/>
          </a:p>
        </p:txBody>
      </p:sp>
      <p:sp>
        <p:nvSpPr>
          <p:cNvPr id="17" name="TextBox 16"/>
          <p:cNvSpPr txBox="1"/>
          <p:nvPr/>
        </p:nvSpPr>
        <p:spPr>
          <a:xfrm>
            <a:off x="2434348" y="3046221"/>
            <a:ext cx="274630" cy="369332"/>
          </a:xfrm>
          <a:prstGeom prst="rect">
            <a:avLst/>
          </a:prstGeom>
          <a:noFill/>
        </p:spPr>
        <p:txBody>
          <a:bodyPr wrap="square" rtlCol="0">
            <a:spAutoFit/>
          </a:bodyPr>
          <a:lstStyle/>
          <a:p>
            <a:r>
              <a:rPr lang="en-US" dirty="0"/>
              <a:t>A</a:t>
            </a:r>
            <a:endParaRPr lang="ru-RU" dirty="0"/>
          </a:p>
        </p:txBody>
      </p:sp>
      <p:sp>
        <p:nvSpPr>
          <p:cNvPr id="18" name="Овал 17"/>
          <p:cNvSpPr/>
          <p:nvPr/>
        </p:nvSpPr>
        <p:spPr>
          <a:xfrm>
            <a:off x="2506540" y="3323220"/>
            <a:ext cx="161364" cy="18466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19" name="Овал 18"/>
          <p:cNvSpPr/>
          <p:nvPr/>
        </p:nvSpPr>
        <p:spPr>
          <a:xfrm>
            <a:off x="3360947" y="3350560"/>
            <a:ext cx="161364" cy="18466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21" name="TextBox 20"/>
          <p:cNvSpPr txBox="1"/>
          <p:nvPr/>
        </p:nvSpPr>
        <p:spPr>
          <a:xfrm>
            <a:off x="1209288" y="3185620"/>
            <a:ext cx="254804" cy="369332"/>
          </a:xfrm>
          <a:prstGeom prst="rect">
            <a:avLst/>
          </a:prstGeom>
          <a:noFill/>
        </p:spPr>
        <p:txBody>
          <a:bodyPr wrap="square" rtlCol="0">
            <a:spAutoFit/>
          </a:bodyPr>
          <a:lstStyle/>
          <a:p>
            <a:r>
              <a:rPr lang="en-US" dirty="0"/>
              <a:t>P</a:t>
            </a:r>
            <a:endParaRPr lang="ru-RU" dirty="0"/>
          </a:p>
        </p:txBody>
      </p:sp>
      <p:sp>
        <p:nvSpPr>
          <p:cNvPr id="22" name="TextBox 21"/>
          <p:cNvSpPr txBox="1"/>
          <p:nvPr/>
        </p:nvSpPr>
        <p:spPr>
          <a:xfrm>
            <a:off x="3947758" y="2945350"/>
            <a:ext cx="768120" cy="369332"/>
          </a:xfrm>
          <a:prstGeom prst="rect">
            <a:avLst/>
          </a:prstGeom>
          <a:noFill/>
        </p:spPr>
        <p:txBody>
          <a:bodyPr wrap="square" rtlCol="0">
            <a:spAutoFit/>
          </a:bodyPr>
          <a:lstStyle/>
          <a:p>
            <a:r>
              <a:rPr lang="en-US" dirty="0"/>
              <a:t>SRAS</a:t>
            </a:r>
            <a:endParaRPr lang="ru-RU" dirty="0"/>
          </a:p>
        </p:txBody>
      </p:sp>
      <p:cxnSp>
        <p:nvCxnSpPr>
          <p:cNvPr id="24" name="Прямая соединительная линия 23"/>
          <p:cNvCxnSpPr/>
          <p:nvPr/>
        </p:nvCxnSpPr>
        <p:spPr>
          <a:xfrm>
            <a:off x="1209288" y="3120642"/>
            <a:ext cx="285814" cy="0"/>
          </a:xfrm>
          <a:prstGeom prst="line">
            <a:avLst/>
          </a:prstGeom>
        </p:spPr>
        <p:style>
          <a:lnRef idx="1">
            <a:schemeClr val="dk1"/>
          </a:lnRef>
          <a:fillRef idx="0">
            <a:schemeClr val="dk1"/>
          </a:fillRef>
          <a:effectRef idx="0">
            <a:schemeClr val="dk1"/>
          </a:effectRef>
          <a:fontRef idx="minor">
            <a:schemeClr val="tx1"/>
          </a:fontRef>
        </p:style>
      </p:cxnSp>
      <p:pic>
        <p:nvPicPr>
          <p:cNvPr id="25" name="Рисунок 24"/>
          <p:cNvPicPr>
            <a:picLocks noChangeAspect="1"/>
          </p:cNvPicPr>
          <p:nvPr/>
        </p:nvPicPr>
        <p:blipFill rotWithShape="1">
          <a:blip r:embed="rId2"/>
          <a:srcRect t="19282" r="49444"/>
          <a:stretch/>
        </p:blipFill>
        <p:spPr>
          <a:xfrm>
            <a:off x="5366743" y="2310155"/>
            <a:ext cx="1840831" cy="3021512"/>
          </a:xfrm>
          <a:prstGeom prst="rect">
            <a:avLst/>
          </a:prstGeom>
        </p:spPr>
      </p:pic>
    </p:spTree>
    <p:extLst>
      <p:ext uri="{BB962C8B-B14F-4D97-AF65-F5344CB8AC3E}">
        <p14:creationId xmlns:p14="http://schemas.microsoft.com/office/powerpoint/2010/main" val="2480706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rotWithShape="1">
          <a:blip r:embed="rId2"/>
          <a:srcRect l="45974" t="15595"/>
          <a:stretch/>
        </p:blipFill>
        <p:spPr>
          <a:xfrm>
            <a:off x="3629559" y="1696915"/>
            <a:ext cx="1905040" cy="3059724"/>
          </a:xfrm>
          <a:prstGeom prst="rect">
            <a:avLst/>
          </a:prstGeom>
        </p:spPr>
      </p:pic>
      <p:cxnSp>
        <p:nvCxnSpPr>
          <p:cNvPr id="5" name="Прямая со стрелкой 4"/>
          <p:cNvCxnSpPr/>
          <p:nvPr/>
        </p:nvCxnSpPr>
        <p:spPr>
          <a:xfrm flipV="1">
            <a:off x="1037492" y="1696915"/>
            <a:ext cx="0" cy="29542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Прямая со стрелкой 6"/>
          <p:cNvCxnSpPr/>
          <p:nvPr/>
        </p:nvCxnSpPr>
        <p:spPr>
          <a:xfrm>
            <a:off x="808892" y="4466492"/>
            <a:ext cx="2259623" cy="87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Прямая соединительная линия 8"/>
          <p:cNvCxnSpPr/>
          <p:nvPr/>
        </p:nvCxnSpPr>
        <p:spPr>
          <a:xfrm flipV="1">
            <a:off x="1037492" y="2505808"/>
            <a:ext cx="1723293" cy="8792"/>
          </a:xfrm>
          <a:prstGeom prst="line">
            <a:avLst/>
          </a:prstGeom>
        </p:spPr>
        <p:style>
          <a:lnRef idx="1">
            <a:schemeClr val="dk1"/>
          </a:lnRef>
          <a:fillRef idx="0">
            <a:schemeClr val="dk1"/>
          </a:fillRef>
          <a:effectRef idx="0">
            <a:schemeClr val="dk1"/>
          </a:effectRef>
          <a:fontRef idx="minor">
            <a:schemeClr val="tx1"/>
          </a:fontRef>
        </p:style>
      </p:cxnSp>
      <p:cxnSp>
        <p:nvCxnSpPr>
          <p:cNvPr id="11" name="Прямая соединительная линия 10"/>
          <p:cNvCxnSpPr/>
          <p:nvPr/>
        </p:nvCxnSpPr>
        <p:spPr>
          <a:xfrm>
            <a:off x="1037492" y="3174023"/>
            <a:ext cx="1740877" cy="0"/>
          </a:xfrm>
          <a:prstGeom prst="line">
            <a:avLst/>
          </a:prstGeom>
        </p:spPr>
        <p:style>
          <a:lnRef idx="1">
            <a:schemeClr val="dk1"/>
          </a:lnRef>
          <a:fillRef idx="0">
            <a:schemeClr val="dk1"/>
          </a:fillRef>
          <a:effectRef idx="0">
            <a:schemeClr val="dk1"/>
          </a:effectRef>
          <a:fontRef idx="minor">
            <a:schemeClr val="tx1"/>
          </a:fontRef>
        </p:style>
      </p:cxnSp>
      <p:cxnSp>
        <p:nvCxnSpPr>
          <p:cNvPr id="13" name="Прямая соединительная линия 12"/>
          <p:cNvCxnSpPr/>
          <p:nvPr/>
        </p:nvCxnSpPr>
        <p:spPr>
          <a:xfrm flipV="1">
            <a:off x="1037492" y="3833446"/>
            <a:ext cx="1723293" cy="8792"/>
          </a:xfrm>
          <a:prstGeom prst="line">
            <a:avLst/>
          </a:prstGeom>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683946" y="3657572"/>
            <a:ext cx="461413" cy="369332"/>
          </a:xfrm>
          <a:prstGeom prst="rect">
            <a:avLst/>
          </a:prstGeom>
          <a:noFill/>
        </p:spPr>
        <p:txBody>
          <a:bodyPr wrap="square" rtlCol="0">
            <a:spAutoFit/>
          </a:bodyPr>
          <a:lstStyle/>
          <a:p>
            <a:r>
              <a:rPr lang="en-US" dirty="0"/>
              <a:t>P3</a:t>
            </a:r>
            <a:endParaRPr lang="ru-RU" dirty="0"/>
          </a:p>
        </p:txBody>
      </p:sp>
      <p:sp>
        <p:nvSpPr>
          <p:cNvPr id="15" name="TextBox 14"/>
          <p:cNvSpPr txBox="1"/>
          <p:nvPr/>
        </p:nvSpPr>
        <p:spPr>
          <a:xfrm>
            <a:off x="2173382" y="3209192"/>
            <a:ext cx="947887" cy="369332"/>
          </a:xfrm>
          <a:prstGeom prst="rect">
            <a:avLst/>
          </a:prstGeom>
          <a:noFill/>
        </p:spPr>
        <p:txBody>
          <a:bodyPr wrap="square" rtlCol="0">
            <a:spAutoFit/>
          </a:bodyPr>
          <a:lstStyle/>
          <a:p>
            <a:r>
              <a:rPr lang="en-US" dirty="0"/>
              <a:t>SRAS1</a:t>
            </a:r>
            <a:endParaRPr lang="ru-RU" dirty="0"/>
          </a:p>
        </p:txBody>
      </p:sp>
      <p:sp>
        <p:nvSpPr>
          <p:cNvPr id="16" name="TextBox 15"/>
          <p:cNvSpPr txBox="1"/>
          <p:nvPr/>
        </p:nvSpPr>
        <p:spPr>
          <a:xfrm>
            <a:off x="723404" y="2239817"/>
            <a:ext cx="481142" cy="369332"/>
          </a:xfrm>
          <a:prstGeom prst="rect">
            <a:avLst/>
          </a:prstGeom>
          <a:noFill/>
        </p:spPr>
        <p:txBody>
          <a:bodyPr wrap="square" rtlCol="0">
            <a:spAutoFit/>
          </a:bodyPr>
          <a:lstStyle/>
          <a:p>
            <a:r>
              <a:rPr lang="en-US" dirty="0"/>
              <a:t>P1</a:t>
            </a:r>
            <a:endParaRPr lang="ru-RU" dirty="0"/>
          </a:p>
        </p:txBody>
      </p:sp>
      <p:sp>
        <p:nvSpPr>
          <p:cNvPr id="17" name="TextBox 16"/>
          <p:cNvSpPr txBox="1"/>
          <p:nvPr/>
        </p:nvSpPr>
        <p:spPr>
          <a:xfrm>
            <a:off x="683946" y="1430897"/>
            <a:ext cx="274630" cy="369332"/>
          </a:xfrm>
          <a:prstGeom prst="rect">
            <a:avLst/>
          </a:prstGeom>
          <a:noFill/>
        </p:spPr>
        <p:txBody>
          <a:bodyPr wrap="square" rtlCol="0">
            <a:spAutoFit/>
          </a:bodyPr>
          <a:lstStyle/>
          <a:p>
            <a:r>
              <a:rPr lang="en-US" dirty="0"/>
              <a:t>P</a:t>
            </a:r>
            <a:endParaRPr lang="ru-RU" dirty="0"/>
          </a:p>
        </p:txBody>
      </p:sp>
      <p:sp>
        <p:nvSpPr>
          <p:cNvPr id="18" name="TextBox 17"/>
          <p:cNvSpPr txBox="1"/>
          <p:nvPr/>
        </p:nvSpPr>
        <p:spPr>
          <a:xfrm>
            <a:off x="683946" y="2989356"/>
            <a:ext cx="435349" cy="369332"/>
          </a:xfrm>
          <a:prstGeom prst="rect">
            <a:avLst/>
          </a:prstGeom>
          <a:noFill/>
        </p:spPr>
        <p:txBody>
          <a:bodyPr wrap="square" rtlCol="0">
            <a:spAutoFit/>
          </a:bodyPr>
          <a:lstStyle/>
          <a:p>
            <a:r>
              <a:rPr lang="en-US" dirty="0"/>
              <a:t>P2</a:t>
            </a:r>
            <a:endParaRPr lang="ru-RU" dirty="0"/>
          </a:p>
        </p:txBody>
      </p:sp>
      <p:sp>
        <p:nvSpPr>
          <p:cNvPr id="19" name="TextBox 18"/>
          <p:cNvSpPr txBox="1"/>
          <p:nvPr/>
        </p:nvSpPr>
        <p:spPr>
          <a:xfrm>
            <a:off x="3143637" y="4475285"/>
            <a:ext cx="274630" cy="369332"/>
          </a:xfrm>
          <a:prstGeom prst="rect">
            <a:avLst/>
          </a:prstGeom>
          <a:noFill/>
        </p:spPr>
        <p:txBody>
          <a:bodyPr wrap="square" rtlCol="0">
            <a:spAutoFit/>
          </a:bodyPr>
          <a:lstStyle/>
          <a:p>
            <a:r>
              <a:rPr lang="en-US" dirty="0"/>
              <a:t>Y</a:t>
            </a:r>
            <a:endParaRPr lang="ru-RU" dirty="0"/>
          </a:p>
        </p:txBody>
      </p:sp>
      <p:sp>
        <p:nvSpPr>
          <p:cNvPr id="20" name="TextBox 19"/>
          <p:cNvSpPr txBox="1"/>
          <p:nvPr/>
        </p:nvSpPr>
        <p:spPr>
          <a:xfrm>
            <a:off x="2022229" y="2176041"/>
            <a:ext cx="947887" cy="369332"/>
          </a:xfrm>
          <a:prstGeom prst="rect">
            <a:avLst/>
          </a:prstGeom>
          <a:noFill/>
        </p:spPr>
        <p:txBody>
          <a:bodyPr wrap="square" rtlCol="0">
            <a:spAutoFit/>
          </a:bodyPr>
          <a:lstStyle/>
          <a:p>
            <a:r>
              <a:rPr lang="en-US" dirty="0"/>
              <a:t>SRAS3</a:t>
            </a:r>
            <a:endParaRPr lang="ru-RU" dirty="0"/>
          </a:p>
        </p:txBody>
      </p:sp>
      <p:sp>
        <p:nvSpPr>
          <p:cNvPr id="21" name="TextBox 20"/>
          <p:cNvSpPr txBox="1"/>
          <p:nvPr/>
        </p:nvSpPr>
        <p:spPr>
          <a:xfrm>
            <a:off x="1197694" y="3824653"/>
            <a:ext cx="947887" cy="369332"/>
          </a:xfrm>
          <a:prstGeom prst="rect">
            <a:avLst/>
          </a:prstGeom>
          <a:noFill/>
        </p:spPr>
        <p:txBody>
          <a:bodyPr wrap="square" rtlCol="0">
            <a:spAutoFit/>
          </a:bodyPr>
          <a:lstStyle/>
          <a:p>
            <a:r>
              <a:rPr lang="en-US" dirty="0"/>
              <a:t>SRAS2</a:t>
            </a:r>
            <a:endParaRPr lang="ru-RU" dirty="0"/>
          </a:p>
        </p:txBody>
      </p:sp>
      <p:cxnSp>
        <p:nvCxnSpPr>
          <p:cNvPr id="23" name="Прямая со стрелкой 22"/>
          <p:cNvCxnSpPr/>
          <p:nvPr/>
        </p:nvCxnSpPr>
        <p:spPr>
          <a:xfrm>
            <a:off x="1784838" y="3209192"/>
            <a:ext cx="8793" cy="4483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Прямая со стрелкой 24"/>
          <p:cNvCxnSpPr/>
          <p:nvPr/>
        </p:nvCxnSpPr>
        <p:spPr>
          <a:xfrm flipH="1" flipV="1">
            <a:off x="2370549" y="2545373"/>
            <a:ext cx="14837" cy="5407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Прямоугольник 25"/>
          <p:cNvSpPr/>
          <p:nvPr/>
        </p:nvSpPr>
        <p:spPr>
          <a:xfrm>
            <a:off x="5814231" y="1696915"/>
            <a:ext cx="5647022" cy="3416320"/>
          </a:xfrm>
          <a:prstGeom prst="rect">
            <a:avLst/>
          </a:prstGeom>
        </p:spPr>
        <p:txBody>
          <a:bodyPr wrap="square">
            <a:spAutoFit/>
          </a:bodyPr>
          <a:lstStyle/>
          <a:p>
            <a:pPr algn="just"/>
            <a:r>
              <a:rPr lang="ru-RU" b="1" dirty="0"/>
              <a:t>Неценовыми факторами</a:t>
            </a:r>
            <a:r>
              <a:rPr lang="ru-RU" dirty="0"/>
              <a:t>, воздействующими на само совокупное предложение в краткосрочном периоде, и сдвигающими кривую совокупного предложения, выступают все факторы, изменяющие издержки на единицу продукции (средние издержки) при каждом уровне цен, т.е. изменение прочих равных условий. Если издержки растут, совокупное предложение сокращается, и кривая совокупного предложения сдвигается вверх или влево-вверх от SRAS</a:t>
            </a:r>
            <a:r>
              <a:rPr lang="en-US" dirty="0"/>
              <a:t>1</a:t>
            </a:r>
            <a:r>
              <a:rPr lang="ru-RU" dirty="0"/>
              <a:t> до SRAS</a:t>
            </a:r>
            <a:r>
              <a:rPr lang="en-US" dirty="0"/>
              <a:t>3.</a:t>
            </a:r>
            <a:r>
              <a:rPr lang="ru-RU" dirty="0"/>
              <a:t> Если издержки снижаются, то совокупное предложение увеличивается и кривая совокупного предложения сдвигается вниз</a:t>
            </a:r>
            <a:r>
              <a:rPr lang="en-US" dirty="0"/>
              <a:t> </a:t>
            </a:r>
            <a:r>
              <a:rPr lang="ru-RU" dirty="0"/>
              <a:t>или вправо-вниз от </a:t>
            </a:r>
            <a:r>
              <a:rPr lang="ru-RU" dirty="0" err="1"/>
              <a:t>SRASl</a:t>
            </a:r>
            <a:r>
              <a:rPr lang="ru-RU" dirty="0"/>
              <a:t> до SRAS2</a:t>
            </a:r>
          </a:p>
        </p:txBody>
      </p:sp>
      <p:sp>
        <p:nvSpPr>
          <p:cNvPr id="27" name="Прямоугольник 26"/>
          <p:cNvSpPr/>
          <p:nvPr/>
        </p:nvSpPr>
        <p:spPr>
          <a:xfrm>
            <a:off x="2760785" y="580072"/>
            <a:ext cx="6776215" cy="923330"/>
          </a:xfrm>
          <a:prstGeom prst="rect">
            <a:avLst/>
          </a:prstGeom>
          <a:noFill/>
        </p:spPr>
        <p:txBody>
          <a:bodyPr wrap="none" lIns="91440" tIns="45720" rIns="91440" bIns="45720">
            <a:spAutoFit/>
          </a:bodyPr>
          <a:lstStyle/>
          <a:p>
            <a:pPr algn="ctr"/>
            <a:r>
              <a:rPr lang="ru-RU"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Неценовые факторы</a:t>
            </a:r>
          </a:p>
        </p:txBody>
      </p:sp>
    </p:spTree>
    <p:extLst>
      <p:ext uri="{BB962C8B-B14F-4D97-AF65-F5344CB8AC3E}">
        <p14:creationId xmlns:p14="http://schemas.microsoft.com/office/powerpoint/2010/main" val="1659996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905608" y="771024"/>
            <a:ext cx="10322169" cy="3693319"/>
          </a:xfrm>
          <a:prstGeom prst="rect">
            <a:avLst/>
          </a:prstGeom>
        </p:spPr>
        <p:txBody>
          <a:bodyPr wrap="square">
            <a:spAutoFit/>
          </a:bodyPr>
          <a:lstStyle/>
          <a:p>
            <a:r>
              <a:rPr lang="ru-RU" b="1" i="1" u="sng" dirty="0"/>
              <a:t>К неценовым факторам совокупного предложения в краткосрочном периоде относятся:</a:t>
            </a:r>
          </a:p>
          <a:p>
            <a:endParaRPr lang="ru-RU" b="1" i="1" u="sng" dirty="0"/>
          </a:p>
          <a:p>
            <a:pPr marL="285750" indent="-285750">
              <a:buFont typeface="Arial" panose="020B0604020202020204" pitchFamily="34" charset="0"/>
              <a:buChar char="•"/>
            </a:pPr>
            <a:r>
              <a:rPr lang="ru-RU" dirty="0"/>
              <a:t>Цены на ресурсы (Р </a:t>
            </a:r>
            <a:r>
              <a:rPr lang="ru-RU" baseline="-25000" dirty="0"/>
              <a:t>ресурсов</a:t>
            </a:r>
            <a:r>
              <a:rPr lang="ru-RU" dirty="0"/>
              <a:t> )</a:t>
            </a:r>
          </a:p>
          <a:p>
            <a:pPr marL="285750" indent="-285750">
              <a:buFont typeface="Arial" panose="020B0604020202020204" pitchFamily="34" charset="0"/>
              <a:buChar char="•"/>
            </a:pPr>
            <a:r>
              <a:rPr lang="ru-RU" dirty="0"/>
              <a:t>Количество ресурсов(</a:t>
            </a:r>
            <a:r>
              <a:rPr lang="en-US" dirty="0"/>
              <a:t>Q</a:t>
            </a:r>
            <a:r>
              <a:rPr lang="ru-RU" dirty="0"/>
              <a:t>)</a:t>
            </a:r>
          </a:p>
          <a:p>
            <a:pPr marL="285750" indent="-285750">
              <a:buFont typeface="Arial" panose="020B0604020202020204" pitchFamily="34" charset="0"/>
              <a:buChar char="•"/>
            </a:pPr>
            <a:r>
              <a:rPr lang="ru-RU" dirty="0"/>
              <a:t>Производительность ресурсов</a:t>
            </a:r>
            <a:r>
              <a:rPr lang="en-US" dirty="0"/>
              <a:t> (n)</a:t>
            </a:r>
            <a:r>
              <a:rPr lang="ru-RU" dirty="0"/>
              <a:t> </a:t>
            </a:r>
            <a:endParaRPr lang="en-US" dirty="0"/>
          </a:p>
          <a:p>
            <a:pPr marL="285750" indent="-285750">
              <a:buFont typeface="Arial" panose="020B0604020202020204" pitchFamily="34" charset="0"/>
              <a:buChar char="•"/>
            </a:pPr>
            <a:r>
              <a:rPr lang="ru-RU" dirty="0"/>
              <a:t>Технологический прогресс </a:t>
            </a:r>
            <a:r>
              <a:rPr lang="en-US" dirty="0"/>
              <a:t>(t)</a:t>
            </a:r>
            <a:endParaRPr lang="ru-RU" dirty="0"/>
          </a:p>
          <a:p>
            <a:pPr marL="285750" indent="-285750">
              <a:buFont typeface="Arial" panose="020B0604020202020204" pitchFamily="34" charset="0"/>
              <a:buChar char="•"/>
            </a:pPr>
            <a:r>
              <a:rPr lang="ru-RU" dirty="0"/>
              <a:t>Налоги на бизнес (</a:t>
            </a:r>
            <a:r>
              <a:rPr lang="ru-RU" dirty="0" err="1"/>
              <a:t>Тх</a:t>
            </a:r>
            <a:r>
              <a:rPr lang="ru-RU" dirty="0"/>
              <a:t>)</a:t>
            </a:r>
          </a:p>
          <a:p>
            <a:pPr marL="285750" indent="-285750">
              <a:buFont typeface="Arial" panose="020B0604020202020204" pitchFamily="34" charset="0"/>
              <a:buChar char="•"/>
            </a:pPr>
            <a:r>
              <a:rPr lang="ru-RU" dirty="0"/>
              <a:t>Трансферты (Т</a:t>
            </a:r>
            <a:r>
              <a:rPr lang="en-US" dirty="0"/>
              <a:t>r</a:t>
            </a:r>
            <a:r>
              <a:rPr lang="ru-RU" dirty="0"/>
              <a:t>)</a:t>
            </a:r>
            <a:endParaRPr lang="en-US" dirty="0"/>
          </a:p>
          <a:p>
            <a:pPr marL="285750" indent="-285750">
              <a:buFont typeface="Arial" panose="020B0604020202020204" pitchFamily="34" charset="0"/>
              <a:buChar char="•"/>
            </a:pPr>
            <a:r>
              <a:rPr lang="ru-RU" dirty="0"/>
              <a:t>Государственное регулирование экономики</a:t>
            </a:r>
            <a:r>
              <a:rPr lang="en-US" dirty="0"/>
              <a:t> (G)</a:t>
            </a:r>
            <a:r>
              <a:rPr lang="ru-RU" dirty="0"/>
              <a:t> </a:t>
            </a:r>
          </a:p>
          <a:p>
            <a:pPr marL="285750" indent="-285750">
              <a:buFont typeface="Arial" panose="020B0604020202020204" pitchFamily="34" charset="0"/>
              <a:buChar char="•"/>
            </a:pPr>
            <a:endParaRPr lang="ru-RU" dirty="0"/>
          </a:p>
          <a:p>
            <a:pPr marL="285750" indent="-285750">
              <a:buFont typeface="Arial" panose="020B0604020202020204" pitchFamily="34" charset="0"/>
              <a:buChar char="•"/>
            </a:pPr>
            <a:endParaRPr lang="ru-RU" dirty="0"/>
          </a:p>
          <a:p>
            <a:r>
              <a:rPr lang="ru-RU" dirty="0"/>
              <a:t>Функцию совокупного предложения в краткосрочном периоде можно записать как:</a:t>
            </a:r>
          </a:p>
          <a:p>
            <a:pPr algn="ctr"/>
            <a:r>
              <a:rPr lang="en-US" b="1" dirty="0">
                <a:solidFill>
                  <a:schemeClr val="accent4"/>
                </a:solidFill>
              </a:rPr>
              <a:t>AS= AS (</a:t>
            </a:r>
            <a:r>
              <a:rPr lang="ru-RU" b="1" dirty="0">
                <a:solidFill>
                  <a:schemeClr val="accent4"/>
                </a:solidFill>
              </a:rPr>
              <a:t>Р </a:t>
            </a:r>
            <a:r>
              <a:rPr lang="ru-RU" b="1" baseline="-25000" dirty="0">
                <a:solidFill>
                  <a:schemeClr val="accent4"/>
                </a:solidFill>
              </a:rPr>
              <a:t>товаров</a:t>
            </a:r>
            <a:r>
              <a:rPr lang="ru-RU" b="1" dirty="0">
                <a:solidFill>
                  <a:schemeClr val="accent4"/>
                </a:solidFill>
              </a:rPr>
              <a:t> (+),  Р </a:t>
            </a:r>
            <a:r>
              <a:rPr lang="ru-RU" b="1" baseline="-25000" dirty="0">
                <a:solidFill>
                  <a:schemeClr val="accent4"/>
                </a:solidFill>
              </a:rPr>
              <a:t>ресурсов</a:t>
            </a:r>
            <a:r>
              <a:rPr lang="ru-RU" b="1" dirty="0">
                <a:solidFill>
                  <a:schemeClr val="accent4"/>
                </a:solidFill>
              </a:rPr>
              <a:t> (-) , </a:t>
            </a:r>
            <a:r>
              <a:rPr lang="en-US" b="1" dirty="0">
                <a:solidFill>
                  <a:schemeClr val="accent4"/>
                </a:solidFill>
              </a:rPr>
              <a:t>Q</a:t>
            </a:r>
            <a:r>
              <a:rPr lang="ru-RU" b="1" dirty="0">
                <a:solidFill>
                  <a:schemeClr val="accent4"/>
                </a:solidFill>
              </a:rPr>
              <a:t>(+), </a:t>
            </a:r>
            <a:r>
              <a:rPr lang="en-US" b="1" dirty="0">
                <a:solidFill>
                  <a:schemeClr val="accent4"/>
                </a:solidFill>
              </a:rPr>
              <a:t>n</a:t>
            </a:r>
            <a:r>
              <a:rPr lang="ru-RU" b="1" dirty="0">
                <a:solidFill>
                  <a:schemeClr val="accent4"/>
                </a:solidFill>
              </a:rPr>
              <a:t> (+), </a:t>
            </a:r>
            <a:r>
              <a:rPr lang="en-US" b="1" dirty="0">
                <a:solidFill>
                  <a:schemeClr val="accent4"/>
                </a:solidFill>
              </a:rPr>
              <a:t>t</a:t>
            </a:r>
            <a:r>
              <a:rPr lang="ru-RU" b="1" dirty="0">
                <a:solidFill>
                  <a:schemeClr val="accent4"/>
                </a:solidFill>
              </a:rPr>
              <a:t> (+), </a:t>
            </a:r>
            <a:r>
              <a:rPr lang="ru-RU" b="1" dirty="0" err="1">
                <a:solidFill>
                  <a:schemeClr val="accent4"/>
                </a:solidFill>
              </a:rPr>
              <a:t>Тх</a:t>
            </a:r>
            <a:r>
              <a:rPr lang="ru-RU" b="1" dirty="0">
                <a:solidFill>
                  <a:schemeClr val="accent4"/>
                </a:solidFill>
              </a:rPr>
              <a:t>(-), Т</a:t>
            </a:r>
            <a:r>
              <a:rPr lang="en-US" b="1" dirty="0">
                <a:solidFill>
                  <a:schemeClr val="accent4"/>
                </a:solidFill>
              </a:rPr>
              <a:t>r</a:t>
            </a:r>
            <a:r>
              <a:rPr lang="ru-RU" b="1" dirty="0">
                <a:solidFill>
                  <a:schemeClr val="accent4"/>
                </a:solidFill>
              </a:rPr>
              <a:t>(+),</a:t>
            </a:r>
            <a:r>
              <a:rPr lang="en-US" b="1" dirty="0">
                <a:solidFill>
                  <a:schemeClr val="accent4"/>
                </a:solidFill>
              </a:rPr>
              <a:t>G</a:t>
            </a:r>
            <a:r>
              <a:rPr lang="ru-RU" b="1" dirty="0">
                <a:solidFill>
                  <a:schemeClr val="accent4"/>
                </a:solidFill>
              </a:rPr>
              <a:t>(-)</a:t>
            </a:r>
            <a:r>
              <a:rPr lang="en-US" b="1" dirty="0">
                <a:solidFill>
                  <a:schemeClr val="accent4"/>
                </a:solidFill>
              </a:rPr>
              <a:t>)</a:t>
            </a:r>
            <a:endParaRPr lang="ru-RU" b="1" dirty="0">
              <a:solidFill>
                <a:schemeClr val="accent4"/>
              </a:solidFill>
            </a:endParaRPr>
          </a:p>
        </p:txBody>
      </p:sp>
    </p:spTree>
    <p:extLst>
      <p:ext uri="{BB962C8B-B14F-4D97-AF65-F5344CB8AC3E}">
        <p14:creationId xmlns:p14="http://schemas.microsoft.com/office/powerpoint/2010/main" val="6543219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1186962" y="725365"/>
            <a:ext cx="9689123" cy="5262196"/>
          </a:xfrm>
          <a:prstGeom prst="rect">
            <a:avLst/>
          </a:prstGeom>
        </p:spPr>
      </p:pic>
    </p:spTree>
    <p:extLst>
      <p:ext uri="{BB962C8B-B14F-4D97-AF65-F5344CB8AC3E}">
        <p14:creationId xmlns:p14="http://schemas.microsoft.com/office/powerpoint/2010/main" val="20190245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1477108" y="759482"/>
            <a:ext cx="9231923" cy="5337616"/>
          </a:xfrm>
          <a:prstGeom prst="rect">
            <a:avLst/>
          </a:prstGeom>
        </p:spPr>
      </p:pic>
    </p:spTree>
    <p:extLst>
      <p:ext uri="{BB962C8B-B14F-4D97-AF65-F5344CB8AC3E}">
        <p14:creationId xmlns:p14="http://schemas.microsoft.com/office/powerpoint/2010/main" val="1970476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1503485" y="703465"/>
            <a:ext cx="8836269" cy="5402424"/>
          </a:xfrm>
          <a:prstGeom prst="rect">
            <a:avLst/>
          </a:prstGeom>
        </p:spPr>
      </p:pic>
    </p:spTree>
    <p:extLst>
      <p:ext uri="{BB962C8B-B14F-4D97-AF65-F5344CB8AC3E}">
        <p14:creationId xmlns:p14="http://schemas.microsoft.com/office/powerpoint/2010/main" val="375658249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Натуральные материалы">
  <a:themeElements>
    <a:clrScheme name="Натуральные материалы">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Натуральные материалы">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Натуральные материалы">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575</TotalTime>
  <Words>4406</Words>
  <Application>Microsoft Office PowerPoint</Application>
  <PresentationFormat>Широкоэкранный</PresentationFormat>
  <Paragraphs>225</Paragraphs>
  <Slides>35</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35</vt:i4>
      </vt:variant>
    </vt:vector>
  </HeadingPairs>
  <TitlesOfParts>
    <vt:vector size="40" baseType="lpstr">
      <vt:lpstr>Arial</vt:lpstr>
      <vt:lpstr>Courier New</vt:lpstr>
      <vt:lpstr>Garamond</vt:lpstr>
      <vt:lpstr>Wingdings</vt:lpstr>
      <vt:lpstr>Натуральные материалы</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diakov.net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chirkin579@outlook.com</dc:creator>
  <cp:lastModifiedBy>Преподаватель ПА</cp:lastModifiedBy>
  <cp:revision>47</cp:revision>
  <cp:lastPrinted>2021-10-07T18:51:00Z</cp:lastPrinted>
  <dcterms:created xsi:type="dcterms:W3CDTF">2021-09-22T16:32:00Z</dcterms:created>
  <dcterms:modified xsi:type="dcterms:W3CDTF">2023-10-11T15:02:57Z</dcterms:modified>
</cp:coreProperties>
</file>