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2" r:id="rId1"/>
  </p:sldMasterIdLst>
  <p:sldIdLst>
    <p:sldId id="256" r:id="rId2"/>
    <p:sldId id="257" r:id="rId3"/>
    <p:sldId id="258" r:id="rId4"/>
    <p:sldId id="259" r:id="rId5"/>
    <p:sldId id="260" r:id="rId6"/>
    <p:sldId id="261" r:id="rId7"/>
    <p:sldId id="285" r:id="rId8"/>
    <p:sldId id="262" r:id="rId9"/>
    <p:sldId id="288" r:id="rId10"/>
    <p:sldId id="263" r:id="rId11"/>
    <p:sldId id="264" r:id="rId12"/>
    <p:sldId id="286" r:id="rId13"/>
    <p:sldId id="265" r:id="rId14"/>
    <p:sldId id="266" r:id="rId15"/>
    <p:sldId id="289" r:id="rId16"/>
    <p:sldId id="287" r:id="rId17"/>
    <p:sldId id="267" r:id="rId18"/>
    <p:sldId id="268" r:id="rId19"/>
    <p:sldId id="269" r:id="rId20"/>
    <p:sldId id="270" r:id="rId21"/>
    <p:sldId id="271" r:id="rId22"/>
    <p:sldId id="272" r:id="rId23"/>
    <p:sldId id="273" r:id="rId24"/>
    <p:sldId id="275" r:id="rId25"/>
    <p:sldId id="274" r:id="rId26"/>
    <p:sldId id="276" r:id="rId27"/>
    <p:sldId id="277" r:id="rId28"/>
    <p:sldId id="278" r:id="rId29"/>
    <p:sldId id="279" r:id="rId30"/>
    <p:sldId id="280" r:id="rId31"/>
    <p:sldId id="281" r:id="rId32"/>
    <p:sldId id="282" r:id="rId33"/>
    <p:sldId id="283" r:id="rId34"/>
    <p:sldId id="284"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4660"/>
  </p:normalViewPr>
  <p:slideViewPr>
    <p:cSldViewPr snapToGrid="0">
      <p:cViewPr varScale="1">
        <p:scale>
          <a:sx n="128" d="100"/>
          <a:sy n="128" d="100"/>
        </p:scale>
        <p:origin x="52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ru-RU"/>
              <a:t>Образец заголовка</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246CB39B-5F4C-4A7E-9BE3-AAFD45576D16}" type="datetime2">
              <a:rPr lang="en-US" smtClean="0"/>
              <a:t>Thursday, October 21, 2021</a:t>
            </a:fld>
            <a:endParaRPr lang="en-US" dirty="0"/>
          </a:p>
        </p:txBody>
      </p:sp>
      <p:sp>
        <p:nvSpPr>
          <p:cNvPr id="5" name="Footer Placeholder 4"/>
          <p:cNvSpPr>
            <a:spLocks noGrp="1"/>
          </p:cNvSpPr>
          <p:nvPr>
            <p:ph type="ftr" sz="quarter" idx="11"/>
          </p:nvPr>
        </p:nvSpPr>
        <p:spPr>
          <a:xfrm>
            <a:off x="1127124" y="329307"/>
            <a:ext cx="5943668" cy="309201"/>
          </a:xfrm>
        </p:spPr>
        <p:txBody>
          <a:bodyPr/>
          <a:lstStyle/>
          <a:p>
            <a:r>
              <a:rPr lang="en-US"/>
              <a:t>Sample Footer</a:t>
            </a:r>
            <a:endParaRPr lang="en-US" dirty="0"/>
          </a:p>
        </p:txBody>
      </p:sp>
      <p:sp>
        <p:nvSpPr>
          <p:cNvPr id="6" name="Slide Number Placeholder 5"/>
          <p:cNvSpPr>
            <a:spLocks noGrp="1"/>
          </p:cNvSpPr>
          <p:nvPr>
            <p:ph type="sldNum" sz="quarter" idx="12"/>
          </p:nvPr>
        </p:nvSpPr>
        <p:spPr>
          <a:xfrm>
            <a:off x="9924392" y="134930"/>
            <a:ext cx="811019" cy="503578"/>
          </a:xfrm>
        </p:spPr>
        <p:txBody>
          <a:bodyPr/>
          <a:lstStyle/>
          <a:p>
            <a:fld id="{DBA1B0FB-D917-4C8C-928F-313BD683BF39}" type="slidenum">
              <a:rPr lang="en-US" smtClean="0"/>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63885384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lvl1pPr>
              <a:defRPr sz="1200"/>
            </a:lvl1pPr>
          </a:lstStyle>
          <a:p>
            <a:fld id="{246CB39B-5F4C-4A7E-9BE3-AAFD45576D16}" type="datetime2">
              <a:rPr lang="en-US" smtClean="0"/>
              <a:t>Thursday, October 21, 2021</a:t>
            </a:fld>
            <a:endParaRPr lang="en-US" dirty="0"/>
          </a:p>
        </p:txBody>
      </p:sp>
      <p:sp>
        <p:nvSpPr>
          <p:cNvPr id="5" name="Footer Placeholder 4"/>
          <p:cNvSpPr>
            <a:spLocks noGrp="1"/>
          </p:cNvSpPr>
          <p:nvPr>
            <p:ph type="ftr" sz="quarter" idx="11"/>
          </p:nvPr>
        </p:nvSpPr>
        <p:spPr/>
        <p:txBody>
          <a:bodyPr/>
          <a:lstStyle>
            <a:lvl1pPr>
              <a:defRPr sz="1200"/>
            </a:lvl1pPr>
          </a:lstStyle>
          <a:p>
            <a:r>
              <a:rPr lang="en-US"/>
              <a:t>Sample Footer</a:t>
            </a:r>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pPr/>
              <a:t>‹#›</a:t>
            </a:fld>
            <a:endParaRPr lang="en-US"/>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76325291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ru-RU"/>
              <a:t>Образец заголовка</a:t>
            </a:r>
            <a:endParaRPr lang="en-US" dirty="0"/>
          </a:p>
        </p:txBody>
      </p:sp>
      <p:sp>
        <p:nvSpPr>
          <p:cNvPr id="3" name="Text Placeholder 2"/>
          <p:cNvSpPr>
            <a:spLocks noGrp="1"/>
          </p:cNvSpPr>
          <p:nvPr>
            <p:ph type="body" idx="1" hasCustomPrompt="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6CB39B-5F4C-4A7E-9BE3-AAFD45576D16}" type="datetime2">
              <a:rPr lang="en-US" smtClean="0"/>
              <a:t>Thursday, October 21, 2021</a:t>
            </a:fld>
            <a:endParaRPr lang="en-US" dirty="0"/>
          </a:p>
        </p:txBody>
      </p:sp>
      <p:sp>
        <p:nvSpPr>
          <p:cNvPr id="5" name="Footer Placeholder 4"/>
          <p:cNvSpPr>
            <a:spLocks noGrp="1"/>
          </p:cNvSpPr>
          <p:nvPr>
            <p:ph type="ftr" sz="quarter" idx="11"/>
          </p:nvPr>
        </p:nvSpPr>
        <p:spPr/>
        <p:txBody>
          <a:bodyPr/>
          <a:lstStyle/>
          <a:p>
            <a:r>
              <a:rPr lang="en-US"/>
              <a:t>Sample Footer</a:t>
            </a:r>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84331409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246CB39B-5F4C-4A7E-9BE3-AAFD45576D16}" type="datetime2">
              <a:rPr lang="en-US" smtClean="0"/>
              <a:t>Thursday, October 21, 2021</a:t>
            </a:fld>
            <a:endParaRPr lang="en-US" dirty="0"/>
          </a:p>
        </p:txBody>
      </p:sp>
      <p:sp>
        <p:nvSpPr>
          <p:cNvPr id="6" name="Footer Placeholder 5"/>
          <p:cNvSpPr>
            <a:spLocks noGrp="1"/>
          </p:cNvSpPr>
          <p:nvPr>
            <p:ph type="ftr" sz="quarter" idx="11"/>
          </p:nvPr>
        </p:nvSpPr>
        <p:spPr/>
        <p:txBody>
          <a:bodyPr/>
          <a:lstStyle/>
          <a:p>
            <a:r>
              <a:rPr lang="en-US"/>
              <a:t>Sample Footer</a:t>
            </a:r>
            <a:endParaRPr lang="en-US" dirty="0"/>
          </a:p>
        </p:txBody>
      </p:sp>
      <p:sp>
        <p:nvSpPr>
          <p:cNvPr id="7" name="Slide Number Placeholder 6"/>
          <p:cNvSpPr>
            <a:spLocks noGrp="1"/>
          </p:cNvSpPr>
          <p:nvPr>
            <p:ph type="sldNum" sz="quarter" idx="12"/>
          </p:nvPr>
        </p:nvSpPr>
        <p:spPr/>
        <p:txBody>
          <a:bodyPr/>
          <a:lstStyle/>
          <a:p>
            <a:fld id="{DBA1B0FB-D917-4C8C-928F-313BD683BF39}" type="slidenum">
              <a:rPr lang="en-US" smtClean="0"/>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79333895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129166" y="2974448"/>
            <a:ext cx="4645152" cy="2493876"/>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094337" y="2971669"/>
            <a:ext cx="4645152" cy="2487193"/>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246CB39B-5F4C-4A7E-9BE3-AAFD45576D16}" type="datetime2">
              <a:rPr lang="en-US" smtClean="0"/>
              <a:t>Thursday, October 21, 2021</a:t>
            </a:fld>
            <a:endParaRPr lang="en-US" dirty="0"/>
          </a:p>
        </p:txBody>
      </p:sp>
      <p:sp>
        <p:nvSpPr>
          <p:cNvPr id="8" name="Footer Placeholder 7"/>
          <p:cNvSpPr>
            <a:spLocks noGrp="1"/>
          </p:cNvSpPr>
          <p:nvPr>
            <p:ph type="ftr" sz="quarter" idx="11"/>
          </p:nvPr>
        </p:nvSpPr>
        <p:spPr/>
        <p:txBody>
          <a:bodyPr/>
          <a:lstStyle/>
          <a:p>
            <a:r>
              <a:rPr lang="en-US"/>
              <a:t>Sample Footer</a:t>
            </a:r>
            <a:endParaRPr lang="en-US" dirty="0"/>
          </a:p>
        </p:txBody>
      </p:sp>
      <p:sp>
        <p:nvSpPr>
          <p:cNvPr id="9" name="Slide Number Placeholder 8"/>
          <p:cNvSpPr>
            <a:spLocks noGrp="1"/>
          </p:cNvSpPr>
          <p:nvPr>
            <p:ph type="sldNum" sz="quarter" idx="12"/>
          </p:nvPr>
        </p:nvSpPr>
        <p:spPr/>
        <p:txBody>
          <a:bodyPr/>
          <a:lstStyle/>
          <a:p>
            <a:fld id="{DBA1B0FB-D917-4C8C-928F-313BD683BF39}" type="slidenum">
              <a:rPr lang="en-US" smtClean="0"/>
              <a:pPr/>
              <a:t>‹#›</a:t>
            </a:fld>
            <a:endParaRPr lang="en-US"/>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34439579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246CB39B-5F4C-4A7E-9BE3-AAFD45576D16}" type="datetime2">
              <a:rPr lang="en-US" smtClean="0"/>
              <a:t>Thursday, October 21, 2021</a:t>
            </a:fld>
            <a:endParaRPr lang="en-US" dirty="0"/>
          </a:p>
        </p:txBody>
      </p:sp>
      <p:sp>
        <p:nvSpPr>
          <p:cNvPr id="4" name="Footer Placeholder 3"/>
          <p:cNvSpPr>
            <a:spLocks noGrp="1"/>
          </p:cNvSpPr>
          <p:nvPr>
            <p:ph type="ftr" sz="quarter" idx="11"/>
          </p:nvPr>
        </p:nvSpPr>
        <p:spPr/>
        <p:txBody>
          <a:bodyPr/>
          <a:lstStyle/>
          <a:p>
            <a:r>
              <a:rPr lang="en-US"/>
              <a:t>Sample Footer</a:t>
            </a:r>
            <a:endParaRPr lang="en-US" dirty="0"/>
          </a:p>
        </p:txBody>
      </p:sp>
      <p:sp>
        <p:nvSpPr>
          <p:cNvPr id="5" name="Slide Number Placeholder 4"/>
          <p:cNvSpPr>
            <a:spLocks noGrp="1"/>
          </p:cNvSpPr>
          <p:nvPr>
            <p:ph type="sldNum" sz="quarter" idx="12"/>
          </p:nvPr>
        </p:nvSpPr>
        <p:spPr/>
        <p:txBody>
          <a:bodyPr/>
          <a:lstStyle/>
          <a:p>
            <a:fld id="{DBA1B0FB-D917-4C8C-928F-313BD683BF39}" type="slidenum">
              <a:rPr lang="en-US" smtClean="0"/>
              <a:pPr/>
              <a:t>‹#›</a:t>
            </a:fld>
            <a:endParaRPr lang="en-US"/>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59834707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6CB39B-5F4C-4A7E-9BE3-AAFD45576D16}" type="datetime2">
              <a:rPr lang="en-US" smtClean="0"/>
              <a:t>Thursday, October 21, 2021</a:t>
            </a:fld>
            <a:endParaRPr lang="en-US" dirty="0"/>
          </a:p>
        </p:txBody>
      </p:sp>
      <p:sp>
        <p:nvSpPr>
          <p:cNvPr id="3" name="Footer Placeholder 2"/>
          <p:cNvSpPr>
            <a:spLocks noGrp="1"/>
          </p:cNvSpPr>
          <p:nvPr>
            <p:ph type="ftr" sz="quarter" idx="11"/>
          </p:nvPr>
        </p:nvSpPr>
        <p:spPr/>
        <p:txBody>
          <a:bodyPr/>
          <a:lstStyle/>
          <a:p>
            <a:r>
              <a:rPr lang="en-US"/>
              <a:t>Sample Footer</a:t>
            </a:r>
            <a:endParaRPr lang="en-US" dirty="0"/>
          </a:p>
        </p:txBody>
      </p:sp>
      <p:sp>
        <p:nvSpPr>
          <p:cNvPr id="4" name="Slide Number Placeholder 3"/>
          <p:cNvSpPr>
            <a:spLocks noGrp="1"/>
          </p:cNvSpPr>
          <p:nvPr>
            <p:ph type="sldNum" sz="quarter" idx="12"/>
          </p:nvPr>
        </p:nvSpPr>
        <p:spPr/>
        <p:txBody>
          <a:bodyPr/>
          <a:lstStyle/>
          <a:p>
            <a:fld id="{DBA1B0FB-D917-4C8C-928F-313BD683BF39}" type="slidenum">
              <a:rPr lang="en-US" smtClean="0"/>
              <a:pPr/>
              <a:t>‹#›</a:t>
            </a:fld>
            <a:endParaRPr lang="en-US"/>
          </a:p>
        </p:txBody>
      </p:sp>
    </p:spTree>
    <p:extLst>
      <p:ext uri="{BB962C8B-B14F-4D97-AF65-F5344CB8AC3E}">
        <p14:creationId xmlns:p14="http://schemas.microsoft.com/office/powerpoint/2010/main" val="212105272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ru-RU"/>
              <a:t>Образец заголовка</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246CB39B-5F4C-4A7E-9BE3-AAFD45576D16}" type="datetime2">
              <a:rPr lang="en-US" smtClean="0"/>
              <a:t>Thursday, October 21, 2021</a:t>
            </a:fld>
            <a:endParaRPr lang="en-US" dirty="0"/>
          </a:p>
        </p:txBody>
      </p:sp>
      <p:sp>
        <p:nvSpPr>
          <p:cNvPr id="6" name="Footer Placeholder 5"/>
          <p:cNvSpPr>
            <a:spLocks noGrp="1"/>
          </p:cNvSpPr>
          <p:nvPr>
            <p:ph type="ftr" sz="quarter" idx="11"/>
          </p:nvPr>
        </p:nvSpPr>
        <p:spPr/>
        <p:txBody>
          <a:bodyPr/>
          <a:lstStyle/>
          <a:p>
            <a:r>
              <a:rPr lang="en-US"/>
              <a:t>Sample Footer</a:t>
            </a:r>
            <a:endParaRPr lang="en-US" dirty="0"/>
          </a:p>
        </p:txBody>
      </p:sp>
      <p:sp>
        <p:nvSpPr>
          <p:cNvPr id="7" name="Slide Number Placeholder 6"/>
          <p:cNvSpPr>
            <a:spLocks noGrp="1"/>
          </p:cNvSpPr>
          <p:nvPr>
            <p:ph type="sldNum" sz="quarter" idx="12"/>
          </p:nvPr>
        </p:nvSpPr>
        <p:spPr/>
        <p:txBody>
          <a:bodyPr/>
          <a:lstStyle/>
          <a:p>
            <a:fld id="{DBA1B0FB-D917-4C8C-928F-313BD683BF39}" type="slidenum">
              <a:rPr lang="en-US" smtClean="0"/>
              <a:pPr/>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03241029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246CB39B-5F4C-4A7E-9BE3-AAFD45576D16}" type="datetime2">
              <a:rPr lang="en-US" smtClean="0"/>
              <a:t>Thursday, October 21, 2021</a:t>
            </a:fld>
            <a:endParaRPr lang="en-US" dirty="0"/>
          </a:p>
        </p:txBody>
      </p:sp>
      <p:sp>
        <p:nvSpPr>
          <p:cNvPr id="6" name="Footer Placeholder 5"/>
          <p:cNvSpPr>
            <a:spLocks noGrp="1"/>
          </p:cNvSpPr>
          <p:nvPr>
            <p:ph type="ftr" sz="quarter" idx="11"/>
          </p:nvPr>
        </p:nvSpPr>
        <p:spPr>
          <a:xfrm>
            <a:off x="1125300" y="318640"/>
            <a:ext cx="4877818" cy="320931"/>
          </a:xfrm>
        </p:spPr>
        <p:txBody>
          <a:bodyPr/>
          <a:lstStyle/>
          <a:p>
            <a:r>
              <a:rPr lang="en-US"/>
              <a:t>Sample Footer</a:t>
            </a:r>
            <a:endParaRPr lang="en-US" dirty="0"/>
          </a:p>
        </p:txBody>
      </p:sp>
      <p:sp>
        <p:nvSpPr>
          <p:cNvPr id="7" name="Slide Number Placeholder 6"/>
          <p:cNvSpPr>
            <a:spLocks noGrp="1"/>
          </p:cNvSpPr>
          <p:nvPr>
            <p:ph type="sldNum" sz="quarter" idx="12"/>
          </p:nvPr>
        </p:nvSpPr>
        <p:spPr>
          <a:xfrm>
            <a:off x="6176794" y="137408"/>
            <a:ext cx="811019" cy="503578"/>
          </a:xfrm>
        </p:spPr>
        <p:txBody>
          <a:bodyPr/>
          <a:lstStyle/>
          <a:p>
            <a:fld id="{DBA1B0FB-D917-4C8C-928F-313BD683BF39}" type="slidenum">
              <a:rPr lang="en-US" smtClean="0"/>
              <a:pPr/>
              <a:t>‹#›</a:t>
            </a:fld>
            <a:endParaRPr lang="en-US"/>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extLst>
      <p:ext uri="{BB962C8B-B14F-4D97-AF65-F5344CB8AC3E}">
        <p14:creationId xmlns:p14="http://schemas.microsoft.com/office/powerpoint/2010/main" val="195222490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46CB39B-5F4C-4A7E-9BE3-AAFD45576D16}" type="datetime2">
              <a:rPr lang="en-US" smtClean="0"/>
              <a:t>Thursday, October 21, 2021</a:t>
            </a:fld>
            <a:endParaRPr lang="en-US" dirty="0"/>
          </a:p>
        </p:txBody>
      </p:sp>
      <p:sp>
        <p:nvSpPr>
          <p:cNvPr id="5" name="Footer Placeholder 4"/>
          <p:cNvSpPr>
            <a:spLocks noGrp="1"/>
          </p:cNvSpPr>
          <p:nvPr>
            <p:ph type="ftr" sz="quarter" idx="11"/>
          </p:nvPr>
        </p:nvSpPr>
        <p:spPr/>
        <p:txBody>
          <a:bodyPr/>
          <a:lstStyle/>
          <a:p>
            <a:r>
              <a:rPr lang="en-US"/>
              <a:t>Sample Footer</a:t>
            </a:r>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pPr/>
              <a:t>‹#›</a:t>
            </a:fld>
            <a:endParaRPr lang="en-US"/>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36067432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ru-RU"/>
              <a:t>Образец заголовка</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46CB39B-5F4C-4A7E-9BE3-AAFD45576D16}" type="datetime2">
              <a:rPr lang="en-US" smtClean="0"/>
              <a:t>Thursday, October 21, 2021</a:t>
            </a:fld>
            <a:endParaRPr lang="en-US" dirty="0"/>
          </a:p>
        </p:txBody>
      </p:sp>
      <p:sp>
        <p:nvSpPr>
          <p:cNvPr id="5" name="Footer Placeholder 4"/>
          <p:cNvSpPr>
            <a:spLocks noGrp="1"/>
          </p:cNvSpPr>
          <p:nvPr>
            <p:ph type="ftr" sz="quarter" idx="11"/>
          </p:nvPr>
        </p:nvSpPr>
        <p:spPr/>
        <p:txBody>
          <a:bodyPr/>
          <a:lstStyle/>
          <a:p>
            <a:r>
              <a:rPr lang="en-US"/>
              <a:t>Sample Footer</a:t>
            </a:r>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pPr/>
              <a:t>‹#›</a:t>
            </a:fld>
            <a:endParaRPr lang="en-US"/>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extLst>
      <p:ext uri="{BB962C8B-B14F-4D97-AF65-F5344CB8AC3E}">
        <p14:creationId xmlns:p14="http://schemas.microsoft.com/office/powerpoint/2010/main" val="381733448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246CB39B-5F4C-4A7E-9BE3-AAFD45576D16}" type="datetime2">
              <a:rPr lang="en-US" smtClean="0"/>
              <a:t>Thursday, October 21, 2021</a:t>
            </a:fld>
            <a:endParaRPr lang="en-US" dirty="0"/>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Sample Footer</a:t>
            </a:r>
            <a:endParaRPr lang="en-US" dirty="0"/>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val="467331990"/>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Lst>
  <p:hf sldNum="0" hdr="0" ftr="0" dt="0"/>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emf"/><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emf"/><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39" name="Rectangle 28">
            <a:extLst>
              <a:ext uri="{FF2B5EF4-FFF2-40B4-BE49-F238E27FC236}">
                <a16:creationId xmlns:a16="http://schemas.microsoft.com/office/drawing/2014/main" id="{C6B75F5B-2AF8-453A-8B98-2B6B206FAC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0">
            <a:extLst>
              <a:ext uri="{FF2B5EF4-FFF2-40B4-BE49-F238E27FC236}">
                <a16:creationId xmlns:a16="http://schemas.microsoft.com/office/drawing/2014/main" id="{70039E87-FAC9-466E-8DCF-B75E2C991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F8DE92F-E789-4FB0-92D2-1C3789751216}"/>
              </a:ext>
            </a:extLst>
          </p:cNvPr>
          <p:cNvSpPr>
            <a:spLocks noGrp="1"/>
          </p:cNvSpPr>
          <p:nvPr>
            <p:ph type="ctrTitle"/>
          </p:nvPr>
        </p:nvSpPr>
        <p:spPr>
          <a:xfrm>
            <a:off x="6577772" y="1151787"/>
            <a:ext cx="4488868" cy="1857743"/>
          </a:xfrm>
        </p:spPr>
        <p:txBody>
          <a:bodyPr>
            <a:normAutofit/>
          </a:bodyPr>
          <a:lstStyle/>
          <a:p>
            <a:pPr algn="ctr"/>
            <a:r>
              <a:rPr lang="ru-RU" sz="4800"/>
              <a:t>Банковская система</a:t>
            </a:r>
            <a:endParaRPr lang="ru-RU" sz="4800" dirty="0"/>
          </a:p>
        </p:txBody>
      </p:sp>
      <p:sp>
        <p:nvSpPr>
          <p:cNvPr id="3" name="Подзаголовок 2">
            <a:extLst>
              <a:ext uri="{FF2B5EF4-FFF2-40B4-BE49-F238E27FC236}">
                <a16:creationId xmlns:a16="http://schemas.microsoft.com/office/drawing/2014/main" id="{2FC826BF-56A4-4EE4-8361-04E0F3B87BE9}"/>
              </a:ext>
            </a:extLst>
          </p:cNvPr>
          <p:cNvSpPr>
            <a:spLocks noGrp="1"/>
          </p:cNvSpPr>
          <p:nvPr>
            <p:ph type="subTitle" idx="1"/>
          </p:nvPr>
        </p:nvSpPr>
        <p:spPr>
          <a:xfrm>
            <a:off x="6579647" y="3402362"/>
            <a:ext cx="4486993" cy="1712005"/>
          </a:xfrm>
        </p:spPr>
        <p:txBody>
          <a:bodyPr>
            <a:normAutofit/>
          </a:bodyPr>
          <a:lstStyle/>
          <a:p>
            <a:pPr algn="r"/>
            <a:endParaRPr lang="ru-RU" sz="1600" dirty="0"/>
          </a:p>
        </p:txBody>
      </p:sp>
      <p:pic>
        <p:nvPicPr>
          <p:cNvPr id="41" name="Picture 32">
            <a:extLst>
              <a:ext uri="{FF2B5EF4-FFF2-40B4-BE49-F238E27FC236}">
                <a16:creationId xmlns:a16="http://schemas.microsoft.com/office/drawing/2014/main" id="{D5CEB4E1-73AB-43FA-A3AF-86F2FE318D5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60419" b="36564"/>
          <a:stretch/>
        </p:blipFill>
        <p:spPr>
          <a:xfrm>
            <a:off x="6577770" y="643464"/>
            <a:ext cx="4526280" cy="155448"/>
          </a:xfrm>
          <a:prstGeom prst="rect">
            <a:avLst/>
          </a:prstGeom>
          <a:noFill/>
          <a:ln>
            <a:noFill/>
          </a:ln>
        </p:spPr>
      </p:pic>
      <p:pic>
        <p:nvPicPr>
          <p:cNvPr id="42" name="Picture 34">
            <a:extLst>
              <a:ext uri="{FF2B5EF4-FFF2-40B4-BE49-F238E27FC236}">
                <a16:creationId xmlns:a16="http://schemas.microsoft.com/office/drawing/2014/main" id="{10FFC047-6928-40E8-86D8-A5F6F18F57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cxnSp>
        <p:nvCxnSpPr>
          <p:cNvPr id="43" name="Straight Connector 36">
            <a:extLst>
              <a:ext uri="{FF2B5EF4-FFF2-40B4-BE49-F238E27FC236}">
                <a16:creationId xmlns:a16="http://schemas.microsoft.com/office/drawing/2014/main" id="{9AD5A711-0D6A-46C8-823C-E1684AA822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8" name="Рисунок 7">
            <a:extLst>
              <a:ext uri="{FF2B5EF4-FFF2-40B4-BE49-F238E27FC236}">
                <a16:creationId xmlns:a16="http://schemas.microsoft.com/office/drawing/2014/main" id="{6C9FE5D5-8170-4E34-A3CD-1A703F18D8D5}"/>
              </a:ext>
            </a:extLst>
          </p:cNvPr>
          <p:cNvPicPr>
            <a:picLocks noChangeAspect="1"/>
          </p:cNvPicPr>
          <p:nvPr/>
        </p:nvPicPr>
        <p:blipFill>
          <a:blip r:embed="rId4"/>
          <a:stretch>
            <a:fillRect/>
          </a:stretch>
        </p:blipFill>
        <p:spPr>
          <a:xfrm>
            <a:off x="885662" y="1018621"/>
            <a:ext cx="5346461" cy="4277169"/>
          </a:xfrm>
          <a:prstGeom prst="rect">
            <a:avLst/>
          </a:prstGeom>
        </p:spPr>
      </p:pic>
    </p:spTree>
    <p:extLst>
      <p:ext uri="{BB962C8B-B14F-4D97-AF65-F5344CB8AC3E}">
        <p14:creationId xmlns:p14="http://schemas.microsoft.com/office/powerpoint/2010/main" val="3832059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F7680B5-1A78-4401-BA9A-78832F0FD9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5" name="Rectangle 14">
            <a:extLst>
              <a:ext uri="{FF2B5EF4-FFF2-40B4-BE49-F238E27FC236}">
                <a16:creationId xmlns:a16="http://schemas.microsoft.com/office/drawing/2014/main" id="{50F21DC9-D0AC-495C-8CC8-D5DDF8C11C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7" name="Straight Connector 16">
            <a:extLst>
              <a:ext uri="{FF2B5EF4-FFF2-40B4-BE49-F238E27FC236}">
                <a16:creationId xmlns:a16="http://schemas.microsoft.com/office/drawing/2014/main" id="{A26B82D7-D05B-412B-9A0D-6430BCD118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E4E78000-301F-4983-ACD5-7F50C0C3F59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 useBgFill="1">
        <p:nvSpPr>
          <p:cNvPr id="21" name="Rectangle 20">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Объект 7">
            <a:extLst>
              <a:ext uri="{FF2B5EF4-FFF2-40B4-BE49-F238E27FC236}">
                <a16:creationId xmlns:a16="http://schemas.microsoft.com/office/drawing/2014/main" id="{F6785DED-755D-4833-96BC-EFA2695CA7E9}"/>
              </a:ext>
            </a:extLst>
          </p:cNvPr>
          <p:cNvPicPr>
            <a:picLocks noGrp="1" noChangeAspect="1"/>
          </p:cNvPicPr>
          <p:nvPr>
            <p:ph sz="half" idx="2"/>
          </p:nvPr>
        </p:nvPicPr>
        <p:blipFill rotWithShape="1">
          <a:blip r:embed="rId4">
            <a:alphaModFix amt="50000"/>
          </a:blip>
          <a:srcRect t="22297" r="-1" b="7388"/>
          <a:stretch/>
        </p:blipFill>
        <p:spPr>
          <a:xfrm>
            <a:off x="305" y="10"/>
            <a:ext cx="12191695" cy="6857990"/>
          </a:xfrm>
          <a:prstGeom prst="rect">
            <a:avLst/>
          </a:prstGeom>
        </p:spPr>
      </p:pic>
      <p:sp>
        <p:nvSpPr>
          <p:cNvPr id="23"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5"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27" name="Rectangle 26">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Заголовок 1">
            <a:extLst>
              <a:ext uri="{FF2B5EF4-FFF2-40B4-BE49-F238E27FC236}">
                <a16:creationId xmlns:a16="http://schemas.microsoft.com/office/drawing/2014/main" id="{67CEE965-DF3B-4ADE-B2DC-5979D7313D00}"/>
              </a:ext>
            </a:extLst>
          </p:cNvPr>
          <p:cNvSpPr>
            <a:spLocks noGrp="1"/>
          </p:cNvSpPr>
          <p:nvPr>
            <p:ph type="title"/>
          </p:nvPr>
        </p:nvSpPr>
        <p:spPr>
          <a:xfrm>
            <a:off x="1130271" y="1193800"/>
            <a:ext cx="3193050" cy="4699000"/>
          </a:xfrm>
        </p:spPr>
        <p:txBody>
          <a:bodyPr vert="horz" lIns="91440" tIns="45720" rIns="91440" bIns="45720" rtlCol="0" anchor="ctr">
            <a:normAutofit/>
          </a:bodyPr>
          <a:lstStyle/>
          <a:p>
            <a:pPr algn="ctr"/>
            <a:r>
              <a:rPr lang="en-US" b="1" dirty="0"/>
              <a:t>Банковская система и е</a:t>
            </a:r>
            <a:r>
              <a:rPr lang="ru-RU" b="1" dirty="0"/>
              <a:t>ё</a:t>
            </a:r>
            <a:r>
              <a:rPr lang="en-US" b="1" dirty="0"/>
              <a:t> структура</a:t>
            </a:r>
          </a:p>
        </p:txBody>
      </p:sp>
      <p:cxnSp>
        <p:nvCxnSpPr>
          <p:cNvPr id="29" name="Straight Connector 28">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Объект 2">
            <a:extLst>
              <a:ext uri="{FF2B5EF4-FFF2-40B4-BE49-F238E27FC236}">
                <a16:creationId xmlns:a16="http://schemas.microsoft.com/office/drawing/2014/main" id="{052BAB7B-83B8-4176-AA95-42A1EE6A8B4A}"/>
              </a:ext>
            </a:extLst>
          </p:cNvPr>
          <p:cNvSpPr>
            <a:spLocks noGrp="1"/>
          </p:cNvSpPr>
          <p:nvPr>
            <p:ph sz="half" idx="1"/>
          </p:nvPr>
        </p:nvSpPr>
        <p:spPr>
          <a:xfrm>
            <a:off x="4976636" y="1193800"/>
            <a:ext cx="6085091" cy="4699000"/>
          </a:xfrm>
        </p:spPr>
        <p:txBody>
          <a:bodyPr vert="horz" lIns="91440" tIns="45720" rIns="91440" bIns="45720" rtlCol="0" anchor="ctr">
            <a:normAutofit/>
          </a:bodyPr>
          <a:lstStyle/>
          <a:p>
            <a:pPr marL="0" indent="0">
              <a:buNone/>
            </a:pPr>
            <a:r>
              <a:rPr lang="en-US" dirty="0"/>
              <a:t>Банки являются основным финансовым посредником в экономике. Их деятельность-это канал, с помощью которого изменения на денежном рынке трансформируются в изменения на товарном рынке. Банки обеспечивают предложение денег в экономике.</a:t>
            </a:r>
          </a:p>
        </p:txBody>
      </p:sp>
      <p:sp>
        <p:nvSpPr>
          <p:cNvPr id="31"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329772444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BF7680B5-1A78-4401-BA9A-78832F0FD9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27" name="Rectangle 26">
            <a:extLst>
              <a:ext uri="{FF2B5EF4-FFF2-40B4-BE49-F238E27FC236}">
                <a16:creationId xmlns:a16="http://schemas.microsoft.com/office/drawing/2014/main" id="{50F21DC9-D0AC-495C-8CC8-D5DDF8C11C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9" name="Straight Connector 28">
            <a:extLst>
              <a:ext uri="{FF2B5EF4-FFF2-40B4-BE49-F238E27FC236}">
                <a16:creationId xmlns:a16="http://schemas.microsoft.com/office/drawing/2014/main" id="{A26B82D7-D05B-412B-9A0D-6430BCD118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E4E78000-301F-4983-ACD5-7F50C0C3F59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 useBgFill="1">
        <p:nvSpPr>
          <p:cNvPr id="33" name="Rectangle 32">
            <a:extLst>
              <a:ext uri="{FF2B5EF4-FFF2-40B4-BE49-F238E27FC236}">
                <a16:creationId xmlns:a16="http://schemas.microsoft.com/office/drawing/2014/main" id="{98467C26-698A-4067-8313-4597E66C6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006F43F-BCE4-4E6E-85DE-718187985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EF652603-FC5C-4812-B988-58EC0AB149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2237" y="482171"/>
            <a:ext cx="6104331" cy="5149101"/>
            <a:chOff x="632237" y="482171"/>
            <a:chExt cx="6104331" cy="5149101"/>
          </a:xfrm>
        </p:grpSpPr>
        <p:sp>
          <p:nvSpPr>
            <p:cNvPr id="38" name="Rectangle 37">
              <a:extLst>
                <a:ext uri="{FF2B5EF4-FFF2-40B4-BE49-F238E27FC236}">
                  <a16:creationId xmlns:a16="http://schemas.microsoft.com/office/drawing/2014/main" id="{6F95C6B4-623A-45ED-B1BF-DEAE690612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237" y="482171"/>
              <a:ext cx="6104331"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842BEE4-6212-4A54-864D-76B864C2A6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5296" y="812507"/>
              <a:ext cx="5471355"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41" name="Picture 40">
            <a:extLst>
              <a:ext uri="{FF2B5EF4-FFF2-40B4-BE49-F238E27FC236}">
                <a16:creationId xmlns:a16="http://schemas.microsoft.com/office/drawing/2014/main" id="{AD950783-0DF3-4005-A16A-CFB7D65ABB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6" t="474" r="66353" b="36564"/>
          <a:stretch/>
        </p:blipFill>
        <p:spPr>
          <a:xfrm>
            <a:off x="7213999" y="643464"/>
            <a:ext cx="3849624" cy="155448"/>
          </a:xfrm>
          <a:prstGeom prst="rect">
            <a:avLst/>
          </a:prstGeom>
          <a:noFill/>
          <a:ln>
            <a:noFill/>
          </a:ln>
        </p:spPr>
      </p:pic>
      <p:pic>
        <p:nvPicPr>
          <p:cNvPr id="5" name="Объект 4">
            <a:extLst>
              <a:ext uri="{FF2B5EF4-FFF2-40B4-BE49-F238E27FC236}">
                <a16:creationId xmlns:a16="http://schemas.microsoft.com/office/drawing/2014/main" id="{4A10F00A-529A-49D7-AEB8-84AAC93D7952}"/>
              </a:ext>
            </a:extLst>
          </p:cNvPr>
          <p:cNvPicPr>
            <a:picLocks noGrp="1" noChangeAspect="1"/>
          </p:cNvPicPr>
          <p:nvPr>
            <p:ph sz="half" idx="2"/>
          </p:nvPr>
        </p:nvPicPr>
        <p:blipFill rotWithShape="1">
          <a:blip r:embed="rId4"/>
          <a:srcRect l="157" r="2" b="2"/>
          <a:stretch/>
        </p:blipFill>
        <p:spPr>
          <a:xfrm>
            <a:off x="1271223" y="1116345"/>
            <a:ext cx="4825148" cy="3866172"/>
          </a:xfrm>
          <a:prstGeom prst="rect">
            <a:avLst/>
          </a:prstGeom>
        </p:spPr>
      </p:pic>
      <p:sp>
        <p:nvSpPr>
          <p:cNvPr id="3" name="Объект 2">
            <a:extLst>
              <a:ext uri="{FF2B5EF4-FFF2-40B4-BE49-F238E27FC236}">
                <a16:creationId xmlns:a16="http://schemas.microsoft.com/office/drawing/2014/main" id="{24132A84-60FC-41F7-A962-1B09049C8D57}"/>
              </a:ext>
            </a:extLst>
          </p:cNvPr>
          <p:cNvSpPr>
            <a:spLocks noGrp="1"/>
          </p:cNvSpPr>
          <p:nvPr>
            <p:ph sz="half" idx="1"/>
          </p:nvPr>
        </p:nvSpPr>
        <p:spPr>
          <a:xfrm>
            <a:off x="7218028" y="973607"/>
            <a:ext cx="3848611" cy="4799120"/>
          </a:xfrm>
        </p:spPr>
        <p:txBody>
          <a:bodyPr vert="horz" lIns="91440" tIns="45720" rIns="91440" bIns="45720" rtlCol="0" anchor="t">
            <a:noAutofit/>
          </a:bodyPr>
          <a:lstStyle/>
          <a:p>
            <a:pPr marL="0">
              <a:lnSpc>
                <a:spcPct val="110000"/>
              </a:lnSpc>
              <a:buClr>
                <a:schemeClr val="tx1"/>
              </a:buClr>
            </a:pPr>
            <a:r>
              <a:rPr lang="en-US" sz="1600" b="1" i="1" dirty="0"/>
              <a:t>Главной функцией банков</a:t>
            </a:r>
            <a:r>
              <a:rPr lang="en-US" sz="1600" i="1" dirty="0"/>
              <a:t> </a:t>
            </a:r>
            <a:r>
              <a:rPr lang="en-US" sz="1600" dirty="0"/>
              <a:t>является посредничество в кредите. С одной стороны, банки принимают вклады (депозиты), привлекая деньги сберегателей (прежде всего домохозяйств), т.е. аккумулируют временно свободные денежные средства. С другой стороны, они предоставляют эти средства под определенный процент нуждающимся в них экономическим агентам (фирмам, домохозяйствам и т.д.), т.е. выдают кредиты. Поэтому банковская система-</a:t>
            </a:r>
            <a:r>
              <a:rPr lang="en-US" sz="1600" dirty="0" err="1"/>
              <a:t>это</a:t>
            </a:r>
            <a:r>
              <a:rPr lang="en-US" sz="1600" dirty="0"/>
              <a:t> часть кредитной системы.</a:t>
            </a:r>
          </a:p>
        </p:txBody>
      </p:sp>
      <p:pic>
        <p:nvPicPr>
          <p:cNvPr id="43" name="Picture 42">
            <a:extLst>
              <a:ext uri="{FF2B5EF4-FFF2-40B4-BE49-F238E27FC236}">
                <a16:creationId xmlns:a16="http://schemas.microsoft.com/office/drawing/2014/main" id="{ADA8F487-003F-4C12-8160-48D3B5BB6B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cxnSp>
        <p:nvCxnSpPr>
          <p:cNvPr id="45" name="Straight Connector 44">
            <a:extLst>
              <a:ext uri="{FF2B5EF4-FFF2-40B4-BE49-F238E27FC236}">
                <a16:creationId xmlns:a16="http://schemas.microsoft.com/office/drawing/2014/main" id="{F649FD65-763E-4C9E-8A04-CB69C35CDE1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1319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708D84FD-7440-433E-82A7-6DA9439055F5}"/>
              </a:ext>
            </a:extLst>
          </p:cNvPr>
          <p:cNvSpPr>
            <a:spLocks noGrp="1"/>
          </p:cNvSpPr>
          <p:nvPr>
            <p:ph sz="half" idx="1"/>
          </p:nvPr>
        </p:nvSpPr>
        <p:spPr>
          <a:xfrm>
            <a:off x="1129166" y="976544"/>
            <a:ext cx="4645152" cy="4989250"/>
          </a:xfrm>
        </p:spPr>
        <p:txBody>
          <a:bodyPr>
            <a:normAutofit lnSpcReduction="10000"/>
          </a:bodyPr>
          <a:lstStyle/>
          <a:p>
            <a:r>
              <a:rPr lang="ru-RU" b="1" i="1" dirty="0"/>
              <a:t>Кредитная система </a:t>
            </a:r>
            <a:r>
              <a:rPr lang="ru-RU" dirty="0"/>
              <a:t>состоит из банковских и небанковских (специализированных) кредитных учреждений. К небанковским кредитным учреждениям относятся: фонды (инвестиционные, пенсионные и др.); страховые компании; ссудо-сберегательные ассоциации; кредитные союзы; ломбарды и т.п., т.е. все организации, выполняющие функции посредников в кредите.  </a:t>
            </a:r>
          </a:p>
        </p:txBody>
      </p:sp>
      <p:pic>
        <p:nvPicPr>
          <p:cNvPr id="5" name="Объект 4">
            <a:extLst>
              <a:ext uri="{FF2B5EF4-FFF2-40B4-BE49-F238E27FC236}">
                <a16:creationId xmlns:a16="http://schemas.microsoft.com/office/drawing/2014/main" id="{363B4C5F-F6A2-4827-A49C-3029AB300D6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60642" y="1114271"/>
            <a:ext cx="4124651" cy="4989250"/>
          </a:xfrm>
        </p:spPr>
      </p:pic>
    </p:spTree>
    <p:extLst>
      <p:ext uri="{BB962C8B-B14F-4D97-AF65-F5344CB8AC3E}">
        <p14:creationId xmlns:p14="http://schemas.microsoft.com/office/powerpoint/2010/main" val="1426192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CCE0087C-EA16-4C3A-BB01-11C6A05CC87C}"/>
              </a:ext>
            </a:extLst>
          </p:cNvPr>
          <p:cNvSpPr>
            <a:spLocks noGrp="1"/>
          </p:cNvSpPr>
          <p:nvPr>
            <p:ph sz="half" idx="2"/>
          </p:nvPr>
        </p:nvSpPr>
        <p:spPr>
          <a:xfrm>
            <a:off x="6095606" y="975934"/>
            <a:ext cx="4645152" cy="4482929"/>
          </a:xfrm>
        </p:spPr>
        <p:txBody>
          <a:bodyPr>
            <a:normAutofit lnSpcReduction="10000"/>
          </a:bodyPr>
          <a:lstStyle/>
          <a:p>
            <a:pPr algn="r"/>
            <a:r>
              <a:rPr lang="ru-RU" dirty="0"/>
              <a:t>Однако главными финансовыми посредниками выступают коммерческие банки. Слово «банк» происходит от итальянского слова «</a:t>
            </a:r>
            <a:r>
              <a:rPr lang="en-US" dirty="0"/>
              <a:t>banco</a:t>
            </a:r>
            <a:r>
              <a:rPr lang="ru-RU" dirty="0"/>
              <a:t>», что означает «скамья». Первые банки с современным бухгалтерским принципом двойной записи появились в </a:t>
            </a:r>
            <a:r>
              <a:rPr lang="en-US" dirty="0"/>
              <a:t>XV</a:t>
            </a:r>
            <a:r>
              <a:rPr lang="ru-RU" dirty="0"/>
              <a:t> в. в Италии, хотя ростовщичество (предоставление денег в долг) как первая форма кредита процветало еще до нашей эры.</a:t>
            </a:r>
          </a:p>
          <a:p>
            <a:pPr marL="0" indent="0" algn="r">
              <a:buNone/>
            </a:pPr>
            <a:endParaRPr lang="ru-RU" dirty="0"/>
          </a:p>
        </p:txBody>
      </p:sp>
      <p:pic>
        <p:nvPicPr>
          <p:cNvPr id="26" name="Объект 25">
            <a:extLst>
              <a:ext uri="{FF2B5EF4-FFF2-40B4-BE49-F238E27FC236}">
                <a16:creationId xmlns:a16="http://schemas.microsoft.com/office/drawing/2014/main" id="{5426BF52-7012-4531-95CB-495FF678632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601709" y="1446754"/>
            <a:ext cx="3813669" cy="3813669"/>
          </a:xfrm>
        </p:spPr>
      </p:pic>
    </p:spTree>
    <p:extLst>
      <p:ext uri="{BB962C8B-B14F-4D97-AF65-F5344CB8AC3E}">
        <p14:creationId xmlns:p14="http://schemas.microsoft.com/office/powerpoint/2010/main" val="3706095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38AD3D-C417-4F6F-98BE-33DDBA6C8183}"/>
              </a:ext>
            </a:extLst>
          </p:cNvPr>
          <p:cNvSpPr>
            <a:spLocks noGrp="1"/>
          </p:cNvSpPr>
          <p:nvPr>
            <p:ph type="title"/>
          </p:nvPr>
        </p:nvSpPr>
        <p:spPr>
          <a:xfrm>
            <a:off x="1131052" y="1083075"/>
            <a:ext cx="9931782" cy="1260629"/>
          </a:xfrm>
        </p:spPr>
        <p:txBody>
          <a:bodyPr>
            <a:noAutofit/>
          </a:bodyPr>
          <a:lstStyle/>
          <a:p>
            <a:r>
              <a:rPr lang="ru-RU" sz="2400" b="1" i="1" dirty="0"/>
              <a:t>Современная банковская система двухуровневая</a:t>
            </a:r>
            <a:r>
              <a:rPr lang="ru-RU" sz="2400" dirty="0"/>
              <a:t>: первый уровень-это центральный банк, второй уровень-система коммерческих банков.</a:t>
            </a:r>
          </a:p>
        </p:txBody>
      </p:sp>
      <p:sp>
        <p:nvSpPr>
          <p:cNvPr id="3" name="Объект 2">
            <a:extLst>
              <a:ext uri="{FF2B5EF4-FFF2-40B4-BE49-F238E27FC236}">
                <a16:creationId xmlns:a16="http://schemas.microsoft.com/office/drawing/2014/main" id="{CD0545A8-5A0E-4D66-A4F0-F939E7E948E1}"/>
              </a:ext>
            </a:extLst>
          </p:cNvPr>
          <p:cNvSpPr>
            <a:spLocks noGrp="1"/>
          </p:cNvSpPr>
          <p:nvPr>
            <p:ph sz="half" idx="1"/>
          </p:nvPr>
        </p:nvSpPr>
        <p:spPr/>
        <p:txBody>
          <a:bodyPr/>
          <a:lstStyle/>
          <a:p>
            <a:endParaRPr lang="ru-RU" b="1" i="1" dirty="0"/>
          </a:p>
          <a:p>
            <a:r>
              <a:rPr lang="ru-RU" b="1" i="1" dirty="0"/>
              <a:t>Центральный банк</a:t>
            </a:r>
            <a:r>
              <a:rPr lang="ru-RU" dirty="0"/>
              <a:t>-это главный банк страны. В США он называется ФРС, в Германии-Бундесбанк, а в России</a:t>
            </a:r>
            <a:r>
              <a:rPr lang="ru-RU" i="1" dirty="0"/>
              <a:t>-Центральный банк Российской Федерации</a:t>
            </a:r>
            <a:r>
              <a:rPr lang="ru-RU" dirty="0"/>
              <a:t>.</a:t>
            </a:r>
          </a:p>
        </p:txBody>
      </p:sp>
      <p:pic>
        <p:nvPicPr>
          <p:cNvPr id="5" name="Объект 4">
            <a:extLst>
              <a:ext uri="{FF2B5EF4-FFF2-40B4-BE49-F238E27FC236}">
                <a16:creationId xmlns:a16="http://schemas.microsoft.com/office/drawing/2014/main" id="{E55E4F92-90C2-43E1-819C-B147E481142B}"/>
              </a:ext>
            </a:extLst>
          </p:cNvPr>
          <p:cNvPicPr>
            <a:picLocks noGrp="1" noChangeAspect="1"/>
          </p:cNvPicPr>
          <p:nvPr>
            <p:ph sz="half" idx="2"/>
          </p:nvPr>
        </p:nvPicPr>
        <p:blipFill>
          <a:blip r:embed="rId2"/>
          <a:stretch>
            <a:fillRect/>
          </a:stretch>
        </p:blipFill>
        <p:spPr>
          <a:xfrm>
            <a:off x="6029195" y="2273326"/>
            <a:ext cx="5033639" cy="3078441"/>
          </a:xfrm>
          <a:prstGeom prst="rect">
            <a:avLst/>
          </a:prstGeom>
        </p:spPr>
      </p:pic>
    </p:spTree>
    <p:extLst>
      <p:ext uri="{BB962C8B-B14F-4D97-AF65-F5344CB8AC3E}">
        <p14:creationId xmlns:p14="http://schemas.microsoft.com/office/powerpoint/2010/main" val="483205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C9703D-C8F9-44AD-A7C0-C2F3871F8C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1601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Рисунок 2">
            <a:extLst>
              <a:ext uri="{FF2B5EF4-FFF2-40B4-BE49-F238E27FC236}">
                <a16:creationId xmlns:a16="http://schemas.microsoft.com/office/drawing/2014/main" id="{5AE41EF2-7FCE-4051-B6A8-62ADD6A5AC08}"/>
              </a:ext>
            </a:extLst>
          </p:cNvPr>
          <p:cNvPicPr>
            <a:picLocks noChangeAspect="1"/>
          </p:cNvPicPr>
          <p:nvPr/>
        </p:nvPicPr>
        <p:blipFill rotWithShape="1">
          <a:blip r:embed="rId2">
            <a:extLst>
              <a:ext uri="{28A0092B-C50C-407E-A947-70E740481C1C}">
                <a14:useLocalDpi xmlns:a14="http://schemas.microsoft.com/office/drawing/2010/main" val="0"/>
              </a:ext>
            </a:extLst>
          </a:blip>
          <a:srcRect l="2320" r="6123" b="-1"/>
          <a:stretch/>
        </p:blipFill>
        <p:spPr>
          <a:xfrm>
            <a:off x="716460" y="515742"/>
            <a:ext cx="9117714" cy="5128683"/>
          </a:xfrm>
          <a:prstGeom prst="rect">
            <a:avLst/>
          </a:prstGeom>
        </p:spPr>
      </p:pic>
      <p:pic>
        <p:nvPicPr>
          <p:cNvPr id="4" name="Рисунок 3">
            <a:extLst>
              <a:ext uri="{FF2B5EF4-FFF2-40B4-BE49-F238E27FC236}">
                <a16:creationId xmlns:a16="http://schemas.microsoft.com/office/drawing/2014/main" id="{F193B901-1C95-4D2B-AB7E-0FDFA6800730}"/>
              </a:ext>
            </a:extLst>
          </p:cNvPr>
          <p:cNvPicPr>
            <a:picLocks noChangeAspect="1"/>
          </p:cNvPicPr>
          <p:nvPr/>
        </p:nvPicPr>
        <p:blipFill>
          <a:blip r:embed="rId3"/>
          <a:stretch>
            <a:fillRect/>
          </a:stretch>
        </p:blipFill>
        <p:spPr>
          <a:xfrm>
            <a:off x="9525000" y="3901350"/>
            <a:ext cx="2667000" cy="2667000"/>
          </a:xfrm>
          <a:prstGeom prst="rect">
            <a:avLst/>
          </a:prstGeom>
        </p:spPr>
      </p:pic>
    </p:spTree>
    <p:extLst>
      <p:ext uri="{BB962C8B-B14F-4D97-AF65-F5344CB8AC3E}">
        <p14:creationId xmlns:p14="http://schemas.microsoft.com/office/powerpoint/2010/main" val="3249560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9D0DA0-9671-475B-B740-2763BD9FD3CE}"/>
              </a:ext>
            </a:extLst>
          </p:cNvPr>
          <p:cNvSpPr>
            <a:spLocks noGrp="1"/>
          </p:cNvSpPr>
          <p:nvPr>
            <p:ph type="title"/>
          </p:nvPr>
        </p:nvSpPr>
        <p:spPr>
          <a:xfrm>
            <a:off x="1130270" y="953324"/>
            <a:ext cx="9603275" cy="680167"/>
          </a:xfrm>
        </p:spPr>
        <p:txBody>
          <a:bodyPr/>
          <a:lstStyle/>
          <a:p>
            <a:pPr algn="ctr"/>
            <a:r>
              <a:rPr lang="ru-RU" dirty="0"/>
              <a:t>Функции центрального банка</a:t>
            </a:r>
          </a:p>
        </p:txBody>
      </p:sp>
      <p:sp>
        <p:nvSpPr>
          <p:cNvPr id="3" name="Объект 2">
            <a:extLst>
              <a:ext uri="{FF2B5EF4-FFF2-40B4-BE49-F238E27FC236}">
                <a16:creationId xmlns:a16="http://schemas.microsoft.com/office/drawing/2014/main" id="{C9E2AF0A-22AA-4F24-8712-1D92A466232A}"/>
              </a:ext>
            </a:extLst>
          </p:cNvPr>
          <p:cNvSpPr>
            <a:spLocks noGrp="1"/>
          </p:cNvSpPr>
          <p:nvPr>
            <p:ph idx="1"/>
          </p:nvPr>
        </p:nvSpPr>
        <p:spPr>
          <a:xfrm>
            <a:off x="1130270" y="1633491"/>
            <a:ext cx="9603275" cy="3832854"/>
          </a:xfrm>
        </p:spPr>
        <p:txBody>
          <a:bodyPr>
            <a:normAutofit fontScale="85000" lnSpcReduction="20000"/>
          </a:bodyPr>
          <a:lstStyle/>
          <a:p>
            <a:r>
              <a:rPr lang="ru-RU" dirty="0"/>
              <a:t>Эмиссионный центр страны-обладает монопольным правом выпуска наличных денег, что обеспечивает ему постоянную ликвидность;</a:t>
            </a:r>
          </a:p>
          <a:p>
            <a:r>
              <a:rPr lang="ru-RU" dirty="0"/>
              <a:t>Банкир правительства-обслуживает финансовые операции правительства, осуществляет посредничество в платежах казначейства и кредитование правительства;</a:t>
            </a:r>
          </a:p>
          <a:p>
            <a:r>
              <a:rPr lang="ru-RU" dirty="0"/>
              <a:t>Банк банков-коммерческие банки являются клиентами центрального банка, он хранит обязательные резервы коммерческих банков, что позволяет ему контролировать их деятельность;</a:t>
            </a:r>
          </a:p>
          <a:p>
            <a:r>
              <a:rPr lang="ru-RU" dirty="0"/>
              <a:t>Межбанковский расчетный центр;</a:t>
            </a:r>
          </a:p>
          <a:p>
            <a:r>
              <a:rPr lang="ru-RU" dirty="0"/>
              <a:t>Хранитель золотовалютных резервов страны;</a:t>
            </a:r>
          </a:p>
          <a:p>
            <a:r>
              <a:rPr lang="ru-RU" dirty="0"/>
              <a:t>Определяет и осуществляет кредитно-денежную (монетарную) политику страны.</a:t>
            </a:r>
          </a:p>
        </p:txBody>
      </p:sp>
    </p:spTree>
    <p:extLst>
      <p:ext uri="{BB962C8B-B14F-4D97-AF65-F5344CB8AC3E}">
        <p14:creationId xmlns:p14="http://schemas.microsoft.com/office/powerpoint/2010/main" val="2631498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2C17D0-0115-4E43-AF4A-3BA36E809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2982B51-6FEC-4000-8197-30B2EE78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5094" y="783768"/>
            <a:ext cx="10581813" cy="5290464"/>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5DFB8AC-1A2A-4330-B50D-AAE63C682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40" y="1019556"/>
            <a:ext cx="10104120" cy="481888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Рисунок 2">
            <a:extLst>
              <a:ext uri="{FF2B5EF4-FFF2-40B4-BE49-F238E27FC236}">
                <a16:creationId xmlns:a16="http://schemas.microsoft.com/office/drawing/2014/main" id="{7B8429DA-3903-46BC-91C2-B4B0EE2C28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3980" y="1417892"/>
            <a:ext cx="9464040" cy="4022216"/>
          </a:xfrm>
          <a:prstGeom prst="rect">
            <a:avLst/>
          </a:prstGeom>
        </p:spPr>
      </p:pic>
      <p:pic>
        <p:nvPicPr>
          <p:cNvPr id="4" name="Рисунок 3">
            <a:extLst>
              <a:ext uri="{FF2B5EF4-FFF2-40B4-BE49-F238E27FC236}">
                <a16:creationId xmlns:a16="http://schemas.microsoft.com/office/drawing/2014/main" id="{93CA6D1D-B146-44A8-AC01-0FFD3EDA70DB}"/>
              </a:ext>
            </a:extLst>
          </p:cNvPr>
          <p:cNvPicPr>
            <a:picLocks noChangeAspect="1"/>
          </p:cNvPicPr>
          <p:nvPr/>
        </p:nvPicPr>
        <p:blipFill>
          <a:blip r:embed="rId3"/>
          <a:stretch>
            <a:fillRect/>
          </a:stretch>
        </p:blipFill>
        <p:spPr>
          <a:xfrm>
            <a:off x="1043940" y="235788"/>
            <a:ext cx="2719223" cy="2719223"/>
          </a:xfrm>
          <a:prstGeom prst="rect">
            <a:avLst/>
          </a:prstGeom>
        </p:spPr>
      </p:pic>
    </p:spTree>
    <p:extLst>
      <p:ext uri="{BB962C8B-B14F-4D97-AF65-F5344CB8AC3E}">
        <p14:creationId xmlns:p14="http://schemas.microsoft.com/office/powerpoint/2010/main" val="2192187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35" name="Picture 12">
            <a:extLst>
              <a:ext uri="{FF2B5EF4-FFF2-40B4-BE49-F238E27FC236}">
                <a16:creationId xmlns:a16="http://schemas.microsoft.com/office/drawing/2014/main" id="{907B27AF-AFED-4FF4-8065-09E2ECD4315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36" name="Rectangle 14">
            <a:extLst>
              <a:ext uri="{FF2B5EF4-FFF2-40B4-BE49-F238E27FC236}">
                <a16:creationId xmlns:a16="http://schemas.microsoft.com/office/drawing/2014/main" id="{45B2D936-4E08-4928-90A3-EB1B6784A5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37" name="Straight Connector 16">
            <a:extLst>
              <a:ext uri="{FF2B5EF4-FFF2-40B4-BE49-F238E27FC236}">
                <a16:creationId xmlns:a16="http://schemas.microsoft.com/office/drawing/2014/main" id="{9E1CD25F-9744-41BE-A5C7-B2A5C98507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38" name="Picture 18">
            <a:extLst>
              <a:ext uri="{FF2B5EF4-FFF2-40B4-BE49-F238E27FC236}">
                <a16:creationId xmlns:a16="http://schemas.microsoft.com/office/drawing/2014/main" id="{AAFAFBB4-6847-45A2-97CE-8853D99697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
        <p:nvSpPr>
          <p:cNvPr id="2" name="Заголовок 1">
            <a:extLst>
              <a:ext uri="{FF2B5EF4-FFF2-40B4-BE49-F238E27FC236}">
                <a16:creationId xmlns:a16="http://schemas.microsoft.com/office/drawing/2014/main" id="{38486BA9-B538-485F-85E5-58788AA548B0}"/>
              </a:ext>
            </a:extLst>
          </p:cNvPr>
          <p:cNvSpPr>
            <a:spLocks noGrp="1"/>
          </p:cNvSpPr>
          <p:nvPr>
            <p:ph type="title"/>
          </p:nvPr>
        </p:nvSpPr>
        <p:spPr>
          <a:xfrm>
            <a:off x="1130270" y="953324"/>
            <a:ext cx="9603275" cy="1049235"/>
          </a:xfrm>
        </p:spPr>
        <p:txBody>
          <a:bodyPr vert="horz" lIns="91440" tIns="45720" rIns="91440" bIns="45720" rtlCol="0" anchor="t">
            <a:normAutofit/>
          </a:bodyPr>
          <a:lstStyle/>
          <a:p>
            <a:r>
              <a:rPr lang="en-US" sz="2000" dirty="0"/>
              <a:t>Баланс </a:t>
            </a:r>
            <a:r>
              <a:rPr lang="en-US" sz="2000" dirty="0" err="1"/>
              <a:t>центрального</a:t>
            </a:r>
            <a:r>
              <a:rPr lang="en-US" sz="2000" dirty="0"/>
              <a:t> банка, </a:t>
            </a:r>
            <a:r>
              <a:rPr lang="en-US" sz="2000" dirty="0" err="1"/>
              <a:t>как</a:t>
            </a:r>
            <a:r>
              <a:rPr lang="en-US" sz="2000" dirty="0"/>
              <a:t> </a:t>
            </a:r>
            <a:r>
              <a:rPr lang="en-US" sz="2000" dirty="0" err="1"/>
              <a:t>баланс</a:t>
            </a:r>
            <a:r>
              <a:rPr lang="en-US" sz="2000" dirty="0"/>
              <a:t> </a:t>
            </a:r>
            <a:r>
              <a:rPr lang="en-US" sz="2000" dirty="0" err="1"/>
              <a:t>любого</a:t>
            </a:r>
            <a:r>
              <a:rPr lang="en-US" sz="2000" dirty="0"/>
              <a:t> банка, </a:t>
            </a:r>
            <a:r>
              <a:rPr lang="en-US" sz="2000" dirty="0" err="1"/>
              <a:t>состоит</a:t>
            </a:r>
            <a:r>
              <a:rPr lang="en-US" sz="2000" dirty="0"/>
              <a:t> </a:t>
            </a:r>
            <a:r>
              <a:rPr lang="en-US" sz="2000" dirty="0" err="1"/>
              <a:t>из</a:t>
            </a:r>
            <a:r>
              <a:rPr lang="en-US" sz="2000" dirty="0"/>
              <a:t> </a:t>
            </a:r>
            <a:r>
              <a:rPr lang="en-US" sz="2000" dirty="0" err="1"/>
              <a:t>двух</a:t>
            </a:r>
            <a:r>
              <a:rPr lang="en-US" sz="2000" dirty="0"/>
              <a:t> </a:t>
            </a:r>
            <a:r>
              <a:rPr lang="en-US" sz="2000" dirty="0" err="1"/>
              <a:t>частей</a:t>
            </a:r>
            <a:r>
              <a:rPr lang="en-US" sz="2000" dirty="0"/>
              <a:t>. В </a:t>
            </a:r>
            <a:r>
              <a:rPr lang="en-US" sz="2000" dirty="0" err="1"/>
              <a:t>первой</a:t>
            </a:r>
            <a:r>
              <a:rPr lang="en-US" sz="2000" dirty="0"/>
              <a:t> части </a:t>
            </a:r>
            <a:r>
              <a:rPr lang="en-US" sz="2000" dirty="0" err="1"/>
              <a:t>отражаются</a:t>
            </a:r>
            <a:r>
              <a:rPr lang="en-US" sz="2000" dirty="0"/>
              <a:t> </a:t>
            </a:r>
            <a:r>
              <a:rPr lang="en-US" sz="2000" dirty="0" err="1"/>
              <a:t>пассивы</a:t>
            </a:r>
            <a:r>
              <a:rPr lang="en-US" sz="2000" dirty="0"/>
              <a:t> (обязательства), а в левой-активы (направления использования средств) (табл. 8.1).</a:t>
            </a:r>
          </a:p>
        </p:txBody>
      </p:sp>
      <p:pic>
        <p:nvPicPr>
          <p:cNvPr id="8" name="Объект 7">
            <a:extLst>
              <a:ext uri="{FF2B5EF4-FFF2-40B4-BE49-F238E27FC236}">
                <a16:creationId xmlns:a16="http://schemas.microsoft.com/office/drawing/2014/main" id="{9480716C-900E-402F-A5CD-FA17BEC3C2BE}"/>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130270" y="2187256"/>
            <a:ext cx="9598825" cy="3263601"/>
          </a:xfrm>
          <a:prstGeom prst="rect">
            <a:avLst/>
          </a:prstGeom>
        </p:spPr>
      </p:pic>
    </p:spTree>
    <p:extLst>
      <p:ext uri="{BB962C8B-B14F-4D97-AF65-F5344CB8AC3E}">
        <p14:creationId xmlns:p14="http://schemas.microsoft.com/office/powerpoint/2010/main" val="731785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E4DFBB-EA5C-4C0C-8C8F-59185DE16C08}"/>
              </a:ext>
            </a:extLst>
          </p:cNvPr>
          <p:cNvSpPr>
            <a:spLocks noGrp="1"/>
          </p:cNvSpPr>
          <p:nvPr>
            <p:ph type="title"/>
          </p:nvPr>
        </p:nvSpPr>
        <p:spPr>
          <a:xfrm>
            <a:off x="1129167" y="1756130"/>
            <a:ext cx="9612814" cy="1546364"/>
          </a:xfrm>
        </p:spPr>
        <p:txBody>
          <a:bodyPr/>
          <a:lstStyle/>
          <a:p>
            <a:pPr algn="ctr"/>
            <a:r>
              <a:rPr lang="ru-RU" b="1" dirty="0"/>
              <a:t>Коммерческие банки и их операции. Банковские резервы.</a:t>
            </a:r>
          </a:p>
        </p:txBody>
      </p:sp>
      <p:sp>
        <p:nvSpPr>
          <p:cNvPr id="3" name="Текст 2">
            <a:extLst>
              <a:ext uri="{FF2B5EF4-FFF2-40B4-BE49-F238E27FC236}">
                <a16:creationId xmlns:a16="http://schemas.microsoft.com/office/drawing/2014/main" id="{3A6192CA-BC3F-4E15-A9F9-CC5F390076D5}"/>
              </a:ext>
            </a:extLst>
          </p:cNvPr>
          <p:cNvSpPr>
            <a:spLocks noGrp="1"/>
          </p:cNvSpPr>
          <p:nvPr>
            <p:ph type="body" idx="1"/>
          </p:nvPr>
        </p:nvSpPr>
        <p:spPr>
          <a:xfrm>
            <a:off x="1544715" y="3806195"/>
            <a:ext cx="9445839" cy="1012929"/>
          </a:xfrm>
        </p:spPr>
        <p:txBody>
          <a:bodyPr>
            <a:normAutofit/>
          </a:bodyPr>
          <a:lstStyle/>
          <a:p>
            <a:r>
              <a:rPr lang="ru-RU" dirty="0"/>
              <a:t>Второй уровень банковской системы составляют </a:t>
            </a:r>
            <a:r>
              <a:rPr lang="ru-RU" b="1" i="1" dirty="0"/>
              <a:t>коммерческие банки</a:t>
            </a:r>
            <a:r>
              <a:rPr lang="ru-RU" dirty="0"/>
              <a:t>. Различают: универсальные и специализированные коммерческие банки. </a:t>
            </a:r>
          </a:p>
        </p:txBody>
      </p:sp>
    </p:spTree>
    <p:extLst>
      <p:ext uri="{BB962C8B-B14F-4D97-AF65-F5344CB8AC3E}">
        <p14:creationId xmlns:p14="http://schemas.microsoft.com/office/powerpoint/2010/main" val="2764854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6E6531A-0776-43BA-A852-5FB5C7753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56085" y="533400"/>
            <a:ext cx="9079832" cy="5077326"/>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8C5273F-2B84-46BF-A94F-1A20E13B3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84605" y="763203"/>
            <a:ext cx="8622792" cy="4617720"/>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Рисунок 4">
            <a:extLst>
              <a:ext uri="{FF2B5EF4-FFF2-40B4-BE49-F238E27FC236}">
                <a16:creationId xmlns:a16="http://schemas.microsoft.com/office/drawing/2014/main" id="{03096C38-B644-42B6-8C46-A47F0832BA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3996" y="1247835"/>
            <a:ext cx="7484010" cy="3648456"/>
          </a:xfrm>
          <a:prstGeom prst="rect">
            <a:avLst/>
          </a:prstGeom>
        </p:spPr>
      </p:pic>
      <p:pic>
        <p:nvPicPr>
          <p:cNvPr id="6" name="Рисунок 5">
            <a:extLst>
              <a:ext uri="{FF2B5EF4-FFF2-40B4-BE49-F238E27FC236}">
                <a16:creationId xmlns:a16="http://schemas.microsoft.com/office/drawing/2014/main" id="{E793883A-9367-4956-B223-4D86A3CC698D}"/>
              </a:ext>
            </a:extLst>
          </p:cNvPr>
          <p:cNvPicPr>
            <a:picLocks noChangeAspect="1"/>
          </p:cNvPicPr>
          <p:nvPr/>
        </p:nvPicPr>
        <p:blipFill>
          <a:blip r:embed="rId3"/>
          <a:stretch>
            <a:fillRect/>
          </a:stretch>
        </p:blipFill>
        <p:spPr>
          <a:xfrm>
            <a:off x="2397368" y="747667"/>
            <a:ext cx="2579430" cy="2681333"/>
          </a:xfrm>
          <a:prstGeom prst="rect">
            <a:avLst/>
          </a:prstGeom>
        </p:spPr>
      </p:pic>
    </p:spTree>
    <p:extLst>
      <p:ext uri="{BB962C8B-B14F-4D97-AF65-F5344CB8AC3E}">
        <p14:creationId xmlns:p14="http://schemas.microsoft.com/office/powerpoint/2010/main" val="2936415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065C4E-351B-4D02-80E7-D700645E4113}"/>
              </a:ext>
            </a:extLst>
          </p:cNvPr>
          <p:cNvSpPr>
            <a:spLocks noGrp="1"/>
          </p:cNvSpPr>
          <p:nvPr>
            <p:ph type="title"/>
          </p:nvPr>
        </p:nvSpPr>
        <p:spPr>
          <a:xfrm>
            <a:off x="1131052" y="958037"/>
            <a:ext cx="9931782" cy="1124763"/>
          </a:xfrm>
        </p:spPr>
        <p:txBody>
          <a:bodyPr>
            <a:normAutofit/>
          </a:bodyPr>
          <a:lstStyle/>
          <a:p>
            <a:pPr algn="ctr"/>
            <a:r>
              <a:rPr lang="ru-RU" sz="3600" b="1" dirty="0"/>
              <a:t>Специализация банков</a:t>
            </a:r>
          </a:p>
        </p:txBody>
      </p:sp>
      <p:sp>
        <p:nvSpPr>
          <p:cNvPr id="3" name="Объект 2">
            <a:extLst>
              <a:ext uri="{FF2B5EF4-FFF2-40B4-BE49-F238E27FC236}">
                <a16:creationId xmlns:a16="http://schemas.microsoft.com/office/drawing/2014/main" id="{82427F1F-0CC5-4D3E-9A3D-60CAA7ADDECB}"/>
              </a:ext>
            </a:extLst>
          </p:cNvPr>
          <p:cNvSpPr>
            <a:spLocks noGrp="1"/>
          </p:cNvSpPr>
          <p:nvPr>
            <p:ph sz="half" idx="1"/>
          </p:nvPr>
        </p:nvSpPr>
        <p:spPr>
          <a:xfrm>
            <a:off x="1473692" y="1597981"/>
            <a:ext cx="4971495" cy="3861492"/>
          </a:xfrm>
        </p:spPr>
        <p:txBody>
          <a:bodyPr>
            <a:normAutofit fontScale="85000" lnSpcReduction="20000"/>
          </a:bodyPr>
          <a:lstStyle/>
          <a:p>
            <a:r>
              <a:rPr lang="ru-RU" b="1" i="1" dirty="0"/>
              <a:t>По целям</a:t>
            </a:r>
            <a:r>
              <a:rPr lang="ru-RU" dirty="0"/>
              <a:t>: инвестиционные (кредитующие инвестиционные проекты), инновационные (выдающие кредиты под проекты, способствующие научно-техническому прогрессу), ипотечные (предоставляющие кредиты под залог недвижимости);</a:t>
            </a:r>
          </a:p>
          <a:p>
            <a:r>
              <a:rPr lang="ru-RU" b="1" i="1" dirty="0"/>
              <a:t>По отраслям</a:t>
            </a:r>
            <a:r>
              <a:rPr lang="ru-RU" dirty="0"/>
              <a:t>: строительный, сельскохозяйственный, внешнеэкономический;</a:t>
            </a:r>
          </a:p>
          <a:p>
            <a:r>
              <a:rPr lang="ru-RU" b="1" i="1" dirty="0"/>
              <a:t>По клиентам</a:t>
            </a:r>
            <a:r>
              <a:rPr lang="ru-RU" dirty="0"/>
              <a:t>: обслуживающие только фирмы, обслуживающие только население и др.</a:t>
            </a:r>
          </a:p>
        </p:txBody>
      </p:sp>
      <p:pic>
        <p:nvPicPr>
          <p:cNvPr id="10" name="Объект 9">
            <a:extLst>
              <a:ext uri="{FF2B5EF4-FFF2-40B4-BE49-F238E27FC236}">
                <a16:creationId xmlns:a16="http://schemas.microsoft.com/office/drawing/2014/main" id="{F08E50DC-0136-4EE8-8FB1-6E91E0821CE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03459" y="1723723"/>
            <a:ext cx="3410554" cy="3410554"/>
          </a:xfrm>
        </p:spPr>
      </p:pic>
    </p:spTree>
    <p:extLst>
      <p:ext uri="{BB962C8B-B14F-4D97-AF65-F5344CB8AC3E}">
        <p14:creationId xmlns:p14="http://schemas.microsoft.com/office/powerpoint/2010/main" val="3334224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9852C32C-2D5C-42AC-A91C-D92AE1E7768C}"/>
              </a:ext>
            </a:extLst>
          </p:cNvPr>
          <p:cNvSpPr>
            <a:spLocks noGrp="1"/>
          </p:cNvSpPr>
          <p:nvPr>
            <p:ph idx="1"/>
          </p:nvPr>
        </p:nvSpPr>
        <p:spPr>
          <a:xfrm>
            <a:off x="1130270" y="1535837"/>
            <a:ext cx="9603275" cy="3930508"/>
          </a:xfrm>
        </p:spPr>
        <p:txBody>
          <a:bodyPr/>
          <a:lstStyle/>
          <a:p>
            <a:r>
              <a:rPr lang="ru-RU" b="1" i="1" dirty="0"/>
              <a:t>Коммерческие банки</a:t>
            </a:r>
            <a:r>
              <a:rPr lang="ru-RU" dirty="0"/>
              <a:t>-это частные организации (фирмы), которые имеют законное право привлекать свободные денежные средства и выдавать кредиты с целью получения прибыли. Они выполняют два основных вида операций: пассивные-по привлечению депозитов и активные-по выдаче кредитов. Кроме того, коммерческие банки проводят операции: расчетно-кассовые; доверительные (трастовые); межбанковские (кредитные-по выдаче кредитов друг другу и трансфертные-по переводу денег со счета на счет); с ценными бумагами; с иностранной валютой и др. </a:t>
            </a:r>
          </a:p>
        </p:txBody>
      </p:sp>
    </p:spTree>
    <p:extLst>
      <p:ext uri="{BB962C8B-B14F-4D97-AF65-F5344CB8AC3E}">
        <p14:creationId xmlns:p14="http://schemas.microsoft.com/office/powerpoint/2010/main" val="3511035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2C17D0-0115-4E43-AF4A-3BA36E809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2982B51-6FEC-4000-8197-30B2EE78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5094" y="783768"/>
            <a:ext cx="10581813" cy="5290464"/>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5DFB8AC-1A2A-4330-B50D-AAE63C682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40" y="1019556"/>
            <a:ext cx="10104120" cy="481888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Рисунок 2" descr="Изображение выглядит как стол&#10;&#10;Автоматически созданное описание">
            <a:extLst>
              <a:ext uri="{FF2B5EF4-FFF2-40B4-BE49-F238E27FC236}">
                <a16:creationId xmlns:a16="http://schemas.microsoft.com/office/drawing/2014/main" id="{1AAB5EB0-457C-4BE0-A320-4DAB6CB495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3980" y="2151355"/>
            <a:ext cx="9464040" cy="2555289"/>
          </a:xfrm>
          <a:prstGeom prst="rect">
            <a:avLst/>
          </a:prstGeom>
        </p:spPr>
      </p:pic>
      <p:pic>
        <p:nvPicPr>
          <p:cNvPr id="7" name="Рисунок 6" descr="Изображение выглядит как текст, векторная графика&#10;&#10;Автоматически созданное описание">
            <a:extLst>
              <a:ext uri="{FF2B5EF4-FFF2-40B4-BE49-F238E27FC236}">
                <a16:creationId xmlns:a16="http://schemas.microsoft.com/office/drawing/2014/main" id="{6D8DFD93-2E41-41A2-8511-8E3144D37D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9188" y="1019555"/>
            <a:ext cx="2937998" cy="1652624"/>
          </a:xfrm>
          <a:prstGeom prst="rect">
            <a:avLst/>
          </a:prstGeom>
        </p:spPr>
      </p:pic>
    </p:spTree>
    <p:extLst>
      <p:ext uri="{BB962C8B-B14F-4D97-AF65-F5344CB8AC3E}">
        <p14:creationId xmlns:p14="http://schemas.microsoft.com/office/powerpoint/2010/main" val="2089274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7DE5115-89C8-4B9C-B0E8-78A15C20C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56085" y="533400"/>
            <a:ext cx="9079832" cy="5077326"/>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A6402E2-72CC-4683-9B83-11265402E5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84605" y="763203"/>
            <a:ext cx="8622792" cy="4617720"/>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Рисунок 2">
            <a:extLst>
              <a:ext uri="{FF2B5EF4-FFF2-40B4-BE49-F238E27FC236}">
                <a16:creationId xmlns:a16="http://schemas.microsoft.com/office/drawing/2014/main" id="{E5028915-24EC-4836-AC04-80E875400E23}"/>
              </a:ext>
            </a:extLst>
          </p:cNvPr>
          <p:cNvPicPr>
            <a:picLocks noChangeAspect="1"/>
          </p:cNvPicPr>
          <p:nvPr/>
        </p:nvPicPr>
        <p:blipFill rotWithShape="1">
          <a:blip r:embed="rId2">
            <a:extLst>
              <a:ext uri="{28A0092B-C50C-407E-A947-70E740481C1C}">
                <a14:useLocalDpi xmlns:a14="http://schemas.microsoft.com/office/drawing/2010/main" val="0"/>
              </a:ext>
            </a:extLst>
          </a:blip>
          <a:srcRect t="14822" r="1" b="7350"/>
          <a:stretch/>
        </p:blipFill>
        <p:spPr>
          <a:xfrm>
            <a:off x="2269236" y="1604491"/>
            <a:ext cx="7653528" cy="3649017"/>
          </a:xfrm>
          <a:prstGeom prst="rect">
            <a:avLst/>
          </a:prstGeom>
        </p:spPr>
      </p:pic>
      <p:sp>
        <p:nvSpPr>
          <p:cNvPr id="4" name="TextBox 3">
            <a:extLst>
              <a:ext uri="{FF2B5EF4-FFF2-40B4-BE49-F238E27FC236}">
                <a16:creationId xmlns:a16="http://schemas.microsoft.com/office/drawing/2014/main" id="{C6CFCAD0-B649-4DF8-923C-A524BF2F5867}"/>
              </a:ext>
            </a:extLst>
          </p:cNvPr>
          <p:cNvSpPr txBox="1"/>
          <p:nvPr/>
        </p:nvSpPr>
        <p:spPr>
          <a:xfrm>
            <a:off x="2686050" y="990600"/>
            <a:ext cx="6819900" cy="369332"/>
          </a:xfrm>
          <a:prstGeom prst="rect">
            <a:avLst/>
          </a:prstGeom>
          <a:noFill/>
        </p:spPr>
        <p:txBody>
          <a:bodyPr wrap="square" rtlCol="0">
            <a:spAutoFit/>
          </a:bodyPr>
          <a:lstStyle/>
          <a:p>
            <a:pPr algn="ctr"/>
            <a:r>
              <a:rPr lang="ru-RU" b="1" i="1" dirty="0"/>
              <a:t>Операции коммерческих банков</a:t>
            </a:r>
          </a:p>
        </p:txBody>
      </p:sp>
    </p:spTree>
    <p:extLst>
      <p:ext uri="{BB962C8B-B14F-4D97-AF65-F5344CB8AC3E}">
        <p14:creationId xmlns:p14="http://schemas.microsoft.com/office/powerpoint/2010/main" val="1819257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0DDF07A-378D-46DF-B11A-68D1A5365463}"/>
              </a:ext>
            </a:extLst>
          </p:cNvPr>
          <p:cNvSpPr>
            <a:spLocks noGrp="1"/>
          </p:cNvSpPr>
          <p:nvPr>
            <p:ph sz="half" idx="1"/>
          </p:nvPr>
        </p:nvSpPr>
        <p:spPr>
          <a:xfrm>
            <a:off x="1129166" y="1047565"/>
            <a:ext cx="4645152" cy="4411908"/>
          </a:xfrm>
        </p:spPr>
        <p:txBody>
          <a:bodyPr>
            <a:noAutofit/>
          </a:bodyPr>
          <a:lstStyle/>
          <a:p>
            <a:r>
              <a:rPr lang="ru-RU" sz="1400" b="1" i="1" dirty="0"/>
              <a:t>Основную часть дохода коммерческого банка</a:t>
            </a:r>
            <a:r>
              <a:rPr lang="ru-RU" sz="1400" dirty="0"/>
              <a:t> составляет разница между процентами по кредитам и процентам по депозитам. </a:t>
            </a:r>
            <a:r>
              <a:rPr lang="ru-RU" sz="1400" b="1" i="1" dirty="0"/>
              <a:t>Дополнительными источниками доходов</a:t>
            </a:r>
            <a:r>
              <a:rPr lang="ru-RU" sz="1400" dirty="0"/>
              <a:t> банка могут быть комиссионные по предоставлению различного вида услуг (трастовых, трансфертных и др.). Часть дохода идет на оплату издержек банка, которые включают заработную плату работников банка, затраты на оборудование, на использование компьютеров, кассовых аппаратов, на аренду помещения и т.п. Оставшаяся после этих выплат сумма является прибылью банка, с нее начисляются дивиденды держателям акций банка и определенная часть может идти на расширение его деятельности.</a:t>
            </a:r>
          </a:p>
        </p:txBody>
      </p:sp>
      <p:pic>
        <p:nvPicPr>
          <p:cNvPr id="21" name="Объект 20">
            <a:extLst>
              <a:ext uri="{FF2B5EF4-FFF2-40B4-BE49-F238E27FC236}">
                <a16:creationId xmlns:a16="http://schemas.microsoft.com/office/drawing/2014/main" id="{E2F4678B-5BEE-44FB-A4CF-9BF9C50DCF2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96000" y="1379658"/>
            <a:ext cx="4811610" cy="3849289"/>
          </a:xfrm>
        </p:spPr>
      </p:pic>
    </p:spTree>
    <p:extLst>
      <p:ext uri="{BB962C8B-B14F-4D97-AF65-F5344CB8AC3E}">
        <p14:creationId xmlns:p14="http://schemas.microsoft.com/office/powerpoint/2010/main" val="573794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48B979AF-A326-44F9-AEB4-049ED62F74DB}"/>
              </a:ext>
            </a:extLst>
          </p:cNvPr>
          <p:cNvSpPr>
            <a:spLocks noGrp="1"/>
          </p:cNvSpPr>
          <p:nvPr>
            <p:ph sz="half" idx="1"/>
          </p:nvPr>
        </p:nvSpPr>
        <p:spPr>
          <a:xfrm>
            <a:off x="1129166" y="843379"/>
            <a:ext cx="4645152" cy="3364638"/>
          </a:xfrm>
        </p:spPr>
        <p:txBody>
          <a:bodyPr>
            <a:normAutofit fontScale="92500" lnSpcReduction="10000"/>
          </a:bodyPr>
          <a:lstStyle/>
          <a:p>
            <a:r>
              <a:rPr lang="ru-RU" sz="1700" dirty="0"/>
              <a:t>Исторически банки в основном возникли из ювелирных лавок. Ювелиры имели надежные охраняемые подвалы для хранения драгоценностей, поэтому со временем люди начали отдавать им свои ценности на хранение, получая взамен долговые расписки ювелиров, удостоверяющие возможность по первому требованию получить эти ценности обратно.  Так появились банковские кредитные деньги. </a:t>
            </a:r>
          </a:p>
          <a:p>
            <a:endParaRPr lang="ru-RU" dirty="0"/>
          </a:p>
        </p:txBody>
      </p:sp>
      <p:sp>
        <p:nvSpPr>
          <p:cNvPr id="4" name="Объект 3">
            <a:extLst>
              <a:ext uri="{FF2B5EF4-FFF2-40B4-BE49-F238E27FC236}">
                <a16:creationId xmlns:a16="http://schemas.microsoft.com/office/drawing/2014/main" id="{BD52BB18-354B-4FDA-8403-F7D6C49F5AB7}"/>
              </a:ext>
            </a:extLst>
          </p:cNvPr>
          <p:cNvSpPr>
            <a:spLocks noGrp="1"/>
          </p:cNvSpPr>
          <p:nvPr>
            <p:ph sz="half" idx="2"/>
          </p:nvPr>
        </p:nvSpPr>
        <p:spPr>
          <a:xfrm>
            <a:off x="6095606" y="843380"/>
            <a:ext cx="4645152" cy="3516696"/>
          </a:xfrm>
        </p:spPr>
        <p:txBody>
          <a:bodyPr>
            <a:normAutofit fontScale="92500" lnSpcReduction="10000"/>
          </a:bodyPr>
          <a:lstStyle/>
          <a:p>
            <a:r>
              <a:rPr lang="ru-RU" sz="1600" dirty="0"/>
              <a:t>Поначалу ювелирных дел мастера лишь хранили предоставленные ценности и не выдавали кредитов. Это означает, что все полученные средства хранились в виде резервов. Такая ситуация соответствует системе полного, или 100%-го, резервирования (табл. 8.2). В этом случае, если в банк на депозит поступила сумма 1000 дол. (</a:t>
            </a:r>
            <a:r>
              <a:rPr lang="en-US" sz="1600" dirty="0"/>
              <a:t>D=</a:t>
            </a:r>
            <a:r>
              <a:rPr lang="ru-RU" sz="1600" dirty="0"/>
              <a:t>1000), обязательства банка (пассивы) составят 1000, и его резервы (активы) также будут равны 1000 дол. (</a:t>
            </a:r>
            <a:r>
              <a:rPr lang="en-US" sz="1600" dirty="0"/>
              <a:t>R=1000)</a:t>
            </a:r>
            <a:r>
              <a:rPr lang="ru-RU" sz="1600" dirty="0"/>
              <a:t>, поскольку они не будут выданы в кредит (К=0)</a:t>
            </a:r>
          </a:p>
        </p:txBody>
      </p:sp>
      <p:pic>
        <p:nvPicPr>
          <p:cNvPr id="6" name="Рисунок 5" descr="Изображение выглядит как стол&#10;&#10;Автоматически созданное описание">
            <a:extLst>
              <a:ext uri="{FF2B5EF4-FFF2-40B4-BE49-F238E27FC236}">
                <a16:creationId xmlns:a16="http://schemas.microsoft.com/office/drawing/2014/main" id="{032F5FD4-6979-4B13-BFDB-DB191AC9C7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4372" y="4360076"/>
            <a:ext cx="6692725" cy="1721128"/>
          </a:xfrm>
          <a:prstGeom prst="rect">
            <a:avLst/>
          </a:prstGeom>
        </p:spPr>
      </p:pic>
    </p:spTree>
    <p:extLst>
      <p:ext uri="{BB962C8B-B14F-4D97-AF65-F5344CB8AC3E}">
        <p14:creationId xmlns:p14="http://schemas.microsoft.com/office/powerpoint/2010/main" val="1707714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F7680B5-1A78-4401-BA9A-78832F0FD9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5" name="Rectangle 14">
            <a:extLst>
              <a:ext uri="{FF2B5EF4-FFF2-40B4-BE49-F238E27FC236}">
                <a16:creationId xmlns:a16="http://schemas.microsoft.com/office/drawing/2014/main" id="{50F21DC9-D0AC-495C-8CC8-D5DDF8C11C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7" name="Straight Connector 16">
            <a:extLst>
              <a:ext uri="{FF2B5EF4-FFF2-40B4-BE49-F238E27FC236}">
                <a16:creationId xmlns:a16="http://schemas.microsoft.com/office/drawing/2014/main" id="{A26B82D7-D05B-412B-9A0D-6430BCD118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E4E78000-301F-4983-ACD5-7F50C0C3F59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 useBgFill="1">
        <p:nvSpPr>
          <p:cNvPr id="21" name="Rectangle 20">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Объект 7">
            <a:extLst>
              <a:ext uri="{FF2B5EF4-FFF2-40B4-BE49-F238E27FC236}">
                <a16:creationId xmlns:a16="http://schemas.microsoft.com/office/drawing/2014/main" id="{F6785DED-755D-4833-96BC-EFA2695CA7E9}"/>
              </a:ext>
            </a:extLst>
          </p:cNvPr>
          <p:cNvPicPr>
            <a:picLocks noGrp="1" noChangeAspect="1"/>
          </p:cNvPicPr>
          <p:nvPr>
            <p:ph sz="half" idx="2"/>
          </p:nvPr>
        </p:nvPicPr>
        <p:blipFill rotWithShape="1">
          <a:blip r:embed="rId4">
            <a:alphaModFix amt="50000"/>
          </a:blip>
          <a:srcRect t="22297" r="-1" b="7388"/>
          <a:stretch/>
        </p:blipFill>
        <p:spPr>
          <a:xfrm>
            <a:off x="0" y="-4286"/>
            <a:ext cx="12191695" cy="6857990"/>
          </a:xfrm>
          <a:prstGeom prst="rect">
            <a:avLst/>
          </a:prstGeom>
        </p:spPr>
      </p:pic>
      <p:sp>
        <p:nvSpPr>
          <p:cNvPr id="23"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5"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27" name="Rectangle 26">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cxnSp>
        <p:nvCxnSpPr>
          <p:cNvPr id="29" name="Straight Connector 28">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Объект 2">
            <a:extLst>
              <a:ext uri="{FF2B5EF4-FFF2-40B4-BE49-F238E27FC236}">
                <a16:creationId xmlns:a16="http://schemas.microsoft.com/office/drawing/2014/main" id="{052BAB7B-83B8-4176-AA95-42A1EE6A8B4A}"/>
              </a:ext>
            </a:extLst>
          </p:cNvPr>
          <p:cNvSpPr>
            <a:spLocks noGrp="1"/>
          </p:cNvSpPr>
          <p:nvPr>
            <p:ph sz="half" idx="1"/>
          </p:nvPr>
        </p:nvSpPr>
        <p:spPr>
          <a:xfrm>
            <a:off x="4793944" y="1193800"/>
            <a:ext cx="6267784" cy="4470400"/>
          </a:xfrm>
        </p:spPr>
        <p:txBody>
          <a:bodyPr vert="horz" lIns="91440" tIns="45720" rIns="91440" bIns="45720" rtlCol="0" anchor="ctr">
            <a:normAutofit fontScale="92500" lnSpcReduction="20000"/>
          </a:bodyPr>
          <a:lstStyle/>
          <a:p>
            <a:pPr marL="0" indent="0">
              <a:buNone/>
            </a:pPr>
            <a:r>
              <a:rPr lang="ru-RU" dirty="0"/>
              <a:t>В этих условиях банк обеспечивает себе 100%-ю платежеспособность и ликвидность. Платежеспособность банка означает, что величина его активов должна быть равна его задолженности, что позволяет банку вернуть вклады любому количеству клиентов наличными деньгами. Однако при системе полного резервирования, поскольку банк не выдает кредиты (поэтому не получает процентов по кредитам) и хранит все резервы в виде денежных купюр, он не только лишает себя прибыли, но даже не имеет возможности оплатить свои издержки. Зависимость между платежеспособностью (и ликвидностью) и прибыльностью обратная (рис. 8.1).</a:t>
            </a:r>
            <a:endParaRPr lang="en-US" dirty="0"/>
          </a:p>
        </p:txBody>
      </p:sp>
      <p:sp>
        <p:nvSpPr>
          <p:cNvPr id="31"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pic>
        <p:nvPicPr>
          <p:cNvPr id="5" name="Рисунок 4">
            <a:extLst>
              <a:ext uri="{FF2B5EF4-FFF2-40B4-BE49-F238E27FC236}">
                <a16:creationId xmlns:a16="http://schemas.microsoft.com/office/drawing/2014/main" id="{5B42EB48-C571-45D6-9BE0-4E74B263D2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5599" y="2653057"/>
            <a:ext cx="4202245" cy="1705877"/>
          </a:xfrm>
          <a:prstGeom prst="rect">
            <a:avLst/>
          </a:prstGeom>
        </p:spPr>
      </p:pic>
    </p:spTree>
    <p:extLst>
      <p:ext uri="{BB962C8B-B14F-4D97-AF65-F5344CB8AC3E}">
        <p14:creationId xmlns:p14="http://schemas.microsoft.com/office/powerpoint/2010/main" val="1626311403"/>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7FEE97DD-2CB6-41D4-9F34-E64E3274D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9A305388-3EDD-428F-9929-76B2B25B5A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a:extLst>
              <a:ext uri="{FF2B5EF4-FFF2-40B4-BE49-F238E27FC236}">
                <a16:creationId xmlns:a16="http://schemas.microsoft.com/office/drawing/2014/main" id="{E3FFB7F1-B6BA-4C8E-8057-6D4A18A85CD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60419" b="36564"/>
          <a:stretch/>
        </p:blipFill>
        <p:spPr>
          <a:xfrm>
            <a:off x="6579647" y="643464"/>
            <a:ext cx="4526280" cy="155448"/>
          </a:xfrm>
          <a:prstGeom prst="rect">
            <a:avLst/>
          </a:prstGeom>
          <a:noFill/>
          <a:ln>
            <a:noFill/>
          </a:ln>
        </p:spPr>
      </p:pic>
      <p:sp>
        <p:nvSpPr>
          <p:cNvPr id="38" name="Content Placeholder 37">
            <a:extLst>
              <a:ext uri="{FF2B5EF4-FFF2-40B4-BE49-F238E27FC236}">
                <a16:creationId xmlns:a16="http://schemas.microsoft.com/office/drawing/2014/main" id="{33062E44-2BA6-471C-9B2D-0C3E44F495A1}"/>
              </a:ext>
            </a:extLst>
          </p:cNvPr>
          <p:cNvSpPr>
            <a:spLocks noGrp="1"/>
          </p:cNvSpPr>
          <p:nvPr>
            <p:ph idx="1"/>
          </p:nvPr>
        </p:nvSpPr>
        <p:spPr>
          <a:xfrm>
            <a:off x="506028" y="866775"/>
            <a:ext cx="6073620" cy="4599570"/>
          </a:xfrm>
        </p:spPr>
        <p:txBody>
          <a:bodyPr>
            <a:normAutofit fontScale="70000" lnSpcReduction="20000"/>
          </a:bodyPr>
          <a:lstStyle/>
          <a:p>
            <a:r>
              <a:rPr lang="ru-RU" dirty="0"/>
              <a:t>Не выдавая кредитов и поддерживая 100%-ю платежеспособность и ликвидность, банк полностью устраняет риск и обеспечивает себе полное доверие вкладчиков, но не получает прибыль.</a:t>
            </a:r>
          </a:p>
          <a:p>
            <a:r>
              <a:rPr lang="ru-RU" b="1" i="1" dirty="0"/>
              <a:t>Основным источником банковских фондов</a:t>
            </a:r>
            <a:r>
              <a:rPr lang="ru-RU" dirty="0"/>
              <a:t>, которые могут быть предоставлены в кредит, являются депозиты до востребования (средства на текущих счетах). Банкиры во всем мире давно поняли, что, несмотря на необходимость платежеспособности и ликвидности, ежедневные ликвидные фонды банка должны составлять примерно 10% от общей суммы размещенных в нем средств.</a:t>
            </a:r>
          </a:p>
          <a:p>
            <a:r>
              <a:rPr lang="ru-RU" dirty="0"/>
              <a:t>Банки начали выдавать кредиты и перешли к системе частичного резервирования.</a:t>
            </a:r>
          </a:p>
          <a:p>
            <a:r>
              <a:rPr lang="ru-RU" b="1" i="1" dirty="0"/>
              <a:t>Частичное резервирование </a:t>
            </a:r>
            <a:r>
              <a:rPr lang="ru-RU" dirty="0"/>
              <a:t>означает, что только определенная часть вклада хранится в виде резервов, а остальная сумма используется для предоставления кредитов (табл. 8.3).</a:t>
            </a:r>
            <a:endParaRPr lang="en-US" dirty="0"/>
          </a:p>
        </p:txBody>
      </p:sp>
      <p:pic>
        <p:nvPicPr>
          <p:cNvPr id="47" name="Picture 46">
            <a:extLst>
              <a:ext uri="{FF2B5EF4-FFF2-40B4-BE49-F238E27FC236}">
                <a16:creationId xmlns:a16="http://schemas.microsoft.com/office/drawing/2014/main" id="{C7060F49-53A3-4601-BA9A-617F15EAC8E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cxnSp>
        <p:nvCxnSpPr>
          <p:cNvPr id="49" name="Straight Connector 48">
            <a:extLst>
              <a:ext uri="{FF2B5EF4-FFF2-40B4-BE49-F238E27FC236}">
                <a16:creationId xmlns:a16="http://schemas.microsoft.com/office/drawing/2014/main" id="{380122F5-DBF9-45E5-B46A-499C6E912CD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15" name="Рисунок 14" descr="Изображение выглядит как стол&#10;&#10;Автоматически созданное описание">
            <a:extLst>
              <a:ext uri="{FF2B5EF4-FFF2-40B4-BE49-F238E27FC236}">
                <a16:creationId xmlns:a16="http://schemas.microsoft.com/office/drawing/2014/main" id="{92B533A6-03A9-4892-93FD-E84C855E0F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28061" y="2380886"/>
            <a:ext cx="4829452" cy="1571347"/>
          </a:xfrm>
          <a:prstGeom prst="rect">
            <a:avLst/>
          </a:prstGeom>
        </p:spPr>
      </p:pic>
    </p:spTree>
    <p:extLst>
      <p:ext uri="{BB962C8B-B14F-4D97-AF65-F5344CB8AC3E}">
        <p14:creationId xmlns:p14="http://schemas.microsoft.com/office/powerpoint/2010/main" val="1413223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E0A91FF-6393-488A-8478-F4D88B8B695F}"/>
                  </a:ext>
                </a:extLst>
              </p:cNvPr>
              <p:cNvSpPr>
                <a:spLocks noGrp="1"/>
              </p:cNvSpPr>
              <p:nvPr>
                <p:ph idx="1"/>
              </p:nvPr>
            </p:nvSpPr>
            <p:spPr>
              <a:xfrm>
                <a:off x="1633491" y="1349407"/>
                <a:ext cx="9100054" cy="3542190"/>
              </a:xfrm>
            </p:spPr>
            <p:txBody>
              <a:bodyPr/>
              <a:lstStyle/>
              <a:p>
                <a:pPr marL="0" indent="0">
                  <a:buNone/>
                </a:pPr>
                <a:r>
                  <a:rPr lang="ru-RU" dirty="0"/>
                  <a:t>В </a:t>
                </a:r>
                <a:r>
                  <a:rPr lang="en-US" dirty="0"/>
                  <a:t>XIX </a:t>
                </a:r>
                <a:r>
                  <a:rPr lang="ru-RU" dirty="0"/>
                  <a:t>в. норма резервирования-доля вкладов, которую нельзя было  выдавать в кредит (доля резервов </a:t>
                </a:r>
                <a:r>
                  <a:rPr lang="en-US" dirty="0"/>
                  <a:t>R </a:t>
                </a:r>
                <a:r>
                  <a:rPr lang="ru-RU" dirty="0"/>
                  <a:t>в общей величине депозитов </a:t>
                </a:r>
                <a:r>
                  <a:rPr lang="en-US" dirty="0"/>
                  <a:t>D</a:t>
                </a:r>
                <a:endParaRPr lang="ru-RU" dirty="0"/>
              </a:p>
              <a:p>
                <a:pPr marL="0" indent="0" algn="ctr">
                  <a:buNone/>
                </a:pPr>
                <a14:m>
                  <m:oMath xmlns:m="http://schemas.openxmlformats.org/officeDocument/2006/math">
                    <m:r>
                      <a:rPr lang="en-US" b="0" i="1" smtClean="0">
                        <a:latin typeface="Cambria Math" panose="02040503050406030204" pitchFamily="18" charset="0"/>
                      </a:rPr>
                      <m:t>𝑟𝑟</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𝑅</m:t>
                        </m:r>
                      </m:num>
                      <m:den>
                        <m:r>
                          <a:rPr lang="en-US" b="0" i="1" smtClean="0">
                            <a:latin typeface="Cambria Math" panose="02040503050406030204" pitchFamily="18" charset="0"/>
                          </a:rPr>
                          <m:t>𝐷</m:t>
                        </m:r>
                      </m:den>
                    </m:f>
                  </m:oMath>
                </a14:m>
                <a:r>
                  <a:rPr lang="en-US" dirty="0"/>
                  <a:t> </a:t>
                </a:r>
                <a:r>
                  <a:rPr lang="ru-RU" dirty="0"/>
                  <a:t>,</a:t>
                </a:r>
              </a:p>
              <a:p>
                <a:pPr marL="0" indent="0">
                  <a:buNone/>
                </a:pPr>
                <a:r>
                  <a:rPr lang="ru-RU" dirty="0"/>
                  <a:t>   определялась эмпирическим путем, методом проб и ошибок, устанавливалась самими коммерческими банками и была достаточно высокой-как правило, 20%,-из-за многочисленных банкротств банки были осторожными.</a:t>
                </a:r>
              </a:p>
            </p:txBody>
          </p:sp>
        </mc:Choice>
        <mc:Fallback xmlns="">
          <p:sp>
            <p:nvSpPr>
              <p:cNvPr id="3" name="Объект 2">
                <a:extLst>
                  <a:ext uri="{FF2B5EF4-FFF2-40B4-BE49-F238E27FC236}">
                    <a16:creationId xmlns:a16="http://schemas.microsoft.com/office/drawing/2014/main" id="{0E0A91FF-6393-488A-8478-F4D88B8B695F}"/>
                  </a:ext>
                </a:extLst>
              </p:cNvPr>
              <p:cNvSpPr>
                <a:spLocks noGrp="1" noRot="1" noChangeAspect="1" noMove="1" noResize="1" noEditPoints="1" noAdjustHandles="1" noChangeArrowheads="1" noChangeShapeType="1" noTextEdit="1"/>
              </p:cNvSpPr>
              <p:nvPr>
                <p:ph idx="1"/>
              </p:nvPr>
            </p:nvSpPr>
            <p:spPr>
              <a:xfrm>
                <a:off x="1633491" y="1349407"/>
                <a:ext cx="9100054" cy="3542190"/>
              </a:xfrm>
              <a:blipFill>
                <a:blip r:embed="rId2"/>
                <a:stretch>
                  <a:fillRect l="-737" t="-172"/>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B3C3F7BD-CCDA-40F4-B6AA-B951164A83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7408" y="4006882"/>
            <a:ext cx="2094503" cy="2521258"/>
          </a:xfrm>
          <a:prstGeom prst="rect">
            <a:avLst/>
          </a:prstGeom>
        </p:spPr>
      </p:pic>
    </p:spTree>
    <p:extLst>
      <p:ext uri="{BB962C8B-B14F-4D97-AF65-F5344CB8AC3E}">
        <p14:creationId xmlns:p14="http://schemas.microsoft.com/office/powerpoint/2010/main" val="3209973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42391337-B212-484E-A9AC-D9058E2AFBD1}"/>
              </a:ext>
            </a:extLst>
          </p:cNvPr>
          <p:cNvSpPr>
            <a:spLocks noGrp="1"/>
          </p:cNvSpPr>
          <p:nvPr>
            <p:ph idx="1"/>
          </p:nvPr>
        </p:nvSpPr>
        <p:spPr>
          <a:xfrm>
            <a:off x="1801797" y="1074198"/>
            <a:ext cx="9161478" cy="4392147"/>
          </a:xfrm>
        </p:spPr>
        <p:txBody>
          <a:bodyPr/>
          <a:lstStyle/>
          <a:p>
            <a:r>
              <a:rPr lang="ru-RU" dirty="0"/>
              <a:t>Если в банк на депозит поступает сумма 1000 дол. (</a:t>
            </a:r>
            <a:r>
              <a:rPr lang="en-US" dirty="0"/>
              <a:t>D=1000)</a:t>
            </a:r>
            <a:r>
              <a:rPr lang="ru-RU" dirty="0"/>
              <a:t>, то в соответствии с установленной банком нормой резервирования, например, равной 20%, 200 дол. он хранит в виде резервов (</a:t>
            </a:r>
            <a:r>
              <a:rPr lang="en-US" dirty="0"/>
              <a:t>R=D*</a:t>
            </a:r>
            <a:r>
              <a:rPr lang="en-US" dirty="0" err="1"/>
              <a:t>rr</a:t>
            </a:r>
            <a:r>
              <a:rPr lang="en-US" dirty="0"/>
              <a:t>=1000*0,2=200)</a:t>
            </a:r>
            <a:r>
              <a:rPr lang="ru-RU" dirty="0"/>
              <a:t>, а 800 дол. выдает в кредит (К=</a:t>
            </a:r>
            <a:r>
              <a:rPr lang="en-US" dirty="0"/>
              <a:t>D-R=1000-200=800 </a:t>
            </a:r>
            <a:r>
              <a:rPr lang="ru-RU" dirty="0"/>
              <a:t>или К=</a:t>
            </a:r>
            <a:r>
              <a:rPr lang="en-US" dirty="0"/>
              <a:t>D-</a:t>
            </a:r>
            <a:r>
              <a:rPr lang="en-US" dirty="0" err="1"/>
              <a:t>rr</a:t>
            </a:r>
            <a:r>
              <a:rPr lang="en-US" dirty="0"/>
              <a:t>*D=D(1-rr)=1000*(1-0,2)=800).</a:t>
            </a:r>
            <a:endParaRPr lang="ru-RU" dirty="0"/>
          </a:p>
          <a:p>
            <a:r>
              <a:rPr lang="ru-RU" dirty="0"/>
              <a:t>В начале ХХ в. в связи с нестабильностью банковской системы, частыми банковскими кризисами и банкротствами функцию установления нормы банковских резервов взял на себя ответственность ЦБ, что дает ему возможность контроля за работой коммерческих банков. Эта величина получила название «норма обязательных резервов».</a:t>
            </a:r>
          </a:p>
        </p:txBody>
      </p:sp>
      <p:pic>
        <p:nvPicPr>
          <p:cNvPr id="7" name="Рисунок 6">
            <a:extLst>
              <a:ext uri="{FF2B5EF4-FFF2-40B4-BE49-F238E27FC236}">
                <a16:creationId xmlns:a16="http://schemas.microsoft.com/office/drawing/2014/main" id="{3EEF782F-8272-497D-AFB0-9FF815A7DC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1156" y="4611738"/>
            <a:ext cx="1284237" cy="1284237"/>
          </a:xfrm>
          <a:prstGeom prst="rect">
            <a:avLst/>
          </a:prstGeom>
        </p:spPr>
      </p:pic>
      <p:pic>
        <p:nvPicPr>
          <p:cNvPr id="9" name="Рисунок 8">
            <a:extLst>
              <a:ext uri="{FF2B5EF4-FFF2-40B4-BE49-F238E27FC236}">
                <a16:creationId xmlns:a16="http://schemas.microsoft.com/office/drawing/2014/main" id="{96763605-F19E-4987-BA97-6CBD98B1FD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535" y="1074198"/>
            <a:ext cx="1284237" cy="1284237"/>
          </a:xfrm>
          <a:prstGeom prst="rect">
            <a:avLst/>
          </a:prstGeom>
        </p:spPr>
      </p:pic>
    </p:spTree>
    <p:extLst>
      <p:ext uri="{BB962C8B-B14F-4D97-AF65-F5344CB8AC3E}">
        <p14:creationId xmlns:p14="http://schemas.microsoft.com/office/powerpoint/2010/main" val="2535874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Рисунок 3">
            <a:extLst>
              <a:ext uri="{FF2B5EF4-FFF2-40B4-BE49-F238E27FC236}">
                <a16:creationId xmlns:a16="http://schemas.microsoft.com/office/drawing/2014/main" id="{4C708D08-4F64-4FB4-ADAC-C91C0420E491}"/>
              </a:ext>
            </a:extLst>
          </p:cNvPr>
          <p:cNvPicPr>
            <a:picLocks noChangeAspect="1"/>
          </p:cNvPicPr>
          <p:nvPr/>
        </p:nvPicPr>
        <p:blipFill rotWithShape="1">
          <a:blip r:embed="rId2">
            <a:alphaModFix amt="50000"/>
          </a:blip>
          <a:srcRect t="42626" r="-1" b="1123"/>
          <a:stretch/>
        </p:blipFill>
        <p:spPr>
          <a:xfrm>
            <a:off x="0" y="10"/>
            <a:ext cx="12191695" cy="6857990"/>
          </a:xfrm>
          <a:prstGeom prst="rect">
            <a:avLst/>
          </a:prstGeom>
        </p:spPr>
      </p:pic>
      <p:sp>
        <p:nvSpPr>
          <p:cNvPr id="11"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3"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5" name="Rectangle 14">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cxnSp>
        <p:nvCxnSpPr>
          <p:cNvPr id="17" name="Straight Connector 16">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Объект 2">
            <a:extLst>
              <a:ext uri="{FF2B5EF4-FFF2-40B4-BE49-F238E27FC236}">
                <a16:creationId xmlns:a16="http://schemas.microsoft.com/office/drawing/2014/main" id="{8353BF0A-B55C-42A3-8CBA-50FDE938E65A}"/>
              </a:ext>
            </a:extLst>
          </p:cNvPr>
          <p:cNvSpPr>
            <a:spLocks noGrp="1"/>
          </p:cNvSpPr>
          <p:nvPr>
            <p:ph idx="1"/>
          </p:nvPr>
        </p:nvSpPr>
        <p:spPr>
          <a:xfrm>
            <a:off x="4976636" y="1193800"/>
            <a:ext cx="6085091" cy="4699000"/>
          </a:xfrm>
        </p:spPr>
        <p:txBody>
          <a:bodyPr anchor="ctr">
            <a:normAutofit/>
          </a:bodyPr>
          <a:lstStyle/>
          <a:p>
            <a:r>
              <a:rPr lang="ru-RU" dirty="0"/>
              <a:t>Норма обязательных резервов представляет собой выраженную в процентах долю от общей суммы депозитов, которую коммерческие банки не имеют права выдавать в кредит и которую хранят в ЦБ в виде беспроцентных вкладов. Для того чтобы определить величину обязательных резервов банка, нужно величину депозитов </a:t>
            </a:r>
            <a:r>
              <a:rPr lang="en-US" dirty="0"/>
              <a:t>(D)</a:t>
            </a:r>
            <a:r>
              <a:rPr lang="ru-RU" dirty="0"/>
              <a:t> умножить на норму обязательных резервов (</a:t>
            </a:r>
            <a:r>
              <a:rPr lang="en-US" dirty="0" err="1"/>
              <a:t>rr</a:t>
            </a:r>
            <a:r>
              <a:rPr lang="ru-RU" dirty="0"/>
              <a:t> </a:t>
            </a:r>
            <a:r>
              <a:rPr lang="ru-RU" dirty="0" err="1"/>
              <a:t>обяз</a:t>
            </a:r>
            <a:r>
              <a:rPr lang="ru-RU" dirty="0"/>
              <a:t>).</a:t>
            </a:r>
          </a:p>
        </p:txBody>
      </p:sp>
      <p:sp>
        <p:nvSpPr>
          <p:cNvPr id="19"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CC9F504-E3EE-49B5-845D-4841342437F4}"/>
                  </a:ext>
                </a:extLst>
              </p:cNvPr>
              <p:cNvSpPr txBox="1"/>
              <p:nvPr/>
            </p:nvSpPr>
            <p:spPr>
              <a:xfrm>
                <a:off x="981714" y="3404800"/>
                <a:ext cx="3013209" cy="6463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𝑅</m:t>
                      </m:r>
                      <m:r>
                        <a:rPr lang="ru-RU" sz="2400" b="0" i="1" smtClean="0">
                          <a:latin typeface="Cambria Math" panose="02040503050406030204" pitchFamily="18" charset="0"/>
                        </a:rPr>
                        <m:t> обяз=</m:t>
                      </m:r>
                      <m:r>
                        <a:rPr lang="en-US" sz="2400" b="0" i="1" smtClean="0">
                          <a:latin typeface="Cambria Math" panose="02040503050406030204" pitchFamily="18" charset="0"/>
                        </a:rPr>
                        <m:t>𝐷</m:t>
                      </m:r>
                      <m:r>
                        <a:rPr lang="en-US" sz="2400" b="0" i="1" smtClean="0">
                          <a:latin typeface="Cambria Math" panose="02040503050406030204" pitchFamily="18" charset="0"/>
                        </a:rPr>
                        <m:t>∗</m:t>
                      </m:r>
                      <m:r>
                        <a:rPr lang="en-US" sz="2400" b="0" i="1" smtClean="0">
                          <a:latin typeface="Cambria Math" panose="02040503050406030204" pitchFamily="18" charset="0"/>
                        </a:rPr>
                        <m:t>𝑟𝑟</m:t>
                      </m:r>
                      <m:r>
                        <a:rPr lang="ru-RU" sz="2400" b="0" i="1" smtClean="0">
                          <a:latin typeface="Cambria Math" panose="02040503050406030204" pitchFamily="18" charset="0"/>
                        </a:rPr>
                        <m:t> обяз</m:t>
                      </m:r>
                    </m:oMath>
                  </m:oMathPara>
                </a14:m>
                <a:endParaRPr lang="ru-RU" sz="2400" b="0" dirty="0"/>
              </a:p>
              <a:p>
                <a:endParaRPr lang="ru-RU" dirty="0"/>
              </a:p>
            </p:txBody>
          </p:sp>
        </mc:Choice>
        <mc:Fallback xmlns="">
          <p:sp>
            <p:nvSpPr>
              <p:cNvPr id="5" name="TextBox 4">
                <a:extLst>
                  <a:ext uri="{FF2B5EF4-FFF2-40B4-BE49-F238E27FC236}">
                    <a16:creationId xmlns:a16="http://schemas.microsoft.com/office/drawing/2014/main" id="{1CC9F504-E3EE-49B5-845D-4841342437F4}"/>
                  </a:ext>
                </a:extLst>
              </p:cNvPr>
              <p:cNvSpPr txBox="1">
                <a:spLocks noRot="1" noChangeAspect="1" noMove="1" noResize="1" noEditPoints="1" noAdjustHandles="1" noChangeArrowheads="1" noChangeShapeType="1" noTextEdit="1"/>
              </p:cNvSpPr>
              <p:nvPr/>
            </p:nvSpPr>
            <p:spPr>
              <a:xfrm>
                <a:off x="981714" y="3404800"/>
                <a:ext cx="3013209" cy="646331"/>
              </a:xfrm>
              <a:prstGeom prst="rect">
                <a:avLst/>
              </a:prstGeom>
              <a:blipFill>
                <a:blip r:embed="rId3"/>
                <a:stretch>
                  <a:fillRect r="-202"/>
                </a:stretch>
              </a:blipFill>
            </p:spPr>
            <p:txBody>
              <a:bodyPr/>
              <a:lstStyle/>
              <a:p>
                <a:r>
                  <a:rPr lang="ru-RU">
                    <a:noFill/>
                  </a:rPr>
                  <a:t> </a:t>
                </a:r>
              </a:p>
            </p:txBody>
          </p:sp>
        </mc:Fallback>
      </mc:AlternateContent>
    </p:spTree>
    <p:extLst>
      <p:ext uri="{BB962C8B-B14F-4D97-AF65-F5344CB8AC3E}">
        <p14:creationId xmlns:p14="http://schemas.microsoft.com/office/powerpoint/2010/main" val="3887464379"/>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F4F9F5FB-EDCD-4F6B-A14D-8B7B9CBC49DA}"/>
              </a:ext>
            </a:extLst>
          </p:cNvPr>
          <p:cNvSpPr>
            <a:spLocks noGrp="1"/>
          </p:cNvSpPr>
          <p:nvPr>
            <p:ph sz="half" idx="1"/>
          </p:nvPr>
        </p:nvSpPr>
        <p:spPr>
          <a:xfrm>
            <a:off x="1129166" y="1091953"/>
            <a:ext cx="4645152" cy="4367520"/>
          </a:xfrm>
        </p:spPr>
        <p:txBody>
          <a:bodyPr>
            <a:normAutofit fontScale="92500" lnSpcReduction="10000"/>
          </a:bodyPr>
          <a:lstStyle/>
          <a:p>
            <a:r>
              <a:rPr lang="ru-RU" dirty="0"/>
              <a:t>При системе полного резервирования норма обязательных резервов </a:t>
            </a:r>
            <a:r>
              <a:rPr lang="en-US" dirty="0" err="1"/>
              <a:t>rr</a:t>
            </a:r>
            <a:r>
              <a:rPr lang="en-US" dirty="0"/>
              <a:t> </a:t>
            </a:r>
            <a:r>
              <a:rPr lang="ru-RU" dirty="0" err="1"/>
              <a:t>обяз</a:t>
            </a:r>
            <a:r>
              <a:rPr lang="ru-RU" dirty="0"/>
              <a:t>=1, а при системе частичного резервирования 0</a:t>
            </a:r>
            <a:r>
              <a:rPr lang="en-US" dirty="0"/>
              <a:t>&lt;</a:t>
            </a:r>
            <a:r>
              <a:rPr lang="en-US" dirty="0" err="1"/>
              <a:t>rr</a:t>
            </a:r>
            <a:r>
              <a:rPr lang="en-US" dirty="0"/>
              <a:t> </a:t>
            </a:r>
            <a:r>
              <a:rPr lang="ru-RU" dirty="0" err="1"/>
              <a:t>обяз</a:t>
            </a:r>
            <a:r>
              <a:rPr lang="en-US" dirty="0"/>
              <a:t>&lt;1.</a:t>
            </a:r>
          </a:p>
          <a:p>
            <a:r>
              <a:rPr lang="ru-RU" dirty="0"/>
              <a:t>Если из общей величины депозитов вычесть величину обязательных резервов, то получим величину, которую банк может выдать в кредит, т.е. величину его кредитных возможностей (кредитного потенциала-К)</a:t>
            </a:r>
          </a:p>
        </p:txBody>
      </p:sp>
      <p:pic>
        <p:nvPicPr>
          <p:cNvPr id="5" name="Объект 4">
            <a:extLst>
              <a:ext uri="{FF2B5EF4-FFF2-40B4-BE49-F238E27FC236}">
                <a16:creationId xmlns:a16="http://schemas.microsoft.com/office/drawing/2014/main" id="{F8ACBF58-0BAF-4B86-AD01-8550A74971B9}"/>
              </a:ext>
            </a:extLst>
          </p:cNvPr>
          <p:cNvPicPr>
            <a:picLocks noGrp="1" noChangeAspect="1"/>
          </p:cNvPicPr>
          <p:nvPr>
            <p:ph sz="half" idx="2"/>
          </p:nvPr>
        </p:nvPicPr>
        <p:blipFill>
          <a:blip r:embed="rId2"/>
          <a:stretch>
            <a:fillRect/>
          </a:stretch>
        </p:blipFill>
        <p:spPr>
          <a:xfrm>
            <a:off x="6828915" y="1282006"/>
            <a:ext cx="3176218" cy="3176218"/>
          </a:xfrm>
          <a:prstGeom prst="rect">
            <a:avLst/>
          </a:prstGeom>
        </p:spPr>
      </p:pic>
      <p:pic>
        <p:nvPicPr>
          <p:cNvPr id="7" name="Рисунок 6">
            <a:extLst>
              <a:ext uri="{FF2B5EF4-FFF2-40B4-BE49-F238E27FC236}">
                <a16:creationId xmlns:a16="http://schemas.microsoft.com/office/drawing/2014/main" id="{27A2B0C8-1174-4E36-A70C-84BB2E381E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4593782"/>
            <a:ext cx="4846740" cy="510584"/>
          </a:xfrm>
          <a:prstGeom prst="rect">
            <a:avLst/>
          </a:prstGeom>
        </p:spPr>
      </p:pic>
    </p:spTree>
    <p:extLst>
      <p:ext uri="{BB962C8B-B14F-4D97-AF65-F5344CB8AC3E}">
        <p14:creationId xmlns:p14="http://schemas.microsoft.com/office/powerpoint/2010/main" val="40673499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D78670A-3DE3-4906-95F8-1A833498A01A}"/>
              </a:ext>
            </a:extLst>
          </p:cNvPr>
          <p:cNvSpPr>
            <a:spLocks noGrp="1"/>
          </p:cNvSpPr>
          <p:nvPr>
            <p:ph idx="1"/>
          </p:nvPr>
        </p:nvSpPr>
        <p:spPr>
          <a:xfrm>
            <a:off x="1130270" y="1376039"/>
            <a:ext cx="9603275" cy="4090306"/>
          </a:xfrm>
        </p:spPr>
        <p:txBody>
          <a:bodyPr/>
          <a:lstStyle/>
          <a:p>
            <a:r>
              <a:rPr lang="ru-RU" dirty="0"/>
              <a:t>Если банк выдает все эти средства в кредит, то это означает, что он использует свои кредитные возможности полностью. Однако банк может часть средств, которые он мог бы выдавать в кредит, оставить у себя в виде резервов. Эта величина составляет избыточные резервы банка. Сумма обязательных и избыточных резервов представляет собой фактические резервы банка:</a:t>
            </a:r>
          </a:p>
          <a:p>
            <a:pPr marL="0" indent="0">
              <a:buNone/>
            </a:pPr>
            <a:endParaRPr lang="ru-RU" dirty="0"/>
          </a:p>
        </p:txBody>
      </p:sp>
      <p:pic>
        <p:nvPicPr>
          <p:cNvPr id="5" name="Рисунок 4" descr="Изображение выглядит как текст&#10;&#10;Автоматически созданное описание">
            <a:extLst>
              <a:ext uri="{FF2B5EF4-FFF2-40B4-BE49-F238E27FC236}">
                <a16:creationId xmlns:a16="http://schemas.microsoft.com/office/drawing/2014/main" id="{0F523B0F-D29C-4D81-8A91-11D40C5A05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4228" y="4218798"/>
            <a:ext cx="2885989" cy="575144"/>
          </a:xfrm>
          <a:prstGeom prst="rect">
            <a:avLst/>
          </a:prstGeom>
        </p:spPr>
      </p:pic>
    </p:spTree>
    <p:extLst>
      <p:ext uri="{BB962C8B-B14F-4D97-AF65-F5344CB8AC3E}">
        <p14:creationId xmlns:p14="http://schemas.microsoft.com/office/powerpoint/2010/main" val="3383108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2476D927-6958-4CBD-8302-E605D51FA943}"/>
              </a:ext>
            </a:extLst>
          </p:cNvPr>
          <p:cNvSpPr>
            <a:spLocks noGrp="1"/>
          </p:cNvSpPr>
          <p:nvPr>
            <p:ph idx="1"/>
          </p:nvPr>
        </p:nvSpPr>
        <p:spPr>
          <a:xfrm>
            <a:off x="1130270" y="1065320"/>
            <a:ext cx="9603275" cy="4401025"/>
          </a:xfrm>
        </p:spPr>
        <p:txBody>
          <a:bodyPr/>
          <a:lstStyle/>
          <a:p>
            <a:r>
              <a:rPr lang="ru-RU" dirty="0"/>
              <a:t>Если банк хранит избыточные резервы (сверх обязательных), то его норма резервирования будет равна отношению фактических резервов к депозитам, и, следовательно будет представлять собой сумму нормы обязательных резервов и нормы избыточных резервов. В этом случае сумма средств, фактически выданных в кредит (К факт) будет меньше величины его кредитных возможностей (К факт </a:t>
            </a:r>
            <a:r>
              <a:rPr lang="en-US" dirty="0"/>
              <a:t>&lt; </a:t>
            </a:r>
            <a:r>
              <a:rPr lang="ru-RU" dirty="0"/>
              <a:t>К) и может быть подсчитана по формуле</a:t>
            </a:r>
          </a:p>
          <a:p>
            <a:pPr marL="0" indent="0">
              <a:buNone/>
            </a:pPr>
            <a:endParaRPr lang="ru-RU" dirty="0"/>
          </a:p>
          <a:p>
            <a:r>
              <a:rPr lang="ru-RU" dirty="0"/>
              <a:t>Наличие избыточных резервов у коммерческого банка означает, что может на эту сумму выдать </a:t>
            </a:r>
            <a:r>
              <a:rPr lang="ru-RU" dirty="0" err="1"/>
              <a:t>доп.кредит</a:t>
            </a:r>
            <a:endParaRPr lang="ru-RU" dirty="0"/>
          </a:p>
          <a:p>
            <a:pPr marL="0" indent="0">
              <a:buNone/>
            </a:pPr>
            <a:endParaRPr lang="ru-RU" dirty="0"/>
          </a:p>
        </p:txBody>
      </p:sp>
      <p:pic>
        <p:nvPicPr>
          <p:cNvPr id="5" name="Рисунок 4" descr="Изображение выглядит как текст&#10;&#10;Автоматически созданное описание">
            <a:extLst>
              <a:ext uri="{FF2B5EF4-FFF2-40B4-BE49-F238E27FC236}">
                <a16:creationId xmlns:a16="http://schemas.microsoft.com/office/drawing/2014/main" id="{B5BB1E72-6F64-455D-9763-A9D28C0291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9790" y="3797698"/>
            <a:ext cx="2004234" cy="487722"/>
          </a:xfrm>
          <a:prstGeom prst="rect">
            <a:avLst/>
          </a:prstGeom>
        </p:spPr>
      </p:pic>
      <p:pic>
        <p:nvPicPr>
          <p:cNvPr id="9" name="Рисунок 8" descr="Изображение выглядит как текст&#10;&#10;Автоматически созданное описание">
            <a:extLst>
              <a:ext uri="{FF2B5EF4-FFF2-40B4-BE49-F238E27FC236}">
                <a16:creationId xmlns:a16="http://schemas.microsoft.com/office/drawing/2014/main" id="{F4097A59-06FA-4887-8152-8E2C9706B2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4261" y="5078708"/>
            <a:ext cx="2850127" cy="510584"/>
          </a:xfrm>
          <a:prstGeom prst="rect">
            <a:avLst/>
          </a:prstGeom>
        </p:spPr>
      </p:pic>
    </p:spTree>
    <p:extLst>
      <p:ext uri="{BB962C8B-B14F-4D97-AF65-F5344CB8AC3E}">
        <p14:creationId xmlns:p14="http://schemas.microsoft.com/office/powerpoint/2010/main" val="12421022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38" name="Picture 28">
            <a:extLst>
              <a:ext uri="{FF2B5EF4-FFF2-40B4-BE49-F238E27FC236}">
                <a16:creationId xmlns:a16="http://schemas.microsoft.com/office/drawing/2014/main" id="{E8690AC4-C9C4-4944-A98C-B1D32992D6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40" name="Rectangle 30">
            <a:extLst>
              <a:ext uri="{FF2B5EF4-FFF2-40B4-BE49-F238E27FC236}">
                <a16:creationId xmlns:a16="http://schemas.microsoft.com/office/drawing/2014/main" id="{86F828BE-4D4E-43F9-AC35-0209B5190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42" name="Straight Connector 32">
            <a:extLst>
              <a:ext uri="{FF2B5EF4-FFF2-40B4-BE49-F238E27FC236}">
                <a16:creationId xmlns:a16="http://schemas.microsoft.com/office/drawing/2014/main" id="{10BAB604-20D4-431F-ADD8-754BB7992A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44" name="Picture 34">
            <a:extLst>
              <a:ext uri="{FF2B5EF4-FFF2-40B4-BE49-F238E27FC236}">
                <a16:creationId xmlns:a16="http://schemas.microsoft.com/office/drawing/2014/main" id="{B049F9C0-FA09-470E-83AC-F293C347ED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 useBgFill="1">
        <p:nvSpPr>
          <p:cNvPr id="37" name="Rectangle 36">
            <a:extLst>
              <a:ext uri="{FF2B5EF4-FFF2-40B4-BE49-F238E27FC236}">
                <a16:creationId xmlns:a16="http://schemas.microsoft.com/office/drawing/2014/main" id="{E0F5EF32-7770-4038-808B-2CEA965C38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489EB25-952F-439A-92C2-7B53D9A64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E4E4048-892D-4567-B02C-1157C2270757}"/>
              </a:ext>
            </a:extLst>
          </p:cNvPr>
          <p:cNvSpPr>
            <a:spLocks noGrp="1"/>
          </p:cNvSpPr>
          <p:nvPr>
            <p:ph type="title"/>
          </p:nvPr>
        </p:nvSpPr>
        <p:spPr>
          <a:xfrm>
            <a:off x="5663952" y="957221"/>
            <a:ext cx="5402687" cy="1049235"/>
          </a:xfrm>
        </p:spPr>
        <p:txBody>
          <a:bodyPr vert="horz" lIns="91440" tIns="45720" rIns="91440" bIns="45720" rtlCol="0" anchor="t">
            <a:normAutofit/>
          </a:bodyPr>
          <a:lstStyle/>
          <a:p>
            <a:pPr algn="ctr"/>
            <a:r>
              <a:rPr lang="en-US" sz="2200" b="1" i="1" dirty="0"/>
              <a:t>Баланс современного коммерческого банка представлен в табл. 8.4.</a:t>
            </a:r>
          </a:p>
        </p:txBody>
      </p:sp>
      <p:pic>
        <p:nvPicPr>
          <p:cNvPr id="6" name="Объект 5" descr="Изображение выглядит как стол&#10;&#10;Автоматически созданное описание">
            <a:extLst>
              <a:ext uri="{FF2B5EF4-FFF2-40B4-BE49-F238E27FC236}">
                <a16:creationId xmlns:a16="http://schemas.microsoft.com/office/drawing/2014/main" id="{1F3A6798-98BC-4022-A536-D7BF1C97B617}"/>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165514" y="1635977"/>
            <a:ext cx="5200160" cy="1521046"/>
          </a:xfrm>
          <a:prstGeom prst="rect">
            <a:avLst/>
          </a:prstGeom>
        </p:spPr>
      </p:pic>
      <p:pic>
        <p:nvPicPr>
          <p:cNvPr id="41" name="Picture 40">
            <a:extLst>
              <a:ext uri="{FF2B5EF4-FFF2-40B4-BE49-F238E27FC236}">
                <a16:creationId xmlns:a16="http://schemas.microsoft.com/office/drawing/2014/main" id="{579974CC-A2A9-446D-BF72-23477644558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5187048" y="643464"/>
            <a:ext cx="5879592" cy="155448"/>
          </a:xfrm>
          <a:prstGeom prst="rect">
            <a:avLst/>
          </a:prstGeom>
          <a:noFill/>
          <a:ln>
            <a:noFill/>
          </a:ln>
        </p:spPr>
      </p:pic>
      <p:pic>
        <p:nvPicPr>
          <p:cNvPr id="7" name="Рисунок 6">
            <a:extLst>
              <a:ext uri="{FF2B5EF4-FFF2-40B4-BE49-F238E27FC236}">
                <a16:creationId xmlns:a16="http://schemas.microsoft.com/office/drawing/2014/main" id="{38D9385F-3562-4D09-B5F9-D9EA93EB9A3D}"/>
              </a:ext>
            </a:extLst>
          </p:cNvPr>
          <p:cNvPicPr>
            <a:picLocks noChangeAspect="1"/>
          </p:cNvPicPr>
          <p:nvPr/>
        </p:nvPicPr>
        <p:blipFill>
          <a:blip r:embed="rId5"/>
          <a:stretch>
            <a:fillRect/>
          </a:stretch>
        </p:blipFill>
        <p:spPr>
          <a:xfrm>
            <a:off x="3292969" y="3173664"/>
            <a:ext cx="2072402" cy="2368461"/>
          </a:xfrm>
          <a:prstGeom prst="rect">
            <a:avLst/>
          </a:prstGeom>
        </p:spPr>
      </p:pic>
      <p:sp>
        <p:nvSpPr>
          <p:cNvPr id="3" name="Объект 2">
            <a:extLst>
              <a:ext uri="{FF2B5EF4-FFF2-40B4-BE49-F238E27FC236}">
                <a16:creationId xmlns:a16="http://schemas.microsoft.com/office/drawing/2014/main" id="{7FC290DF-C5A6-47A9-A9A0-52B72D69D34D}"/>
              </a:ext>
            </a:extLst>
          </p:cNvPr>
          <p:cNvSpPr>
            <a:spLocks noGrp="1"/>
          </p:cNvSpPr>
          <p:nvPr>
            <p:ph sz="half" idx="1"/>
          </p:nvPr>
        </p:nvSpPr>
        <p:spPr>
          <a:xfrm>
            <a:off x="5365674" y="2164765"/>
            <a:ext cx="5988126" cy="3301580"/>
          </a:xfrm>
        </p:spPr>
        <p:txBody>
          <a:bodyPr vert="horz" lIns="91440" tIns="45720" rIns="91440" bIns="45720" rtlCol="0" anchor="t">
            <a:normAutofit/>
          </a:bodyPr>
          <a:lstStyle/>
          <a:p>
            <a:pPr>
              <a:lnSpc>
                <a:spcPct val="110000"/>
              </a:lnSpc>
            </a:pPr>
            <a:r>
              <a:rPr lang="en-US" sz="1900" dirty="0"/>
              <a:t>В правой части баланса отражены источники поступления средств-пассивы, включающие обязательства (депозиты) и собственный капитал банка, а в левой-активы, т.е. направления использования средств вкладчиков. Основным балансовым тождеством коммерческого банка является равенство пассивов (суммы его обязательств и собственного капитала) общей величине активов.</a:t>
            </a:r>
          </a:p>
        </p:txBody>
      </p:sp>
      <p:pic>
        <p:nvPicPr>
          <p:cNvPr id="43" name="Picture 42">
            <a:extLst>
              <a:ext uri="{FF2B5EF4-FFF2-40B4-BE49-F238E27FC236}">
                <a16:creationId xmlns:a16="http://schemas.microsoft.com/office/drawing/2014/main" id="{00554EF0-9EDC-4B04-8BC9-20A14D613B5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cxnSp>
        <p:nvCxnSpPr>
          <p:cNvPr id="45" name="Straight Connector 44">
            <a:extLst>
              <a:ext uri="{FF2B5EF4-FFF2-40B4-BE49-F238E27FC236}">
                <a16:creationId xmlns:a16="http://schemas.microsoft.com/office/drawing/2014/main" id="{824453E7-C2D7-4BB2-934C-743899F28B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05326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5513E21-21B0-48DB-8CF1-35E43B33A4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Рисунок 6">
            <a:extLst>
              <a:ext uri="{FF2B5EF4-FFF2-40B4-BE49-F238E27FC236}">
                <a16:creationId xmlns:a16="http://schemas.microsoft.com/office/drawing/2014/main" id="{71D451FC-6259-4594-8BAA-D4F7DE5DF034}"/>
              </a:ext>
            </a:extLst>
          </p:cNvPr>
          <p:cNvPicPr>
            <a:picLocks noChangeAspect="1"/>
          </p:cNvPicPr>
          <p:nvPr/>
        </p:nvPicPr>
        <p:blipFill rotWithShape="1">
          <a:blip r:embed="rId2">
            <a:alphaModFix amt="35000"/>
            <a:extLst>
              <a:ext uri="{28A0092B-C50C-407E-A947-70E740481C1C}">
                <a14:useLocalDpi xmlns:a14="http://schemas.microsoft.com/office/drawing/2010/main" val="0"/>
              </a:ext>
            </a:extLst>
          </a:blip>
          <a:srcRect t="33379" b="19932"/>
          <a:stretch/>
        </p:blipFill>
        <p:spPr>
          <a:xfrm>
            <a:off x="305" y="10"/>
            <a:ext cx="12191695" cy="6857990"/>
          </a:xfrm>
          <a:prstGeom prst="rect">
            <a:avLst/>
          </a:prstGeom>
        </p:spPr>
      </p:pic>
      <p:sp>
        <p:nvSpPr>
          <p:cNvPr id="2" name="Заголовок 1">
            <a:extLst>
              <a:ext uri="{FF2B5EF4-FFF2-40B4-BE49-F238E27FC236}">
                <a16:creationId xmlns:a16="http://schemas.microsoft.com/office/drawing/2014/main" id="{815EA556-DC39-47E3-894A-29A337B8C922}"/>
              </a:ext>
            </a:extLst>
          </p:cNvPr>
          <p:cNvSpPr>
            <a:spLocks noGrp="1"/>
          </p:cNvSpPr>
          <p:nvPr>
            <p:ph type="ctrTitle"/>
          </p:nvPr>
        </p:nvSpPr>
        <p:spPr>
          <a:xfrm>
            <a:off x="4976636" y="992221"/>
            <a:ext cx="6247308" cy="4873558"/>
          </a:xfrm>
        </p:spPr>
        <p:txBody>
          <a:bodyPr anchor="ctr">
            <a:normAutofit/>
          </a:bodyPr>
          <a:lstStyle/>
          <a:p>
            <a:r>
              <a:rPr lang="ru-RU" sz="4800" dirty="0"/>
              <a:t>Создание денег коммерческими банками. Банковский мультипликатор</a:t>
            </a:r>
            <a:endParaRPr lang="ru-RU" sz="4800"/>
          </a:p>
        </p:txBody>
      </p:sp>
      <p:cxnSp>
        <p:nvCxnSpPr>
          <p:cNvPr id="14" name="Straight Connector 13">
            <a:extLst>
              <a:ext uri="{FF2B5EF4-FFF2-40B4-BE49-F238E27FC236}">
                <a16:creationId xmlns:a16="http://schemas.microsoft.com/office/drawing/2014/main" id="{B9A063B9-609F-4738-BCDC-6E6E67C7FE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860937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AA319DD-FB47-4796-840B-4FAD832EFF68}"/>
              </a:ext>
            </a:extLst>
          </p:cNvPr>
          <p:cNvSpPr>
            <a:spLocks noGrp="1"/>
          </p:cNvSpPr>
          <p:nvPr>
            <p:ph sz="half" idx="1"/>
          </p:nvPr>
        </p:nvSpPr>
        <p:spPr>
          <a:xfrm>
            <a:off x="1129166" y="1109709"/>
            <a:ext cx="4645152" cy="4349764"/>
          </a:xfrm>
        </p:spPr>
        <p:txBody>
          <a:bodyPr>
            <a:normAutofit fontScale="85000" lnSpcReduction="10000"/>
          </a:bodyPr>
          <a:lstStyle/>
          <a:p>
            <a:r>
              <a:rPr lang="ru-RU" dirty="0"/>
              <a:t>Центральный банк лишь контролирует предложение денег в экономике. Создают деньги коммерческие банки.</a:t>
            </a:r>
          </a:p>
          <a:p>
            <a:r>
              <a:rPr lang="ru-RU" dirty="0"/>
              <a:t>Процесс создания денег коммерческими банками называется </a:t>
            </a:r>
            <a:r>
              <a:rPr lang="ru-RU" b="1" i="1" dirty="0"/>
              <a:t>кредитным расширением или кредитной мультипликацией</a:t>
            </a:r>
            <a:r>
              <a:rPr lang="ru-RU" dirty="0"/>
              <a:t>. Он происходит в том случае, если в банковскую сферу попадают деньги и увеличиваются депозиты коммерческого банка, т.е. если наличные деньги превращаются в безналичные.</a:t>
            </a:r>
          </a:p>
        </p:txBody>
      </p:sp>
      <p:pic>
        <p:nvPicPr>
          <p:cNvPr id="5" name="Объект 4">
            <a:extLst>
              <a:ext uri="{FF2B5EF4-FFF2-40B4-BE49-F238E27FC236}">
                <a16:creationId xmlns:a16="http://schemas.microsoft.com/office/drawing/2014/main" id="{3521A74F-0CED-453B-9B1B-19A5091BC0E9}"/>
              </a:ext>
            </a:extLst>
          </p:cNvPr>
          <p:cNvPicPr>
            <a:picLocks noGrp="1" noChangeAspect="1"/>
          </p:cNvPicPr>
          <p:nvPr>
            <p:ph sz="half" idx="2"/>
          </p:nvPr>
        </p:nvPicPr>
        <p:blipFill>
          <a:blip r:embed="rId2"/>
          <a:stretch>
            <a:fillRect/>
          </a:stretch>
        </p:blipFill>
        <p:spPr>
          <a:xfrm>
            <a:off x="5987007" y="1187973"/>
            <a:ext cx="4950001" cy="3712501"/>
          </a:xfrm>
          <a:prstGeom prst="rect">
            <a:avLst/>
          </a:prstGeom>
        </p:spPr>
      </p:pic>
    </p:spTree>
    <p:extLst>
      <p:ext uri="{BB962C8B-B14F-4D97-AF65-F5344CB8AC3E}">
        <p14:creationId xmlns:p14="http://schemas.microsoft.com/office/powerpoint/2010/main" val="1050524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5" name="Рисунок 4" descr="Изображение выглядит как текст, белый&#10;&#10;Автоматически созданное описание">
            <a:extLst>
              <a:ext uri="{FF2B5EF4-FFF2-40B4-BE49-F238E27FC236}">
                <a16:creationId xmlns:a16="http://schemas.microsoft.com/office/drawing/2014/main" id="{53530C79-03FD-48BD-B93C-F6F44A6AC11E}"/>
              </a:ext>
            </a:extLst>
          </p:cNvPr>
          <p:cNvPicPr>
            <a:picLocks noChangeAspect="1"/>
          </p:cNvPicPr>
          <p:nvPr/>
        </p:nvPicPr>
        <p:blipFill rotWithShape="1">
          <a:blip r:embed="rId2">
            <a:extLst>
              <a:ext uri="{28A0092B-C50C-407E-A947-70E740481C1C}">
                <a14:useLocalDpi xmlns:a14="http://schemas.microsoft.com/office/drawing/2010/main" val="0"/>
              </a:ext>
            </a:extLst>
          </a:blip>
          <a:srcRect l="417" r="10717"/>
          <a:stretch/>
        </p:blipFill>
        <p:spPr>
          <a:xfrm>
            <a:off x="2" y="10"/>
            <a:ext cx="6094409" cy="6857990"/>
          </a:xfrm>
          <a:prstGeom prst="rect">
            <a:avLst/>
          </a:prstGeom>
        </p:spPr>
      </p:pic>
      <p:pic>
        <p:nvPicPr>
          <p:cNvPr id="7" name="Рисунок 6" descr="Изображение выглядит как коллекция картинок&#10;&#10;Автоматически созданное описание">
            <a:extLst>
              <a:ext uri="{FF2B5EF4-FFF2-40B4-BE49-F238E27FC236}">
                <a16:creationId xmlns:a16="http://schemas.microsoft.com/office/drawing/2014/main" id="{2EBF97BB-DD6B-4C29-927C-AAC0AFB89D42}"/>
              </a:ext>
            </a:extLst>
          </p:cNvPr>
          <p:cNvPicPr>
            <a:picLocks noChangeAspect="1"/>
          </p:cNvPicPr>
          <p:nvPr/>
        </p:nvPicPr>
        <p:blipFill rotWithShape="1">
          <a:blip r:embed="rId3">
            <a:extLst>
              <a:ext uri="{28A0092B-C50C-407E-A947-70E740481C1C}">
                <a14:useLocalDpi xmlns:a14="http://schemas.microsoft.com/office/drawing/2010/main" val="0"/>
              </a:ext>
            </a:extLst>
          </a:blip>
          <a:srcRect l="11134"/>
          <a:stretch/>
        </p:blipFill>
        <p:spPr>
          <a:xfrm>
            <a:off x="6096051" y="10"/>
            <a:ext cx="6094409" cy="6857990"/>
          </a:xfrm>
          <a:prstGeom prst="rect">
            <a:avLst/>
          </a:prstGeom>
        </p:spPr>
      </p:pic>
      <p:sp>
        <p:nvSpPr>
          <p:cNvPr id="12" name="Rectangle 11">
            <a:extLst>
              <a:ext uri="{FF2B5EF4-FFF2-40B4-BE49-F238E27FC236}">
                <a16:creationId xmlns:a16="http://schemas.microsoft.com/office/drawing/2014/main" id="{71C2E36E-117B-495F-BE9B-9792C01B70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87192" y="1353662"/>
            <a:ext cx="4414440" cy="4150676"/>
          </a:xfrm>
          <a:prstGeom prst="rect">
            <a:avLst/>
          </a:prstGeom>
          <a:solidFill>
            <a:srgbClr val="000001">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BCA06D36-907B-4165-B293-01985D5734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116" r="64428" b="36435"/>
          <a:stretch/>
        </p:blipFill>
        <p:spPr>
          <a:xfrm>
            <a:off x="4050918" y="1523393"/>
            <a:ext cx="4069080" cy="155448"/>
          </a:xfrm>
          <a:prstGeom prst="rect">
            <a:avLst/>
          </a:prstGeom>
          <a:noFill/>
          <a:ln>
            <a:noFill/>
          </a:ln>
        </p:spPr>
      </p:pic>
      <p:sp>
        <p:nvSpPr>
          <p:cNvPr id="3" name="Объект 2">
            <a:extLst>
              <a:ext uri="{FF2B5EF4-FFF2-40B4-BE49-F238E27FC236}">
                <a16:creationId xmlns:a16="http://schemas.microsoft.com/office/drawing/2014/main" id="{3EEE7E0E-02CF-40E6-A296-978B00A9D606}"/>
              </a:ext>
            </a:extLst>
          </p:cNvPr>
          <p:cNvSpPr>
            <a:spLocks noGrp="1"/>
          </p:cNvSpPr>
          <p:nvPr>
            <p:ph idx="1"/>
          </p:nvPr>
        </p:nvSpPr>
        <p:spPr>
          <a:xfrm>
            <a:off x="4050918" y="1848572"/>
            <a:ext cx="4073582" cy="3489008"/>
          </a:xfrm>
        </p:spPr>
        <p:txBody>
          <a:bodyPr>
            <a:noAutofit/>
          </a:bodyPr>
          <a:lstStyle/>
          <a:p>
            <a:pPr>
              <a:lnSpc>
                <a:spcPct val="110000"/>
              </a:lnSpc>
            </a:pPr>
            <a:r>
              <a:rPr lang="ru-RU" sz="1400" dirty="0">
                <a:solidFill>
                  <a:srgbClr val="FFFFFE"/>
                </a:solidFill>
              </a:rPr>
              <a:t>Коммерческие банки могут создавать деньги только в условиях системы частичного резервирования. Если банк не выдает кредиты, предложение денег не меняется, поскольку количество наличных денег, поступившее на депозит, равно величине резервов. Хранимых в сейфе банка. Происходит лишь перераспределение между деньгами, находящимися вне банковской системы в пределах одной и той же величины денежной массы. Процесс депозитного расширения начинается с момента, когда банк выдает кредит.</a:t>
            </a:r>
          </a:p>
        </p:txBody>
      </p:sp>
    </p:spTree>
    <p:extLst>
      <p:ext uri="{BB962C8B-B14F-4D97-AF65-F5344CB8AC3E}">
        <p14:creationId xmlns:p14="http://schemas.microsoft.com/office/powerpoint/2010/main" val="12733909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D7DBE0B4-1C99-400C-A718-39940AC6F283}"/>
              </a:ext>
            </a:extLst>
          </p:cNvPr>
          <p:cNvSpPr>
            <a:spLocks noGrp="1"/>
          </p:cNvSpPr>
          <p:nvPr>
            <p:ph idx="1"/>
          </p:nvPr>
        </p:nvSpPr>
        <p:spPr>
          <a:xfrm>
            <a:off x="1130270" y="1056443"/>
            <a:ext cx="9603275" cy="4409902"/>
          </a:xfrm>
        </p:spPr>
        <p:txBody>
          <a:bodyPr/>
          <a:lstStyle/>
          <a:p>
            <a:r>
              <a:rPr lang="ru-RU" dirty="0"/>
              <a:t>Максимальное увеличение предложения денег происходит при условии, что:</a:t>
            </a:r>
          </a:p>
          <a:p>
            <a:r>
              <a:rPr lang="ru-RU" dirty="0"/>
              <a:t>Коммерческие банки не хранят избыточные резервы и всю сумму средств сверх обязательных резервов выдают в кредит, т.е. используют свои кредитные возможности полностью и норма резервирования равна норме обязательных резервов;</a:t>
            </a:r>
          </a:p>
          <a:p>
            <a:r>
              <a:rPr lang="ru-RU" dirty="0"/>
              <a:t>Попав в банковскую сферу, деньги не покидают ее и, будучи выданными в кредит клиенту, не оседают у него в виде наличности,   а вновь возвращаются в банковскую систему.</a:t>
            </a:r>
          </a:p>
        </p:txBody>
      </p:sp>
    </p:spTree>
    <p:extLst>
      <p:ext uri="{BB962C8B-B14F-4D97-AF65-F5344CB8AC3E}">
        <p14:creationId xmlns:p14="http://schemas.microsoft.com/office/powerpoint/2010/main" val="1261696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B48BEEF-E263-4F8F-8436-C65D773EDC86}"/>
              </a:ext>
            </a:extLst>
          </p:cNvPr>
          <p:cNvSpPr>
            <a:spLocks noGrp="1"/>
          </p:cNvSpPr>
          <p:nvPr>
            <p:ph idx="1"/>
          </p:nvPr>
        </p:nvSpPr>
        <p:spPr>
          <a:xfrm>
            <a:off x="1130270" y="1145219"/>
            <a:ext cx="9603275" cy="4321126"/>
          </a:xfrm>
        </p:spPr>
        <p:txBody>
          <a:bodyPr/>
          <a:lstStyle/>
          <a:p>
            <a:r>
              <a:rPr lang="ru-RU" dirty="0"/>
              <a:t>Величина 1/</a:t>
            </a:r>
            <a:r>
              <a:rPr lang="en-US" dirty="0" err="1"/>
              <a:t>rr</a:t>
            </a:r>
            <a:r>
              <a:rPr lang="ru-RU" dirty="0"/>
              <a:t> называется банковским (кредитным) мультипликатором или мультипликатором депозитного расширения:</a:t>
            </a:r>
          </a:p>
          <a:p>
            <a:pPr marL="0" indent="0">
              <a:buNone/>
            </a:pPr>
            <a:endParaRPr lang="ru-RU" dirty="0"/>
          </a:p>
          <a:p>
            <a:pPr marL="0" indent="0">
              <a:buNone/>
            </a:pPr>
            <a:endParaRPr lang="ru-RU" dirty="0"/>
          </a:p>
          <a:p>
            <a:pPr marL="0" indent="0">
              <a:buNone/>
            </a:pPr>
            <a:endParaRPr lang="ru-RU" dirty="0"/>
          </a:p>
          <a:p>
            <a:r>
              <a:rPr lang="ru-RU" dirty="0"/>
              <a:t>Банковский мультипликатор показывает общую сумму депозитов, которую может создать банковская система из каждой денежной единицы, вложенной на счет в коммерческий банк:</a:t>
            </a:r>
          </a:p>
          <a:p>
            <a:pPr marL="0" indent="0">
              <a:buNone/>
            </a:pPr>
            <a:endParaRPr lang="ru-RU" dirty="0"/>
          </a:p>
          <a:p>
            <a:pPr marL="0" indent="0">
              <a:buNone/>
            </a:pPr>
            <a:endParaRPr lang="ru-RU" dirty="0"/>
          </a:p>
        </p:txBody>
      </p:sp>
      <p:pic>
        <p:nvPicPr>
          <p:cNvPr id="5" name="Рисунок 4" descr="Изображение выглядит как текст&#10;&#10;Автоматически созданное описание">
            <a:extLst>
              <a:ext uri="{FF2B5EF4-FFF2-40B4-BE49-F238E27FC236}">
                <a16:creationId xmlns:a16="http://schemas.microsoft.com/office/drawing/2014/main" id="{4F51A112-AA28-4841-A19A-3F53576127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3167" y="2296045"/>
            <a:ext cx="1623201" cy="662997"/>
          </a:xfrm>
          <a:prstGeom prst="rect">
            <a:avLst/>
          </a:prstGeom>
        </p:spPr>
      </p:pic>
      <p:pic>
        <p:nvPicPr>
          <p:cNvPr id="7" name="Рисунок 6" descr="Изображение выглядит как текст&#10;&#10;Автоматически созданное описание">
            <a:extLst>
              <a:ext uri="{FF2B5EF4-FFF2-40B4-BE49-F238E27FC236}">
                <a16:creationId xmlns:a16="http://schemas.microsoft.com/office/drawing/2014/main" id="{BBD6BE1B-9256-44A4-A009-89B4F9F0A9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0306" y="4772865"/>
            <a:ext cx="1668925" cy="693480"/>
          </a:xfrm>
          <a:prstGeom prst="rect">
            <a:avLst/>
          </a:prstGeom>
        </p:spPr>
      </p:pic>
    </p:spTree>
    <p:extLst>
      <p:ext uri="{BB962C8B-B14F-4D97-AF65-F5344CB8AC3E}">
        <p14:creationId xmlns:p14="http://schemas.microsoft.com/office/powerpoint/2010/main" val="10959990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CD32225E-EAF4-446D-96FF-CCDB30E77FE3}"/>
              </a:ext>
            </a:extLst>
          </p:cNvPr>
          <p:cNvSpPr>
            <a:spLocks noGrp="1"/>
          </p:cNvSpPr>
          <p:nvPr>
            <p:ph sz="half" idx="1"/>
          </p:nvPr>
        </p:nvSpPr>
        <p:spPr>
          <a:xfrm>
            <a:off x="1129166" y="949911"/>
            <a:ext cx="4645152" cy="4509562"/>
          </a:xfrm>
        </p:spPr>
        <p:txBody>
          <a:bodyPr>
            <a:normAutofit fontScale="85000" lnSpcReduction="20000"/>
          </a:bodyPr>
          <a:lstStyle/>
          <a:p>
            <a:r>
              <a:rPr lang="ru-RU" dirty="0"/>
              <a:t>Мультипликатор действует в обе стороны; денежная масса увеличивается, если деньги попадают в банковскую систему, и сокращается, если деньги уходят из банковской системы. А поскольку, как правило, в экономике деньги одновременно и вкладывают в банки, и снимают со счетов, то денежная масса существенно измениться не может. Такое изменение может произойти только в том случае, если ЦБ изменит норму обязательных резервов, что повлияет на кредитные возможности банков и величину банковского мультипликатора.</a:t>
            </a:r>
          </a:p>
        </p:txBody>
      </p:sp>
      <p:pic>
        <p:nvPicPr>
          <p:cNvPr id="5" name="Объект 4">
            <a:extLst>
              <a:ext uri="{FF2B5EF4-FFF2-40B4-BE49-F238E27FC236}">
                <a16:creationId xmlns:a16="http://schemas.microsoft.com/office/drawing/2014/main" id="{D14C13A6-637E-4B87-9C14-7C25E3BDD19C}"/>
              </a:ext>
            </a:extLst>
          </p:cNvPr>
          <p:cNvPicPr>
            <a:picLocks noGrp="1" noChangeAspect="1"/>
          </p:cNvPicPr>
          <p:nvPr>
            <p:ph sz="half" idx="2"/>
          </p:nvPr>
        </p:nvPicPr>
        <p:blipFill>
          <a:blip r:embed="rId2"/>
          <a:stretch>
            <a:fillRect/>
          </a:stretch>
        </p:blipFill>
        <p:spPr>
          <a:xfrm>
            <a:off x="6417684" y="1150768"/>
            <a:ext cx="3912326" cy="3909504"/>
          </a:xfrm>
          <a:prstGeom prst="rect">
            <a:avLst/>
          </a:prstGeom>
        </p:spPr>
      </p:pic>
    </p:spTree>
    <p:extLst>
      <p:ext uri="{BB962C8B-B14F-4D97-AF65-F5344CB8AC3E}">
        <p14:creationId xmlns:p14="http://schemas.microsoft.com/office/powerpoint/2010/main" val="2545575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a:extLst>
              <a:ext uri="{FF2B5EF4-FFF2-40B4-BE49-F238E27FC236}">
                <a16:creationId xmlns:a16="http://schemas.microsoft.com/office/drawing/2014/main" id="{8205C98C-BCA7-4BF6-93BF-E3D3546B39C6}"/>
              </a:ext>
            </a:extLst>
          </p:cNvPr>
          <p:cNvPicPr>
            <a:picLocks noGrp="1" noChangeAspect="1"/>
          </p:cNvPicPr>
          <p:nvPr>
            <p:ph sz="half" idx="1"/>
          </p:nvPr>
        </p:nvPicPr>
        <p:blipFill>
          <a:blip r:embed="rId2"/>
          <a:stretch>
            <a:fillRect/>
          </a:stretch>
        </p:blipFill>
        <p:spPr>
          <a:xfrm>
            <a:off x="1930442" y="1295800"/>
            <a:ext cx="2987785" cy="3782227"/>
          </a:xfrm>
          <a:prstGeom prst="rect">
            <a:avLst/>
          </a:prstGeom>
        </p:spPr>
      </p:pic>
      <p:sp>
        <p:nvSpPr>
          <p:cNvPr id="4" name="Объект 3">
            <a:extLst>
              <a:ext uri="{FF2B5EF4-FFF2-40B4-BE49-F238E27FC236}">
                <a16:creationId xmlns:a16="http://schemas.microsoft.com/office/drawing/2014/main" id="{27E020D0-BDFA-42FB-B949-BAA856F136BB}"/>
              </a:ext>
            </a:extLst>
          </p:cNvPr>
          <p:cNvSpPr>
            <a:spLocks noGrp="1"/>
          </p:cNvSpPr>
          <p:nvPr>
            <p:ph sz="half" idx="2"/>
          </p:nvPr>
        </p:nvSpPr>
        <p:spPr>
          <a:xfrm>
            <a:off x="6095606" y="1126854"/>
            <a:ext cx="4645152" cy="4332009"/>
          </a:xfrm>
        </p:spPr>
        <p:txBody>
          <a:bodyPr>
            <a:normAutofit fontScale="85000" lnSpcReduction="10000"/>
          </a:bodyPr>
          <a:lstStyle/>
          <a:p>
            <a:pPr algn="r"/>
            <a:r>
              <a:rPr lang="ru-RU" dirty="0"/>
              <a:t>С помощью банковского мультипликатора можно подсчитать не только величину денежной массы (М), но и ее изменение (</a:t>
            </a:r>
            <a:r>
              <a:rPr lang="en-US" dirty="0" err="1"/>
              <a:t>dM</a:t>
            </a:r>
            <a:r>
              <a:rPr lang="en-US" dirty="0"/>
              <a:t>). </a:t>
            </a:r>
            <a:endParaRPr lang="ru-RU" dirty="0"/>
          </a:p>
          <a:p>
            <a:pPr algn="r"/>
            <a:r>
              <a:rPr lang="ru-RU" dirty="0"/>
              <a:t>Процесс депозитного решения происходит в том случае, когда банки не полностью используют свои кредитные возможности и хранят избыточные резервы, и тогда, когда население только часть средств вкладывает на депозит в банк, а часть хранит в виде наличности, однако увеличение денежной массы будет меньше.</a:t>
            </a:r>
          </a:p>
          <a:p>
            <a:pPr algn="r"/>
            <a:endParaRPr lang="ru-RU" dirty="0"/>
          </a:p>
        </p:txBody>
      </p:sp>
    </p:spTree>
    <p:extLst>
      <p:ext uri="{BB962C8B-B14F-4D97-AF65-F5344CB8AC3E}">
        <p14:creationId xmlns:p14="http://schemas.microsoft.com/office/powerpoint/2010/main" val="1242989913"/>
      </p:ext>
    </p:extLst>
  </p:cSld>
  <p:clrMapOvr>
    <a:masterClrMapping/>
  </p:clrMapOvr>
</p:sld>
</file>

<file path=ppt/theme/theme1.xml><?xml version="1.0" encoding="utf-8"?>
<a:theme xmlns:a="http://schemas.openxmlformats.org/drawingml/2006/main" name="Галерея">
  <a:themeElements>
    <a:clrScheme name="Галерея">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Галерея">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Матовое стекло">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docProps/app.xml><?xml version="1.0" encoding="utf-8"?>
<Properties xmlns="http://schemas.openxmlformats.org/officeDocument/2006/extended-properties" xmlns:vt="http://schemas.openxmlformats.org/officeDocument/2006/docPropsVTypes">
  <Template>Gallery</Template>
  <TotalTime>267</TotalTime>
  <Words>1907</Words>
  <Application>Microsoft Macintosh PowerPoint</Application>
  <PresentationFormat>Широкоэкранный</PresentationFormat>
  <Paragraphs>63</Paragraphs>
  <Slides>34</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34</vt:i4>
      </vt:variant>
    </vt:vector>
  </HeadingPairs>
  <TitlesOfParts>
    <vt:vector size="38" baseType="lpstr">
      <vt:lpstr>Arial</vt:lpstr>
      <vt:lpstr>Cambria Math</vt:lpstr>
      <vt:lpstr>Century Gothic</vt:lpstr>
      <vt:lpstr>Галерея</vt:lpstr>
      <vt:lpstr>Банковская система</vt:lpstr>
      <vt:lpstr>Банковская система и её структура</vt:lpstr>
      <vt:lpstr>Презентация PowerPoint</vt:lpstr>
      <vt:lpstr>Презентация PowerPoint</vt:lpstr>
      <vt:lpstr>Презентация PowerPoint</vt:lpstr>
      <vt:lpstr>Современная банковская система двухуровневая: первый уровень-это центральный банк, второй уровень-система коммерческих банков.</vt:lpstr>
      <vt:lpstr>Презентация PowerPoint</vt:lpstr>
      <vt:lpstr>Функции центрального банка</vt:lpstr>
      <vt:lpstr>Презентация PowerPoint</vt:lpstr>
      <vt:lpstr>Баланс центрального банка, как баланс любого банка, состоит из двух частей. В первой части отражаются пассивы (обязательства), а в левой-активы (направления использования средств) (табл. 8.1).</vt:lpstr>
      <vt:lpstr>Коммерческие банки и их операции. Банковские резервы.</vt:lpstr>
      <vt:lpstr>Презентация PowerPoint</vt:lpstr>
      <vt:lpstr>Специализация банков</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Баланс современного коммерческого банка представлен в табл. 8.4.</vt:lpstr>
      <vt:lpstr>Создание денег коммерческими банками. Банковский мультипликатор</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Банковская система</dc:title>
  <dc:creator>Павлова Милена Станиславовна</dc:creator>
  <cp:lastModifiedBy>Королева Нонна Шараповна</cp:lastModifiedBy>
  <cp:revision>10</cp:revision>
  <dcterms:created xsi:type="dcterms:W3CDTF">2021-09-23T08:27:27Z</dcterms:created>
  <dcterms:modified xsi:type="dcterms:W3CDTF">2021-10-21T20:39:26Z</dcterms:modified>
</cp:coreProperties>
</file>