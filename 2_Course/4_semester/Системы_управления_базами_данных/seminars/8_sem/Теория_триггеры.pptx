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7559675" cy="10691800"/>
  <p:embeddedFontLst>
    <p:embeddedFont>
      <p:font typeface="Roboto"/>
      <p:regular r:id="rId20"/>
      <p:bold r:id="rId21"/>
      <p:italic r:id="rId22"/>
      <p:boldItalic r:id="rId23"/>
    </p:embeddedFont>
    <p:embeddedFont>
      <p:font typeface="Quattrocento Sans"/>
      <p:regular r:id="rId24"/>
      <p:bold r:id="rId25"/>
      <p:italic r:id="rId26"/>
      <p:boldItalic r:id="rId27"/>
    </p:embeddedFont>
    <p:embeddedFont>
      <p:font typeface="Roboto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j56j+Kvn+ysDEehlRQVxY00iEA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QuattrocentoSans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QuattrocentoSans-italic.fntdata"/><Relationship Id="rId25" Type="http://schemas.openxmlformats.org/officeDocument/2006/relationships/font" Target="fonts/QuattrocentoSans-bold.fntdata"/><Relationship Id="rId28" Type="http://schemas.openxmlformats.org/officeDocument/2006/relationships/font" Target="fonts/RobotoMono-regular.fntdata"/><Relationship Id="rId27" Type="http://schemas.openxmlformats.org/officeDocument/2006/relationships/font" Target="fonts/Quattrocento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1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6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46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7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p37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7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47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8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48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9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49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50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5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55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c9be01eb4d_0_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g2c9be01eb4d_0_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g2c9be01eb4d_0_0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c9be01eb4d_0_23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g2c9be01eb4d_0_23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g2c9be01eb4d_0_23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c9be01eb4d_0_37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g2c9be01eb4d_0_37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g2c9be01eb4d_0_37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6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" name="Google Shape;308;p56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7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57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87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p87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89"/>
          <p:cNvSpPr txBox="1"/>
          <p:nvPr>
            <p:ph idx="11" type="ftr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89"/>
          <p:cNvSpPr txBox="1"/>
          <p:nvPr>
            <p:ph idx="12" type="sldNum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9" name="Google Shape;19;p89"/>
          <p:cNvSpPr txBox="1"/>
          <p:nvPr>
            <p:ph idx="10" type="dt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5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5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95"/>
          <p:cNvSpPr txBox="1"/>
          <p:nvPr>
            <p:ph idx="11" type="ftr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95"/>
          <p:cNvSpPr txBox="1"/>
          <p:nvPr>
            <p:ph idx="12" type="sldNum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5" name="Google Shape;25;p95"/>
          <p:cNvSpPr txBox="1"/>
          <p:nvPr>
            <p:ph idx="10" type="dt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96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6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96"/>
          <p:cNvSpPr txBox="1"/>
          <p:nvPr>
            <p:ph idx="11" type="ftr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6"/>
          <p:cNvSpPr txBox="1"/>
          <p:nvPr>
            <p:ph idx="12" type="sldNum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1" name="Google Shape;31;p96"/>
          <p:cNvSpPr txBox="1"/>
          <p:nvPr>
            <p:ph idx="10" type="dt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7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7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97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97"/>
          <p:cNvSpPr txBox="1"/>
          <p:nvPr>
            <p:ph idx="11" type="ftr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7"/>
          <p:cNvSpPr txBox="1"/>
          <p:nvPr>
            <p:ph idx="12" type="sldNum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8" name="Google Shape;38;p97"/>
          <p:cNvSpPr txBox="1"/>
          <p:nvPr>
            <p:ph idx="10" type="dt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8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8"/>
          <p:cNvSpPr txBox="1"/>
          <p:nvPr>
            <p:ph idx="11" type="ftr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8"/>
          <p:cNvSpPr txBox="1"/>
          <p:nvPr>
            <p:ph idx="12" type="sldNum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3" name="Google Shape;43;p98"/>
          <p:cNvSpPr txBox="1"/>
          <p:nvPr>
            <p:ph idx="10" type="dt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9"/>
          <p:cNvSpPr txBox="1"/>
          <p:nvPr>
            <p:ph idx="1"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99"/>
          <p:cNvSpPr txBox="1"/>
          <p:nvPr>
            <p:ph idx="11" type="ftr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9"/>
          <p:cNvSpPr txBox="1"/>
          <p:nvPr>
            <p:ph idx="12" type="sldNum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8" name="Google Shape;48;p99"/>
          <p:cNvSpPr txBox="1"/>
          <p:nvPr>
            <p:ph idx="10" type="dt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0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0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100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00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00"/>
          <p:cNvSpPr txBox="1"/>
          <p:nvPr>
            <p:ph idx="11" type="ftr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00"/>
          <p:cNvSpPr txBox="1"/>
          <p:nvPr>
            <p:ph idx="12" type="sldNum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6" name="Google Shape;56;p100"/>
          <p:cNvSpPr txBox="1"/>
          <p:nvPr>
            <p:ph idx="10" type="dt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1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1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101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101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101"/>
          <p:cNvSpPr txBox="1"/>
          <p:nvPr>
            <p:ph idx="11" type="ftr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1"/>
          <p:cNvSpPr txBox="1"/>
          <p:nvPr>
            <p:ph idx="12" type="sldNum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4" name="Google Shape;64;p101"/>
          <p:cNvSpPr txBox="1"/>
          <p:nvPr>
            <p:ph idx="10" type="dt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2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2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02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02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102"/>
          <p:cNvSpPr txBox="1"/>
          <p:nvPr>
            <p:ph idx="11" type="ftr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2"/>
          <p:cNvSpPr txBox="1"/>
          <p:nvPr>
            <p:ph idx="12" type="sldNum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72" name="Google Shape;72;p102"/>
          <p:cNvSpPr txBox="1"/>
          <p:nvPr>
            <p:ph idx="10" type="dt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3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03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03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03"/>
          <p:cNvSpPr txBox="1"/>
          <p:nvPr>
            <p:ph idx="11" type="ftr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03"/>
          <p:cNvSpPr txBox="1"/>
          <p:nvPr>
            <p:ph idx="12" type="sldNum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79" name="Google Shape;79;p103"/>
          <p:cNvSpPr txBox="1"/>
          <p:nvPr>
            <p:ph idx="10" type="dt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04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04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04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04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04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04"/>
          <p:cNvSpPr txBox="1"/>
          <p:nvPr>
            <p:ph idx="11" type="ftr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4"/>
          <p:cNvSpPr txBox="1"/>
          <p:nvPr>
            <p:ph idx="12" type="sldNum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88" name="Google Shape;88;p104"/>
          <p:cNvSpPr txBox="1"/>
          <p:nvPr>
            <p:ph idx="10" type="dt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5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5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05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05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105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05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105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105"/>
          <p:cNvSpPr txBox="1"/>
          <p:nvPr>
            <p:ph idx="11" type="ftr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05"/>
          <p:cNvSpPr txBox="1"/>
          <p:nvPr>
            <p:ph idx="12" type="sldNum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99" name="Google Shape;99;p105"/>
          <p:cNvSpPr txBox="1"/>
          <p:nvPr>
            <p:ph idx="10" type="dt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1"/>
          <p:cNvSpPr txBox="1"/>
          <p:nvPr>
            <p:ph idx="11" type="ftr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91"/>
          <p:cNvSpPr txBox="1"/>
          <p:nvPr>
            <p:ph idx="12" type="sldNum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10" name="Google Shape;110;p91"/>
          <p:cNvSpPr txBox="1"/>
          <p:nvPr>
            <p:ph idx="10" type="dt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7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07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07"/>
          <p:cNvSpPr txBox="1"/>
          <p:nvPr>
            <p:ph idx="11" type="ftr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07"/>
          <p:cNvSpPr txBox="1"/>
          <p:nvPr>
            <p:ph idx="12" type="sldNum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16" name="Google Shape;116;p107"/>
          <p:cNvSpPr txBox="1"/>
          <p:nvPr>
            <p:ph idx="10" type="dt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9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09"/>
          <p:cNvSpPr txBox="1"/>
          <p:nvPr>
            <p:ph idx="11" type="ftr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09"/>
          <p:cNvSpPr txBox="1"/>
          <p:nvPr>
            <p:ph idx="12" type="sldNum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21" name="Google Shape;121;p109"/>
          <p:cNvSpPr txBox="1"/>
          <p:nvPr>
            <p:ph idx="10" type="dt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0"/>
          <p:cNvSpPr txBox="1"/>
          <p:nvPr>
            <p:ph idx="1"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110"/>
          <p:cNvSpPr txBox="1"/>
          <p:nvPr>
            <p:ph idx="11" type="ftr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10"/>
          <p:cNvSpPr txBox="1"/>
          <p:nvPr>
            <p:ph idx="12" type="sldNum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26" name="Google Shape;126;p110"/>
          <p:cNvSpPr txBox="1"/>
          <p:nvPr>
            <p:ph idx="10" type="dt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1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11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11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1" name="Google Shape;131;p111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111"/>
          <p:cNvSpPr txBox="1"/>
          <p:nvPr>
            <p:ph idx="11" type="ftr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11"/>
          <p:cNvSpPr txBox="1"/>
          <p:nvPr>
            <p:ph idx="12" type="sldNum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34" name="Google Shape;134;p111"/>
          <p:cNvSpPr txBox="1"/>
          <p:nvPr>
            <p:ph idx="10" type="dt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2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12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112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p112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0" name="Google Shape;140;p112"/>
          <p:cNvSpPr txBox="1"/>
          <p:nvPr>
            <p:ph idx="11" type="ftr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12"/>
          <p:cNvSpPr txBox="1"/>
          <p:nvPr>
            <p:ph idx="12" type="sldNum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42" name="Google Shape;142;p112"/>
          <p:cNvSpPr txBox="1"/>
          <p:nvPr>
            <p:ph idx="10" type="dt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3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13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113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p113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113"/>
          <p:cNvSpPr txBox="1"/>
          <p:nvPr>
            <p:ph idx="11" type="ftr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13"/>
          <p:cNvSpPr txBox="1"/>
          <p:nvPr>
            <p:ph idx="12" type="sldNum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0" name="Google Shape;150;p113"/>
          <p:cNvSpPr txBox="1"/>
          <p:nvPr>
            <p:ph idx="10" type="dt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4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14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p114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p114"/>
          <p:cNvSpPr txBox="1"/>
          <p:nvPr>
            <p:ph idx="11" type="ftr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114"/>
          <p:cNvSpPr txBox="1"/>
          <p:nvPr>
            <p:ph idx="12" type="sldNum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7" name="Google Shape;157;p114"/>
          <p:cNvSpPr txBox="1"/>
          <p:nvPr>
            <p:ph idx="10" type="dt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5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15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1" name="Google Shape;161;p115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2" name="Google Shape;162;p115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3" name="Google Shape;163;p115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115"/>
          <p:cNvSpPr txBox="1"/>
          <p:nvPr>
            <p:ph idx="11" type="ftr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115"/>
          <p:cNvSpPr txBox="1"/>
          <p:nvPr>
            <p:ph idx="12" type="sldNum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66" name="Google Shape;166;p115"/>
          <p:cNvSpPr txBox="1"/>
          <p:nvPr>
            <p:ph idx="10" type="dt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6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116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0" name="Google Shape;170;p116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1" name="Google Shape;171;p116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2" name="Google Shape;172;p116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3" name="Google Shape;173;p116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4" name="Google Shape;174;p116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5" name="Google Shape;175;p116"/>
          <p:cNvSpPr txBox="1"/>
          <p:nvPr>
            <p:ph idx="11" type="ftr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116"/>
          <p:cNvSpPr txBox="1"/>
          <p:nvPr>
            <p:ph idx="12" type="sldNum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77" name="Google Shape;177;p116"/>
          <p:cNvSpPr txBox="1"/>
          <p:nvPr>
            <p:ph idx="10" type="dt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Изображение выглядит как здание&#10;&#10;Автоматически созданное описание" id="10" name="Google Shape;10;p8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5400"/>
            <a:ext cx="9142560" cy="190548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88"/>
          <p:cNvSpPr txBox="1"/>
          <p:nvPr>
            <p:ph idx="11" type="ftr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88"/>
          <p:cNvSpPr txBox="1"/>
          <p:nvPr>
            <p:ph idx="12" type="sldNum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Google Shape;13;p88"/>
          <p:cNvSpPr txBox="1"/>
          <p:nvPr>
            <p:ph idx="10" type="dt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88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88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9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2560" cy="90756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90"/>
          <p:cNvSpPr txBox="1"/>
          <p:nvPr>
            <p:ph idx="11" type="ftr"/>
          </p:nvPr>
        </p:nvSpPr>
        <p:spPr>
          <a:xfrm>
            <a:off x="3029040" y="6356520"/>
            <a:ext cx="308484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" name="Google Shape;103;p90"/>
          <p:cNvSpPr txBox="1"/>
          <p:nvPr>
            <p:ph idx="12" type="sldNum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90"/>
          <p:cNvSpPr txBox="1"/>
          <p:nvPr>
            <p:ph idx="10" type="dt"/>
          </p:nvPr>
        </p:nvSpPr>
        <p:spPr>
          <a:xfrm>
            <a:off x="62856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90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" name="Google Shape;106;p90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p.id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"/>
          <p:cNvSpPr txBox="1"/>
          <p:nvPr>
            <p:ph idx="4294967295" type="title"/>
          </p:nvPr>
        </p:nvSpPr>
        <p:spPr>
          <a:xfrm>
            <a:off x="1275347" y="2866432"/>
            <a:ext cx="6068428" cy="1125135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98856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ru-RU" sz="2200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Семинар №15 «Язык описания данных (DDL). Триггеры. Курсоры»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"/>
          <p:cNvSpPr txBox="1"/>
          <p:nvPr>
            <p:ph idx="4294967295" type="subTitle"/>
          </p:nvPr>
        </p:nvSpPr>
        <p:spPr>
          <a:xfrm>
            <a:off x="531360" y="5861880"/>
            <a:ext cx="8201880" cy="67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 fontScale="86000" lnSpcReduction="10000"/>
          </a:bodyPr>
          <a:lstStyle/>
          <a:p>
            <a:pPr indent="-228600" lvl="0" marL="2286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ru-RU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Кафедра анализа данных и машинного обучения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ctr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ru-RU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Камалова Юлия Борисовна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"/>
          <p:cNvSpPr txBox="1"/>
          <p:nvPr>
            <p:ph idx="4294967295" type="body"/>
          </p:nvPr>
        </p:nvSpPr>
        <p:spPr>
          <a:xfrm>
            <a:off x="184680" y="2193840"/>
            <a:ext cx="879228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/>
          <a:p>
            <a:pPr indent="-228600" lvl="0" marL="2286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Дисциплина «</a:t>
            </a:r>
            <a:r>
              <a:rPr lang="ru-RU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Базы данных</a:t>
            </a:r>
            <a:r>
              <a:rPr b="0" i="0" lang="ru-RU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»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"/>
          <p:cNvSpPr txBox="1"/>
          <p:nvPr>
            <p:ph idx="12" type="sldNum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</a:pPr>
            <a:fld id="{00000000-1234-1234-1234-123412341234}" type="slidenum">
              <a:rPr b="0" lang="ru-RU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6"/>
          <p:cNvSpPr txBox="1"/>
          <p:nvPr>
            <p:ph idx="12" type="sldNum"/>
          </p:nvPr>
        </p:nvSpPr>
        <p:spPr>
          <a:xfrm>
            <a:off x="7022785" y="6477883"/>
            <a:ext cx="20559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</a:pPr>
            <a:fld id="{00000000-1234-1234-1234-123412341234}" type="slidenum">
              <a:rPr b="0" lang="ru-RU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91" name="Google Shape;191;p46"/>
          <p:cNvSpPr/>
          <p:nvPr/>
        </p:nvSpPr>
        <p:spPr>
          <a:xfrm>
            <a:off x="122040" y="1123560"/>
            <a:ext cx="8889900" cy="51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6"/>
          <p:cNvSpPr/>
          <p:nvPr/>
        </p:nvSpPr>
        <p:spPr>
          <a:xfrm>
            <a:off x="3107094" y="226637"/>
            <a:ext cx="5971591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Триггеры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6"/>
          <p:cNvSpPr/>
          <p:nvPr/>
        </p:nvSpPr>
        <p:spPr>
          <a:xfrm>
            <a:off x="122040" y="2077667"/>
            <a:ext cx="902196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Часть 1. Триггеры в postgreSQL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>
            <p:ph idx="12" type="sldNum"/>
          </p:nvPr>
        </p:nvSpPr>
        <p:spPr>
          <a:xfrm>
            <a:off x="7022785" y="6477883"/>
            <a:ext cx="20559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</a:pPr>
            <a:fld id="{00000000-1234-1234-1234-123412341234}" type="slidenum">
              <a:rPr b="0" lang="ru-RU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99" name="Google Shape;199;p37"/>
          <p:cNvSpPr/>
          <p:nvPr/>
        </p:nvSpPr>
        <p:spPr>
          <a:xfrm>
            <a:off x="122040" y="1123560"/>
            <a:ext cx="8889900" cy="51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7"/>
          <p:cNvSpPr/>
          <p:nvPr/>
        </p:nvSpPr>
        <p:spPr>
          <a:xfrm>
            <a:off x="3107094" y="226637"/>
            <a:ext cx="5971591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Триггеры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7"/>
          <p:cNvSpPr/>
          <p:nvPr/>
        </p:nvSpPr>
        <p:spPr>
          <a:xfrm>
            <a:off x="-1" y="1123560"/>
            <a:ext cx="9078685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Триггеры в PostgreSQL - это специальные объекты базы данных, которые автоматически выполняются при возникновении определенного события или изменении данных в таблице. Они представляют собой блоки кода, которые можно назначать на таблицы и вызывать до или после определенных операций (INSERT, UPDATE, DELETE).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37"/>
          <p:cNvSpPr/>
          <p:nvPr/>
        </p:nvSpPr>
        <p:spPr>
          <a:xfrm>
            <a:off x="122040" y="2077667"/>
            <a:ext cx="9021960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Пример применения:</a:t>
            </a:r>
            <a:b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Допустим, у нас есть база данных для системы учета заказов в интернет-магазине. Нам необходимо создать триггер, который будет автоматически обновлять общую сумму заказа, когда изменяется количество или цена товара в заказе.</a:t>
            </a:r>
            <a:b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Пример триггера: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7"/>
          <p:cNvSpPr txBox="1"/>
          <p:nvPr>
            <p:ph idx="12" type="sldNum"/>
          </p:nvPr>
        </p:nvSpPr>
        <p:spPr>
          <a:xfrm>
            <a:off x="7022785" y="6477883"/>
            <a:ext cx="20559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</a:pPr>
            <a:fld id="{00000000-1234-1234-1234-123412341234}" type="slidenum">
              <a:rPr b="0" lang="ru-RU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08" name="Google Shape;208;p47"/>
          <p:cNvSpPr/>
          <p:nvPr/>
        </p:nvSpPr>
        <p:spPr>
          <a:xfrm>
            <a:off x="122040" y="1123560"/>
            <a:ext cx="8889900" cy="51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47"/>
          <p:cNvSpPr/>
          <p:nvPr/>
        </p:nvSpPr>
        <p:spPr>
          <a:xfrm>
            <a:off x="3107094" y="226637"/>
            <a:ext cx="5971591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Триггеры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47"/>
          <p:cNvSpPr/>
          <p:nvPr/>
        </p:nvSpPr>
        <p:spPr>
          <a:xfrm>
            <a:off x="2622884" y="1267114"/>
            <a:ext cx="6110469" cy="4832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OR REPLACE FUNCTION update_order_total()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RETURNS TRIGGER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$$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IF TG_OP = 'INSERT' OR TG_OP = 'UPDATE' OF quantity OR TG_OP = 'UPDATE' OF price THEN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UPDATE orders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SET total = (SELECT COALESCE(SUM(p.price * o.quantity), 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FROM products 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INNER JOIN order_details o ON p.id = o.product_id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WHERE o.order_id = NEW.order_id)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WHERE order_id = NEW.order_id;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END IF;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RETURN NEW;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$$ LANGUAGE plpgsql;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TRIGGER update_order_total_trigger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 INSERT OR UPDATE OF quantity, price ON order_details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EACH ROW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EXECUTE PROCEDURE update_order_total();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47"/>
          <p:cNvSpPr/>
          <p:nvPr/>
        </p:nvSpPr>
        <p:spPr>
          <a:xfrm>
            <a:off x="902367" y="1271227"/>
            <a:ext cx="445169" cy="224802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7"/>
          <p:cNvSpPr/>
          <p:nvPr/>
        </p:nvSpPr>
        <p:spPr>
          <a:xfrm>
            <a:off x="902367" y="1531295"/>
            <a:ext cx="445169" cy="224802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47"/>
          <p:cNvSpPr/>
          <p:nvPr/>
        </p:nvSpPr>
        <p:spPr>
          <a:xfrm>
            <a:off x="902366" y="1810796"/>
            <a:ext cx="445169" cy="224802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47"/>
          <p:cNvSpPr/>
          <p:nvPr/>
        </p:nvSpPr>
        <p:spPr>
          <a:xfrm>
            <a:off x="915260" y="2090297"/>
            <a:ext cx="445169" cy="224802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47"/>
          <p:cNvSpPr/>
          <p:nvPr/>
        </p:nvSpPr>
        <p:spPr>
          <a:xfrm>
            <a:off x="915260" y="2350365"/>
            <a:ext cx="445169" cy="224802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7"/>
          <p:cNvSpPr/>
          <p:nvPr/>
        </p:nvSpPr>
        <p:spPr>
          <a:xfrm>
            <a:off x="915259" y="2629866"/>
            <a:ext cx="445169" cy="224802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47"/>
          <p:cNvSpPr/>
          <p:nvPr/>
        </p:nvSpPr>
        <p:spPr>
          <a:xfrm>
            <a:off x="927292" y="2909367"/>
            <a:ext cx="445169" cy="224802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47"/>
          <p:cNvSpPr/>
          <p:nvPr/>
        </p:nvSpPr>
        <p:spPr>
          <a:xfrm>
            <a:off x="927292" y="3169435"/>
            <a:ext cx="445169" cy="224802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47"/>
          <p:cNvSpPr/>
          <p:nvPr/>
        </p:nvSpPr>
        <p:spPr>
          <a:xfrm>
            <a:off x="927291" y="3448936"/>
            <a:ext cx="445169" cy="224802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47"/>
          <p:cNvSpPr/>
          <p:nvPr/>
        </p:nvSpPr>
        <p:spPr>
          <a:xfrm>
            <a:off x="927292" y="3709004"/>
            <a:ext cx="445169" cy="224802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47"/>
          <p:cNvSpPr/>
          <p:nvPr/>
        </p:nvSpPr>
        <p:spPr>
          <a:xfrm>
            <a:off x="927292" y="3969072"/>
            <a:ext cx="445169" cy="224802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47"/>
          <p:cNvSpPr/>
          <p:nvPr/>
        </p:nvSpPr>
        <p:spPr>
          <a:xfrm>
            <a:off x="927291" y="4248573"/>
            <a:ext cx="445169" cy="224802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47"/>
          <p:cNvSpPr/>
          <p:nvPr/>
        </p:nvSpPr>
        <p:spPr>
          <a:xfrm>
            <a:off x="927292" y="4507811"/>
            <a:ext cx="445169" cy="224802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47"/>
          <p:cNvSpPr/>
          <p:nvPr/>
        </p:nvSpPr>
        <p:spPr>
          <a:xfrm>
            <a:off x="927292" y="4767879"/>
            <a:ext cx="445169" cy="224802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7"/>
          <p:cNvSpPr/>
          <p:nvPr/>
        </p:nvSpPr>
        <p:spPr>
          <a:xfrm>
            <a:off x="927291" y="5047380"/>
            <a:ext cx="445169" cy="224802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7"/>
          <p:cNvSpPr/>
          <p:nvPr/>
        </p:nvSpPr>
        <p:spPr>
          <a:xfrm>
            <a:off x="928152" y="5326705"/>
            <a:ext cx="445169" cy="224802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47"/>
          <p:cNvSpPr/>
          <p:nvPr/>
        </p:nvSpPr>
        <p:spPr>
          <a:xfrm>
            <a:off x="928152" y="5586773"/>
            <a:ext cx="445169" cy="224802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47"/>
          <p:cNvSpPr/>
          <p:nvPr/>
        </p:nvSpPr>
        <p:spPr>
          <a:xfrm>
            <a:off x="928151" y="5866274"/>
            <a:ext cx="445169" cy="224802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9" name="Google Shape;229;p47"/>
          <p:cNvCxnSpPr>
            <a:stCxn id="211" idx="3"/>
          </p:cNvCxnSpPr>
          <p:nvPr/>
        </p:nvCxnSpPr>
        <p:spPr>
          <a:xfrm>
            <a:off x="1347536" y="1383628"/>
            <a:ext cx="1275300" cy="0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0" name="Google Shape;230;p47"/>
          <p:cNvCxnSpPr/>
          <p:nvPr/>
        </p:nvCxnSpPr>
        <p:spPr>
          <a:xfrm>
            <a:off x="1353982" y="1585814"/>
            <a:ext cx="1275348" cy="4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1" name="Google Shape;231;p47"/>
          <p:cNvCxnSpPr/>
          <p:nvPr/>
        </p:nvCxnSpPr>
        <p:spPr>
          <a:xfrm>
            <a:off x="1372460" y="1868090"/>
            <a:ext cx="1275348" cy="4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2" name="Google Shape;232;p47"/>
          <p:cNvCxnSpPr/>
          <p:nvPr/>
        </p:nvCxnSpPr>
        <p:spPr>
          <a:xfrm flipH="1" rot="10800000">
            <a:off x="1347535" y="2052814"/>
            <a:ext cx="1300273" cy="157383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3" name="Google Shape;233;p47"/>
          <p:cNvCxnSpPr/>
          <p:nvPr/>
        </p:nvCxnSpPr>
        <p:spPr>
          <a:xfrm flipH="1" rot="10800000">
            <a:off x="1346673" y="2280279"/>
            <a:ext cx="1408559" cy="181729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4" name="Google Shape;234;p47"/>
          <p:cNvCxnSpPr/>
          <p:nvPr/>
        </p:nvCxnSpPr>
        <p:spPr>
          <a:xfrm flipH="1" rot="10800000">
            <a:off x="1346672" y="2688134"/>
            <a:ext cx="1760422" cy="24569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5" name="Google Shape;235;p47"/>
          <p:cNvCxnSpPr/>
          <p:nvPr/>
        </p:nvCxnSpPr>
        <p:spPr>
          <a:xfrm flipH="1" rot="10800000">
            <a:off x="1373501" y="2909367"/>
            <a:ext cx="1733593" cy="90339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6" name="Google Shape;236;p47"/>
          <p:cNvCxnSpPr/>
          <p:nvPr/>
        </p:nvCxnSpPr>
        <p:spPr>
          <a:xfrm flipH="1" rot="10800000">
            <a:off x="1346672" y="3103491"/>
            <a:ext cx="2635781" cy="168157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7" name="Google Shape;237;p47"/>
          <p:cNvCxnSpPr/>
          <p:nvPr/>
        </p:nvCxnSpPr>
        <p:spPr>
          <a:xfrm>
            <a:off x="1396520" y="3569837"/>
            <a:ext cx="2585933" cy="0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8" name="Google Shape;238;p47"/>
          <p:cNvCxnSpPr/>
          <p:nvPr/>
        </p:nvCxnSpPr>
        <p:spPr>
          <a:xfrm>
            <a:off x="1372460" y="3806459"/>
            <a:ext cx="1734634" cy="0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9" name="Google Shape;239;p47"/>
          <p:cNvCxnSpPr/>
          <p:nvPr/>
        </p:nvCxnSpPr>
        <p:spPr>
          <a:xfrm flipH="1" rot="10800000">
            <a:off x="1329917" y="3969072"/>
            <a:ext cx="1545630" cy="126144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0" name="Google Shape;240;p47"/>
          <p:cNvCxnSpPr/>
          <p:nvPr/>
        </p:nvCxnSpPr>
        <p:spPr>
          <a:xfrm>
            <a:off x="1360428" y="4377122"/>
            <a:ext cx="1515119" cy="0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1" name="Google Shape;241;p47"/>
          <p:cNvCxnSpPr/>
          <p:nvPr/>
        </p:nvCxnSpPr>
        <p:spPr>
          <a:xfrm>
            <a:off x="1372460" y="4600542"/>
            <a:ext cx="1382772" cy="0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2" name="Google Shape;242;p47"/>
          <p:cNvCxnSpPr/>
          <p:nvPr/>
        </p:nvCxnSpPr>
        <p:spPr>
          <a:xfrm flipH="1" rot="10800000">
            <a:off x="1372460" y="4767879"/>
            <a:ext cx="1382772" cy="133452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3" name="Google Shape;243;p47"/>
          <p:cNvCxnSpPr/>
          <p:nvPr/>
        </p:nvCxnSpPr>
        <p:spPr>
          <a:xfrm>
            <a:off x="1372460" y="5124050"/>
            <a:ext cx="1275348" cy="148132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4" name="Google Shape;244;p47"/>
          <p:cNvCxnSpPr/>
          <p:nvPr/>
        </p:nvCxnSpPr>
        <p:spPr>
          <a:xfrm>
            <a:off x="1324337" y="5420835"/>
            <a:ext cx="1365149" cy="14254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5" name="Google Shape;245;p47"/>
          <p:cNvCxnSpPr/>
          <p:nvPr/>
        </p:nvCxnSpPr>
        <p:spPr>
          <a:xfrm flipH="1" rot="10800000">
            <a:off x="1353982" y="5668890"/>
            <a:ext cx="1310580" cy="25164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6" name="Google Shape;246;p47"/>
          <p:cNvCxnSpPr/>
          <p:nvPr/>
        </p:nvCxnSpPr>
        <p:spPr>
          <a:xfrm flipH="1" rot="10800000">
            <a:off x="1358066" y="5889503"/>
            <a:ext cx="1331420" cy="67698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8"/>
          <p:cNvSpPr txBox="1"/>
          <p:nvPr>
            <p:ph idx="12" type="sldNum"/>
          </p:nvPr>
        </p:nvSpPr>
        <p:spPr>
          <a:xfrm>
            <a:off x="7022785" y="6477883"/>
            <a:ext cx="20559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</a:pPr>
            <a:fld id="{00000000-1234-1234-1234-123412341234}" type="slidenum">
              <a:rPr b="0" lang="ru-RU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52" name="Google Shape;252;p48"/>
          <p:cNvSpPr/>
          <p:nvPr/>
        </p:nvSpPr>
        <p:spPr>
          <a:xfrm>
            <a:off x="122040" y="1123560"/>
            <a:ext cx="8889900" cy="51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8"/>
          <p:cNvSpPr/>
          <p:nvPr/>
        </p:nvSpPr>
        <p:spPr>
          <a:xfrm>
            <a:off x="3107094" y="226637"/>
            <a:ext cx="5971591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Триггеры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48"/>
          <p:cNvSpPr/>
          <p:nvPr/>
        </p:nvSpPr>
        <p:spPr>
          <a:xfrm>
            <a:off x="77634" y="985075"/>
            <a:ext cx="8793360" cy="5909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1. CREATE OR REPLACE FUNCTION update_order_total(): Создание или замена функции с именем "update_order_total()". Эта функция будет выполняться в качестве триггера при определенных событиях.</a:t>
            </a:r>
            <a:b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2. RETURNS TRIGGER: Объявление типа возвращаемого значения функции как "TRIGGER". Это означает, что функция будет использоваться в качестве триггера и должна вернуть триггерное значение.</a:t>
            </a:r>
            <a:b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3. AS $$: Обозначает начало блока кода функции.</a:t>
            </a:r>
            <a:b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4. BEGIN: Ключевое слово, обозначающее начало блока кода функции.</a:t>
            </a:r>
            <a:b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5. IF TG_OP = 'INSERT' OR TG_OP = 'UPDATE' OF quantity OR TG_OP = 'UPDATE' OF price THEN: Условие IF, которое проверяет, является ли текущая операция INSERT или UPDATE поля quantity или price.</a:t>
            </a:r>
            <a:b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6. UPDATE orders: SQL-запрос на обновление данных в таблице "orders".</a:t>
            </a:r>
            <a:b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7. SET total = (SELECT COALESCE(SUM(p.price * o.quantity), 0)... : Устанавливает значение столбца "total" в таблице "orders" равным результату подзапроса, который рассчитывает общую сумму заказа на основе товаров и их количества.</a:t>
            </a:r>
            <a:b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8. FROM products p INNER JOIN order_details o ON </a:t>
            </a:r>
            <a:r>
              <a:rPr b="0" i="0" lang="ru-RU" sz="1400" u="sng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p.id</a:t>
            </a:r>
            <a:r>
              <a:rPr b="0" i="0" lang="ru-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 = o.product_id ... : Объединение таблиц "products" и "order_details" по полю "product_id".</a:t>
            </a:r>
            <a:b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9. WHERE o.order_id = NEW.order_id: Условие WHERE, которое фильтрует записи только для указанного "order_id" из новой строки (NEW).</a:t>
            </a:r>
            <a:b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10. WHERE order_id = NEW.order_id: Условие WHERE, которое фильтрует записи только для указанного "order_id" из новой строки (NEW).</a:t>
            </a:r>
            <a:b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11. END IF: Конец условия IF.</a:t>
            </a:r>
            <a:b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12. RETURN NEW: Возвращает триггерное значение NEW, что означает, что триггер должен выполниться успешно и применить изменения.</a:t>
            </a:r>
            <a:b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13. END: Ключевое слово, обозначающее конец блока кода функции.</a:t>
            </a:r>
            <a:b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14. $$ LANGUAGE plpgsql: Окончание блока кода функции с указанием использования языка PL/pgSQL.</a:t>
            </a:r>
            <a:b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9"/>
          <p:cNvSpPr txBox="1"/>
          <p:nvPr>
            <p:ph idx="12" type="sldNum"/>
          </p:nvPr>
        </p:nvSpPr>
        <p:spPr>
          <a:xfrm>
            <a:off x="7022785" y="6477883"/>
            <a:ext cx="20559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</a:pPr>
            <a:fld id="{00000000-1234-1234-1234-123412341234}" type="slidenum">
              <a:rPr b="0" lang="ru-RU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60" name="Google Shape;260;p49"/>
          <p:cNvSpPr/>
          <p:nvPr/>
        </p:nvSpPr>
        <p:spPr>
          <a:xfrm>
            <a:off x="122040" y="1123560"/>
            <a:ext cx="8889900" cy="51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49"/>
          <p:cNvSpPr/>
          <p:nvPr/>
        </p:nvSpPr>
        <p:spPr>
          <a:xfrm>
            <a:off x="3107094" y="226637"/>
            <a:ext cx="5971591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Триггеры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49"/>
          <p:cNvSpPr/>
          <p:nvPr/>
        </p:nvSpPr>
        <p:spPr>
          <a:xfrm>
            <a:off x="77634" y="985075"/>
            <a:ext cx="879336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15. CREATE TRIGGER update_order_total_trigger: Создание триггера с именем "update_order_total_trigger".</a:t>
            </a:r>
            <a:b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16. AFTER INSERT OR UPDATE OF quantity, price ON order_details: Указание, когда триггер должен выполняться - после операций INSERT или UPDATE для полей "quantity" или "price" в таблице "order_details".</a:t>
            </a:r>
            <a:b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17. FOR EACH ROW: Задает, что триггер должен выполняться для каждой измененной строки.</a:t>
            </a:r>
            <a:b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18. EXECUTE PROCEDURE update_order_total(): Указывает, что должна выполняться функция "update_order_total()" в качестве процедуры для триггера.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0"/>
          <p:cNvSpPr txBox="1"/>
          <p:nvPr>
            <p:ph idx="12" type="sldNum"/>
          </p:nvPr>
        </p:nvSpPr>
        <p:spPr>
          <a:xfrm>
            <a:off x="7022785" y="6477883"/>
            <a:ext cx="20559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</a:pPr>
            <a:fld id="{00000000-1234-1234-1234-123412341234}" type="slidenum">
              <a:rPr b="0" lang="ru-RU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68" name="Google Shape;268;p50"/>
          <p:cNvSpPr/>
          <p:nvPr/>
        </p:nvSpPr>
        <p:spPr>
          <a:xfrm>
            <a:off x="122040" y="1123560"/>
            <a:ext cx="8889900" cy="51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50"/>
          <p:cNvSpPr/>
          <p:nvPr/>
        </p:nvSpPr>
        <p:spPr>
          <a:xfrm>
            <a:off x="3107094" y="226637"/>
            <a:ext cx="5971591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Триггеры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50"/>
          <p:cNvSpPr/>
          <p:nvPr/>
        </p:nvSpPr>
        <p:spPr>
          <a:xfrm>
            <a:off x="77634" y="985075"/>
            <a:ext cx="8793360" cy="3108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Результатом работы этого триггера будет автоматическое обновление значения столбца "total" в таблице "orders" при каждом вставке (INSERT) или обновлении (UPDATE) полей "quantity" или "price" в таблице "order_details". </a:t>
            </a:r>
            <a:b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Триггер будет обновлять общую сумму заказа ("total") на основе измененных данных в таблице "order_details". </a:t>
            </a:r>
            <a:b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Когда происходит вставка или обновление записи в таблице "order_details" с изменением поля "quantity" или "price", триггер будет выполнять SQL-запрос для расчета нового значения общей суммы заказа из таблицы "products" и "order_details". Затем он обновит значение столбца "total" в таблице "orders" для соответствующего заказа.</a:t>
            </a:r>
            <a:b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Таким образом, результатом работы триггера будет автоматическое обновление значения общей суммы заказа в таблице "orders" при каждом изменении данных в таблице "order_details".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55"/>
          <p:cNvSpPr txBox="1"/>
          <p:nvPr>
            <p:ph idx="12" type="sldNum"/>
          </p:nvPr>
        </p:nvSpPr>
        <p:spPr>
          <a:xfrm>
            <a:off x="7022785" y="6477883"/>
            <a:ext cx="20559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</a:pPr>
            <a:fld id="{00000000-1234-1234-1234-123412341234}" type="slidenum">
              <a:rPr b="0" lang="ru-RU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76" name="Google Shape;276;p55"/>
          <p:cNvSpPr/>
          <p:nvPr/>
        </p:nvSpPr>
        <p:spPr>
          <a:xfrm>
            <a:off x="122040" y="1123560"/>
            <a:ext cx="8889900" cy="51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55"/>
          <p:cNvSpPr/>
          <p:nvPr/>
        </p:nvSpPr>
        <p:spPr>
          <a:xfrm>
            <a:off x="3107094" y="226637"/>
            <a:ext cx="5971591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Курсоры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55"/>
          <p:cNvSpPr/>
          <p:nvPr/>
        </p:nvSpPr>
        <p:spPr>
          <a:xfrm>
            <a:off x="122040" y="2077667"/>
            <a:ext cx="902196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Часть 2. Курсоры в postgreSQL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c9be01eb4d_0_0"/>
          <p:cNvSpPr txBox="1"/>
          <p:nvPr>
            <p:ph idx="12" type="sldNum"/>
          </p:nvPr>
        </p:nvSpPr>
        <p:spPr>
          <a:xfrm>
            <a:off x="6458040" y="6356520"/>
            <a:ext cx="20559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85" name="Google Shape;285;g2c9be01eb4d_0_0"/>
          <p:cNvSpPr txBox="1"/>
          <p:nvPr/>
        </p:nvSpPr>
        <p:spPr>
          <a:xfrm>
            <a:off x="65950" y="873725"/>
            <a:ext cx="8737500" cy="6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OR REPLACE FUNCTION get_cursor()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RETURNS refcursor 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$$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DECLARE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cursor_name refcursor;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OPEN cursor_name FOR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SELECT * FROM table_name;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RETURN cursor_name;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$$ LANGUAGE plpgsql;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OR REPLACE FUNCTION process_cursor(cursor_name refcursor)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RETURNS void 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$$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DECLARE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data_row table_name%ROWTYPE;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LOOP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FETCH cursor_name INTO data_row;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EXIT WHEN NOT FOUND;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-- Действия с данными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END LOOP;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$$ LANGUAGE plpgsql;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-- Вызов функции и открытие курсора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 process_cursor(get_cursor());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g2c9be01eb4d_0_0"/>
          <p:cNvSpPr txBox="1"/>
          <p:nvPr/>
        </p:nvSpPr>
        <p:spPr>
          <a:xfrm>
            <a:off x="6313975" y="1285875"/>
            <a:ext cx="28299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- </a:t>
            </a:r>
            <a:r>
              <a:rPr b="0" i="0" lang="ru-RU" sz="11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get_cursor()</a:t>
            </a:r>
            <a:r>
              <a:rPr b="0" i="0" lang="ru-RU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- это функция для получения курсора с данными из таблицы "table_name".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- </a:t>
            </a:r>
            <a:r>
              <a:rPr b="0" i="0" lang="ru-RU" sz="11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process_cursor()</a:t>
            </a:r>
            <a:r>
              <a:rPr b="0" i="0" lang="ru-RU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- это функция для обработки данных, переданных в курсоре "cursor_name". Здесь указано </a:t>
            </a:r>
            <a:r>
              <a:rPr b="0" i="0" lang="ru-RU" sz="11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table_name%ROWTYPE</a:t>
            </a:r>
            <a:r>
              <a:rPr b="0" i="0" lang="ru-RU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чтобы определить структуру данных таблицы "table_name".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- </a:t>
            </a:r>
            <a:r>
              <a:rPr b="0" i="0" lang="ru-RU" sz="11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SELECT process_cursor(get_cursor());</a:t>
            </a:r>
            <a:r>
              <a:rPr b="0" i="0" lang="ru-RU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- это вызов функции </a:t>
            </a:r>
            <a:r>
              <a:rPr b="0" i="0" lang="ru-RU" sz="11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process_cursor()</a:t>
            </a:r>
            <a:r>
              <a:rPr b="0" i="0" lang="ru-RU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в которую передается результат выполнения функции </a:t>
            </a:r>
            <a:r>
              <a:rPr b="0" i="0" lang="ru-RU" sz="11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get_cursor()</a:t>
            </a:r>
            <a:r>
              <a:rPr b="0" i="0" lang="ru-RU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2c9be01eb4d_0_0"/>
          <p:cNvSpPr txBox="1"/>
          <p:nvPr/>
        </p:nvSpPr>
        <p:spPr>
          <a:xfrm>
            <a:off x="4900250" y="251325"/>
            <a:ext cx="390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Синтаксис вызова курсора 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2c9be01eb4d_0_0"/>
          <p:cNvSpPr txBox="1"/>
          <p:nvPr/>
        </p:nvSpPr>
        <p:spPr>
          <a:xfrm>
            <a:off x="5986000" y="4582975"/>
            <a:ext cx="3000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ROWTYPE - это специальный тип данных в языке PL/pgSQL в PostgreSQL, который представляет структуру строки или записи таблицы. Он может использоваться для определения переменной, которая будет содержать данные определенной строки таблицы.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c9be01eb4d_0_23"/>
          <p:cNvSpPr txBox="1"/>
          <p:nvPr>
            <p:ph idx="12" type="sldNum"/>
          </p:nvPr>
        </p:nvSpPr>
        <p:spPr>
          <a:xfrm>
            <a:off x="6458040" y="6356520"/>
            <a:ext cx="20559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95" name="Google Shape;295;g2c9be01eb4d_0_23"/>
          <p:cNvSpPr txBox="1"/>
          <p:nvPr/>
        </p:nvSpPr>
        <p:spPr>
          <a:xfrm>
            <a:off x="4900250" y="251325"/>
            <a:ext cx="390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Синтаксис вызова курсора 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2c9be01eb4d_0_23"/>
          <p:cNvSpPr txBox="1"/>
          <p:nvPr/>
        </p:nvSpPr>
        <p:spPr>
          <a:xfrm>
            <a:off x="96150" y="869700"/>
            <a:ext cx="8951700" cy="6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LOOP - это цикл безусловного повторения в языке PL/pgSQL в PostgreSQL. Он позволяет выполнять определенный блок кода, пока заданное условие истинно.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Структура LOOP выглядит следующим образом: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LOOP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</a:t>
            </a:r>
            <a:r>
              <a:rPr b="0" i="1" lang="ru-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-- Блок кода, который нужно выполнить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</a:t>
            </a:r>
            <a:r>
              <a:rPr b="0" i="1" lang="ru-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-- ...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</a:t>
            </a:r>
            <a:r>
              <a:rPr b="0" i="1" lang="ru-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-- Условие выхода из цикла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EXIT WHEN condition;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END LOOP;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Блок кода внутри LOOP может содержать любые инструкции и логику, которые необходимо выполнить при каждой итерации цикла. Внутри цикла можно использовать операторы управления потоком (например, IF, CASE) для принятия решений и изменения поведения цикла.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EXIT WHEN - это оператор, который указывает условие, при выполнении которого цикл будет прерван. Когда условие становится ложным, цикл завершается и исполнение продолжается сразу после END LOOP.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Пример использования LOOP: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DECLARE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counter INT := 1;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BEGIN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LOOP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RAISE NOTICE 'Counter: %', counter;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counter := counter + 1;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EXIT WHEN counter &gt; 5;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END LOOP;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END;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2c9be01eb4d_0_23"/>
          <p:cNvSpPr txBox="1"/>
          <p:nvPr/>
        </p:nvSpPr>
        <p:spPr>
          <a:xfrm>
            <a:off x="4517050" y="4978650"/>
            <a:ext cx="3000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 этом примере цикл LOOP будет выполняться, пока значение переменной "counter" не станет больше 5. На каждой итерации цикла мы выводим значение счетчика и увеличиваем его на 1. Когда значение счетчика достигает 6, выполнение цикла прекращается.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c9be01eb4d_0_37"/>
          <p:cNvSpPr txBox="1"/>
          <p:nvPr/>
        </p:nvSpPr>
        <p:spPr>
          <a:xfrm>
            <a:off x="4900250" y="251325"/>
            <a:ext cx="390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Синтаксис вызова курсора 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2c9be01eb4d_0_37"/>
          <p:cNvSpPr txBox="1"/>
          <p:nvPr/>
        </p:nvSpPr>
        <p:spPr>
          <a:xfrm>
            <a:off x="0" y="972650"/>
            <a:ext cx="8803500" cy="6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FETCH - это оператор в языке PL/pgSQL в PostgreSQL, который используется для извлечения следующей строки данных из курсора. Он может быть использован внутри цикла для обработки каждой строки данных, полученных из курсора.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Структура FETCH выглядит следующим образом: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FETCH cursor_name INTO variables; 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где: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- cursor_name - имя курсора, из которого нужно извлечь данные.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- variables - переменные, в которые будут сохранены значения извлеченной строки данных. Обычно, это переменные, объявленные с типом ROWTYPE или соответствующие типы данных, если извлекаются только определенные колонки.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Оператор FETCH используется совместно с курсором, который предварительно был открыт с помощью оператора OPEN. Он позволяет последовательно пройтись по каждой строке данных, полученной из курсора, и выполнять необходимую обработку по каждой строке.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Пример использования FETCH в цикле:</a:t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DECLARE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student_cursor CURSOR FOR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SELECT * FROM students;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student_row students%ROWTYPE;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BEGIN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OPEN student_cursor;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LOOP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FETCH student_cursor INTO student_row;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EXIT WHEN NOT FOUND;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</a:t>
            </a:r>
            <a:r>
              <a:rPr b="0" i="1" lang="ru-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-- Обработка строки данных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RAISE NOTICE 'Student ID: %, Name: %, Age: %, City: %',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student_row.id, student_row.name, student_row.age, student_row.city;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END LOOP;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CLOSE student_cursor;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END;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Google Shape;305;g2c9be01eb4d_0_37"/>
          <p:cNvSpPr txBox="1"/>
          <p:nvPr/>
        </p:nvSpPr>
        <p:spPr>
          <a:xfrm>
            <a:off x="5803550" y="3560900"/>
            <a:ext cx="3000000" cy="3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 этом примере мы сначала открываем курсор "student_cursor", который содержит данные из таблицы "students". Затем внутри цикла LOOP мы используем оператор FETCH для извлечения следующей строки данных из курсора и присваиваем значения этой строки переменной "student_row". После извлечения строки мы выполняем обработку данных и продолжаем до тех пор, пока не будут извлечены все строки из курсора. В конце мы закрываем курсор с помощью оператора CLOSE.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6"/>
          <p:cNvSpPr txBox="1"/>
          <p:nvPr>
            <p:ph idx="12" type="sldNum"/>
          </p:nvPr>
        </p:nvSpPr>
        <p:spPr>
          <a:xfrm>
            <a:off x="7022785" y="6477883"/>
            <a:ext cx="20559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</a:pPr>
            <a:fld id="{00000000-1234-1234-1234-123412341234}" type="slidenum">
              <a:rPr b="0" lang="ru-RU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311" name="Google Shape;311;p56"/>
          <p:cNvSpPr/>
          <p:nvPr/>
        </p:nvSpPr>
        <p:spPr>
          <a:xfrm>
            <a:off x="122040" y="1123560"/>
            <a:ext cx="8889900" cy="51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56"/>
          <p:cNvSpPr/>
          <p:nvPr/>
        </p:nvSpPr>
        <p:spPr>
          <a:xfrm>
            <a:off x="3107094" y="226637"/>
            <a:ext cx="5971591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Курсоры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56"/>
          <p:cNvSpPr/>
          <p:nvPr/>
        </p:nvSpPr>
        <p:spPr>
          <a:xfrm>
            <a:off x="132060" y="1005984"/>
            <a:ext cx="8879880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Курсоры в PostgreSQL представляют собой механизм, который позволяет пользователю обрабатывать наборы результатов из запросов к базе данных поэлементно. Курсоры предоставляют возможность управления выборкой данных, особенно когда данных слишком много, чтобы поместить их все в память сразу.</a:t>
            </a:r>
            <a:b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Курсоры обеспечивают следующую функциональность:</a:t>
            </a:r>
            <a:b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1. Указание места в наборе результатов: Курсор позволяет определить текущую позицию в наборе результатов. Это позволяет перебирать элементы последовательно и получать доступ к данным по одной записи за раз.</a:t>
            </a:r>
            <a:b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2. Перемещение по набору результатов: Курсор позволяет перемещаться вперед и назад по набору результатов. Это полезно при необходимости обрабатывать данные в определенном порядке или пропускать некоторые записи.</a:t>
            </a:r>
            <a:b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3. Итерационная обработка данных: Курсоры позволяют итеративно обрабатывать данные. Они позволяют вам извлекать следующую запись из набора результатов и использовать ее внутри цикла или в других операциях.</a:t>
            </a:r>
            <a:b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Пример использования курсора в PostgreSQL: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56"/>
          <p:cNvSpPr/>
          <p:nvPr/>
        </p:nvSpPr>
        <p:spPr>
          <a:xfrm>
            <a:off x="132060" y="5472830"/>
            <a:ext cx="738767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DECLARE my_cursor CURSOR FOR SELECT * FROM my_table;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FETCH FROM my_cursor;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56"/>
          <p:cNvSpPr/>
          <p:nvPr/>
        </p:nvSpPr>
        <p:spPr>
          <a:xfrm>
            <a:off x="122040" y="5407189"/>
            <a:ext cx="5544834" cy="608600"/>
          </a:xfrm>
          <a:prstGeom prst="rect">
            <a:avLst/>
          </a:prstGeom>
          <a:noFill/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7"/>
          <p:cNvSpPr txBox="1"/>
          <p:nvPr>
            <p:ph idx="12" type="sldNum"/>
          </p:nvPr>
        </p:nvSpPr>
        <p:spPr>
          <a:xfrm>
            <a:off x="7022785" y="6477883"/>
            <a:ext cx="20559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</a:pPr>
            <a:fld id="{00000000-1234-1234-1234-123412341234}" type="slidenum">
              <a:rPr b="0" lang="ru-RU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321" name="Google Shape;321;p57"/>
          <p:cNvSpPr/>
          <p:nvPr/>
        </p:nvSpPr>
        <p:spPr>
          <a:xfrm>
            <a:off x="122040" y="1123560"/>
            <a:ext cx="8889900" cy="51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57"/>
          <p:cNvSpPr/>
          <p:nvPr/>
        </p:nvSpPr>
        <p:spPr>
          <a:xfrm>
            <a:off x="3107094" y="226637"/>
            <a:ext cx="5971591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Курсоры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57"/>
          <p:cNvSpPr/>
          <p:nvPr/>
        </p:nvSpPr>
        <p:spPr>
          <a:xfrm>
            <a:off x="132060" y="1005984"/>
            <a:ext cx="8879880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 этом примере мы объявляем курсор под названием "my_cursor" для запроса SELECT, который извлекает все строки из таблицы "my_table". Затем мы получаем данные с помощью оператора FETCH FROM для доступа к первой записи из набора результатов.</a:t>
            </a:r>
            <a:b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Курсоры предоставляют более гибкий и контролируемый способ обработки больших объемов данных в PostgreSQL, позволяя по мере необходимости обрабатывать только часть результатов и эффективно использовать системные ресурсы.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87"/>
          <p:cNvSpPr txBox="1"/>
          <p:nvPr>
            <p:ph idx="4294967295" type="body"/>
          </p:nvPr>
        </p:nvSpPr>
        <p:spPr>
          <a:xfrm>
            <a:off x="122040" y="1123560"/>
            <a:ext cx="8889840" cy="51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87"/>
          <p:cNvSpPr txBox="1"/>
          <p:nvPr>
            <p:ph idx="4294967295" type="title"/>
          </p:nvPr>
        </p:nvSpPr>
        <p:spPr>
          <a:xfrm>
            <a:off x="3239640" y="123480"/>
            <a:ext cx="5772240" cy="60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0" name="Google Shape;330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1920" y="0"/>
            <a:ext cx="9204480" cy="685656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87"/>
          <p:cNvSpPr txBox="1"/>
          <p:nvPr>
            <p:ph idx="12" type="sldNum"/>
          </p:nvPr>
        </p:nvSpPr>
        <p:spPr>
          <a:xfrm>
            <a:off x="6458040" y="6356520"/>
            <a:ext cx="205596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</a:pPr>
            <a:fld id="{00000000-1234-1234-1234-123412341234}" type="slidenum">
              <a:rPr b="0" lang="ru-RU" sz="120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2021-02-05T20:08:55Z</dcterms:created>
  <dc:creator>Михаил Смирнов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Экран (4:3)</vt:lpwstr>
  </property>
  <property fmtid="{D5CDD505-2E9C-101B-9397-08002B2CF9AE}" pid="4" name="Slides">
    <vt:i4>12</vt:i4>
  </property>
</Properties>
</file>