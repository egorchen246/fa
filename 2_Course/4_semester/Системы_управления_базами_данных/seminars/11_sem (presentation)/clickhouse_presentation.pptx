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вводит тему: ClickHouse — это не классическая транзакционная база, а система для быстрой аналитики по большим потокам событий и логов.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стоит подчеркнуть нюанс: в документации ClickHouse чаще называется column-oriented SQL DBMS для OLAP. Если преподаватель спрашивает “подтип NoSQL”, корректно ответить: колонковая/column-oriented аналитическая база, но не wide-column Cassandra-типа.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слайде важно показать, что ClickHouse появился не как учебная СУБД, а из практической нагрузки Яндекс.Метрики: очень много событий, нужны отчёты в реальном времени и высокая скорость агрегаций.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объясняет ключевую архитектурную идею. В реляционной OLTP-базе часто важны отдельные строки и транзакции; в ClickHouse важнее быстро прочитать нужные столбцы и посчитать агрегаты по большим блокам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Преимущества стоит связывать с конкретными особенностями: скорость возникает не магически, а из колонкового хранения, сжатия, векторизации и распределённой архитектуры.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Объяснение: ClickHouse официально оптимизирован под append-only операции и eventual consistency. Репликация у ReplicatedMergeTree асинхронная и multi-master, поэтому данные могут появляться на репликах не мгновенно.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защите можно проговорить: ClickHouse похож на SQL, но отличается движками таблиц. ORDER BY — это не просто сортировка результата, а ключ сортировки хранения для MergeTree, важный для скорости фильтрации.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показывает materialized view. В ClickHouse материализованное представление часто используют не как обычный view, а как механизм предварительного расчета агрегатов для ускорения аналитики.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 не говорить, что ClickHouse “лучше всегда”. Он лучше для аналитики по большим объемам. Для банковских транзакций, интернет-магазина с изменяемыми заказами и строгими связями между таблицами обычная реляционная БД часто остается основной.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слайде перечислены области применения. Примеры компаний взяты из публичных историй использования ClickHouse и истории Yandex.Metrica. Достаточно назвать 3–4 примера, чтобы не перегружать выступление.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тезис: ClickHouse не конкурирует с реляционными базами во всем. Чаще его ставят рядом с OLTP-БД: PostgreSQL хранит текущие транзакционные данные, а ClickHouse — историю событий и аналитические витрины.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можно не показывать подробно, но он нужен для подтверждения источников.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94360"/>
            <a:ext cx="146304" cy="1298448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" y="594360"/>
            <a:ext cx="146304" cy="1298448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594360"/>
            <a:ext cx="146304" cy="1298448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6736" y="594360"/>
            <a:ext cx="146304" cy="1298448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5336" y="1353312"/>
            <a:ext cx="146304" cy="539496"/>
          </a:xfrm>
          <a:prstGeom prst="rect">
            <a:avLst/>
          </a:prstGeom>
          <a:solidFill>
            <a:srgbClr val="E11F2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48840"/>
            <a:ext cx="694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ClickHouse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621792" y="29718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Колонковая OLAP СУБД для аналитики в реальном времени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3493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История · преимущества · BASE · синтаксис · сферы применения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" y="4169664"/>
            <a:ext cx="2560320" cy="384048"/>
          </a:xfrm>
          <a:prstGeom prst="rect">
            <a:avLst/>
          </a:prstGeom>
          <a:solidFill>
            <a:srgbClr val="FFCC01"/>
          </a:solidFill>
          <a:ln>
            <a:solidFill>
              <a:srgbClr val="FFCC01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+ OLAP + Column Store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29000" y="4169664"/>
            <a:ext cx="2176272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real‑time analytics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797296" y="4169664"/>
            <a:ext cx="2359152" cy="384048"/>
          </a:xfrm>
          <a:prstGeom prst="rect">
            <a:avLst/>
          </a:prstGeom>
          <a:solidFill>
            <a:srgbClr val="383838"/>
          </a:solidFill>
          <a:ln>
            <a:solidFill>
              <a:srgbClr val="38383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append‑only workloads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6245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учебной презентации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C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История и тип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ClickHouse и к какому типу относится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698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Важно: ClickHouse использует SQL, но по архитектуре ближе к аналитическим NoSQL/Big Data‑системам.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Высокопроизводительная колонковая СУБД для OLAP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52120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OLAP означает Online Analytical Processing: отчёты, агрегаты, срезы, дашборды, анализ событий.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537960" y="1865376"/>
            <a:ext cx="4343400" cy="384048"/>
          </a:xfrm>
          <a:prstGeom prst="rect">
            <a:avLst/>
          </a:prstGeom>
          <a:solidFill>
            <a:srgbClr val="FFCC01"/>
          </a:solidFill>
          <a:ln>
            <a:solidFill>
              <a:srgbClr val="FFCC01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Подтип NoSQL: колонковая / column‑oriented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587752"/>
            <a:ext cx="4773168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данные физически хранятся по столбцам, а не по строкам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лучше читает нужные колонки для аналитических запросов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не является wide‑column БД вроде Cassandra: это именно columnar OLAP DBMS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модель запросов — SQL‑подобная, а не key‑value/document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Источники: ClickHouse Docs / ClickHouse User Stories / Yandex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C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История и тип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История и разработчики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698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591056"/>
            <a:ext cx="164592" cy="2926080"/>
          </a:xfrm>
          <a:prstGeom prst="rect">
            <a:avLst/>
          </a:prstGeom>
          <a:solidFill>
            <a:srgbClr val="3838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45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093976"/>
            <a:ext cx="221284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прототип в Yandex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Yandex.Metrica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47288" y="1591056"/>
            <a:ext cx="164592" cy="2926080"/>
          </a:xfrm>
          <a:prstGeom prst="rect">
            <a:avLst/>
          </a:prstGeom>
          <a:solidFill>
            <a:srgbClr val="3838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545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2012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03320" y="2093976"/>
            <a:ext cx="221284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первый production‑запуск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аналитике Метрики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36208" y="1591056"/>
            <a:ext cx="164592" cy="2926080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45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2016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2093976"/>
            <a:ext cx="221284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open‑source релиз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 Apache 2.0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025128" y="1591056"/>
            <a:ext cx="164592" cy="2926080"/>
          </a:xfrm>
          <a:prstGeom prst="rect">
            <a:avLst/>
          </a:prstGeom>
          <a:solidFill>
            <a:srgbClr val="38383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154533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2093976"/>
            <a:ext cx="221284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выделение ClickHouse, Inc.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 Yandex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8368" y="5074920"/>
            <a:ext cx="10835640" cy="8046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Идея возникла из задачи: строить кастомные отчёты по “сырым” постоянно поступающим событиям.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Ключевой разработчик, часто связываемый с проектом, — Алексей Миловидов; первоначально работала команда Yandex.Metrica.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После open‑source релиза вокруг проекта сформировалось сообщество и коммерческая компания ClickHouse, Inc.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Источники: ClickHouse Docs / ClickHouse User Stories / Yandex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C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Особенности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ClickHouse устроен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698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1417320" cy="384048"/>
          </a:xfrm>
          <a:prstGeom prst="rect">
            <a:avLst/>
          </a:prstGeom>
          <a:solidFill>
            <a:srgbClr val="FFCC01"/>
          </a:solidFill>
          <a:ln>
            <a:solidFill>
              <a:srgbClr val="FFCC01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Колонки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80360" y="1417320"/>
            <a:ext cx="1508760" cy="384048"/>
          </a:xfrm>
          <a:prstGeom prst="rect">
            <a:avLst/>
          </a:prstGeom>
          <a:solidFill>
            <a:srgbClr val="FFCC01"/>
          </a:solidFill>
          <a:ln>
            <a:solidFill>
              <a:srgbClr val="FFCC01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MergeTree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57800" y="1417320"/>
            <a:ext cx="1371600" cy="384048"/>
          </a:xfrm>
          <a:prstGeom prst="rect">
            <a:avLst/>
          </a:prstGeom>
          <a:solidFill>
            <a:srgbClr val="FFCC01"/>
          </a:solidFill>
          <a:ln>
            <a:solidFill>
              <a:srgbClr val="FFCC01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Векторы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60920" y="1417320"/>
            <a:ext cx="1234440" cy="384048"/>
          </a:xfrm>
          <a:prstGeom prst="rect">
            <a:avLst/>
          </a:prstGeom>
          <a:solidFill>
            <a:srgbClr val="FFCC01"/>
          </a:solidFill>
          <a:ln>
            <a:solidFill>
              <a:srgbClr val="FFCC01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Шарды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64040" y="1417320"/>
            <a:ext cx="1051560" cy="384048"/>
          </a:xfrm>
          <a:prstGeom prst="rect">
            <a:avLst/>
          </a:prstGeom>
          <a:solidFill>
            <a:srgbClr val="FFCC01"/>
          </a:solidFill>
          <a:ln>
            <a:solidFill>
              <a:srgbClr val="FFCC01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2057400"/>
            <a:ext cx="20116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данные хранятся по столбцам → читаются только нужные признаки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80360" y="2057400"/>
            <a:ext cx="21031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основное семейство движков таблиц: партиции, сортировка, sparse index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57800" y="2057400"/>
            <a:ext cx="18745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операции применяются к блокам значений, а не к каждой строке отдельно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360920" y="2057400"/>
            <a:ext cx="18288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кластер может распределять хранение и выполнение запросов по узлам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464040" y="2057400"/>
            <a:ext cx="18745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аналитик пишет привычные SELECT, GROUP BY, JOIN, window functions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" y="3886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Результат: высокая скорость на больших объёмах, особенно когда запросы агрегируют миллионы или миллиарды строк.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85800" y="4892040"/>
            <a:ext cx="106070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не заменяет PostgreSQL/MySQL для частых UPDATE/DELETE и сложных транзакций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лучше всего раскрывается на append‑only данных: события, логи, метрики, клики, телеметрия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Источники: ClickHouse Docs / ClickHouse User Stories / Yandex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C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Особенности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Ключевые преимущества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698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быстро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1984248"/>
            <a:ext cx="20116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агрегации и фильтры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огромным таблицам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0896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дёшево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108960" y="1984248"/>
            <a:ext cx="20116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сжатие колонок снижает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объём хранения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0" y="1417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масштабно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486400" y="1984248"/>
            <a:ext cx="21945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шардирование, репликация,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распределённые запросы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3816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привычно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138160" y="1984248"/>
            <a:ext cx="228600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SQL‑диалект и интеграция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 BI/ETL‑инструментами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3337560"/>
            <a:ext cx="58064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Columnar storage: чтение только нужных колонок вместо всей строки.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Векторизованное выполнение: обработка блоков данных, лучшее использование CPU.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MergeTree: сортировка, партиционирование, фоновые merge‑операции.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Materialized Views: часть вычислений переносится с SELECT на INSERT.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Хорош для high‑cardinality данных: много уникальных пользователей, событий, URL, trace_id.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6720840" y="3401568"/>
            <a:ext cx="47091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Главное отличие от “обычной” реляционной OLTP‑БД: ClickHouse оптимизирован не под транзакции по одной записи, а под чтение и агрегацию больших массивов данных.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5074920"/>
            <a:ext cx="1828800" cy="384048"/>
          </a:xfrm>
          <a:prstGeom prst="rect">
            <a:avLst/>
          </a:prstGeom>
          <a:solidFill>
            <a:srgbClr val="383838"/>
          </a:solidFill>
          <a:ln>
            <a:solidFill>
              <a:srgbClr val="38383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OLAP ≠ OLTP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59952" y="5074920"/>
            <a:ext cx="1719072" cy="384048"/>
          </a:xfrm>
          <a:prstGeom prst="rect">
            <a:avLst/>
          </a:prstGeom>
          <a:solidFill>
            <a:srgbClr val="FFCC01"/>
          </a:solidFill>
          <a:ln>
            <a:solidFill>
              <a:srgbClr val="FFCC01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append‑only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Источники: ClickHouse Docs / ClickHouse User Stories / Yandex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C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BASE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Соответствие принципам BASE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698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" y="1216152"/>
            <a:ext cx="10927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— подход, характерный для распределённых NoSQL‑систем: доступность и масштабирование важнее строгой немедленной согласованности во всех узлах.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9808" y="20574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Basically Available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651760"/>
            <a:ext cx="324612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система может принимать запросы и записи на доступных узлах; в кластере используются реплики и шарды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4517136" y="20574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 State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17136" y="2651760"/>
            <a:ext cx="324612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состояние реплик может временно отличаться из‑за фоновой репликации, merge‑операций и очередей вставки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8284464" y="20574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Eventual Consistency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84464" y="2651760"/>
            <a:ext cx="324612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репликация асинхронная: новые данные могут появляться на репликах с задержкой, но со временем синхронизируются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749808" y="5010912"/>
            <a:ext cx="10469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Вывод: ClickHouse ближе к BASE в распределённых сценариях, но это не значит “хаос”: внутри узла есть свои гарантии записи, а поведение можно настраивать.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Источники: ClickHouse Docs / ClickHouse User Stories / Yandex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C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Синтаксис БД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Синтаксис: база, таблица, вставка, запрос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698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298448"/>
            <a:ext cx="5257800" cy="3913632"/>
          </a:xfrm>
          <a:prstGeom prst="rect">
            <a:avLst/>
          </a:prstGeom>
          <a:solidFill>
            <a:srgbClr val="181818"/>
          </a:solidFill>
          <a:ln>
            <a:solidFill>
              <a:srgbClr val="454545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CREATE DATABASE analytics;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CREATE TABLE analytics.events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event_time DateTime,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user_id    UInt64,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event_name LowCardinality(String),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revenue    Float64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ENGINE = MergeTree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PARTITION BY toYYYYMM(event_time)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ORDER BY (event_name, event_time, user_id);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245352" y="1298448"/>
            <a:ext cx="5257800" cy="3913632"/>
          </a:xfrm>
          <a:prstGeom prst="rect">
            <a:avLst/>
          </a:prstGeom>
          <a:solidFill>
            <a:srgbClr val="181818"/>
          </a:solidFill>
          <a:ln>
            <a:solidFill>
              <a:srgbClr val="454545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INSERT INTO analytics.events VALUES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('2026-06-03 12:00:00', 101, 'purchase', 1990.0);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event_name,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count() AS events,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uniqExact(user_id) AS users,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sum(revenue) AS revenue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analytics.events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 event_time &gt;= now() - INTERVAL 7 DAY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GROUP BY event_name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ORDER BY revenue DESC;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658368" y="5532120"/>
            <a:ext cx="10652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особенность DDL: в CREATE TABLE почти всегда явно выбирается ENGINE. Для аналитики базовый вариант — MergeTree.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Источники: ClickHouse Docs / ClickHouse User Stories / Yandex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C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Синтаксис БД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Синтаксис: агрегаты и Materialized 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698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298448"/>
            <a:ext cx="5532120" cy="4434840"/>
          </a:xfrm>
          <a:prstGeom prst="rect">
            <a:avLst/>
          </a:prstGeom>
          <a:solidFill>
            <a:srgbClr val="181818"/>
          </a:solidFill>
          <a:ln>
            <a:solidFill>
              <a:srgbClr val="454545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CREATE TABLE analytics.daily_events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day Date,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event_name String,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events UInt64,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revenue Float64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ENGINE = SummingMergeTree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ORDER BY (day, event_name);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CREATE MATERIALIZED VIEW analytics.mv_daily_events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TO analytics.daily_events 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toDate(event_time) AS day,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event_name,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count() AS events,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sum(revenue) AS revenue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 analytics.events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EA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GROUP BY day, event_name;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46520" y="14173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Зачем это нужно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446520" y="2057400"/>
            <a:ext cx="4800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сырые события остаются в events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ежедневные агрегаты заранее копятся в daily_events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дашборд читает готовую таблицу и отвечает быстрее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часть нагрузки переносится с момента SELECT на момент INSERT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46520" y="4572000"/>
            <a:ext cx="4617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Это один из типичных паттернов ClickHouse: много писать, заранее агрегировать, быстро читать.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Источники: ClickHouse Docs / ClickHouse User Stories / Yandex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C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Применение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Когда ClickHouse лучше реляционной БД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698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Типичный вопрос: “Почему не PostgreSQL/MySQL?” Ответ зависит от нагрузки.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Реляционная OLTP БД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22960" y="2487168"/>
            <a:ext cx="43434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онлайн‑магазин: заказы, пользователи, платежи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частые UPDATE/DELETE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строгие транзакции и внешние ключи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операции по отдельной записи</a:t>
            </a:r>
            <a:endParaRPr lang="en-US" sz="1620" dirty="0"/>
          </a:p>
        </p:txBody>
      </p:sp>
      <p:sp>
        <p:nvSpPr>
          <p:cNvPr id="9" name="Text 7"/>
          <p:cNvSpPr/>
          <p:nvPr/>
        </p:nvSpPr>
        <p:spPr>
          <a:xfrm>
            <a:off x="6492240" y="18745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ClickHouse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537960" y="2487168"/>
            <a:ext cx="443484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миллиарды событий: клики, логи, метрики, телеметрия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быстрые GROUP BY по периодам и сегментам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real‑time dashboards и мониторинг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записи в основном добавляются, а не переписываются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777240" y="5166360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Пример: продуктовая аналитика считает DAU/MAU, воронки, retention, A/B‑метрики по сотням миллионов событий — это естественная зона ClickHouse.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Источники: ClickHouse Docs / ClickHouse User Stories / Yandex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C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Применение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Сферы применения и компании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698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55778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Web/product analytics: клики, сессии, воронки, A/B‑тесты.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Observability: логи, метрики, traces, высококардинальные события.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 и data warehousing: быстрые отчёты поверх больших фактов.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AdTech/FinTech/Streaming/Gaming: потоковые события и real‑time решения.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ML/GenAI monitoring: телеметрия моделей, фичи, события inference.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6583680" y="14173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C0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Примеры пользователей из публичных кейсов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0" y="2057400"/>
            <a:ext cx="2039112" cy="384048"/>
          </a:xfrm>
          <a:prstGeom prst="rect">
            <a:avLst/>
          </a:prstGeom>
          <a:solidFill>
            <a:srgbClr val="FFCC01"/>
          </a:solidFill>
          <a:ln>
            <a:solidFill>
              <a:srgbClr val="FFCC0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Yandex.Metrica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8915400" y="2057400"/>
            <a:ext cx="2039112" cy="384048"/>
          </a:xfrm>
          <a:prstGeom prst="rect">
            <a:avLst/>
          </a:prstGeom>
          <a:solidFill>
            <a:srgbClr val="383838"/>
          </a:solidFill>
          <a:ln>
            <a:solidFill>
              <a:srgbClr val="38383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Cloudflare</a:t>
            </a:r>
            <a:endParaRPr lang="en-US" sz="1260" dirty="0"/>
          </a:p>
        </p:txBody>
      </p:sp>
      <p:sp>
        <p:nvSpPr>
          <p:cNvPr id="10" name="Text 8"/>
          <p:cNvSpPr/>
          <p:nvPr/>
        </p:nvSpPr>
        <p:spPr>
          <a:xfrm>
            <a:off x="6583680" y="2715768"/>
            <a:ext cx="2039112" cy="384048"/>
          </a:xfrm>
          <a:prstGeom prst="rect">
            <a:avLst/>
          </a:prstGeom>
          <a:solidFill>
            <a:srgbClr val="383838"/>
          </a:solidFill>
          <a:ln>
            <a:solidFill>
              <a:srgbClr val="38383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Tesla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8915400" y="2715768"/>
            <a:ext cx="2039112" cy="384048"/>
          </a:xfrm>
          <a:prstGeom prst="rect">
            <a:avLst/>
          </a:prstGeom>
          <a:solidFill>
            <a:srgbClr val="FFCC01"/>
          </a:solidFill>
          <a:ln>
            <a:solidFill>
              <a:srgbClr val="FFCC0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Clarity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6583680" y="3374136"/>
            <a:ext cx="2039112" cy="384048"/>
          </a:xfrm>
          <a:prstGeom prst="rect">
            <a:avLst/>
          </a:prstGeom>
          <a:solidFill>
            <a:srgbClr val="383838"/>
          </a:solidFill>
          <a:ln>
            <a:solidFill>
              <a:srgbClr val="38383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Anthropic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8915400" y="3374136"/>
            <a:ext cx="2039112" cy="384048"/>
          </a:xfrm>
          <a:prstGeom prst="rect">
            <a:avLst/>
          </a:prstGeom>
          <a:solidFill>
            <a:srgbClr val="383838"/>
          </a:solidFill>
          <a:ln>
            <a:solidFill>
              <a:srgbClr val="38383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Sony LIV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6583680" y="4032504"/>
            <a:ext cx="2039112" cy="384048"/>
          </a:xfrm>
          <a:prstGeom prst="rect">
            <a:avLst/>
          </a:prstGeom>
          <a:solidFill>
            <a:srgbClr val="FFCC01"/>
          </a:solidFill>
          <a:ln>
            <a:solidFill>
              <a:srgbClr val="FFCC0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Instacart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8915400" y="4032504"/>
            <a:ext cx="2039112" cy="384048"/>
          </a:xfrm>
          <a:prstGeom prst="rect">
            <a:avLst/>
          </a:prstGeom>
          <a:solidFill>
            <a:srgbClr val="383838"/>
          </a:solidFill>
          <a:ln>
            <a:solidFill>
              <a:srgbClr val="38383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Lyft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6583680" y="4983480"/>
            <a:ext cx="4553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ClickHouse часто выбирают там, где запросы по “сырым” событиям должны отвечать почти интерактивно.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Источники: ClickHouse Docs / ClickHouse User Stories / Yandex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C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Вывод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698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4173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ClickHouse стоит выбирать, когда главная задача — быстро анализировать большие объёмы добавляемых данных.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105156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Тип: колонковая SQL‑совместимая OLAP СУБД; в NoSQL‑классификации — column‑oriented/колонковая аналитическая база.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Сильные стороны: скорость, сжатие, high ingestion, распределённость, materialized views.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BASE: в кластере — доступность и eventual consistency из‑за асинхронной репликации.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Лучшие сценарии: события, логи, метрики, продуктовая аналитика, observability, real‑time BI.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Не лучший выбор как основная OLTP‑БД для строгих транзакций и частого изменения строк.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" y="5486400"/>
            <a:ext cx="9921240" cy="384048"/>
          </a:xfrm>
          <a:prstGeom prst="rect">
            <a:avLst/>
          </a:prstGeom>
          <a:solidFill>
            <a:srgbClr val="FFCC01"/>
          </a:solidFill>
          <a:ln>
            <a:solidFill>
              <a:srgbClr val="FFCC01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Коротко: ClickHouse — “скоростной двигатель” для аналитики, а не замена всем БД.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Источники: ClickHouse Docs / ClickHouse User Stories / Yandex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C0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C0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Справочно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02920" y="512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Источники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469880" y="292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ClickHouse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417320"/>
            <a:ext cx="1060704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ClickHouse Docs — What is ClickHouse? / SQL Reference / CREATE DATABASE / CREATE TABLE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ClickHouse Docs — History / Architecture Overview / MergeTree / Replication / Inserting 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ClickHouse Docs — Materialized Views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Yandex News: “Yandex Spins Off ClickHouse into Standalone Company”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ClickHouse User Stories — публичные кейсы компаний и сфер применения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EF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ClickHouse GitHub repository — open-source описание проекта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5349240"/>
            <a:ext cx="10149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Основные тезисы в презентации опираются на официальную документацию ClickHouse и публичные кейсы использования.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8B8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Источники: ClickHouse Docs / ClickHouse User Stories / Yandex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ClickHouse: колонковая OLAP СУБД</dc:title>
  <dc:subject>ClickHouse presentation</dc:subject>
  <dc:creator>OpenAI</dc:creator>
  <cp:lastModifiedBy>OpenAI</cp:lastModifiedBy>
  <cp:revision>1</cp:revision>
  <dcterms:created xsi:type="dcterms:W3CDTF">2026-06-03T13:06:32Z</dcterms:created>
  <dcterms:modified xsi:type="dcterms:W3CDTF">2026-06-03T13:06:32Z</dcterms:modified>
</cp:coreProperties>
</file>