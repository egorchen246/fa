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22"/>
    <p:sldId id="285" r:id="rId23"/>
    <p:sldId id="286" r:id="rId24"/>
    <p:sldId id="277" r:id="rId25"/>
    <p:sldId id="278" r:id="rId26"/>
    <p:sldId id="279" r:id="rId27"/>
    <p:sldId id="287" r:id="rId28"/>
    <p:sldId id="289" r:id="rId29"/>
    <p:sldId id="290" r:id="rId30"/>
    <p:sldId id="291" r:id="rId31"/>
    <p:sldId id="280" r:id="rId32"/>
    <p:sldId id="281" r:id="rId33"/>
    <p:sldId id="282" r:id="rId34"/>
    <p:sldId id="28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62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218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09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31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530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57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64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559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865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451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437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0854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219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82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996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650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343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B3099A-118F-4136-A85D-5F7E5561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FE77F8-6A11-4E41-8069-0E7E3814A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A3E2CF-E547-4802-AE50-AFD2DAC9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9E7FEC-9EF5-437F-BB71-0DB5CFB8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7C90E3-88FD-4636-A977-E5DCCDDB1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7975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95723-92CC-44EA-9A58-7C082A55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7000E2-CF53-4CBA-83A5-EF319E125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45FE83-4FB9-4431-9CA0-2E80DE08A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8293B5-DF44-476A-83AC-6988869C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0DA6A0-5CB1-43F4-8E4A-CD50CFF9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91C54D-B3CC-48BB-9329-4FCF3CAF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685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66B3107-1199-4C0A-ABF6-D64B8DA95F57}" type="datetimeFigureOut">
              <a:rPr lang="ru-RU" smtClean="0"/>
              <a:t>18.10.2022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BFA80B7-467A-4982-86FC-F0A5E8B401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862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B5F9C-925D-4F25-804A-33984D1959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ru-RU" dirty="0"/>
            </a:br>
            <a:r>
              <a:rPr lang="ru-RU" dirty="0"/>
              <a:t>Безработица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085972-723F-4965-AB97-E21CDE949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8056" y="4525769"/>
            <a:ext cx="2848947" cy="1655762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30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7CCAC-9B5B-4EF3-8932-28248A336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9" y="290481"/>
            <a:ext cx="8106747" cy="661242"/>
          </a:xfrm>
        </p:spPr>
        <p:txBody>
          <a:bodyPr>
            <a:normAutofit/>
          </a:bodyPr>
          <a:lstStyle/>
          <a:p>
            <a:r>
              <a:rPr lang="ru-RU" sz="4000" b="1" dirty="0"/>
              <a:t>Понятие безработицы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A54BA2-3B36-488C-A125-F29F70F52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50" y="2015415"/>
            <a:ext cx="4376056" cy="463731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Безработица – это социально-экономическое явление, при котором часть экономически активного трудоспособного населения временно не занята в хозяйственной деятельности.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548113-4F33-44AC-9C74-D63700772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188" y="1546468"/>
            <a:ext cx="5430416" cy="412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3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C125A9-B8E9-47CD-A23F-D4AEBB47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820" y="0"/>
            <a:ext cx="10515600" cy="1325563"/>
          </a:xfrm>
        </p:spPr>
        <p:txBody>
          <a:bodyPr/>
          <a:lstStyle/>
          <a:p>
            <a:r>
              <a:rPr lang="ru-RU" dirty="0"/>
              <a:t>Причины безработицы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8F5DE8-3633-483A-A1D4-620C754F0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Завышенные требования самих работников относительно желаемой ими заработной платы;</a:t>
            </a:r>
          </a:p>
          <a:p>
            <a:r>
              <a:rPr lang="ru-RU" dirty="0"/>
              <a:t>Низкий спрос на рабочую силу;</a:t>
            </a:r>
          </a:p>
          <a:p>
            <a:r>
              <a:rPr lang="ru-RU" dirty="0"/>
              <a:t>Несоответствие между потребностями людей, которые ищут работу, и потребностями работодателей, которые готовы предоставить рабочие места.</a:t>
            </a:r>
          </a:p>
        </p:txBody>
      </p:sp>
    </p:spTree>
    <p:extLst>
      <p:ext uri="{BB962C8B-B14F-4D97-AF65-F5344CB8AC3E}">
        <p14:creationId xmlns:p14="http://schemas.microsoft.com/office/powerpoint/2010/main" val="502663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85663-A957-4553-9988-1BED8D43C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8734" y="153655"/>
            <a:ext cx="3209731" cy="849492"/>
          </a:xfrm>
        </p:spPr>
        <p:txBody>
          <a:bodyPr/>
          <a:lstStyle/>
          <a:p>
            <a:r>
              <a:rPr lang="ru-RU" dirty="0"/>
              <a:t>Население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2EBA2F-E375-4F06-B6DD-CA7A4BF83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7159" y="1825625"/>
            <a:ext cx="5422641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Трудоспособное население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1FEE52-EE93-4DB8-9B20-037BE31B3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0188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Нетрудоспособное население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E26513-DC9B-4587-AABC-E50F1A08B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41" y="3004457"/>
            <a:ext cx="4413379" cy="32820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D92C18-C2B5-43F0-A518-A9BFC9061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016" y="2984233"/>
            <a:ext cx="4366726" cy="3192730"/>
          </a:xfrm>
          <a:prstGeom prst="rect">
            <a:avLst/>
          </a:prstGeom>
        </p:spPr>
      </p:pic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B7D40C61-1631-4920-BEA0-D6FE5DF5E4E0}"/>
              </a:ext>
            </a:extLst>
          </p:cNvPr>
          <p:cNvSpPr/>
          <p:nvPr/>
        </p:nvSpPr>
        <p:spPr>
          <a:xfrm>
            <a:off x="2472612" y="886408"/>
            <a:ext cx="587829" cy="84949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B3D5646-0540-46BF-9BA2-C107329CA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912" y="892088"/>
            <a:ext cx="621846" cy="8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73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88DB0-0C29-45ED-8BA1-C4765A6F0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522" y="158621"/>
            <a:ext cx="10515600" cy="885177"/>
          </a:xfrm>
        </p:spPr>
        <p:txBody>
          <a:bodyPr/>
          <a:lstStyle/>
          <a:p>
            <a:pPr algn="ctr"/>
            <a:r>
              <a:rPr lang="ru-RU" dirty="0"/>
              <a:t>Трудоспособное население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3CB087-A0C8-4469-B13D-0E2D1DB8E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0330" y="2935968"/>
            <a:ext cx="5181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Включаемые в численность рабочей силы</a:t>
            </a:r>
          </a:p>
          <a:p>
            <a:pPr marL="0" indent="0" algn="ctr">
              <a:buNone/>
            </a:pPr>
            <a:r>
              <a:rPr lang="ru-RU" dirty="0"/>
              <a:t>(</a:t>
            </a:r>
            <a:r>
              <a:rPr lang="en-US" dirty="0" err="1"/>
              <a:t>labour</a:t>
            </a:r>
            <a:r>
              <a:rPr lang="en-US" dirty="0"/>
              <a:t> force – L)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6A2B47-B5CE-4103-90D6-2DC986209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9522" y="2935968"/>
            <a:ext cx="5181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Не включаемые в численность рабочей силы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(non-</a:t>
            </a:r>
            <a:r>
              <a:rPr lang="en-US" dirty="0" err="1"/>
              <a:t>labour</a:t>
            </a:r>
            <a:r>
              <a:rPr lang="en-US" dirty="0"/>
              <a:t> force – NL)</a:t>
            </a:r>
            <a:endParaRPr lang="ru-RU" dirty="0"/>
          </a:p>
        </p:txBody>
      </p:sp>
      <p:sp>
        <p:nvSpPr>
          <p:cNvPr id="7" name="Стрелка: вниз 6">
            <a:extLst>
              <a:ext uri="{FF2B5EF4-FFF2-40B4-BE49-F238E27FC236}">
                <a16:creationId xmlns:a16="http://schemas.microsoft.com/office/drawing/2014/main" id="{BB8C21EC-FD23-4FE5-877D-8A2662257074}"/>
              </a:ext>
            </a:extLst>
          </p:cNvPr>
          <p:cNvSpPr/>
          <p:nvPr/>
        </p:nvSpPr>
        <p:spPr>
          <a:xfrm>
            <a:off x="2341984" y="1043798"/>
            <a:ext cx="615820" cy="176471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132B1E7-F2C4-4591-A5A3-B633F2A68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687" y="1022231"/>
            <a:ext cx="652329" cy="17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18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3ABD6AF-8EB8-4BAD-B2E4-C29A2D327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11" y="687289"/>
            <a:ext cx="10515600" cy="640397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 категории </a:t>
            </a:r>
            <a:r>
              <a:rPr lang="ru-RU" b="1" dirty="0"/>
              <a:t>не включаемых в численность рабочей силы </a:t>
            </a:r>
            <a:r>
              <a:rPr lang="ru-RU" dirty="0"/>
              <a:t>относятся люди, не занятые в общественном производстве и не стремящиеся получить работу. В эту категорию попадают: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Люди, находящиеся на содержании государственных институтов (институциональное население): отбывающие срок заключения в тюрьмах, находящиеся в психиатрических лечебницах, инвалиды.</a:t>
            </a:r>
          </a:p>
          <a:p>
            <a:endParaRPr lang="ru-RU" dirty="0"/>
          </a:p>
          <a:p>
            <a:r>
              <a:rPr lang="ru-RU" dirty="0"/>
              <a:t>Люди, которые в принципе могли бы трудиться, но не делают этого в силу разных причин: студенты дневного отделения, вышедшие на пенсию, домохозяйки, бродяги.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5225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F817317-5368-4912-AAED-D2F31B3C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232" y="435364"/>
            <a:ext cx="10515600" cy="216787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dirty="0"/>
              <a:t>К категории </a:t>
            </a:r>
            <a:r>
              <a:rPr lang="ru-RU" sz="2400" b="1" dirty="0"/>
              <a:t>включаемых в численность рабочей силы </a:t>
            </a:r>
            <a:r>
              <a:rPr lang="ru-RU" sz="2400" dirty="0"/>
              <a:t>относят людей, которые либо имеют место работы в общественном производстве, либо работы не имеют, но работать хотят и работу активно ищут. </a:t>
            </a:r>
          </a:p>
          <a:p>
            <a:pPr marL="0" indent="0" algn="ctr">
              <a:buNone/>
            </a:pPr>
            <a:r>
              <a:rPr lang="ru-RU" sz="2400" dirty="0"/>
              <a:t>Общая численность рабочей силы делится на: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3E472-F1BD-4353-9BA4-B3944742756C}"/>
              </a:ext>
            </a:extLst>
          </p:cNvPr>
          <p:cNvSpPr txBox="1"/>
          <p:nvPr/>
        </p:nvSpPr>
        <p:spPr>
          <a:xfrm>
            <a:off x="410546" y="2752531"/>
            <a:ext cx="51504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Занятые </a:t>
            </a:r>
            <a:r>
              <a:rPr lang="en-US" sz="2400" dirty="0"/>
              <a:t>(employed </a:t>
            </a:r>
            <a:r>
              <a:rPr lang="ru-RU" sz="2400" dirty="0"/>
              <a:t>Е )</a:t>
            </a:r>
          </a:p>
          <a:p>
            <a:pPr algn="ctr"/>
            <a:r>
              <a:rPr lang="ru-RU" dirty="0"/>
              <a:t>Это люди, имеющие работу в общественном производстве (неполно или частично занятые).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Человек также считается занятым, если он не работает по следующим причинам: находится в отпуске; болеет; бастует; из - за плохой погоды или стихийных бедствий.</a:t>
            </a:r>
          </a:p>
          <a:p>
            <a:pPr algn="ctr"/>
            <a:r>
              <a:rPr lang="ru-RU" dirty="0"/>
              <a:t> </a:t>
            </a:r>
          </a:p>
          <a:p>
            <a:pPr algn="ctr"/>
            <a:r>
              <a:rPr lang="ru-RU" dirty="0"/>
              <a:t>В эту категорию не попадают люди, занятые в теневой экономике, поскольку они официально нигде не зарегистрированы и не учитываются статистикой.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0E560-5540-4326-8727-6CA7470297C9}"/>
              </a:ext>
            </a:extLst>
          </p:cNvPr>
          <p:cNvSpPr txBox="1"/>
          <p:nvPr/>
        </p:nvSpPr>
        <p:spPr>
          <a:xfrm>
            <a:off x="6895323" y="2752531"/>
            <a:ext cx="453312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Безработные (</a:t>
            </a:r>
            <a:r>
              <a:rPr lang="en-US" sz="2400" dirty="0"/>
              <a:t>unemployed U)</a:t>
            </a:r>
            <a:r>
              <a:rPr lang="ru-RU" sz="2400" dirty="0"/>
              <a:t> </a:t>
            </a:r>
          </a:p>
          <a:p>
            <a:pPr algn="ctr"/>
            <a:endParaRPr lang="ru-RU" sz="2400" dirty="0"/>
          </a:p>
          <a:p>
            <a:pPr algn="ctr"/>
            <a:r>
              <a:rPr lang="ru-RU" dirty="0"/>
              <a:t>Это люди трудоспособного возраста, не имеющие работы, но активно её ищущие, т. е. предпринимающие специальные усилия по поиску работы и готовые приступить к работе немедленно, или ожидающие начала трудовой деятельности с определенной даты</a:t>
            </a:r>
          </a:p>
        </p:txBody>
      </p:sp>
      <p:sp>
        <p:nvSpPr>
          <p:cNvPr id="2" name="Стрелка: вниз 1">
            <a:extLst>
              <a:ext uri="{FF2B5EF4-FFF2-40B4-BE49-F238E27FC236}">
                <a16:creationId xmlns:a16="http://schemas.microsoft.com/office/drawing/2014/main" id="{B850A27B-1437-4493-B475-E4064873E5D9}"/>
              </a:ext>
            </a:extLst>
          </p:cNvPr>
          <p:cNvSpPr/>
          <p:nvPr/>
        </p:nvSpPr>
        <p:spPr>
          <a:xfrm>
            <a:off x="1791478" y="1968759"/>
            <a:ext cx="634481" cy="78377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5696835-26F2-4389-8867-6051D086D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672" y="2003773"/>
            <a:ext cx="670618" cy="8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93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3EEF2-48AF-42DD-984F-B168ABA7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082" y="0"/>
            <a:ext cx="9347718" cy="1325563"/>
          </a:xfrm>
        </p:spPr>
        <p:txBody>
          <a:bodyPr/>
          <a:lstStyle/>
          <a:p>
            <a:r>
              <a:rPr lang="ru-RU" dirty="0"/>
              <a:t>Общая численность рабочей силы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4592F2-8CE7-4CE8-94FC-242DF58D6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1288" y="2529212"/>
            <a:ext cx="2211357" cy="1017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L = E + U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D928A-2BB5-4976-8EB5-545AAB5ABDF7}"/>
              </a:ext>
            </a:extLst>
          </p:cNvPr>
          <p:cNvSpPr txBox="1"/>
          <p:nvPr/>
        </p:nvSpPr>
        <p:spPr>
          <a:xfrm>
            <a:off x="223935" y="1203649"/>
            <a:ext cx="12117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Общая численность рабочей силы равна суммарной численности занятых и безработных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E9DF2-51C3-494B-A30E-EEE3759B9698}"/>
              </a:ext>
            </a:extLst>
          </p:cNvPr>
          <p:cNvSpPr txBox="1"/>
          <p:nvPr/>
        </p:nvSpPr>
        <p:spPr>
          <a:xfrm>
            <a:off x="1101013" y="3579150"/>
            <a:ext cx="8826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где </a:t>
            </a:r>
            <a:r>
              <a:rPr lang="en-US" sz="2400" dirty="0"/>
              <a:t>E –</a:t>
            </a:r>
            <a:r>
              <a:rPr lang="ru-RU" sz="2400" dirty="0"/>
              <a:t> численность занятых; </a:t>
            </a:r>
            <a:r>
              <a:rPr lang="en-US" sz="2400" dirty="0"/>
              <a:t> </a:t>
            </a:r>
          </a:p>
          <a:p>
            <a:r>
              <a:rPr lang="en-US" sz="2400" dirty="0"/>
              <a:t>U</a:t>
            </a:r>
            <a:r>
              <a:rPr lang="ru-RU" sz="2400" dirty="0"/>
              <a:t> </a:t>
            </a:r>
            <a:r>
              <a:rPr lang="en-US" sz="2400" dirty="0"/>
              <a:t>–</a:t>
            </a:r>
            <a:r>
              <a:rPr lang="ru-RU" sz="2400" dirty="0"/>
              <a:t> численность безработных.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B1152B8-62DE-4FB6-B1B7-6DAE7E606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910" y="3278850"/>
            <a:ext cx="4404050" cy="292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6F0A46-C036-416E-8125-F638BAAC6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5" y="178514"/>
            <a:ext cx="10515600" cy="782540"/>
          </a:xfrm>
        </p:spPr>
        <p:txBody>
          <a:bodyPr/>
          <a:lstStyle/>
          <a:p>
            <a:pPr algn="ctr"/>
            <a:r>
              <a:rPr lang="ru-RU" dirty="0"/>
              <a:t>Схема рынка труда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393929-F0DE-4B4F-AABA-EFC4E8C41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082" y="2177628"/>
            <a:ext cx="8743950" cy="42195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8F6572-B616-4E3A-9634-DBBDCF33BF39}"/>
              </a:ext>
            </a:extLst>
          </p:cNvPr>
          <p:cNvSpPr txBox="1"/>
          <p:nvPr/>
        </p:nvSpPr>
        <p:spPr>
          <a:xfrm>
            <a:off x="772885" y="1045029"/>
            <a:ext cx="10713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Показатели изменения количества занятых и безработных, численности рабочей силы и численности не включаемых в рабочую силу это показатели потоков Между этими категориями постоянно происходят перемещения, которые изображены на схеме.</a:t>
            </a:r>
          </a:p>
        </p:txBody>
      </p:sp>
    </p:spTree>
    <p:extLst>
      <p:ext uri="{BB962C8B-B14F-4D97-AF65-F5344CB8AC3E}">
        <p14:creationId xmlns:p14="http://schemas.microsoft.com/office/powerpoint/2010/main" val="2771279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C8759-7741-4D3D-BC96-30518A6D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392403"/>
            <a:ext cx="10439400" cy="577267"/>
          </a:xfrm>
        </p:spPr>
        <p:txBody>
          <a:bodyPr>
            <a:normAutofit fontScale="90000"/>
          </a:bodyPr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5931D3-AF60-496F-AE82-42C3A5151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4870677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sz="2400" dirty="0"/>
              <a:t>Часть занятых теряет место работы, превращаясь в безработных.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400" dirty="0"/>
              <a:t> Некоторая доля безработных находит работу, становясь занятыми.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400" dirty="0"/>
              <a:t> Часть занятых увольняется с работы и покидает общественный сектор экономики (кто - то выходит на пенсию, кто - то становится домохозяйкой), а часть безработных, отчаявшись, прекращает поиски работы, что увеличивает численность не включаемых в рабочую силу.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400" dirty="0"/>
              <a:t>При этом часть людей, не занятых в общественном производстве, начинает активный поиск работы (неработающие женщины; закончившие высшие учебные заведения студенты; одумавшиеся бродяги)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400" dirty="0"/>
              <a:t>В условиях стабильной экономики ( в состоянии равновесия ) количество людей, теряющих работу, равно числу людей, находящих работу.</a:t>
            </a:r>
          </a:p>
        </p:txBody>
      </p:sp>
    </p:spTree>
    <p:extLst>
      <p:ext uri="{BB962C8B-B14F-4D97-AF65-F5344CB8AC3E}">
        <p14:creationId xmlns:p14="http://schemas.microsoft.com/office/powerpoint/2010/main" val="1813481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066EA7-4CDE-4791-B221-A6F4C1356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80" y="290480"/>
            <a:ext cx="10515600" cy="51195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Показатели безработицы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D596B2-C7D6-4037-AAE6-251416382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624"/>
            <a:ext cx="10515600" cy="488933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Уровень безработицы (</a:t>
            </a:r>
            <a:r>
              <a:rPr lang="ru-RU" dirty="0" err="1"/>
              <a:t>rate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unemployment</a:t>
            </a:r>
            <a:r>
              <a:rPr lang="ru-RU" dirty="0"/>
              <a:t> - </a:t>
            </a:r>
            <a:r>
              <a:rPr lang="en-US" dirty="0"/>
              <a:t>u</a:t>
            </a:r>
            <a:r>
              <a:rPr lang="ru-RU" dirty="0"/>
              <a:t>) представляет собой отношение численности безработных к общей численности рабочей силы (сумме количества занятых и безработных), выраженное в процентах: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720990-3AC5-47D4-8DB7-A99A4EA4A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3630969"/>
            <a:ext cx="73914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816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AFEE3A-A1C5-48D2-A419-89DBF8AF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1912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Показатели безработицы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E25E1D-8C6E-4733-8EAA-96D723710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Уровень участия в рабочей силе - показатель статистики труда, который представляет собой отношение численности рабочей силы к общей численности трудоспособного населения, выраженное в процентах и отражает долю трудоспособного населения, присутствующую на рынке труда: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F07F15-783A-4858-872E-5C216D9B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736" y="3890671"/>
            <a:ext cx="91059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90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F15C5-0DCC-4CB2-8780-8B672BE1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128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Виды безработицы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D81710-4B08-473B-AC3D-491D38E06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43131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Фрикционная безработица</a:t>
            </a:r>
          </a:p>
          <a:p>
            <a:pPr>
              <a:buFont typeface="Wingdings" panose="05000000000000000000" pitchFamily="2" charset="2"/>
              <a:buChar char="ü"/>
            </a:pPr>
            <a:endParaRPr lang="ru-RU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Структурная безработица</a:t>
            </a:r>
          </a:p>
          <a:p>
            <a:pPr>
              <a:buFont typeface="Wingdings" panose="05000000000000000000" pitchFamily="2" charset="2"/>
              <a:buChar char="ü"/>
            </a:pPr>
            <a:endParaRPr lang="ru-RU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Циклическая безработица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5D5ACE-9F3B-4669-98FC-03AA4E030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955" y="1489625"/>
            <a:ext cx="68832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9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C3C46E-46A1-44E6-8B97-F7C95D6D8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195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Фрикционная безработица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1EEEC3-C7CF-45DB-8601-A73A064A5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918" y="1175658"/>
            <a:ext cx="6197082" cy="51319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Связана с поиском работы и ожиданием выхода на работу.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Особенность фрикционной безработицы состоит в том, что работу ищут готовые специалисты с определенным уровнем профессиональной подготовки и квалификации.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 Основная причина существования фрикционной безработицы несовершенство информации (сведений о наличии свободных рабочих мест).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ADF285-7FBF-4F9D-9F1A-54FA07B12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33" y="1558212"/>
            <a:ext cx="4981936" cy="436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65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E1DAF-EBD9-4D7E-B7F1-AFBBC69D0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60" y="12253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К фрикционным безработным относятся люди: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C1416D-2F05-4B02-9385-2DC537E8C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94" y="1933285"/>
            <a:ext cx="10515600" cy="47288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уволенные с работы по приказу администрации;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уволившиеся по собственному желанию;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ожидающие восстановления на прежней работе;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нашедшие работу, но еще не приступившие к ней;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сезонные рабочие (не в сезон);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впервые или вновь появившиеся на рынке труда с требующимся в экономике уровнем профессиональной подготовки и квалификации </a:t>
            </a:r>
          </a:p>
        </p:txBody>
      </p:sp>
    </p:spTree>
    <p:extLst>
      <p:ext uri="{BB962C8B-B14F-4D97-AF65-F5344CB8AC3E}">
        <p14:creationId xmlns:p14="http://schemas.microsoft.com/office/powerpoint/2010/main" val="139704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B583DC-C6BC-48B0-8B9F-DD6907EA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7185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Уровень фрикционной безработицы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381BDC-CFC2-4978-B98E-67372B27A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212"/>
            <a:ext cx="10515600" cy="4618751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Уровень фрикционной безработицы равен выраженному в процентах отношению количества фрикционных безработных к общей численности рабочей силы: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3BD4A6-757A-465E-9957-1D050A2D3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031" y="3515698"/>
            <a:ext cx="516255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754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D75613-E97E-4CB6-94FF-95CB9CA8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25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Структурная безработица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3CC277-CD34-4B27-A2CA-88C64AC06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981"/>
            <a:ext cx="10515600" cy="3657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/>
              <a:t>Обусловлена структурными сдвигами в экономике, которые связаны: </a:t>
            </a:r>
          </a:p>
          <a:p>
            <a:r>
              <a:rPr lang="ru-RU" sz="2400" dirty="0"/>
              <a:t>с изменением структуры спроса на продукцию разных отраслей - спрос на продукцию одних отраслей увеличивается, производство расширяется, спрос на рабочую силу в этих отраслях растет, в то время как спрос на продукцию других отраслей падает, что ведет к сокращению занятости, увольнению рабочих и росту безработицы;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8135D2-61FB-42BF-85FE-7CDAA62CA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51" y="3444029"/>
            <a:ext cx="4201984" cy="3059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151B1A-58F5-439E-8DA4-512251197998}"/>
              </a:ext>
            </a:extLst>
          </p:cNvPr>
          <p:cNvSpPr txBox="1"/>
          <p:nvPr/>
        </p:nvSpPr>
        <p:spPr>
          <a:xfrm>
            <a:off x="5523723" y="3601616"/>
            <a:ext cx="60275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 изменениями отраслевой структуры экономики, причиной которых является научно - технический прогресс со временем одни отрасли устаревают и исчезают, а появляются другие отрасли. Меняется набор профессий, требующихся в экономике. </a:t>
            </a:r>
          </a:p>
        </p:txBody>
      </p:sp>
    </p:spTree>
    <p:extLst>
      <p:ext uri="{BB962C8B-B14F-4D97-AF65-F5344CB8AC3E}">
        <p14:creationId xmlns:p14="http://schemas.microsoft.com/office/powerpoint/2010/main" val="626445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0AB1C-052D-45DF-B187-74439AE8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581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Уровень структурной безработицы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FA13E1-22BA-47EA-BC37-13A6B570B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151" y="136842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Уровень структурной безработицы рассчитывается как отношение количества структурных безработных к общей численности рабочей силы, выраженное в процентах: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E7F5E4-0783-4648-96AC-A3530654D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429000"/>
            <a:ext cx="50292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45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AF70A-EC0A-486E-B17E-34E47078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8565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Естественный уровень безработицы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BBE8EE-5B9F-488B-AB2A-D947DFC75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972"/>
            <a:ext cx="10515600" cy="493599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Уровень безработицы при полной занятости рабочей силы носит название естественного уровня безработицы (</a:t>
            </a:r>
            <a:r>
              <a:rPr lang="en-US" dirty="0"/>
              <a:t>u</a:t>
            </a:r>
            <a:r>
              <a:rPr lang="ru-RU" dirty="0"/>
              <a:t>*). Это значит, что все люди, которые хотят работать и активно ищут работу, рано или поздно ее находят.</a:t>
            </a:r>
          </a:p>
          <a:p>
            <a:pPr marL="0" indent="0">
              <a:buNone/>
            </a:pPr>
            <a:r>
              <a:rPr lang="ru-RU" dirty="0"/>
              <a:t>Т. к. полная занятость рабочей силы означает, что в экономике имеются только фрикционные и структурные безработные, то естественный уровень безработицы может быть рассчитан как сумма уровней фрикционной и структурной безработицы: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538A8B-EA52-48B1-AB87-824950317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960" y="4881564"/>
            <a:ext cx="80486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66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233D7B-805D-4A50-80E2-A6466BFAD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58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Рост естественного уровня безработицы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FE73FC-8160-48E2-B548-BBCD69049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1528"/>
            <a:ext cx="10515600" cy="486134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Величина естественного уровня безработицы с течением времени растет. </a:t>
            </a:r>
          </a:p>
          <a:p>
            <a:pPr marL="0" indent="0">
              <a:buNone/>
            </a:pPr>
            <a:r>
              <a:rPr lang="ru-RU" dirty="0"/>
              <a:t>Причина роста естественного уровня безработицы -  увеличение продолжительности поиска работы, что может быть обусловлено: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 увеличением размеров пособий по безработице;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 увеличением времени выплаты пособий по безработице;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 ростом доли женщин в составе рабочей силы;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 увеличением доли молодежи на рынке труда.</a:t>
            </a:r>
          </a:p>
        </p:txBody>
      </p:sp>
    </p:spTree>
    <p:extLst>
      <p:ext uri="{BB962C8B-B14F-4D97-AF65-F5344CB8AC3E}">
        <p14:creationId xmlns:p14="http://schemas.microsoft.com/office/powerpoint/2010/main" val="1006204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BF5A037-B14C-465D-A97C-1EED00EE7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82" y="965718"/>
            <a:ext cx="7633995" cy="4926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На рисунке приведены графики экономического роста и экономического цикла. Каждая точка на тренде, изображающем экономический рост, соответствует величине потенциального ВВП или состоянию полной занятости ресурсов (точки В и С). Каждая точка на кривой, отображающей экономический цикл, соответствует величине фактического ВВП (точки А и D) Если фактический ВВП превышает потенциальный (точка А), фактический уровень безработицы ниже естественного уровня это ситуация сверхзанятости. При переходе из точки В в точку А происходит рост уровня цен и темпа инфляции ускорение инфляции, поскольку совокупный спрос превышает совокупное предложение. Если экономика находится на уровне потенциального выпуска (на тренде), что соответствует естественному уровню безработицы (уровню полной занятости), инфляция не ускоряется.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368472-B558-420D-AFA1-2BE7EB94D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788" y="1238637"/>
            <a:ext cx="4505130" cy="438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67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CCA533-C6EE-4801-AFA4-D60190FE5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2"/>
            <a:ext cx="10515600" cy="49329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Циклическая безработица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419FAA-4824-446B-826F-6376FC224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1004" y="1461731"/>
            <a:ext cx="6139543" cy="480844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3400" dirty="0"/>
              <a:t>Представляет собой отклонения от естественного уровня безработицы (</a:t>
            </a:r>
            <a:r>
              <a:rPr lang="en-US" sz="3400" dirty="0"/>
              <a:t>u</a:t>
            </a:r>
            <a:r>
              <a:rPr lang="ru-RU" sz="3400" dirty="0"/>
              <a:t>*), связанные с краткосрочными колебаниями экономической активности. Это безработица, причиной которой выступает рецессия (спад) в экономике, когда фактический ВВП меньше, чем потенциальный. Это означает, что в экономике имеет место неполная занятость ресурсов и фактический уровень безработицы выше, чем естественный. В современных условиях существование циклической безработицы может быть обусловлено как недостаточностью совокупных расходов в экономике (низким совокупным спросом), так и сокращением совокупного предложения</a:t>
            </a:r>
            <a:r>
              <a:rPr lang="ru-RU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6DD71A-7B12-424E-BC40-6F630704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63" y="1623527"/>
            <a:ext cx="4189542" cy="418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16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19F16-A9B2-40BF-9D42-0AB5EA9BE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195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Фактический уровень безработицы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803B1C-B7DC-4BD8-A7E0-40DED468B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9046"/>
            <a:ext cx="10515600" cy="51879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/>
              <a:t>Рассчитывается как процентное отношение общего количества безработных (фрикционных + структурных + циклических) к общей численности рабочей силы или как сумма уровней безработицы всех типов: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sz="2400" dirty="0"/>
              <a:t>Поскольку сумма уровней фрикционной и структурной безработицы равна естественному уровню безработицы, то фактический уровень безработицы равен сумме естественного уровня безработицы и уровня циклической безработицы: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E02F47-A241-4109-9704-1A7A80EC2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158" y="2752725"/>
            <a:ext cx="9322642" cy="13525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79E821-F920-4D40-A0EA-86265AB94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225" y="5727801"/>
            <a:ext cx="2252006" cy="56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36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E5FCE8-8E3F-48D3-B16F-0F67578FA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5928"/>
          </a:xfrm>
        </p:spPr>
        <p:txBody>
          <a:bodyPr>
            <a:noAutofit/>
          </a:bodyPr>
          <a:lstStyle/>
          <a:p>
            <a:pPr algn="ctr"/>
            <a:r>
              <a:rPr lang="ru-RU" sz="4000" dirty="0"/>
              <a:t>Последствия безработицы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D5D3AF-3D7D-4E0A-BD9A-7E06412F6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644" y="2519287"/>
            <a:ext cx="5181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Неэкономические последствия безработицы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A4B5E1-CF16-4A01-9D24-F31BDAD41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498" y="2506662"/>
            <a:ext cx="5181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Экономические последствия безработицы</a:t>
            </a:r>
          </a:p>
        </p:txBody>
      </p:sp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675CF1F2-9C11-4F32-B8D2-163AF8DAF2F7}"/>
              </a:ext>
            </a:extLst>
          </p:cNvPr>
          <p:cNvSpPr/>
          <p:nvPr/>
        </p:nvSpPr>
        <p:spPr>
          <a:xfrm>
            <a:off x="2528596" y="961054"/>
            <a:ext cx="615820" cy="134360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A6F61E-18F3-47DE-A29B-1C88BD86E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4298" y="985752"/>
            <a:ext cx="652329" cy="13595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F64F782-15E6-4405-A6AA-E165289E7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718" y="3550297"/>
            <a:ext cx="2888217" cy="263589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ADF0CC7-A5CC-48EF-95C5-050AE1A38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338" y="3704253"/>
            <a:ext cx="4527421" cy="254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92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7D401-8704-4A88-B8F0-1A4500587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789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Неэкономические последствия безработицы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CDDEAB-F5ED-48D8-961B-BD3233EF4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020"/>
            <a:ext cx="10515600" cy="5103943"/>
          </a:xfrm>
        </p:spPr>
        <p:txBody>
          <a:bodyPr>
            <a:normAutofit fontScale="77500" lnSpcReduction="20000"/>
          </a:bodyPr>
          <a:lstStyle/>
          <a:p>
            <a:pPr>
              <a:buFontTx/>
              <a:buChar char="-"/>
            </a:pPr>
            <a:r>
              <a:rPr lang="ru-RU" sz="2400" dirty="0"/>
              <a:t>это социальные, психологические и политические последствия потери работы </a:t>
            </a:r>
          </a:p>
          <a:p>
            <a:pPr marL="0" indent="0">
              <a:buNone/>
            </a:pPr>
            <a:r>
              <a:rPr lang="ru-RU" sz="2400" u="sng" dirty="0"/>
              <a:t>На индивидуальном уровне</a:t>
            </a:r>
            <a:r>
              <a:rPr lang="ru-RU" sz="2400" dirty="0"/>
              <a:t> они состоят в том, что невозможность найти работу в течение продолжительного периода времени порождает чувство собственной неполноценности, приводит людей к психологическим стрессам, отчаянию, нервным срывам, сердечно-сосудистым заболеваниям, потере друзей, развалу семьи и т. п. Потеря стабильного источника дохода может толкнуть человека на преступление (кражу и даже убийство), асоциальное поведение.</a:t>
            </a:r>
          </a:p>
          <a:p>
            <a:pPr marL="0" indent="0">
              <a:buNone/>
            </a:pPr>
            <a:r>
              <a:rPr lang="ru-RU" sz="2400" u="sng" dirty="0"/>
              <a:t>На уровне общества</a:t>
            </a:r>
            <a:r>
              <a:rPr lang="ru-RU" sz="2400" dirty="0"/>
              <a:t> они выступают в форме: </a:t>
            </a:r>
          </a:p>
          <a:p>
            <a:r>
              <a:rPr lang="ru-RU" sz="2400" dirty="0"/>
              <a:t>роста социальной напряженности, вплоть до политических переворотов; </a:t>
            </a:r>
          </a:p>
          <a:p>
            <a:r>
              <a:rPr lang="ru-RU" sz="2400" dirty="0"/>
              <a:t>роста уровня заболеваемости и смертности в стране, а также уровня преступности;</a:t>
            </a:r>
          </a:p>
          <a:p>
            <a:r>
              <a:rPr lang="ru-RU" sz="2400" dirty="0"/>
              <a:t> потерь, которое несет общество в связи с расходами на образование, профессиональную подготовку и обеспечение определенного уровня квалификации людям, которые в результате оказываются не в состоянии их применить, а следовательно, окупить</a:t>
            </a:r>
          </a:p>
        </p:txBody>
      </p:sp>
    </p:spTree>
    <p:extLst>
      <p:ext uri="{BB962C8B-B14F-4D97-AF65-F5344CB8AC3E}">
        <p14:creationId xmlns:p14="http://schemas.microsoft.com/office/powerpoint/2010/main" val="1681720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14D29D-DB77-4EEF-8E55-7825FB2CB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Экономические последствия безработицы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2CD14A-E402-4544-9DDA-9B7DA7D7C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4318"/>
            <a:ext cx="10896600" cy="498264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400" u="sng" dirty="0"/>
              <a:t>На индивидуальном уровне</a:t>
            </a:r>
            <a:r>
              <a:rPr lang="ru-RU" sz="2400" dirty="0"/>
              <a:t> они заключаются : в потере дохода или части дохода в настоящем в возможном снижении уровня дохода в будущем в связи с потерей квалификации (что особенно плохо для людей новейших профессий) и поэтому уменьшении шансов найти высокооплачиваемую, престижную работу.</a:t>
            </a:r>
          </a:p>
          <a:p>
            <a:pPr marL="0" indent="0">
              <a:buNone/>
            </a:pPr>
            <a:r>
              <a:rPr lang="ru-RU" sz="2400" u="sng" dirty="0"/>
              <a:t>На уровне общества</a:t>
            </a:r>
            <a:r>
              <a:rPr lang="ru-RU" sz="2400" dirty="0"/>
              <a:t> в целом они состоят в недопроизводстве ВВП, относительном отклонении (отставании) фактического ВВП от потенциального ВВП. Наличие циклической безработицы означает, что ресурсы используются не полностью. Поэтому фактический ВВП меньше, чем потенциальный (ВВП при полной занятости ресурсов).</a:t>
            </a:r>
          </a:p>
          <a:p>
            <a:pPr marL="0" indent="0">
              <a:buNone/>
            </a:pPr>
            <a:r>
              <a:rPr lang="ru-RU" sz="2400" u="sng" dirty="0"/>
              <a:t>Отклонение (разрыв) ВВП </a:t>
            </a:r>
            <a:r>
              <a:rPr lang="en-US" sz="2400" u="sng" dirty="0"/>
              <a:t>(GDP gap)</a:t>
            </a:r>
            <a:r>
              <a:rPr lang="ru-RU" sz="2400" dirty="0"/>
              <a:t> рассчитывается как процентное отношение разницы между фактическим ВВП (Y) и потенциальным ВВП (Y*) к величине потенциального ВВП : </a:t>
            </a:r>
          </a:p>
          <a:p>
            <a:pPr marL="0" indent="0">
              <a:buNone/>
            </a:pPr>
            <a:r>
              <a:rPr lang="ru-RU" sz="2400" dirty="0"/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BF0C0D-4445-4ADA-9D08-430226243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848" y="5366535"/>
            <a:ext cx="4779995" cy="120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983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3C320-5EAC-40D1-9308-7F857AB7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557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Закон </a:t>
            </a:r>
            <a:r>
              <a:rPr lang="ru-RU" sz="4000" dirty="0" err="1"/>
              <a:t>Оукена</a:t>
            </a:r>
            <a:r>
              <a:rPr lang="ru-RU" sz="4000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4E4E37-B0B4-47B1-B3C4-7F715B70E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5657"/>
            <a:ext cx="10515600" cy="520648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400" dirty="0"/>
              <a:t>Зависимость между отклонением фактического объема выпуска от потенциального (ВНП) и уровнем циклической безработицы эмпирически вывел американский экономист Артур </a:t>
            </a:r>
            <a:r>
              <a:rPr lang="ru-RU" sz="2400" dirty="0" err="1"/>
              <a:t>Оукен</a:t>
            </a:r>
            <a:r>
              <a:rPr lang="ru-RU" sz="2400" dirty="0"/>
              <a:t> Формула, отражающая эту зависимость, получила название закона </a:t>
            </a:r>
            <a:r>
              <a:rPr lang="ru-RU" sz="2400" dirty="0" err="1"/>
              <a:t>Оукена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r>
              <a:rPr lang="ru-RU" sz="2400" dirty="0"/>
              <a:t>Закон </a:t>
            </a:r>
            <a:r>
              <a:rPr lang="ru-RU" sz="2400" dirty="0" err="1"/>
              <a:t>Оукена</a:t>
            </a:r>
            <a:r>
              <a:rPr lang="ru-RU" sz="2400" dirty="0"/>
              <a:t>: </a:t>
            </a:r>
          </a:p>
          <a:p>
            <a:pPr marL="0" indent="0">
              <a:buNone/>
            </a:pP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где: u - фактический уровень безработицы;</a:t>
            </a:r>
          </a:p>
          <a:p>
            <a:pPr marL="0" indent="0" algn="just">
              <a:buNone/>
            </a:pPr>
            <a:r>
              <a:rPr lang="ru-RU" sz="2400" dirty="0"/>
              <a:t>        u* - естественный уровень безработицы;</a:t>
            </a:r>
          </a:p>
          <a:p>
            <a:pPr marL="0" indent="0" algn="just">
              <a:buNone/>
            </a:pPr>
            <a:r>
              <a:rPr lang="ru-RU" sz="2400" dirty="0"/>
              <a:t>       (u-u*) - уровень циклической безработицы;</a:t>
            </a:r>
          </a:p>
          <a:p>
            <a:pPr marL="0" indent="0">
              <a:buNone/>
            </a:pPr>
            <a:r>
              <a:rPr lang="ru-RU" sz="2400" dirty="0"/>
              <a:t>       β - коэффициент </a:t>
            </a:r>
            <a:r>
              <a:rPr lang="ru-RU" sz="2400" dirty="0" err="1"/>
              <a:t>Оукена</a:t>
            </a:r>
            <a:r>
              <a:rPr lang="ru-RU" sz="2400" dirty="0"/>
              <a:t> ( β &gt; 1), показывающий, на сколько процентов    сокращается фактический объем выпуска по сравнению с потенциальным, если фактический уровень безработицы увеличивается на 1 процентный пункт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42CECE-9B5A-4936-AB07-C2F7E4BF3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424" y="2533261"/>
            <a:ext cx="4473655" cy="89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869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BB931F-3EBA-41DF-82BB-ED0A268BA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735887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Коэффициент </a:t>
            </a:r>
            <a:r>
              <a:rPr lang="ru-RU" sz="4000" dirty="0" err="1"/>
              <a:t>Оукена</a:t>
            </a:r>
            <a:r>
              <a:rPr lang="ru-RU" sz="4000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3521D1-5D0D-4E03-A0B7-7554C5A77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559"/>
            <a:ext cx="10515600" cy="4665404"/>
          </a:xfrm>
        </p:spPr>
        <p:txBody>
          <a:bodyPr/>
          <a:lstStyle/>
          <a:p>
            <a:pPr>
              <a:buFontTx/>
              <a:buChar char="-"/>
            </a:pPr>
            <a:r>
              <a:rPr lang="ru-RU" dirty="0"/>
              <a:t>это коэффициент чувствительности отклонения ВВП к изменению уровня циклической безработицы. </a:t>
            </a:r>
          </a:p>
          <a:p>
            <a:pPr marL="0" indent="0">
              <a:buNone/>
            </a:pPr>
            <a:r>
              <a:rPr lang="ru-RU" dirty="0"/>
              <a:t>Для экономики США в те годы, по расчетам </a:t>
            </a:r>
            <a:r>
              <a:rPr lang="ru-RU" dirty="0" err="1"/>
              <a:t>Оукена</a:t>
            </a:r>
            <a:r>
              <a:rPr lang="ru-RU" dirty="0"/>
              <a:t>, он составлял 2,5. В других странах и в другие периоды времени он может быть численно иным. </a:t>
            </a:r>
          </a:p>
          <a:p>
            <a:pPr marL="0" indent="0">
              <a:buNone/>
            </a:pPr>
            <a:r>
              <a:rPr lang="ru-RU" dirty="0"/>
              <a:t>Знак « минус » перед выражением, стоящим в правой части уравнения, отражает обратную зависимость между фактическим ВВП и уровнем циклической безработицы: чем выше уровень безработицы, тем меньше величина фактического ВВП по сравнению с потенциальным.</a:t>
            </a:r>
          </a:p>
        </p:txBody>
      </p:sp>
    </p:spTree>
    <p:extLst>
      <p:ext uri="{BB962C8B-B14F-4D97-AF65-F5344CB8AC3E}">
        <p14:creationId xmlns:p14="http://schemas.microsoft.com/office/powerpoint/2010/main" val="3372735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57AE8-1C2E-4390-8F76-2DDA393B8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659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Отклонение фактического ВВП в %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62E5D5-7F32-49C3-817C-DD2EF4DEF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964"/>
            <a:ext cx="10515600" cy="490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Отклонение фактического ВВП (</a:t>
            </a:r>
            <a:r>
              <a:rPr lang="ru-RU" dirty="0" err="1"/>
              <a:t>Y</a:t>
            </a:r>
            <a:r>
              <a:rPr lang="ru-RU" sz="1600" dirty="0" err="1"/>
              <a:t>t</a:t>
            </a:r>
            <a:r>
              <a:rPr lang="ru-RU" dirty="0"/>
              <a:t> ) любого года можно подсчитать также по отношению к фактическому ВВП предыдущего года (Y</a:t>
            </a:r>
            <a:r>
              <a:rPr lang="ru-RU" sz="1600" dirty="0"/>
              <a:t>t-1</a:t>
            </a:r>
            <a:r>
              <a:rPr lang="ru-RU" dirty="0"/>
              <a:t> ).</a:t>
            </a:r>
          </a:p>
          <a:p>
            <a:pPr marL="0" indent="0">
              <a:buNone/>
            </a:pPr>
            <a:r>
              <a:rPr lang="ru-RU" dirty="0"/>
              <a:t> Формулу для такого расчета также предложил </a:t>
            </a:r>
            <a:r>
              <a:rPr lang="ru-RU" dirty="0" err="1"/>
              <a:t>Оукен</a:t>
            </a:r>
            <a:r>
              <a:rPr lang="ru-RU" dirty="0"/>
              <a:t>: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где </a:t>
            </a:r>
            <a:r>
              <a:rPr lang="en-US" dirty="0"/>
              <a:t>u</a:t>
            </a:r>
            <a:r>
              <a:rPr lang="ru-RU" sz="1600" dirty="0"/>
              <a:t>t</a:t>
            </a:r>
            <a:r>
              <a:rPr lang="ru-RU" dirty="0"/>
              <a:t> </a:t>
            </a:r>
            <a:r>
              <a:rPr lang="en-US" dirty="0"/>
              <a:t>- </a:t>
            </a:r>
            <a:r>
              <a:rPr lang="ru-RU" dirty="0"/>
              <a:t>фактический уровень безработицы данного года;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en-US" dirty="0"/>
              <a:t>u</a:t>
            </a:r>
            <a:r>
              <a:rPr lang="ru-RU" sz="1600" dirty="0"/>
              <a:t>t-1</a:t>
            </a:r>
            <a:r>
              <a:rPr lang="ru-RU" dirty="0"/>
              <a:t>  - фактический уровень безработицы предыдущего года;</a:t>
            </a:r>
          </a:p>
          <a:p>
            <a:pPr marL="0" indent="0">
              <a:buNone/>
            </a:pPr>
            <a:r>
              <a:rPr lang="ru-RU" dirty="0"/>
              <a:t>3% - среднегодовой темп роста потенциального ВВП в развитых странах, обусловленный увеличением количества ресурсов (труда и капитала) и технологическим прогрессом;</a:t>
            </a:r>
          </a:p>
          <a:p>
            <a:pPr marL="0" indent="0">
              <a:buNone/>
            </a:pPr>
            <a:r>
              <a:rPr lang="ru-RU" dirty="0"/>
              <a:t> 2 - коэффициент, показывающий, на сколько процентов сокращается фактический ВВП при росте уровня безработицы на 1 процентный пункт при отсутствии экономического роста и поэтому являющийся коэффициентом чувствительности изменения ВВП к изменению фактического уровня безработицы.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135C8D-66F9-433C-A611-ACE00835A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905" y="2168784"/>
            <a:ext cx="43243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76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44D5E9-56DA-425D-91F5-8CA35723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 формулы следует: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5C3BD9-62FC-42CC-8391-7EACC2F7D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2611"/>
            <a:ext cx="10515600" cy="370435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Если уровень безработицы увеличивается на 1 процентный пункт, то при отсутствии экономического роста фактический ВВП сокращается на 2%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Этот коэффициент был рассчитан </a:t>
            </a:r>
            <a:r>
              <a:rPr lang="ru-RU" dirty="0" err="1"/>
              <a:t>Оукеном</a:t>
            </a:r>
            <a:r>
              <a:rPr lang="ru-RU" dirty="0"/>
              <a:t> на основе анализа эмпирических ( статистических ) данных для американской экономики, поэтому для других стран он может быть иным.</a:t>
            </a:r>
          </a:p>
        </p:txBody>
      </p:sp>
    </p:spTree>
    <p:extLst>
      <p:ext uri="{BB962C8B-B14F-4D97-AF65-F5344CB8AC3E}">
        <p14:creationId xmlns:p14="http://schemas.microsoft.com/office/powerpoint/2010/main" val="9329040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F2820-06D6-4B02-8384-AEFAEF302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923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/>
              <a:t>Государственная политика борьбы с безработицей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5F3128-813D-4CEA-970D-B105EF1DD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3403"/>
            <a:ext cx="10515600" cy="4133559"/>
          </a:xfrm>
        </p:spPr>
        <p:txBody>
          <a:bodyPr/>
          <a:lstStyle/>
          <a:p>
            <a:r>
              <a:rPr lang="ru-RU" dirty="0"/>
              <a:t>Безработица представляет собой серьезную макроэкономическую проблему, поэтому государство принимает меры для борьбы с ней. </a:t>
            </a:r>
          </a:p>
          <a:p>
            <a:r>
              <a:rPr lang="ru-RU" dirty="0"/>
              <a:t>Для разных типов безработицы, поскольку они обусловлены разными причинами, используются разные меры.</a:t>
            </a:r>
          </a:p>
          <a:p>
            <a:r>
              <a:rPr lang="ru-RU" dirty="0"/>
              <a:t> Общей для всех типов безработицы мерой является создание служб занятости (бюро по трудоустройству).</a:t>
            </a:r>
          </a:p>
        </p:txBody>
      </p:sp>
    </p:spTree>
    <p:extLst>
      <p:ext uri="{BB962C8B-B14F-4D97-AF65-F5344CB8AC3E}">
        <p14:creationId xmlns:p14="http://schemas.microsoft.com/office/powerpoint/2010/main" val="23138596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76C02-DA5F-4A31-8990-E4BEA2B6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14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 </a:t>
            </a:r>
            <a:r>
              <a:rPr lang="ru-RU" sz="3600" dirty="0"/>
              <a:t>Специфические меры для борьбы с фрикционной безработицей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A98990-CC28-4B8F-BD46-ADEFED39E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49416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усовершенствование системы сбора и предоставления информации о наличии свободных рабочих мест (не только в данном городе, но и в других городах и регионах);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создание специальных служб для этих целей.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9BE732-B1AC-470A-9424-FAF95017C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62065"/>
            <a:ext cx="5545050" cy="363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46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74BEA-0A44-4F51-9C18-B8392E99B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781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/>
              <a:t>Специфические меры для борьбы со структурной безработицей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9A4F85-1CF3-45AD-A82A-918A3BEB7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1102" y="2226842"/>
            <a:ext cx="3702698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создание государственных служб и учреждений по переподготовке и переквалификации;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/>
              <a:t>помощь частным службам такого типа.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E7479E-2565-46B6-889D-BE0B7910A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2052733"/>
            <a:ext cx="6634065" cy="359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21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B4836-3471-4CEA-A499-8D62107C9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848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/>
              <a:t>Специфические меры для борьбы с циклической безработицей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25491B-0F43-467D-9C54-7BF326174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ru-RU" dirty="0"/>
              <a:t> проведение </a:t>
            </a:r>
            <a:r>
              <a:rPr lang="ru-RU" dirty="0" err="1"/>
              <a:t>антициклической</a:t>
            </a:r>
            <a:r>
              <a:rPr lang="ru-RU" dirty="0"/>
              <a:t> (стабилизационной) политики, направленной на сглаживание циклических колебаний экономики, недопущение глубоких спадов производства и, следовательно, массовой безработицы;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u-RU" dirty="0"/>
              <a:t>создание дополнительных рабочих мест в государственном секторе экономики.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4FCF6B-E797-4621-AECD-2FE1A5518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695" y="4079146"/>
            <a:ext cx="5114986" cy="269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8185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TM04033925[[fn=Капля]]</Template>
  <TotalTime>637</TotalTime>
  <Words>2017</Words>
  <Application>Microsoft Macintosh PowerPoint</Application>
  <PresentationFormat>Широкоэкранный</PresentationFormat>
  <Paragraphs>144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8" baseType="lpstr">
      <vt:lpstr>Arial</vt:lpstr>
      <vt:lpstr>Tw Cen MT</vt:lpstr>
      <vt:lpstr>Wingdings</vt:lpstr>
      <vt:lpstr>Капля</vt:lpstr>
      <vt:lpstr> Безработица</vt:lpstr>
      <vt:lpstr>Понятие безработицы</vt:lpstr>
      <vt:lpstr>Причины безработицы</vt:lpstr>
      <vt:lpstr>Население</vt:lpstr>
      <vt:lpstr>Трудоспособное население</vt:lpstr>
      <vt:lpstr>Презентация PowerPoint</vt:lpstr>
      <vt:lpstr>Презентация PowerPoint</vt:lpstr>
      <vt:lpstr>Общая численность рабочей силы</vt:lpstr>
      <vt:lpstr>Схема рынка труда</vt:lpstr>
      <vt:lpstr>Презентация PowerPoint</vt:lpstr>
      <vt:lpstr>Показатели безработицы</vt:lpstr>
      <vt:lpstr>Показатели безработицы</vt:lpstr>
      <vt:lpstr>Виды безработицы</vt:lpstr>
      <vt:lpstr>Фрикционная безработица</vt:lpstr>
      <vt:lpstr>К фрикционным безработным относятся люди: </vt:lpstr>
      <vt:lpstr>Уровень фрикционной безработицы </vt:lpstr>
      <vt:lpstr>Структурная безработица </vt:lpstr>
      <vt:lpstr>Уровень структурной безработицы </vt:lpstr>
      <vt:lpstr>Естественный уровень безработицы </vt:lpstr>
      <vt:lpstr>Рост естественного уровня безработицы </vt:lpstr>
      <vt:lpstr>Презентация PowerPoint</vt:lpstr>
      <vt:lpstr>Циклическая безработица </vt:lpstr>
      <vt:lpstr>Фактический уровень безработицы </vt:lpstr>
      <vt:lpstr>Последствия безработицы</vt:lpstr>
      <vt:lpstr>Неэкономические последствия безработицы </vt:lpstr>
      <vt:lpstr>Экономические последствия безработицы </vt:lpstr>
      <vt:lpstr>Закон Оукена </vt:lpstr>
      <vt:lpstr>Коэффициент Оукена </vt:lpstr>
      <vt:lpstr>Отклонение фактического ВВП в % </vt:lpstr>
      <vt:lpstr>Из формулы следует:</vt:lpstr>
      <vt:lpstr>Государственная политика борьбы с безработицей </vt:lpstr>
      <vt:lpstr> Специфические меры для борьбы с фрикционной безработицей</vt:lpstr>
      <vt:lpstr>Специфические меры для борьбы со структурной безработицей</vt:lpstr>
      <vt:lpstr>Специфические меры для борьбы с циклической безработицей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Безработица</dc:title>
  <dc:creator>vika20073001@outlook.com</dc:creator>
  <cp:lastModifiedBy>Королева Нонна Шараповна</cp:lastModifiedBy>
  <cp:revision>6</cp:revision>
  <dcterms:created xsi:type="dcterms:W3CDTF">2021-09-22T13:02:36Z</dcterms:created>
  <dcterms:modified xsi:type="dcterms:W3CDTF">2022-10-18T20:16:21Z</dcterms:modified>
</cp:coreProperties>
</file>