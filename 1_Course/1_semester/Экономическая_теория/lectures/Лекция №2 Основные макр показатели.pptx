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4" r:id="rId27"/>
    <p:sldId id="282" r:id="rId28"/>
    <p:sldId id="283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0" d="100"/>
          <a:sy n="120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DFE89-44A2-4580-8C7C-01700495F40F}" type="datetimeFigureOut">
              <a:rPr lang="ru-RU" smtClean="0"/>
              <a:t>04.10.2024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AC8D-DBE5-4864-8981-6DCDEA9FCC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D32FA-FF26-4932-9F74-6C06B31A2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2A9018-AAB1-4E70-9071-6CD796F9B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041C20-28B2-4DEF-9DF8-8CFF61D9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404B-BBC2-48C5-928A-AF587E72313D}" type="datetimeFigureOut">
              <a:rPr lang="ru-RU" smtClean="0"/>
              <a:t>04.10.2024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02A2E9-81C2-4A7F-ACA8-64889F6BA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62B793-2A11-478D-BAA4-D693C128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AFB38-95A9-4A10-85D7-3A7831463773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F4C79A2-8060-4A45-8AD9-42CB913C8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398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95417-FD14-4841-96AE-6E9409F02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F79BAF-ABA3-4C0B-A084-CA1867C0C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154C4-7D8D-4267-9430-B03CD95E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404B-BBC2-48C5-928A-AF587E72313D}" type="datetimeFigureOut">
              <a:rPr lang="ru-RU" smtClean="0"/>
              <a:t>04.10.2024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E264B2-036C-4214-B267-2CB73DE15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B3483F-D06A-4938-8A16-A2D0DBC1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AFB38-95A9-4A10-85D7-3A7831463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993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3C472-5A47-496F-8317-34E9E303E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9FCFDD-CEB7-4030-B615-EA5F59CD7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F8D7A9-CE57-4D0F-BF8B-6FDD122B6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404B-BBC2-48C5-928A-AF587E72313D}" type="datetimeFigureOut">
              <a:rPr lang="ru-RU" smtClean="0"/>
              <a:t>04.10.2024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CE659E-F606-4D7B-8ECB-2F07F7C7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5C4981-0744-4C58-BC67-DFD8BE78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AFB38-95A9-4A10-85D7-3A7831463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522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FA03B6-5F73-45F0-AB1F-1F49E2950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0F158E-D92E-44EA-8278-2D0C56BB8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194EE3-3E90-4EFB-BE96-52FE6AEEC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43319D-432E-4B79-81D4-921A28BC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404B-BBC2-48C5-928A-AF587E72313D}" type="datetimeFigureOut">
              <a:rPr lang="ru-RU" smtClean="0"/>
              <a:t>04.10.2024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7B5AB7-80F9-4FD3-9AC9-BE396B12E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3D1B50-584A-4D92-B3DE-D3529797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AFB38-95A9-4A10-85D7-3A7831463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4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EED5B-22F3-49DD-82B0-B3F13DCDC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312F0D-30EA-4D3D-A34E-8A9A08AA0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982D69-57D5-46B4-BFE0-F6C44B48C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7A0ECB4-B8F8-48B7-BED7-8845798131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8AF23EB-5244-400A-B230-E9DDCA949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69D97CD-DCFE-481C-BD02-219333119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404B-BBC2-48C5-928A-AF587E72313D}" type="datetimeFigureOut">
              <a:rPr lang="ru-RU" smtClean="0"/>
              <a:t>04.10.2024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3201333-F424-4D29-9C2F-DF58A1A37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AF3AE8A-DB3D-4AB2-83EE-D6C16E14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AFB38-95A9-4A10-85D7-3A7831463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21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B87515-E51E-42FC-8639-343683B5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6A59A31-C6A1-47CA-8006-5CECAEB1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404B-BBC2-48C5-928A-AF587E72313D}" type="datetimeFigureOut">
              <a:rPr lang="ru-RU" smtClean="0"/>
              <a:t>04.10.2024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9BFB0D2-FDD9-4510-A084-AF4075350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78BF35A-C124-4C3B-AACA-F2F1B8EF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AFB38-95A9-4A10-85D7-3A7831463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272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A6E312E-0F8A-49E2-A35C-8E2217AA9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404B-BBC2-48C5-928A-AF587E72313D}" type="datetimeFigureOut">
              <a:rPr lang="ru-RU" smtClean="0"/>
              <a:t>04.10.2024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A7609C-A359-4032-AF2E-AC872F197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8089A6-12F8-4F53-9147-3BA8BDFF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AFB38-95A9-4A10-85D7-3A7831463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508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947F8C-D0DF-4F84-9326-AEE9FC7D0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405C7C-E32D-4A6A-8130-A572E0D53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872C49B-ED88-47AE-97D2-B2A44FCD0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0714B8-F5BC-4046-8FB0-B15113620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404B-BBC2-48C5-928A-AF587E72313D}" type="datetimeFigureOut">
              <a:rPr lang="ru-RU" smtClean="0"/>
              <a:t>04.10.2024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D9FBBC-DF9C-462E-9E3C-9D9B42BE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9832D7-E415-4F9D-BC2F-57740584E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AFB38-95A9-4A10-85D7-3A7831463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117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974770-7143-4D75-96C0-A65ED029A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781D299-FF5E-4475-9259-5A3AF0998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7CD421-D456-4ED9-B332-6C66DD4CC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A65117-6C77-4837-AF16-C291DE2A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404B-BBC2-48C5-928A-AF587E72313D}" type="datetimeFigureOut">
              <a:rPr lang="ru-RU" smtClean="0"/>
              <a:t>04.10.2024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27A2EE-388F-421A-9633-870A2A09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809E14-0543-4025-A04E-95F1EF2B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AFB38-95A9-4A10-85D7-3A7831463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191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AAA7D-642E-4723-A684-D01C1F475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3CBDBB-65A0-4F4F-AADB-E947CB070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364FDB-C11D-4C01-A872-201DC257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404B-BBC2-48C5-928A-AF587E72313D}" type="datetimeFigureOut">
              <a:rPr lang="ru-RU" smtClean="0"/>
              <a:t>04.10.2024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A69523-461D-45C0-B801-373A4C2C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2F30FB-46E0-4E22-9C6D-AF0408BB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AFB38-95A9-4A10-85D7-3A7831463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894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6E44ADE-A81F-49DB-BB4B-3F69BB854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6703BC-455B-4084-8FA4-F40E62A64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BA2A85-F555-4508-81E7-63D6F7F4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404B-BBC2-48C5-928A-AF587E72313D}" type="datetimeFigureOut">
              <a:rPr lang="ru-RU" smtClean="0"/>
              <a:t>04.10.2024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27F3CE-BA9C-422A-9CAE-8D28260AE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4916AD-22AB-4F45-883D-A704EA804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AFB38-95A9-4A10-85D7-3A7831463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880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0522FC-9BDC-4C06-A14D-EE2A48827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4B7E2D-30FA-4F6C-AE90-C39BB983E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897C49-3B4F-427B-A0C6-E389B75E8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C404B-BBC2-48C5-928A-AF587E72313D}" type="datetimeFigureOut">
              <a:rPr lang="ru-RU" smtClean="0"/>
              <a:t>04.10.2024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494885-E83B-408F-9859-D015E0261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6C686C-0C3A-490F-BCA2-C86872A45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AFB38-95A9-4A10-85D7-3A7831463773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753E1D0-D3AD-4EF9-87FC-A817BA92B77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09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13737-6760-4F04-8176-642F241B4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/>
          </a:bodyPr>
          <a:lstStyle/>
          <a:p>
            <a:br>
              <a:rPr lang="ru-RU" sz="4800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sz="4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Основные макроэкономические показатели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C62240-CDF6-4737-98C1-2A6955DA77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6500"/>
            <a:ext cx="9144000" cy="1655762"/>
          </a:xfrm>
        </p:spPr>
        <p:txBody>
          <a:bodyPr/>
          <a:lstStyle/>
          <a:p>
            <a:pPr algn="r"/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59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276281-4683-4AE7-BDCF-6D92EA22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Система национальных счетов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00925B-2781-4C2C-B441-CA0ED1268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Основные макроэкономические показатели содержатся в Системе национальных счетов – СНС. Система национальных счетов была разработана группой американских ученых под руководством Саймона Кузнеца в конце 20-ых годов </a:t>
            </a:r>
            <a:r>
              <a:rPr lang="en-GB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XX 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века.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Система национальных счетов – это совокупность статистических макроэкономических показателей, характеризующих величину совокупного продукта (выпуска) и совокупного дохода, позволяющих оценить состояние экономики страны.</a:t>
            </a:r>
          </a:p>
        </p:txBody>
      </p:sp>
    </p:spTree>
    <p:extLst>
      <p:ext uri="{BB962C8B-B14F-4D97-AF65-F5344CB8AC3E}">
        <p14:creationId xmlns:p14="http://schemas.microsoft.com/office/powerpoint/2010/main" val="2355023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Система национальных счетов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677527-A8EC-4DA8-A355-8A5FD1F97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393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Основными показателями совокупного выпуска и совокупного дохода являются: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ВВП – валовый внутренний продукт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ВНП – валовой национальный продукт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ЧВП – чистый внутренний продукт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ЧНП – чистый национальный продукт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НД – национальный доход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ЛД – личный доход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РЛД – располагаемый личный доход</a:t>
            </a:r>
          </a:p>
        </p:txBody>
      </p:sp>
    </p:spTree>
    <p:extLst>
      <p:ext uri="{BB962C8B-B14F-4D97-AF65-F5344CB8AC3E}">
        <p14:creationId xmlns:p14="http://schemas.microsoft.com/office/powerpoint/2010/main" val="4147030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Система национальных счетов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677527-A8EC-4DA8-A355-8A5FD1F97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393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Теоретической основой СНС служит модель кругооборота продукта, расходов и доходов.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До конца 1980-х гг. основным показателем, характеризующим совокупный объем выпуска, был показатель ВНП. Однако в современных условиях в связи с интернационализацией экономических и хозяйственных отношений и трудностями подсчета ВНП, основным показателем совокупного выпуска стал ВВП.</a:t>
            </a:r>
          </a:p>
        </p:txBody>
      </p:sp>
    </p:spTree>
    <p:extLst>
      <p:ext uri="{BB962C8B-B14F-4D97-AF65-F5344CB8AC3E}">
        <p14:creationId xmlns:p14="http://schemas.microsoft.com/office/powerpoint/2010/main" val="84237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Валовой внутренний продукт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677527-A8EC-4DA8-A355-8A5FD1F97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292"/>
            <a:ext cx="10515600" cy="486393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Валовой внутренний продукт (</a:t>
            </a:r>
            <a:r>
              <a:rPr lang="en-GB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Gross Domestic Product – GDP) 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– это совокупная рыночная стоимость всех конечных товаров и услуг, произведенных в экономике (внутри страны) в течение одного года. Основные принципы ВВП: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ВВП – агрегированный показатель, характеризующий общий объем производства, совокупный выпуск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 стоимость ВВП включаются только официальные рыночные сделки, поэтому ВВП не учитывает:</a:t>
            </a:r>
            <a:b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1) труд на себя</a:t>
            </a:r>
            <a:b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2) труд на безвозмездной основе</a:t>
            </a:r>
            <a:b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3) теневую экономику</a:t>
            </a:r>
          </a:p>
          <a:p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632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Валовой внутренний продукт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677527-A8EC-4DA8-A355-8A5FD1F97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292"/>
            <a:ext cx="10515600" cy="486393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ВВП измеряет совокупный объем производства в денежном выражении – в стоимостной форме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 ВВП включается только конечная стоимость продукции, что позволяет избежать повторного счета. По этой же причине все перепродажи также не включаются в ВВП. Так как стоимость конечной продукции не может быть подсчитана непосредственно, то ВВП рассчитывают по совокупной добавленной стоимости: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3393734-9D12-412F-BA8A-EDB6CBAB9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146" y="5131232"/>
            <a:ext cx="8217707" cy="115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426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Валовой внутренний продукт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677527-A8EC-4DA8-A355-8A5FD1F97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292"/>
            <a:ext cx="10515600" cy="486393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Сумма добавленных стоимостей будет равняться цене конечного товара. Пример на таблице, цена за хлеб равняется итоговой сумме добавленных стоимостей: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339133-52AD-4483-BC58-A41CD8A7D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981" y="3186704"/>
            <a:ext cx="7978038" cy="306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02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Валовой внутренний продукт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677527-A8EC-4DA8-A355-8A5FD1F97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292"/>
            <a:ext cx="10515600" cy="486393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Все внутренние затраты фирмы (на выплату заработной платы, амортизацию, аренду капитала, аренду помещения и др.), а также прибыль фирмы включаются в добавленную стоимость.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 ВВП не учитываются платежи, которые производятся не в обмен на товары и услуги – трансферты и финансовые сделки.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 ВВП учитываются товары и услуги, произведенные на территории данной страны, в отличие от ВНП, где рассматривают национальные факторы производства, которые могут быть и на территории другой страны.  В большинстве развиты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x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стран ВВП от ВНП не превышает 1%.</a:t>
            </a:r>
          </a:p>
          <a:p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119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Валовой внутренний продукт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677527-A8EC-4DA8-A355-8A5FD1F97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292"/>
            <a:ext cx="10515600" cy="486393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Количественно ВВП отличается от ВНП на величину чистого факторного дохода из-за границы – ЧФД (</a:t>
            </a:r>
            <a:r>
              <a:rPr lang="en-GB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net factor income from abroad)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, который равен разнице доходов, заработанным и полученным гражданами данной страны от использования национальных факторов в других странах, и доходом, заработанным иностранцами от использования принадлежащих им (иностранных) факторов на территории данной страны:</a:t>
            </a:r>
          </a:p>
          <a:p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FA58E3-4D0D-459C-B971-7709C50F7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212" y="4853709"/>
            <a:ext cx="10186588" cy="113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Валовой внутренний продукт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677527-A8EC-4DA8-A355-8A5FD1F97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292"/>
            <a:ext cx="10515600" cy="486393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ВВП учитывает товары, произведенные только за один год, товары, произведенные не в данном году, не учитываются при подсчете ВВП, поскольку они уже были учтены в стоимости ВВП соответствующих лет.</a:t>
            </a:r>
          </a:p>
          <a:p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770E3D-BCFB-4DA7-8FE3-D1747AF52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152" y="3200262"/>
            <a:ext cx="7102215" cy="348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392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Методы измерения ВВП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394065FC-41D3-4EEA-9D3A-84A19EB105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95778" y="4523874"/>
            <a:ext cx="2725148" cy="719390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DCD0B75-31BB-475C-8314-219938E6FA89}"/>
              </a:ext>
            </a:extLst>
          </p:cNvPr>
          <p:cNvSpPr/>
          <p:nvPr/>
        </p:nvSpPr>
        <p:spPr>
          <a:xfrm>
            <a:off x="4427621" y="2165682"/>
            <a:ext cx="3031958" cy="11069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dirty="0"/>
              <a:t>Расчет ВВП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6D05023-62B9-4C6E-80E6-7538B153D418}"/>
              </a:ext>
            </a:extLst>
          </p:cNvPr>
          <p:cNvSpPr/>
          <p:nvPr/>
        </p:nvSpPr>
        <p:spPr>
          <a:xfrm>
            <a:off x="1171074" y="4523874"/>
            <a:ext cx="2711115" cy="7058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/>
              <a:t>По расходам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C2DE09B-2DC7-42C6-BA70-D11FCAA63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431" y="5243264"/>
            <a:ext cx="2725148" cy="719390"/>
          </a:xfrm>
          <a:prstGeom prst="rect">
            <a:avLst/>
          </a:prstGeom>
        </p:spPr>
      </p:pic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BA085C89-BDAE-484D-9CF5-5A9F71CC85EC}"/>
              </a:ext>
            </a:extLst>
          </p:cNvPr>
          <p:cNvCxnSpPr/>
          <p:nvPr/>
        </p:nvCxnSpPr>
        <p:spPr>
          <a:xfrm>
            <a:off x="7459579" y="3272589"/>
            <a:ext cx="836199" cy="1251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A28F879-32E0-4F48-A7AF-E3322FFB7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114550">
            <a:off x="3667991" y="3278246"/>
            <a:ext cx="926672" cy="134123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7DDE7D0-C285-4BB2-8B98-3B6997117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71377">
            <a:off x="5632664" y="3573099"/>
            <a:ext cx="926672" cy="134123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971C9D5-785A-4C4A-8A43-F283669133DE}"/>
              </a:ext>
            </a:extLst>
          </p:cNvPr>
          <p:cNvSpPr txBox="1"/>
          <p:nvPr/>
        </p:nvSpPr>
        <p:spPr>
          <a:xfrm>
            <a:off x="8646372" y="4554978"/>
            <a:ext cx="20239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По добавленной стоимости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3D8FE8-D21F-43C1-800A-78DFE51798F5}"/>
              </a:ext>
            </a:extLst>
          </p:cNvPr>
          <p:cNvSpPr txBox="1"/>
          <p:nvPr/>
        </p:nvSpPr>
        <p:spPr>
          <a:xfrm>
            <a:off x="5195460" y="5372126"/>
            <a:ext cx="1741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По доходам</a:t>
            </a:r>
          </a:p>
        </p:txBody>
      </p:sp>
    </p:spTree>
    <p:extLst>
      <p:ext uri="{BB962C8B-B14F-4D97-AF65-F5344CB8AC3E}">
        <p14:creationId xmlns:p14="http://schemas.microsoft.com/office/powerpoint/2010/main" val="1915861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Метод измерения ВВП по расходам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Валовой внутренний продукт, подсчитанный по расходам, представляет собой сумму расходов всех макроэкономических агентов, которая включает: расходы домохозяйств (потребительские расходы); расходы фирм (инвестиционные расходы); расходы государства (государственные закупки товаров и услуг); расходы иностранного сектора (расходы на чистый экспорт).</a:t>
            </a:r>
          </a:p>
        </p:txBody>
      </p:sp>
    </p:spTree>
    <p:extLst>
      <p:ext uri="{BB962C8B-B14F-4D97-AF65-F5344CB8AC3E}">
        <p14:creationId xmlns:p14="http://schemas.microsoft.com/office/powerpoint/2010/main" val="4261469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Метод измерения ВВП по расходам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>
                <a:extLst>
                  <a:ext uri="{FF2B5EF4-FFF2-40B4-BE49-F238E27FC236}">
                    <a16:creationId xmlns:a16="http://schemas.microsoft.com/office/drawing/2014/main" id="{99F3C62E-1581-4C42-BCE6-882FC04F28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Формула подсчета ВВП по расходам:</a:t>
                </a:r>
                <a:endParaRPr lang="en-GB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  <a:p>
                <a:endParaRPr lang="en-GB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  <a:p>
                <a:endParaRPr lang="en-GB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  <a:p>
                <a:endParaRPr lang="en-GB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  <a:p>
                <a:r>
                  <a:rPr lang="ru-RU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Где</a:t>
                </a:r>
                <a:br>
                  <a:rPr lang="ru-RU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</a:br>
                <a:r>
                  <a:rPr lang="ru-RU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С – потребительские расходы</a:t>
                </a:r>
                <a:br>
                  <a:rPr lang="ru-RU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2800" i="1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𝑔𝑟𝑜𝑠𝑠</m:t>
                        </m:r>
                        <m:r>
                          <m:rPr>
                            <m:nor/>
                          </m:rPr>
                          <a:rPr lang="en-GB" sz="2800" dirty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</a:rPr>
                          <m:t> 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 – </a:t>
                </a:r>
                <a:r>
                  <a:rPr lang="ru-RU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инвестиционные расходы</a:t>
                </a:r>
                <a:br>
                  <a:rPr lang="en-GB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</a:br>
                <a:r>
                  <a:rPr lang="en-GB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G – </a:t>
                </a:r>
                <a:r>
                  <a:rPr lang="ru-RU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государственные закупки товаров и услуг</a:t>
                </a:r>
                <a:br>
                  <a:rPr lang="en-GB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</a:br>
                <a:r>
                  <a:rPr lang="en-GB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Xn</a:t>
                </a:r>
                <a:r>
                  <a:rPr lang="en-GB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 – </a:t>
                </a:r>
                <a:r>
                  <a:rPr lang="ru-RU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чистый экспорт</a:t>
                </a:r>
              </a:p>
            </p:txBody>
          </p:sp>
        </mc:Choice>
        <mc:Fallback xmlns="">
          <p:sp>
            <p:nvSpPr>
              <p:cNvPr id="4" name="Объект 3">
                <a:extLst>
                  <a:ext uri="{FF2B5EF4-FFF2-40B4-BE49-F238E27FC236}">
                    <a16:creationId xmlns:a16="http://schemas.microsoft.com/office/drawing/2014/main" id="{99F3C62E-1581-4C42-BCE6-882FC04F28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03B12C-D951-41B9-91CA-9D1D3A353A6F}"/>
                  </a:ext>
                </a:extLst>
              </p:cNvPr>
              <p:cNvSpPr txBox="1"/>
              <p:nvPr/>
            </p:nvSpPr>
            <p:spPr>
              <a:xfrm>
                <a:off x="3184358" y="2755995"/>
                <a:ext cx="6352829" cy="6730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ВВП</m:t>
                      </m:r>
                      <m:r>
                        <a:rPr lang="ru-RU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GB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00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i="1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4000" i="1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𝑔𝑟𝑜𝑠𝑠</m:t>
                          </m:r>
                          <m:r>
                            <m:rPr>
                              <m:nor/>
                            </m:rPr>
                            <a:rPr lang="en-GB" sz="4000" dirty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</a:rPr>
                            <m:t> </m:t>
                          </m:r>
                        </m:sub>
                      </m:sSub>
                      <m:r>
                        <a:rPr lang="en-GB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GB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𝑋𝑛</m:t>
                      </m:r>
                    </m:oMath>
                  </m:oMathPara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03B12C-D951-41B9-91CA-9D1D3A353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358" y="2755995"/>
                <a:ext cx="6352829" cy="6730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964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Потребительские расходы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Потребительские расходы (</a:t>
            </a:r>
            <a:r>
              <a:rPr lang="ru-RU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consumption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ru-RU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spending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— С) — это расходы домохозяйств на покупку товаров и услуг. В развитых странах они составляют примерно 2/3 совокупных расходов и являются основным компонентом совокупных расходов. Потребительские расходы включают:</a:t>
            </a:r>
            <a:b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261599-66EE-4F0B-84FC-3AE064FA7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524" y="4001294"/>
            <a:ext cx="9628951" cy="197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69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Инвестиционные расходы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Инвестиционные расходы (</a:t>
            </a:r>
            <a:r>
              <a:rPr lang="ru-RU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investment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ru-RU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spending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— </a:t>
            </a:r>
            <a:r>
              <a:rPr lang="en-GB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) — это расходы фирм на покупку инвестиционных товаров, т.е. товаров, которые поддерживают и увеличивают запас капитала. Инвестиционные расходы включают: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b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1) инвестиции в основной капитал</a:t>
            </a:r>
            <a:b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2) инвестиции в жилищное строительство</a:t>
            </a:r>
            <a:b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3) инвестиции в товарно-материальные запасы (изменение запасов)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При подсчете ВВП под инвестициями понимают валовые частные внутренние инвестиции</a:t>
            </a:r>
          </a:p>
        </p:txBody>
      </p:sp>
    </p:spTree>
    <p:extLst>
      <p:ext uri="{BB962C8B-B14F-4D97-AF65-F5344CB8AC3E}">
        <p14:creationId xmlns:p14="http://schemas.microsoft.com/office/powerpoint/2010/main" val="3953487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Инвестиционные расходы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>
                <a:extLst>
                  <a:ext uri="{FF2B5EF4-FFF2-40B4-BE49-F238E27FC236}">
                    <a16:creationId xmlns:a16="http://schemas.microsoft.com/office/drawing/2014/main" id="{99F3C62E-1581-4C42-BCE6-882FC04F28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Формула подсчета валовых инвестиций:</a:t>
                </a:r>
                <a:endParaRPr lang="en-GB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  <a:p>
                <a:endParaRPr lang="en-GB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  <a:p>
                <a:endParaRPr lang="en-GB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  <a:p>
                <a:r>
                  <a:rPr lang="ru-RU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Где </a:t>
                </a:r>
                <a:br>
                  <a:rPr lang="ru-RU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𝑛𝑒𝑡</m:t>
                        </m:r>
                        <m:r>
                          <m:rPr>
                            <m:nor/>
                          </m:rPr>
                          <a:rPr lang="en-GB" sz="2800" dirty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</a:rPr>
                          <m:t> 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 - чистые инвестиции</a:t>
                </a:r>
                <a:br>
                  <a:rPr lang="en-GB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</a:br>
                <a:r>
                  <a:rPr lang="en-GB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A </a:t>
                </a:r>
                <a:r>
                  <a:rPr lang="ru-RU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 - Амортизация (стоимость потребленного капитала)</a:t>
                </a:r>
              </a:p>
            </p:txBody>
          </p:sp>
        </mc:Choice>
        <mc:Fallback xmlns="">
          <p:sp>
            <p:nvSpPr>
              <p:cNvPr id="4" name="Объект 3">
                <a:extLst>
                  <a:ext uri="{FF2B5EF4-FFF2-40B4-BE49-F238E27FC236}">
                    <a16:creationId xmlns:a16="http://schemas.microsoft.com/office/drawing/2014/main" id="{99F3C62E-1581-4C42-BCE6-882FC04F28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715BF1-2235-4AC1-9A01-B52F62934E14}"/>
                  </a:ext>
                </a:extLst>
              </p:cNvPr>
              <p:cNvSpPr txBox="1"/>
              <p:nvPr/>
            </p:nvSpPr>
            <p:spPr>
              <a:xfrm>
                <a:off x="3459079" y="2424863"/>
                <a:ext cx="5273842" cy="7321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4400" i="1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𝑔𝑟𝑜𝑠𝑠</m:t>
                          </m:r>
                          <m:r>
                            <m:rPr>
                              <m:nor/>
                            </m:rPr>
                            <a:rPr lang="en-GB" sz="4400" dirty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</a:rPr>
                            <m:t> </m:t>
                          </m:r>
                        </m:sub>
                      </m:sSub>
                      <m:r>
                        <a:rPr lang="en-GB" sz="4400" b="0" i="0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400" i="1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i="1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𝑛𝑒𝑡</m:t>
                          </m:r>
                          <m:r>
                            <m:rPr>
                              <m:nor/>
                            </m:rPr>
                            <a:rPr lang="en-GB" sz="4400" dirty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</a:rPr>
                            <m:t> </m:t>
                          </m:r>
                        </m:sub>
                      </m:sSub>
                      <m:r>
                        <a:rPr lang="en-GB" sz="4400" b="0" i="0" dirty="0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GB" sz="4400" b="0" i="0" dirty="0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ru-RU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715BF1-2235-4AC1-9A01-B52F62934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079" y="2424863"/>
                <a:ext cx="5273842" cy="7321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B5CE06-E90B-411D-92F7-3D68B261D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804" y="4772422"/>
            <a:ext cx="8378392" cy="140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87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Государственные закупки и чистый экспорт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82671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Государственные закупки товаров и услуг (</a:t>
            </a:r>
            <a:r>
              <a:rPr lang="ru-RU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government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ru-RU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spending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— G) включают:</a:t>
            </a:r>
            <a:b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1) государственное потребление</a:t>
            </a:r>
            <a:b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2) государственные инвестиции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Чистый экспорт (</a:t>
            </a:r>
            <a:r>
              <a:rPr lang="en-GB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net export - </a:t>
            </a:r>
            <a:r>
              <a:rPr lang="en-GB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Xn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) соответствует сальдо торгового баланса</a:t>
            </a:r>
            <a:br>
              <a:rPr lang="en-GB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br>
              <a:rPr lang="en-GB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br>
              <a:rPr lang="en-GB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Ex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– доходы от экспорта</a:t>
            </a:r>
            <a:b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Im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– расходы по импорту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AB5C13-ADD8-4F84-B1D3-248E0DE2FB36}"/>
                  </a:ext>
                </a:extLst>
              </p:cNvPr>
              <p:cNvSpPr txBox="1"/>
              <p:nvPr/>
            </p:nvSpPr>
            <p:spPr>
              <a:xfrm>
                <a:off x="4461225" y="4307304"/>
                <a:ext cx="3269549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𝑋𝑛</m:t>
                      </m:r>
                      <m:r>
                        <a:rPr lang="en-GB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𝐸𝑥</m:t>
                      </m:r>
                      <m:r>
                        <a:rPr lang="en-GB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𝐼𝑚</m:t>
                      </m:r>
                    </m:oMath>
                  </m:oMathPara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AB5C13-ADD8-4F84-B1D3-248E0DE2F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225" y="4307304"/>
                <a:ext cx="326954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6058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Метод измерения ВВП по доходам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82671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ВВП по доходам рассматривается как сумма доходов собственников экономических ресурсов (домохозяйств) , то есть сумма от национальных и иностранных факторов.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Национальные факторные доходы:</a:t>
            </a:r>
            <a:b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1) зарплата рабочих и жалование служащих частных фирм</a:t>
            </a:r>
            <a:b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2) арендная плата, или рентные платежи</a:t>
            </a:r>
            <a:b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3) процентные платежи, или процент</a:t>
            </a:r>
            <a:b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4) прибыль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Сумма национальных факторных доходов представляет собой национальный доход - НД</a:t>
            </a:r>
          </a:p>
        </p:txBody>
      </p:sp>
    </p:spTree>
    <p:extLst>
      <p:ext uri="{BB962C8B-B14F-4D97-AF65-F5344CB8AC3E}">
        <p14:creationId xmlns:p14="http://schemas.microsoft.com/office/powerpoint/2010/main" val="1030231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  <a:t>Метод измерения ВВП по доходам</a:t>
            </a:r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410"/>
            <a:ext cx="10515600" cy="490888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Добавив к национальному доходу косвенные налоги и амортизацию мы получим ВНП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Чтобы перейти к ВВП, из ВНП необходимо вычесть чистый факторный доход из-за границы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007392-412F-4A9A-9DC1-D95F0E7D7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504" y="3633538"/>
            <a:ext cx="10134296" cy="272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86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Метод измерения ВВП по добавленной стоимости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432"/>
            <a:ext cx="10515600" cy="41388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При этом методе валовой внутренний продукт определяется суммированием добавленных стоимостей по всем отраслям и видам производств в экономике: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6EA2A6-76EB-4028-8A05-F84BBB0919F0}"/>
                  </a:ext>
                </a:extLst>
              </p:cNvPr>
              <p:cNvSpPr txBox="1"/>
              <p:nvPr/>
            </p:nvSpPr>
            <p:spPr>
              <a:xfrm>
                <a:off x="1437064" y="3998328"/>
                <a:ext cx="931787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ВВП=Сумма добавленных стоимостей</m:t>
                      </m:r>
                    </m:oMath>
                  </m:oMathPara>
                </a14:m>
                <a:endParaRPr lang="ru-RU" sz="4000" b="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6EA2A6-76EB-4028-8A05-F84BBB091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064" y="3998328"/>
                <a:ext cx="9317872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9611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Соотношение показателей в Системе национальных счетов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432"/>
            <a:ext cx="10515600" cy="41388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Основными показателями, характеризующими совокупный объем выпуска и совокупный доход в СНС, выступают показатели валового внутреннего продукта - ВВП, валового национального продукта – ВНП, чистого внутреннего продукта – ЧВП, чистого национального продукта – ЧНП, национального дохода – НД, личного дохода – ЛД и располагаемого личного дохода РЛД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ВНП можно найти: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77736D-2C62-4948-8A79-6C884AB724FA}"/>
                  </a:ext>
                </a:extLst>
              </p:cNvPr>
              <p:cNvSpPr txBox="1"/>
              <p:nvPr/>
            </p:nvSpPr>
            <p:spPr>
              <a:xfrm>
                <a:off x="3699510" y="5141494"/>
                <a:ext cx="443871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ВНП=ВВП+ЧФД</m:t>
                      </m:r>
                    </m:oMath>
                  </m:oMathPara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77736D-2C62-4948-8A79-6C884AB72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510" y="5141494"/>
                <a:ext cx="4438716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2365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Соотношение показателей в Системе национальных счетов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432"/>
            <a:ext cx="10515600" cy="41388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ЧВП и ЧНП отражают производственный потенциал экономики, так как они включают только чистые инвестиции и не включают стоимость потребленного капитала – амортизацию.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77736D-2C62-4948-8A79-6C884AB724FA}"/>
                  </a:ext>
                </a:extLst>
              </p:cNvPr>
              <p:cNvSpPr txBox="1"/>
              <p:nvPr/>
            </p:nvSpPr>
            <p:spPr>
              <a:xfrm>
                <a:off x="3699510" y="3610341"/>
                <a:ext cx="374621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00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Ч</m:t>
                      </m:r>
                      <m:r>
                        <a:rPr lang="ru-RU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НП=ВНП−А</m:t>
                      </m:r>
                    </m:oMath>
                  </m:oMathPara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77736D-2C62-4948-8A79-6C884AB72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510" y="3610341"/>
                <a:ext cx="3746218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9F0FE0-ABC6-43E0-9704-681AC1947C82}"/>
                  </a:ext>
                </a:extLst>
              </p:cNvPr>
              <p:cNvSpPr txBox="1"/>
              <p:nvPr/>
            </p:nvSpPr>
            <p:spPr>
              <a:xfrm>
                <a:off x="3699510" y="4541216"/>
                <a:ext cx="366927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00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Ч</m:t>
                      </m:r>
                      <m:r>
                        <a:rPr lang="ru-RU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ВП=ВВП−А</m:t>
                      </m:r>
                    </m:oMath>
                  </m:oMathPara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9F0FE0-ABC6-43E0-9704-681AC1947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510" y="4541216"/>
                <a:ext cx="3669274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387037-D0D0-42D1-A48E-18F1A5D0F813}"/>
                  </a:ext>
                </a:extLst>
              </p:cNvPr>
              <p:cNvSpPr txBox="1"/>
              <p:nvPr/>
            </p:nvSpPr>
            <p:spPr>
              <a:xfrm>
                <a:off x="3346849" y="5472092"/>
                <a:ext cx="445154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00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Ч</m:t>
                      </m:r>
                      <m:r>
                        <a:rPr lang="ru-RU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НП=ЧВП+ЧФД</m:t>
                      </m:r>
                    </m:oMath>
                  </m:oMathPara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387037-D0D0-42D1-A48E-18F1A5D0F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849" y="5472092"/>
                <a:ext cx="4451540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0001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Соотношение показателей в Системе национальных счетов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432"/>
            <a:ext cx="10515600" cy="41388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Национальный доход – это совокупный доход, заработанный собственниками экономических ресурсов. Его можно получить:</a:t>
            </a:r>
          </a:p>
          <a:p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Либо: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77736D-2C62-4948-8A79-6C884AB724FA}"/>
                  </a:ext>
                </a:extLst>
              </p:cNvPr>
              <p:cNvSpPr txBox="1"/>
              <p:nvPr/>
            </p:nvSpPr>
            <p:spPr>
              <a:xfrm>
                <a:off x="2373827" y="3121223"/>
                <a:ext cx="74443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НД=ЧНП−Косвенные налоги</m:t>
                      </m:r>
                    </m:oMath>
                  </m:oMathPara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77736D-2C62-4948-8A79-6C884AB72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3827" y="3121223"/>
                <a:ext cx="7444346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C518AA2-9C4D-4506-B706-64B0732E5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50" y="4644188"/>
            <a:ext cx="9854700" cy="116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56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Соотношение показателей в Системе национальных счетов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432"/>
            <a:ext cx="10515600" cy="41388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Личный доход – ЛД – в отличие от национального дохода является совокупным доходом, полученным собственниками экономических ресурсов. Его можно найти: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A6E6D3D-3122-4BA9-83A1-41CC193EF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97" y="3700642"/>
            <a:ext cx="10247806" cy="188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15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  <a:t>Соотношение показателей в Системе национальных счетов</a:t>
            </a:r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432"/>
            <a:ext cx="10515600" cy="4138863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  <a:t>Располагаемый личный доход – РЛД – это доход, используемый, то есть находящийся в распоряжении домохозяйств:</a:t>
            </a:r>
          </a:p>
          <a:p>
            <a:endParaRPr lang="ru-RU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ru-RU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ru-RU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  <a:t>Где</a:t>
            </a:r>
            <a:b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GB">
                <a:solidFill>
                  <a:schemeClr val="accent3">
                    <a:lumMod val="20000"/>
                    <a:lumOff val="80000"/>
                  </a:schemeClr>
                </a:solidFill>
              </a:rPr>
              <a:t>C –</a:t>
            </a:r>
            <a: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  <a:t> доход на личное потребление</a:t>
            </a:r>
            <a:br>
              <a:rPr lang="en-GB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GB">
                <a:solidFill>
                  <a:schemeClr val="accent3">
                    <a:lumMod val="20000"/>
                    <a:lumOff val="80000"/>
                  </a:schemeClr>
                </a:solidFill>
              </a:rPr>
              <a:t>S – </a:t>
            </a:r>
            <a: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  <a:t>личные сбережения</a:t>
            </a:r>
            <a:endParaRPr 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120A23-1981-4ABB-9BDA-A875E48C5300}"/>
                  </a:ext>
                </a:extLst>
              </p:cNvPr>
              <p:cNvSpPr txBox="1"/>
              <p:nvPr/>
            </p:nvSpPr>
            <p:spPr>
              <a:xfrm>
                <a:off x="1642056" y="3121223"/>
                <a:ext cx="890788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00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Р</m:t>
                      </m:r>
                      <m:r>
                        <a:rPr lang="ru-RU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ЛД=ЛД−Индивидуальные налоги</m:t>
                      </m:r>
                    </m:oMath>
                  </m:oMathPara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120A23-1981-4ABB-9BDA-A875E48C5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056" y="3121223"/>
                <a:ext cx="8907888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33425C-180C-4319-B187-BA7CAFCC7D70}"/>
                  </a:ext>
                </a:extLst>
              </p:cNvPr>
              <p:cNvSpPr txBox="1"/>
              <p:nvPr/>
            </p:nvSpPr>
            <p:spPr>
              <a:xfrm>
                <a:off x="1642056" y="3923162"/>
                <a:ext cx="298049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00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Р</m:t>
                      </m:r>
                      <m:r>
                        <a:rPr lang="ru-RU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ЛД=</m:t>
                      </m:r>
                      <m:r>
                        <a:rPr lang="en-GB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33425C-180C-4319-B187-BA7CAFCC7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056" y="3923162"/>
                <a:ext cx="2980496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683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  <a:t>Соотношение показателей в Системе национальных счетов</a:t>
            </a:r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432"/>
            <a:ext cx="10515600" cy="41388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Для характеристики уровня благосостояния используется среднедушевые показатели – ВВП на душу населения и НД на душу населения</a:t>
            </a:r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120A23-1981-4ABB-9BDA-A875E48C5300}"/>
                  </a:ext>
                </a:extLst>
              </p:cNvPr>
              <p:cNvSpPr txBox="1"/>
              <p:nvPr/>
            </p:nvSpPr>
            <p:spPr>
              <a:xfrm>
                <a:off x="647445" y="3634805"/>
                <a:ext cx="10587898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0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0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ВВП</m:t>
                          </m:r>
                        </m:e>
                        <m:sub>
                          <m:r>
                            <a:rPr lang="ru-RU" sz="40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на душу населения</m:t>
                          </m:r>
                        </m:sub>
                      </m:sSub>
                      <m:r>
                        <a:rPr lang="ru-RU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40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40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ВВП</m:t>
                          </m:r>
                        </m:num>
                        <m:den>
                          <m:r>
                            <a:rPr lang="ru-RU" sz="40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Численность населения</m:t>
                          </m:r>
                        </m:den>
                      </m:f>
                    </m:oMath>
                  </m:oMathPara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120A23-1981-4ABB-9BDA-A875E48C5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45" y="3634805"/>
                <a:ext cx="10587898" cy="11524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BB5723-38B1-4A84-8462-0C627362E4EC}"/>
                  </a:ext>
                </a:extLst>
              </p:cNvPr>
              <p:cNvSpPr txBox="1"/>
              <p:nvPr/>
            </p:nvSpPr>
            <p:spPr>
              <a:xfrm>
                <a:off x="765902" y="4921550"/>
                <a:ext cx="10302564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0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0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НД</m:t>
                          </m:r>
                        </m:e>
                        <m:sub>
                          <m:r>
                            <a:rPr lang="ru-RU" sz="40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на душу населения</m:t>
                          </m:r>
                        </m:sub>
                      </m:sSub>
                      <m:r>
                        <a:rPr lang="ru-RU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40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40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НД</m:t>
                          </m:r>
                        </m:num>
                        <m:den>
                          <m:r>
                            <a:rPr lang="ru-RU" sz="40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Численность населения</m:t>
                          </m:r>
                        </m:den>
                      </m:f>
                    </m:oMath>
                  </m:oMathPara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BB5723-38B1-4A84-8462-0C627362E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02" y="4921550"/>
                <a:ext cx="10302564" cy="11524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5553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  <a:t>Соотношение показателей в Системе национальных счетов</a:t>
            </a:r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432"/>
            <a:ext cx="10515600" cy="4138863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  <a:t>Показатели ВВП на душу населения и НД на душу населения несовершенны и не в состоянии точно отразить качество жизни. Их недостатки:</a:t>
            </a:r>
            <a:b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  <a:t>1) они усредненные</a:t>
            </a:r>
            <a:b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  <a:t>2) не учитывают многие качественные характеристики уровня благосостояния</a:t>
            </a:r>
            <a:b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  <a:t>3) подсчитываются в едином измерителе (как правило в долларах США), но игнорируют покупательную способность доллара</a:t>
            </a:r>
            <a:b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>
                <a:solidFill>
                  <a:schemeClr val="accent3">
                    <a:lumMod val="20000"/>
                    <a:lumOff val="80000"/>
                  </a:schemeClr>
                </a:solidFill>
              </a:rPr>
              <a:t>4) не учитывают негативных последствий экономического  роста</a:t>
            </a:r>
            <a:endParaRPr 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825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Соотношение показателей в Системе национальных счетов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432"/>
            <a:ext cx="10515600" cy="442344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Для более точной оценки уровня благосостояния в 1972 году два американских экономиста – Джеймс Тобин и Уильям </a:t>
            </a:r>
            <a:r>
              <a:rPr lang="ru-RU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Нордхауз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– предложили методику расчета показателя, который назвали чистым экономическим благосостоянием. Этот показатель учитывает стоимостную оценку всего, что в ВВП не учитывается.</a:t>
            </a:r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b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Где ТЭ – теневая экономика, СО – самообслуживание (нерыночная деятельность), СВ – свободное время, ЗОС – загрязнение окружающей среды</a:t>
            </a:r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21F463-0FE5-4AFE-AB37-3D8AEE908E24}"/>
                  </a:ext>
                </a:extLst>
              </p:cNvPr>
              <p:cNvSpPr txBox="1"/>
              <p:nvPr/>
            </p:nvSpPr>
            <p:spPr>
              <a:xfrm>
                <a:off x="1981200" y="4138863"/>
                <a:ext cx="788953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000" b="0" i="1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ЧЭБ=ВНП+ТЭ+СО+СВ−ЗОС</m:t>
                      </m:r>
                    </m:oMath>
                  </m:oMathPara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21F463-0FE5-4AFE-AB37-3D8AEE908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4138863"/>
                <a:ext cx="7889532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676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Номинальный ВВП и реальный ВВП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432"/>
            <a:ext cx="10515600" cy="41388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Номинальный ВВП – ВВП, рассчитанный в ценах данного года</a:t>
            </a: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Реальный ВВП – ВВП, измеренный в сопоставимых (неизменных) ценах, в ценах базового года</a:t>
            </a:r>
          </a:p>
          <a:p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Общий уровень цен – это агрегированный показатель, рассчитываемый как индекс цен</a:t>
            </a:r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A0A05B-4233-4E2B-83C0-3DFBC7DA284C}"/>
                  </a:ext>
                </a:extLst>
              </p:cNvPr>
              <p:cNvSpPr txBox="1"/>
              <p:nvPr/>
            </p:nvSpPr>
            <p:spPr>
              <a:xfrm>
                <a:off x="1984080" y="3653890"/>
                <a:ext cx="8223839" cy="9699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ru-RU" sz="4000" b="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Реальный ВВП</a:t>
                </a:r>
                <a14:m>
                  <m:oMath xmlns:m="http://schemas.openxmlformats.org/officeDocument/2006/math">
                    <m:r>
                      <a:rPr lang="ru-RU" sz="4000" b="0" i="1" smtClean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40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40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Номинальный ВВП</m:t>
                        </m:r>
                      </m:num>
                      <m:den>
                        <m:r>
                          <a:rPr lang="ru-RU" sz="40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Общий уровень цен</m:t>
                        </m:r>
                      </m:den>
                    </m:f>
                  </m:oMath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A0A05B-4233-4E2B-83C0-3DFBC7DA2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080" y="3653890"/>
                <a:ext cx="8223839" cy="969946"/>
              </a:xfrm>
              <a:prstGeom prst="rect">
                <a:avLst/>
              </a:prstGeom>
              <a:blipFill>
                <a:blip r:embed="rId2"/>
                <a:stretch>
                  <a:fillRect l="-3704"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8201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Номинальный ВВП и реальный ВВП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432"/>
            <a:ext cx="10515600" cy="41388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Номинальный ВВП любого года равен:</a:t>
            </a:r>
          </a:p>
          <a:p>
            <a:endParaRPr lang="en-GB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Реальный ВВП, подсчитываемый в ценах базового года, равен:</a:t>
            </a:r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A0A05B-4233-4E2B-83C0-3DFBC7DA284C}"/>
                  </a:ext>
                </a:extLst>
              </p:cNvPr>
              <p:cNvSpPr txBox="1"/>
              <p:nvPr/>
            </p:nvSpPr>
            <p:spPr>
              <a:xfrm>
                <a:off x="4665682" y="2876578"/>
                <a:ext cx="2860636" cy="644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ru-RU" sz="400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40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sz="40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GB" sz="40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GB" sz="40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sz="4000" i="1" dirty="0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GB" sz="4000" i="1" dirty="0" smtClean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4000" b="0" i="1" dirty="0" smtClean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GB" sz="4000" b="0" i="1" dirty="0" smtClean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4000" b="0" i="1" dirty="0" smtClean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sSubSup>
                          <m:sSubSupPr>
                            <m:ctrlPr>
                              <a:rPr lang="en-GB" sz="4000" i="1" dirty="0" smtClean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4000" b="0" i="1" dirty="0" smtClean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4000" b="0" i="1" dirty="0" smtClean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4000" b="0" i="1" dirty="0" smtClean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e>
                    </m:nary>
                  </m:oMath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A0A05B-4233-4E2B-83C0-3DFBC7DA2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682" y="2876578"/>
                <a:ext cx="2860636" cy="644664"/>
              </a:xfrm>
              <a:prstGeom prst="rect">
                <a:avLst/>
              </a:prstGeom>
              <a:blipFill>
                <a:blip r:embed="rId2"/>
                <a:stretch>
                  <a:fillRect t="-19811" b="-462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703C51-AB85-4105-87D9-09C2C6D3DEB6}"/>
                  </a:ext>
                </a:extLst>
              </p:cNvPr>
              <p:cNvSpPr txBox="1"/>
              <p:nvPr/>
            </p:nvSpPr>
            <p:spPr>
              <a:xfrm>
                <a:off x="4665682" y="4888665"/>
                <a:ext cx="2860636" cy="6527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ru-RU" sz="400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40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sz="40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GB" sz="40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bSup>
                  </m:oMath>
                </a14:m>
                <a:r>
                  <a:rPr lang="en-GB" sz="40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sz="4000" i="1" dirty="0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GB" sz="4000" i="1" dirty="0" smtClean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4000" b="0" i="1" dirty="0" smtClean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GB" sz="4000" b="0" i="1" dirty="0" smtClean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4000" b="0" i="1" dirty="0" smtClean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sSubSup>
                          <m:sSubSupPr>
                            <m:ctrlPr>
                              <a:rPr lang="en-GB" sz="4000" i="1" dirty="0" smtClean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4000" b="0" i="1" dirty="0" smtClean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sz="4000" b="0" i="1" dirty="0" smtClean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4000" b="0" i="1" dirty="0" smtClean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e>
                    </m:nary>
                  </m:oMath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703C51-AB85-4105-87D9-09C2C6D3D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682" y="4888665"/>
                <a:ext cx="2860636" cy="652743"/>
              </a:xfrm>
              <a:prstGeom prst="rect">
                <a:avLst/>
              </a:prstGeom>
              <a:blipFill>
                <a:blip r:embed="rId3"/>
                <a:stretch>
                  <a:fillRect t="-18692" b="-457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99320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Номинальный ВВП и реальный ВВП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432"/>
            <a:ext cx="10515600" cy="41388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Если известны процентные изменения номинального и реального ВВП и общего уровня цен (а это и есть темп инфляции), то соотношение между этими показателями следующее:</a:t>
            </a:r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D45CD2-D561-4EC7-9ABA-0FF1878DD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342" y="3600162"/>
            <a:ext cx="8311315" cy="157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693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Индекс </a:t>
            </a:r>
            <a:r>
              <a:rPr lang="ru-RU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Ласпейреса</a:t>
            </a:r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>
                <a:extLst>
                  <a:ext uri="{FF2B5EF4-FFF2-40B4-BE49-F238E27FC236}">
                    <a16:creationId xmlns:a16="http://schemas.microsoft.com/office/drawing/2014/main" id="{99F3C62E-1581-4C42-BCE6-882FC04F28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69432"/>
                <a:ext cx="10515600" cy="4138863"/>
              </a:xfrm>
            </p:spPr>
            <p:txBody>
              <a:bodyPr>
                <a:normAutofit/>
              </a:bodyPr>
              <a:lstStyle/>
              <a:p>
                <a:r>
                  <a:rPr lang="ru-RU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Индекс потребительских цен – ИПЦ – рассчитывается на основе стоимости рыночной потребительской корзины, которая включает набор товаров и услуг, потребляемых типичной городской семьей в течение года. ИПЦ выступает как индекс </a:t>
                </a:r>
                <a:r>
                  <a:rPr lang="ru-RU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Ласпейреса</a:t>
                </a:r>
                <a:r>
                  <a:rPr lang="ru-RU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)</a:t>
                </a:r>
                <a:r>
                  <a:rPr lang="ru-RU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.</a:t>
                </a:r>
                <a:endParaRPr lang="en-US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ru-RU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Объект 3">
                <a:extLst>
                  <a:ext uri="{FF2B5EF4-FFF2-40B4-BE49-F238E27FC236}">
                    <a16:creationId xmlns:a16="http://schemas.microsoft.com/office/drawing/2014/main" id="{99F3C62E-1581-4C42-BCE6-882FC04F28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69432"/>
                <a:ext cx="10515600" cy="4138863"/>
              </a:xfrm>
              <a:blipFill>
                <a:blip r:embed="rId2"/>
                <a:stretch>
                  <a:fillRect l="-1043" t="-23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A0A05B-4233-4E2B-83C0-3DFBC7DA284C}"/>
                  </a:ext>
                </a:extLst>
              </p:cNvPr>
              <p:cNvSpPr txBox="1"/>
              <p:nvPr/>
            </p:nvSpPr>
            <p:spPr>
              <a:xfrm>
                <a:off x="3182506" y="4138863"/>
                <a:ext cx="5560440" cy="1173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4000" b="0" i="1" smtClean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ИПЦ</m:t>
                    </m:r>
                    <m:r>
                      <a:rPr lang="en-GB" sz="4000" b="0" i="1" smtClean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40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0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40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40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=</a:t>
                </a:r>
                <a:r>
                  <a:rPr lang="ru-RU" sz="40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000" i="1" dirty="0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sz="4000" i="1" dirty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Sup>
                              <m:sSubSupPr>
                                <m:ctrlP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GB" sz="4000" b="0" i="1" dirty="0" smtClean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GB" sz="4000" i="1" dirty="0" smtClean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ru-RU" sz="4000" b="0" i="1" dirty="0" smtClean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sz="4000" i="1" dirty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Sup>
                              <m:sSubSupPr>
                                <m:ctrlP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ru-RU" sz="4000" b="0" i="1" dirty="0" smtClean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GB" sz="4000" i="1" dirty="0" smtClean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ru-RU" sz="4000" b="0" i="1" dirty="0" smtClean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</m:e>
                        </m:nary>
                      </m:den>
                    </m:f>
                    <m:r>
                      <a:rPr lang="ru-RU" sz="4000" b="0" i="0" dirty="0" smtClean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∗100%</m:t>
                    </m:r>
                  </m:oMath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A0A05B-4233-4E2B-83C0-3DFBC7DA2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506" y="4138863"/>
                <a:ext cx="5560440" cy="1173463"/>
              </a:xfrm>
              <a:prstGeom prst="rect">
                <a:avLst/>
              </a:prstGeom>
              <a:blipFill>
                <a:blip r:embed="rId3"/>
                <a:stretch>
                  <a:fillRect b="-5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997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Индекс </a:t>
            </a:r>
            <a:r>
              <a:rPr lang="ru-RU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Пааше</a:t>
            </a:r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432"/>
            <a:ext cx="10515600" cy="41388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Дефлятор ВВП рассчитывается на основе стоимости рыночной корзины всех конечных товаров и услуг, произведенных в экономике в течение года. Статистически дефлятор ВВП выступает как индекс </a:t>
            </a:r>
            <a:r>
              <a:rPr lang="ru-RU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Пааше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()</a:t>
            </a:r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A0A05B-4233-4E2B-83C0-3DFBC7DA284C}"/>
                  </a:ext>
                </a:extLst>
              </p:cNvPr>
              <p:cNvSpPr txBox="1"/>
              <p:nvPr/>
            </p:nvSpPr>
            <p:spPr>
              <a:xfrm>
                <a:off x="1952200" y="4138863"/>
                <a:ext cx="8287599" cy="11717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4000" i="1" smtClean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Д</m:t>
                    </m:r>
                    <m:r>
                      <a:rPr lang="ru-RU" sz="4000" b="0" i="1" smtClean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ефлятор ВВП</m:t>
                    </m:r>
                    <m:r>
                      <a:rPr lang="en-GB" sz="4000" b="0" i="1" smtClean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40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0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4000" b="0" i="1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sz="40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=</a:t>
                </a:r>
                <a:r>
                  <a:rPr lang="ru-RU" sz="40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000" i="1" dirty="0" smtClean="0"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sz="4000" i="1" dirty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Sup>
                              <m:sSubSupPr>
                                <m:ctrlP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GB" sz="4000" b="0" i="1" dirty="0" smtClean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GB" sz="4000" i="1" dirty="0" smtClean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GB" sz="4000" b="0" i="1" dirty="0" smtClean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sz="4000" i="1" dirty="0">
                                <a:solidFill>
                                  <a:schemeClr val="accent3">
                                    <a:lumMod val="20000"/>
                                    <a:lumOff val="8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Sup>
                              <m:sSubSupPr>
                                <m:ctrlP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ru-RU" sz="4000" b="0" i="1" dirty="0" smtClean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GB" sz="4000" i="1" dirty="0" smtClean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GB" sz="4000" i="1" dirty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GB" sz="4000" b="0" i="1" dirty="0" smtClean="0">
                                    <a:solidFill>
                                      <a:schemeClr val="accent3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</m:e>
                        </m:nary>
                      </m:den>
                    </m:f>
                    <m:r>
                      <a:rPr lang="ru-RU" sz="4000" b="0" i="0" dirty="0" smtClean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∗100%</m:t>
                    </m:r>
                  </m:oMath>
                </a14:m>
                <a:endParaRPr lang="ru-RU" sz="4000" dirty="0">
                  <a:solidFill>
                    <a:schemeClr val="accent3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A0A05B-4233-4E2B-83C0-3DFBC7DA2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200" y="4138863"/>
                <a:ext cx="8287599" cy="1171796"/>
              </a:xfrm>
              <a:prstGeom prst="rect">
                <a:avLst/>
              </a:prstGeom>
              <a:blipFill>
                <a:blip r:embed="rId2"/>
                <a:stretch>
                  <a:fillRect b="-5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23070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Темп инфляции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432"/>
            <a:ext cx="10515600" cy="41388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Темп инфляции (</a:t>
            </a:r>
            <a:r>
              <a:rPr lang="el-G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π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) равен отношению разницы уровня цен (например, дефлятора ВВП) текущего и предыдущего года к уровню цен предыдущего года, выраженному в процентах: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57795C-2432-41C6-B917-BDC0C96FA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172" y="3827965"/>
            <a:ext cx="9173656" cy="163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304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Темп изменения стоимости жизни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432"/>
            <a:ext cx="10515600" cy="41388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Через ИПЦ (</a:t>
            </a:r>
            <a:r>
              <a:rPr lang="el-G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ϕ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) можно аналогично найти темп изменения стоимости жизни: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45C957-E84E-475E-B991-FD28D725F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123" y="3372853"/>
            <a:ext cx="6201754" cy="164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0335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5544-1ECC-48E4-B1A4-3B567FDC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8686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Индекс Фишера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F3C62E-1581-4C42-BCE6-882FC04F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432"/>
            <a:ext cx="10515600" cy="41388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Поскольку ИПЦ и дефлятор ВВП численно не совпадают, то для расчета темпа роста общего уровня цен (уровня инфляции) иногда используется «идеальный» индекс Фишера, представляющий собой среднее геометрическое индекса </a:t>
            </a:r>
            <a:r>
              <a:rPr lang="ru-RU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Ласпейреса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и индекса </a:t>
            </a:r>
            <a:r>
              <a:rPr lang="ru-RU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Пааше</a:t>
            </a:r>
            <a:r>
              <a:rPr lang="ru-RU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308DF9-45A2-464B-87BE-D636D03CB3D4}"/>
                  </a:ext>
                </a:extLst>
              </p:cNvPr>
              <p:cNvSpPr txBox="1"/>
              <p:nvPr/>
            </p:nvSpPr>
            <p:spPr>
              <a:xfrm>
                <a:off x="4596063" y="4505690"/>
                <a:ext cx="4050632" cy="7454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00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40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GB" sz="4000" b="0" i="0" smtClean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40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GB" sz="4000" b="0" i="1" smtClean="0">
                                  <a:solidFill>
                                    <a:schemeClr val="accent3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000" b="0" i="1" smtClean="0">
                                  <a:solidFill>
                                    <a:schemeClr val="accent3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4000" b="0" i="1" smtClean="0">
                                  <a:solidFill>
                                    <a:schemeClr val="accent3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4000" b="0" i="1" smtClean="0">
                              <a:solidFill>
                                <a:schemeClr val="accent3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GB" sz="4000" b="0" i="1" smtClean="0">
                                  <a:solidFill>
                                    <a:schemeClr val="accent3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000" b="0" i="1" smtClean="0">
                                  <a:solidFill>
                                    <a:schemeClr val="accent3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4000" b="0" i="1" smtClean="0">
                                  <a:solidFill>
                                    <a:schemeClr val="accent3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ru-RU" sz="4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308DF9-45A2-464B-87BE-D636D03CB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063" y="4505690"/>
                <a:ext cx="4050632" cy="7454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6547142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base.com-944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powerpointbase.com-944</Template>
  <TotalTime>396</TotalTime>
  <Words>1667</Words>
  <Application>Microsoft Office PowerPoint</Application>
  <PresentationFormat>Широкоэкранный</PresentationFormat>
  <Paragraphs>147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powerpointbase.com-944</vt:lpstr>
      <vt:lpstr> Основные макроэкономические показатели</vt:lpstr>
      <vt:lpstr>Система национальных счетов</vt:lpstr>
      <vt:lpstr>Система национальных счетов</vt:lpstr>
      <vt:lpstr>Система национальных счетов</vt:lpstr>
      <vt:lpstr>Валовой внутренний продукт</vt:lpstr>
      <vt:lpstr>Валовой внутренний продукт</vt:lpstr>
      <vt:lpstr>Валовой внутренний продукт</vt:lpstr>
      <vt:lpstr>Валовой внутренний продукт</vt:lpstr>
      <vt:lpstr>Валовой внутренний продукт</vt:lpstr>
      <vt:lpstr>Валовой внутренний продукт</vt:lpstr>
      <vt:lpstr>Методы измерения ВВП</vt:lpstr>
      <vt:lpstr>Метод измерения ВВП по расходам</vt:lpstr>
      <vt:lpstr>Метод измерения ВВП по расходам</vt:lpstr>
      <vt:lpstr>Потребительские расходы</vt:lpstr>
      <vt:lpstr>Инвестиционные расходы</vt:lpstr>
      <vt:lpstr>Инвестиционные расходы</vt:lpstr>
      <vt:lpstr>Государственные закупки и чистый экспорт</vt:lpstr>
      <vt:lpstr>Метод измерения ВВП по доходам</vt:lpstr>
      <vt:lpstr>Метод измерения ВВП по доходам</vt:lpstr>
      <vt:lpstr>Метод измерения ВВП по добавленной стоимости</vt:lpstr>
      <vt:lpstr>Соотношение показателей в Системе национальных счетов</vt:lpstr>
      <vt:lpstr>Соотношение показателей в Системе национальных счетов</vt:lpstr>
      <vt:lpstr>Соотношение показателей в Системе национальных счетов</vt:lpstr>
      <vt:lpstr>Соотношение показателей в Системе национальных счетов</vt:lpstr>
      <vt:lpstr>Соотношение показателей в Системе национальных счетов</vt:lpstr>
      <vt:lpstr>Соотношение показателей в Системе национальных счетов</vt:lpstr>
      <vt:lpstr>Соотношение показателей в Системе национальных счетов</vt:lpstr>
      <vt:lpstr>Соотношение показателей в Системе национальных счетов</vt:lpstr>
      <vt:lpstr>Номинальный ВВП и реальный ВВП</vt:lpstr>
      <vt:lpstr>Номинальный ВВП и реальный ВВП</vt:lpstr>
      <vt:lpstr>Номинальный ВВП и реальный ВВП</vt:lpstr>
      <vt:lpstr>Индекс Ласпейреса</vt:lpstr>
      <vt:lpstr>Индекс Пааше</vt:lpstr>
      <vt:lpstr>Темп инфляции</vt:lpstr>
      <vt:lpstr>Темп изменения стоимости жизни</vt:lpstr>
      <vt:lpstr>Индекс Фишера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теме: Основные макроэкономические показатели</dc:title>
  <dc:creator>Михаил Городилов</dc:creator>
  <cp:lastModifiedBy>preppa</cp:lastModifiedBy>
  <cp:revision>13</cp:revision>
  <dcterms:created xsi:type="dcterms:W3CDTF">2021-09-23T00:56:01Z</dcterms:created>
  <dcterms:modified xsi:type="dcterms:W3CDTF">2024-10-04T17:06:00Z</dcterms:modified>
</cp:coreProperties>
</file>